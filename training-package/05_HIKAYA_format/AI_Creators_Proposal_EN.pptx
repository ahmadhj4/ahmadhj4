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Hours</c:v>
                </c:pt>
              </c:strCache>
            </c:strRef>
          </c:tx>
          <c:spPr>
            <a:solidFill>
              <a:srgbClr val="0A8577"/>
            </a:solidFill>
            <a:effectLst/>
          </c:spPr>
          <c:invertIfNegative val="0"/>
          <c:dLbls>
            <c:numFmt formatCode="#,##0" sourceLinked="0"/>
            <c:txPr>
              <a:bodyPr/>
              <a:lstStyle/>
              <a:p>
                <a:pPr>
                  <a:defRPr b="0" i="0" strike="noStrike" sz="1000" u="none">
                    <a:solidFill>
                      <a:srgbClr val="10233A"/>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M1 Orientation &amp; AI Literacy</c:v>
                  </c:pt>
                  <c:pt idx="1">
                    <c:v>M2 Prompt &amp; Context</c:v>
                  </c:pt>
                  <c:pt idx="2">
                    <c:v>M3 Research &amp; Briefs</c:v>
                  </c:pt>
                  <c:pt idx="3">
                    <c:v>M4 Content &amp; Copywriting</c:v>
                  </c:pt>
                  <c:pt idx="4">
                    <c:v>M5 Character, Voice &amp; Visuals</c:v>
                  </c:pt>
                  <c:pt idx="5">
                    <c:v>M6 Script &amp; Storyboard</c:v>
                  </c:pt>
                  <c:pt idx="6">
                    <c:v>M7 AI Video &amp; Editing</c:v>
                  </c:pt>
                  <c:pt idx="7">
                    <c:v>M8 Digital Marketing</c:v>
                  </c:pt>
                  <c:pt idx="8">
                    <c:v>M9 n8n Automation</c:v>
                  </c:pt>
                  <c:pt idx="9">
                    <c:v>M10 Portfolio &amp; Freelancing</c:v>
                  </c:pt>
                  <c:pt idx="10">
                    <c:v>M11 Capstone &amp; Demo Day</c:v>
                  </c:pt>
                </c:lvl>
              </c:multiLvlStrCache>
            </c:multiLvlStrRef>
          </c:cat>
          <c:val>
            <c:numRef>
              <c:f>Sheet1!$B$2:$B$12</c:f>
              <c:numCache>
                <c:formatCode>General</c:formatCode>
                <c:ptCount val="11"/>
                <c:pt idx="0">
                  <c:v>6</c:v>
                </c:pt>
                <c:pt idx="1">
                  <c:v>6</c:v>
                </c:pt>
                <c:pt idx="2">
                  <c:v>6</c:v>
                </c:pt>
                <c:pt idx="3">
                  <c:v>9</c:v>
                </c:pt>
                <c:pt idx="4">
                  <c:v>12</c:v>
                </c:pt>
                <c:pt idx="5">
                  <c:v>9</c:v>
                </c:pt>
                <c:pt idx="6">
                  <c:v>12</c:v>
                </c:pt>
                <c:pt idx="7">
                  <c:v>9</c:v>
                </c:pt>
                <c:pt idx="8">
                  <c:v>12</c:v>
                </c:pt>
                <c:pt idx="9">
                  <c:v>6</c:v>
                </c:pt>
                <c:pt idx="10">
                  <c:v>9</c:v>
                </c:pt>
              </c:numCache>
            </c:numRef>
          </c:val>
        </c:ser>
        <c:dLbls>
          <c:numFmt formatCode="#,##0" sourceLinked="0"/>
          <c:txPr>
            <a:bodyPr/>
            <a:lstStyle/>
            <a:p>
              <a:pPr>
                <a:defRPr b="0" i="0" strike="noStrike" sz="1000" u="none">
                  <a:solidFill>
                    <a:srgbClr val="10233A"/>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0233A"/>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figures are design parameters. Cohort size and hosting are proposals, subject to mutual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Green Circle logo">    </p:cNvPr>
          <p:cNvPicPr>
            <a:picLocks noChangeAspect="1"/>
          </p:cNvPicPr>
          <p:nvPr/>
        </p:nvPicPr>
        <p:blipFill>
          <a:blip r:embed="rId1"/>
          <a:stretch>
            <a:fillRect/>
          </a:stretch>
        </p:blipFill>
        <p:spPr>
          <a:xfrm>
            <a:off x="6967728" y="201168"/>
            <a:ext cx="1143000" cy="406202"/>
          </a:xfrm>
          <a:prstGeom prst="rect">
            <a:avLst/>
          </a:prstGeom>
        </p:spPr>
      </p:pic>
      <p:pic>
        <p:nvPicPr>
          <p:cNvPr id="3" name="Image 1" descr="Jubilee Institute logo">    </p:cNvPr>
          <p:cNvPicPr>
            <a:picLocks noChangeAspect="1"/>
          </p:cNvPicPr>
          <p:nvPr/>
        </p:nvPicPr>
        <p:blipFill>
          <a:blip r:embed="rId2"/>
          <a:stretch>
            <a:fillRect/>
          </a:stretch>
        </p:blipFill>
        <p:spPr>
          <a:xfrm>
            <a:off x="8211312" y="118872"/>
            <a:ext cx="512064" cy="502920"/>
          </a:xfrm>
          <a:prstGeom prst="rect">
            <a:avLst/>
          </a:prstGeom>
        </p:spPr>
      </p:pic>
      <p:sp>
        <p:nvSpPr>
          <p:cNvPr id="4" name="Text 0"/>
          <p:cNvSpPr/>
          <p:nvPr/>
        </p:nvSpPr>
        <p:spPr>
          <a:xfrm>
            <a:off x="457200" y="4754880"/>
            <a:ext cx="5486400" cy="228600"/>
          </a:xfrm>
          <a:prstGeom prst="rect">
            <a:avLst/>
          </a:prstGeom>
          <a:noFill/>
          <a:ln/>
        </p:spPr>
        <p:txBody>
          <a:bodyPr wrap="square" lIns="0" tIns="0" rIns="0" bIns="0" rtlCol="0" anchor="ctr"/>
          <a:lstStyle/>
          <a:p>
            <a:pPr indent="0" marL="0">
              <a:buNone/>
            </a:pPr>
            <a:r>
              <a:rPr lang="en-US" sz="900" dirty="0">
                <a:solidFill>
                  <a:srgbClr val="586676"/>
                </a:solidFill>
                <a:latin typeface="Calibri" pitchFamily="34" charset="0"/>
                <a:ea typeface="Calibri" pitchFamily="34" charset="-122"/>
                <a:cs typeface="Calibri" pitchFamily="34" charset="-120"/>
              </a:rPr>
              <a:t>AI CREATORS  ·  AI skills for content, marketing and automation</a:t>
            </a:r>
            <a:endParaRPr lang="en-US" sz="9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68680"/>
            <a:ext cx="5486400" cy="274320"/>
          </a:xfrm>
          <a:prstGeom prst="rect">
            <a:avLst/>
          </a:prstGeom>
          <a:noFill/>
          <a:ln/>
        </p:spPr>
        <p:txBody>
          <a:bodyPr wrap="square" lIns="0" tIns="0" rIns="0" bIns="0" rtlCol="0" anchor="t"/>
          <a:lstStyle/>
          <a:p>
            <a:pPr indent="0" marL="0">
              <a:buNone/>
            </a:pPr>
            <a:r>
              <a:rPr lang="en-US" sz="1200" b="1" dirty="0">
                <a:solidFill>
                  <a:srgbClr val="F2A541"/>
                </a:solidFill>
                <a:latin typeface="Calibri" pitchFamily="34" charset="0"/>
                <a:ea typeface="Calibri" pitchFamily="34" charset="-122"/>
                <a:cs typeface="Calibri" pitchFamily="34" charset="-120"/>
              </a:rPr>
              <a:t>TRAINING PROPOSAL  ·  96 HOURS  ·  12 WEEKS</a:t>
            </a:r>
            <a:endParaRPr lang="en-US" sz="1200" dirty="0"/>
          </a:p>
        </p:txBody>
      </p:sp>
      <p:sp>
        <p:nvSpPr>
          <p:cNvPr id="3" name="Text 1"/>
          <p:cNvSpPr txBox="1"/>
          <p:nvPr/>
        </p:nvSpPr>
        <p:spPr>
          <a:xfrm>
            <a:off x="548640" y="1188720"/>
            <a:ext cx="566928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AI CREATORS</a:t>
            </a:r>
            <a:endParaRPr lang="en-US" sz="5000" dirty="0"/>
          </a:p>
        </p:txBody>
      </p:sp>
      <p:sp>
        <p:nvSpPr>
          <p:cNvPr id="4" name="Text 2"/>
          <p:cNvSpPr txBox="1"/>
          <p:nvPr/>
        </p:nvSpPr>
        <p:spPr>
          <a:xfrm>
            <a:off x="548640" y="2011680"/>
            <a:ext cx="3657600" cy="457200"/>
          </a:xfrm>
          <a:prstGeom prst="rect">
            <a:avLst/>
          </a:prstGeom>
          <a:noFill/>
          <a:ln/>
        </p:spPr>
        <p:txBody>
          <a:bodyPr wrap="square" lIns="0" tIns="0" rIns="0" bIns="0" rtlCol="0" anchor="t"/>
          <a:lstStyle/>
          <a:p>
            <a:pPr rtl="1" algn="l" indent="0" marL="0">
              <a:buNone/>
            </a:pPr>
            <a:r>
              <a:rPr lang="ar-SA" altLang="en-US" sz="2400" b="1" dirty="0">
                <a:solidFill>
                  <a:srgbClr val="F2A541"/>
                </a:solidFill>
                <a:latin typeface="Arial" pitchFamily="34" charset="0"/>
                <a:ea typeface="Arial" pitchFamily="34" charset="-122"/>
                <a:cs typeface="Arial" pitchFamily="34" charset="-120"/>
              </a:rPr>
              <a:t>صُنّاع المحتوى</a:t>
            </a:r>
            <a:endParaRPr lang="ar-SA" sz="2400" dirty="0"/>
          </a:p>
        </p:txBody>
      </p:sp>
      <p:sp>
        <p:nvSpPr>
          <p:cNvPr id="5" name="Text 3"/>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1600" dirty="0">
                <a:solidFill>
                  <a:srgbClr val="D9E1EA"/>
                </a:solidFill>
                <a:latin typeface="Calibri" pitchFamily="34" charset="0"/>
                <a:ea typeface="Calibri" pitchFamily="34" charset="-122"/>
                <a:cs typeface="Calibri" pitchFamily="34" charset="-120"/>
              </a:rPr>
              <a:t>AI-powered content creation, digital marketing, automation and freelancing: from a client's idea to a finished, published campaign</a:t>
            </a:r>
            <a:endParaRPr lang="en-US" sz="1600" dirty="0"/>
          </a:p>
        </p:txBody>
      </p:sp>
      <p:pic>
        <p:nvPicPr>
          <p:cNvPr id="6" name="Image 0" descr="Green Circle logo">    </p:cNvPr>
          <p:cNvPicPr>
            <a:picLocks noChangeAspect="1"/>
          </p:cNvPicPr>
          <p:nvPr/>
        </p:nvPicPr>
        <p:blipFill>
          <a:blip r:embed="rId1"/>
          <a:stretch>
            <a:fillRect/>
          </a:stretch>
        </p:blipFill>
        <p:spPr>
          <a:xfrm>
            <a:off x="566928" y="3703320"/>
            <a:ext cx="1600200" cy="568683"/>
          </a:xfrm>
          <a:prstGeom prst="rect">
            <a:avLst/>
          </a:prstGeom>
        </p:spPr>
      </p:pic>
      <p:sp>
        <p:nvSpPr>
          <p:cNvPr id="7" name="Shape 4"/>
          <p:cNvSpPr/>
          <p:nvPr/>
        </p:nvSpPr>
        <p:spPr>
          <a:xfrm>
            <a:off x="2514600" y="3611880"/>
            <a:ext cx="0" cy="777240"/>
          </a:xfrm>
          <a:prstGeom prst="line">
            <a:avLst/>
          </a:prstGeom>
          <a:noFill/>
          <a:ln w="12700">
            <a:solidFill>
              <a:srgbClr val="AAB1B9"/>
            </a:solidFill>
            <a:prstDash val="solid"/>
          </a:ln>
        </p:spPr>
      </p:sp>
      <p:pic>
        <p:nvPicPr>
          <p:cNvPr id="8" name="Image 1" descr="Jubilee Institute logo">    </p:cNvPr>
          <p:cNvPicPr>
            <a:picLocks noChangeAspect="1"/>
          </p:cNvPicPr>
          <p:nvPr/>
        </p:nvPicPr>
        <p:blipFill>
          <a:blip r:embed="rId2"/>
          <a:stretch>
            <a:fillRect/>
          </a:stretch>
        </p:blipFill>
        <p:spPr>
          <a:xfrm>
            <a:off x="2788920" y="3593592"/>
            <a:ext cx="896112" cy="714876"/>
          </a:xfrm>
          <a:prstGeom prst="rect">
            <a:avLst/>
          </a:prstGeom>
        </p:spPr>
      </p:pic>
      <p:sp>
        <p:nvSpPr>
          <p:cNvPr id="9" name="Text 5"/>
          <p:cNvSpPr txBox="1"/>
          <p:nvPr/>
        </p:nvSpPr>
        <p:spPr>
          <a:xfrm>
            <a:off x="548640" y="4736592"/>
            <a:ext cx="5486400" cy="228600"/>
          </a:xfrm>
          <a:prstGeom prst="rect">
            <a:avLst/>
          </a:prstGeom>
          <a:noFill/>
          <a:ln/>
        </p:spPr>
        <p:txBody>
          <a:bodyPr wrap="square" lIns="0" tIns="0" rIns="0" bIns="0" rtlCol="0" anchor="t"/>
          <a:lstStyle/>
          <a:p>
            <a:pPr indent="0" marL="0">
              <a:buNone/>
            </a:pPr>
            <a:r>
              <a:rPr lang="en-US" sz="900" dirty="0">
                <a:solidFill>
                  <a:srgbClr val="C9D1DA"/>
                </a:solidFill>
                <a:latin typeface="Calibri" pitchFamily="34" charset="0"/>
                <a:ea typeface="Calibri" pitchFamily="34" charset="-122"/>
                <a:cs typeface="Calibri" pitchFamily="34" charset="-120"/>
              </a:rPr>
              <a:t>*Proposed host, subject to mutual agreement. AI Creators is a working title.</a:t>
            </a:r>
            <a:endParaRPr lang="en-US" sz="900" dirty="0"/>
          </a:p>
        </p:txBody>
      </p:sp>
      <p:sp>
        <p:nvSpPr>
          <p:cNvPr id="10" name="Shape 6"/>
          <p:cNvSpPr/>
          <p:nvPr/>
        </p:nvSpPr>
        <p:spPr>
          <a:xfrm>
            <a:off x="6400800" y="1810512"/>
            <a:ext cx="1508760" cy="1508760"/>
          </a:xfrm>
          <a:prstGeom prst="ellipse">
            <a:avLst/>
          </a:prstGeom>
          <a:solidFill>
            <a:srgbClr val="0A8577"/>
          </a:solidFill>
          <a:ln w="38100">
            <a:solidFill>
              <a:srgbClr val="F2A541"/>
            </a:solidFill>
            <a:prstDash val="solid"/>
          </a:ln>
        </p:spPr>
      </p:sp>
      <p:pic>
        <p:nvPicPr>
          <p:cNvPr id="11" name="Image 2" descr="preencoded.png">    </p:cNvPr>
          <p:cNvPicPr>
            <a:picLocks noChangeAspect="1"/>
          </p:cNvPicPr>
          <p:nvPr/>
        </p:nvPicPr>
        <p:blipFill>
          <a:blip r:embed="rId3"/>
          <a:stretch>
            <a:fillRect/>
          </a:stretch>
        </p:blipFill>
        <p:spPr>
          <a:xfrm>
            <a:off x="6812280" y="2221992"/>
            <a:ext cx="685800" cy="685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1  ·  THE PROGRAM</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The program at a glance</a:t>
            </a:r>
            <a:endParaRPr lang="en-US" sz="2500" dirty="0"/>
          </a:p>
        </p:txBody>
      </p:sp>
      <p:sp>
        <p:nvSpPr>
          <p:cNvPr id="5" name="Shape 3"/>
          <p:cNvSpPr/>
          <p:nvPr/>
        </p:nvSpPr>
        <p:spPr>
          <a:xfrm>
            <a:off x="457200" y="1325880"/>
            <a:ext cx="1929384" cy="1828800"/>
          </a:xfrm>
          <a:prstGeom prst="roundRect">
            <a:avLst>
              <a:gd name="adj" fmla="val 3000"/>
            </a:avLst>
          </a:prstGeom>
          <a:solidFill>
            <a:srgbClr val="10233A"/>
          </a:solidFill>
          <a:ln w="12700">
            <a:solidFill>
              <a:srgbClr val="10233A"/>
            </a:solidFill>
            <a:prstDash val="solid"/>
          </a:ln>
        </p:spPr>
      </p:sp>
      <p:sp>
        <p:nvSpPr>
          <p:cNvPr id="6" name="Shape 4"/>
          <p:cNvSpPr/>
          <p:nvPr/>
        </p:nvSpPr>
        <p:spPr>
          <a:xfrm>
            <a:off x="1243584" y="1463040"/>
            <a:ext cx="365760" cy="365760"/>
          </a:xfrm>
          <a:prstGeom prst="ellipse">
            <a:avLst/>
          </a:prstGeom>
          <a:solidFill>
            <a:srgbClr val="F2A541"/>
          </a:solidFill>
          <a:ln w="12700">
            <a:solidFill>
              <a:srgbClr val="F2A541"/>
            </a:solidFill>
            <a:prstDash val="solid"/>
          </a:ln>
        </p:spPr>
      </p:sp>
      <p:sp>
        <p:nvSpPr>
          <p:cNvPr id="7" name="Text 5"/>
          <p:cNvSpPr txBox="1"/>
          <p:nvPr/>
        </p:nvSpPr>
        <p:spPr>
          <a:xfrm>
            <a:off x="457200" y="1901952"/>
            <a:ext cx="1929384" cy="566928"/>
          </a:xfrm>
          <a:prstGeom prst="rect">
            <a:avLst/>
          </a:prstGeom>
          <a:noFill/>
          <a:ln/>
        </p:spPr>
        <p:txBody>
          <a:bodyPr wrap="square" lIns="0" tIns="0" rIns="0" bIns="0" rtlCol="0" anchor="ctr"/>
          <a:lstStyle/>
          <a:p>
            <a:pPr algn="ctr" indent="0" marL="0">
              <a:buNone/>
            </a:pPr>
            <a:r>
              <a:rPr lang="en-US" sz="3200" b="1" dirty="0">
                <a:solidFill>
                  <a:srgbClr val="F2A541"/>
                </a:solidFill>
                <a:latin typeface="Cambria" pitchFamily="34" charset="0"/>
                <a:ea typeface="Cambria" pitchFamily="34" charset="-122"/>
                <a:cs typeface="Cambria" pitchFamily="34" charset="-120"/>
              </a:rPr>
              <a:t>96</a:t>
            </a:r>
            <a:endParaRPr lang="en-US" sz="3200" dirty="0"/>
          </a:p>
        </p:txBody>
      </p:sp>
      <p:sp>
        <p:nvSpPr>
          <p:cNvPr id="8" name="Text 6"/>
          <p:cNvSpPr txBox="1"/>
          <p:nvPr/>
        </p:nvSpPr>
        <p:spPr>
          <a:xfrm>
            <a:off x="566928" y="2487168"/>
            <a:ext cx="1709928" cy="5486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training hours</a:t>
            </a:r>
            <a:endParaRPr lang="en-US" sz="1300" dirty="0"/>
          </a:p>
        </p:txBody>
      </p:sp>
      <p:sp>
        <p:nvSpPr>
          <p:cNvPr id="9" name="Shape 7"/>
          <p:cNvSpPr/>
          <p:nvPr/>
        </p:nvSpPr>
        <p:spPr>
          <a:xfrm>
            <a:off x="2551176" y="1325880"/>
            <a:ext cx="1929384" cy="1828800"/>
          </a:xfrm>
          <a:prstGeom prst="roundRect">
            <a:avLst>
              <a:gd name="adj" fmla="val 3000"/>
            </a:avLst>
          </a:prstGeom>
          <a:solidFill>
            <a:srgbClr val="0A8577"/>
          </a:solidFill>
          <a:ln w="12700">
            <a:solidFill>
              <a:srgbClr val="0A8577"/>
            </a:solidFill>
            <a:prstDash val="solid"/>
          </a:ln>
        </p:spPr>
      </p:sp>
      <p:sp>
        <p:nvSpPr>
          <p:cNvPr id="10" name="Shape 8"/>
          <p:cNvSpPr/>
          <p:nvPr/>
        </p:nvSpPr>
        <p:spPr>
          <a:xfrm>
            <a:off x="3337560" y="1463040"/>
            <a:ext cx="365760" cy="365760"/>
          </a:xfrm>
          <a:prstGeom prst="ellipse">
            <a:avLst/>
          </a:prstGeom>
          <a:solidFill>
            <a:srgbClr val="F2A541"/>
          </a:solidFill>
          <a:ln w="12700">
            <a:solidFill>
              <a:srgbClr val="F2A541"/>
            </a:solidFill>
            <a:prstDash val="solid"/>
          </a:ln>
        </p:spPr>
      </p:sp>
      <p:sp>
        <p:nvSpPr>
          <p:cNvPr id="11" name="Text 9"/>
          <p:cNvSpPr txBox="1"/>
          <p:nvPr/>
        </p:nvSpPr>
        <p:spPr>
          <a:xfrm>
            <a:off x="2551176" y="1901952"/>
            <a:ext cx="1929384" cy="566928"/>
          </a:xfrm>
          <a:prstGeom prst="rect">
            <a:avLst/>
          </a:prstGeom>
          <a:noFill/>
          <a:ln/>
        </p:spPr>
        <p:txBody>
          <a:bodyPr wrap="square" lIns="0" tIns="0" rIns="0" bIns="0" rtlCol="0" anchor="ctr"/>
          <a:lstStyle/>
          <a:p>
            <a:pPr algn="ctr" indent="0" marL="0">
              <a:buNone/>
            </a:pPr>
            <a:r>
              <a:rPr lang="en-US" sz="3200" b="1" dirty="0">
                <a:solidFill>
                  <a:srgbClr val="F2A541"/>
                </a:solidFill>
                <a:latin typeface="Cambria" pitchFamily="34" charset="0"/>
                <a:ea typeface="Cambria" pitchFamily="34" charset="-122"/>
                <a:cs typeface="Cambria" pitchFamily="34" charset="-120"/>
              </a:rPr>
              <a:t>32</a:t>
            </a:r>
            <a:endParaRPr lang="en-US" sz="3200" dirty="0"/>
          </a:p>
        </p:txBody>
      </p:sp>
      <p:sp>
        <p:nvSpPr>
          <p:cNvPr id="12" name="Text 10"/>
          <p:cNvSpPr txBox="1"/>
          <p:nvPr/>
        </p:nvSpPr>
        <p:spPr>
          <a:xfrm>
            <a:off x="2660904" y="2487168"/>
            <a:ext cx="1709928" cy="5486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sessions of 3 hours</a:t>
            </a:r>
            <a:endParaRPr lang="en-US" sz="1300" dirty="0"/>
          </a:p>
        </p:txBody>
      </p:sp>
      <p:sp>
        <p:nvSpPr>
          <p:cNvPr id="13" name="Shape 11"/>
          <p:cNvSpPr/>
          <p:nvPr/>
        </p:nvSpPr>
        <p:spPr>
          <a:xfrm>
            <a:off x="4645152" y="1325880"/>
            <a:ext cx="1929384" cy="1828800"/>
          </a:xfrm>
          <a:prstGeom prst="roundRect">
            <a:avLst>
              <a:gd name="adj" fmla="val 3000"/>
            </a:avLst>
          </a:prstGeom>
          <a:solidFill>
            <a:srgbClr val="10233A"/>
          </a:solidFill>
          <a:ln w="12700">
            <a:solidFill>
              <a:srgbClr val="10233A"/>
            </a:solidFill>
            <a:prstDash val="solid"/>
          </a:ln>
        </p:spPr>
      </p:sp>
      <p:sp>
        <p:nvSpPr>
          <p:cNvPr id="14" name="Shape 12"/>
          <p:cNvSpPr/>
          <p:nvPr/>
        </p:nvSpPr>
        <p:spPr>
          <a:xfrm>
            <a:off x="5431536" y="1463040"/>
            <a:ext cx="365760" cy="365760"/>
          </a:xfrm>
          <a:prstGeom prst="ellipse">
            <a:avLst/>
          </a:prstGeom>
          <a:solidFill>
            <a:srgbClr val="F2A541"/>
          </a:solidFill>
          <a:ln w="12700">
            <a:solidFill>
              <a:srgbClr val="F2A541"/>
            </a:solidFill>
            <a:prstDash val="solid"/>
          </a:ln>
        </p:spPr>
      </p:sp>
      <p:sp>
        <p:nvSpPr>
          <p:cNvPr id="15" name="Text 13"/>
          <p:cNvSpPr txBox="1"/>
          <p:nvPr/>
        </p:nvSpPr>
        <p:spPr>
          <a:xfrm>
            <a:off x="4645152" y="1901952"/>
            <a:ext cx="1929384" cy="566928"/>
          </a:xfrm>
          <a:prstGeom prst="rect">
            <a:avLst/>
          </a:prstGeom>
          <a:noFill/>
          <a:ln/>
        </p:spPr>
        <p:txBody>
          <a:bodyPr wrap="square" lIns="0" tIns="0" rIns="0" bIns="0" rtlCol="0" anchor="ctr"/>
          <a:lstStyle/>
          <a:p>
            <a:pPr algn="ctr" indent="0" marL="0">
              <a:buNone/>
            </a:pPr>
            <a:r>
              <a:rPr lang="en-US" sz="3200" b="1" dirty="0">
                <a:solidFill>
                  <a:srgbClr val="F2A541"/>
                </a:solidFill>
                <a:latin typeface="Cambria" pitchFamily="34" charset="0"/>
                <a:ea typeface="Cambria" pitchFamily="34" charset="-122"/>
                <a:cs typeface="Cambria" pitchFamily="34" charset="-120"/>
              </a:rPr>
              <a:t>70%</a:t>
            </a:r>
            <a:endParaRPr lang="en-US" sz="3200" dirty="0"/>
          </a:p>
        </p:txBody>
      </p:sp>
      <p:sp>
        <p:nvSpPr>
          <p:cNvPr id="16" name="Text 14"/>
          <p:cNvSpPr txBox="1"/>
          <p:nvPr/>
        </p:nvSpPr>
        <p:spPr>
          <a:xfrm>
            <a:off x="4754880" y="2487168"/>
            <a:ext cx="1709928" cy="5486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hands-on practice</a:t>
            </a:r>
            <a:endParaRPr lang="en-US" sz="1300" dirty="0"/>
          </a:p>
        </p:txBody>
      </p:sp>
      <p:sp>
        <p:nvSpPr>
          <p:cNvPr id="17" name="Shape 15"/>
          <p:cNvSpPr/>
          <p:nvPr/>
        </p:nvSpPr>
        <p:spPr>
          <a:xfrm>
            <a:off x="6739128" y="1325880"/>
            <a:ext cx="1929384" cy="1828800"/>
          </a:xfrm>
          <a:prstGeom prst="roundRect">
            <a:avLst>
              <a:gd name="adj" fmla="val 3000"/>
            </a:avLst>
          </a:prstGeom>
          <a:solidFill>
            <a:srgbClr val="0A8577"/>
          </a:solidFill>
          <a:ln w="12700">
            <a:solidFill>
              <a:srgbClr val="0A8577"/>
            </a:solidFill>
            <a:prstDash val="solid"/>
          </a:ln>
        </p:spPr>
      </p:sp>
      <p:sp>
        <p:nvSpPr>
          <p:cNvPr id="18" name="Shape 16"/>
          <p:cNvSpPr/>
          <p:nvPr/>
        </p:nvSpPr>
        <p:spPr>
          <a:xfrm>
            <a:off x="7525512" y="1463040"/>
            <a:ext cx="365760" cy="365760"/>
          </a:xfrm>
          <a:prstGeom prst="ellipse">
            <a:avLst/>
          </a:prstGeom>
          <a:solidFill>
            <a:srgbClr val="F2A541"/>
          </a:solidFill>
          <a:ln w="12700">
            <a:solidFill>
              <a:srgbClr val="F2A541"/>
            </a:solidFill>
            <a:prstDash val="solid"/>
          </a:ln>
        </p:spPr>
      </p:sp>
      <p:sp>
        <p:nvSpPr>
          <p:cNvPr id="19" name="Text 17"/>
          <p:cNvSpPr txBox="1"/>
          <p:nvPr/>
        </p:nvSpPr>
        <p:spPr>
          <a:xfrm>
            <a:off x="6739128" y="1901952"/>
            <a:ext cx="1929384" cy="566928"/>
          </a:xfrm>
          <a:prstGeom prst="rect">
            <a:avLst/>
          </a:prstGeom>
          <a:noFill/>
          <a:ln/>
        </p:spPr>
        <p:txBody>
          <a:bodyPr wrap="square" lIns="0" tIns="0" rIns="0" bIns="0" rtlCol="0" anchor="ctr"/>
          <a:lstStyle/>
          <a:p>
            <a:pPr algn="ctr" indent="0" marL="0">
              <a:buNone/>
            </a:pPr>
            <a:r>
              <a:rPr lang="en-US" sz="3200" b="1" dirty="0">
                <a:solidFill>
                  <a:srgbClr val="F2A541"/>
                </a:solidFill>
                <a:latin typeface="Cambria" pitchFamily="34" charset="0"/>
                <a:ea typeface="Cambria" pitchFamily="34" charset="-122"/>
                <a:cs typeface="Cambria" pitchFamily="34" charset="-120"/>
              </a:rPr>
              <a:t>12</a:t>
            </a:r>
            <a:endParaRPr lang="en-US" sz="3200" dirty="0"/>
          </a:p>
        </p:txBody>
      </p:sp>
      <p:sp>
        <p:nvSpPr>
          <p:cNvPr id="20" name="Text 18"/>
          <p:cNvSpPr txBox="1"/>
          <p:nvPr/>
        </p:nvSpPr>
        <p:spPr>
          <a:xfrm>
            <a:off x="6848856" y="2487168"/>
            <a:ext cx="1709928" cy="548640"/>
          </a:xfrm>
          <a:prstGeom prst="rect">
            <a:avLst/>
          </a:prstGeom>
          <a:noFill/>
          <a:ln/>
        </p:spPr>
        <p:txBody>
          <a:bodyPr wrap="square" lIns="0" tIns="0" rIns="0" bIns="0" rtlCol="0" anchor="t"/>
          <a:lstStyle/>
          <a:p>
            <a:pPr algn="ctr" indent="0" marL="0">
              <a:buNone/>
            </a:pPr>
            <a:r>
              <a:rPr lang="en-US" sz="1300" dirty="0">
                <a:solidFill>
                  <a:srgbClr val="FFFFFF"/>
                </a:solidFill>
                <a:latin typeface="Calibri" pitchFamily="34" charset="0"/>
                <a:ea typeface="Calibri" pitchFamily="34" charset="-122"/>
                <a:cs typeface="Calibri" pitchFamily="34" charset="-120"/>
              </a:rPr>
              <a:t>weeks, including 1 buffer week</a:t>
            </a:r>
            <a:endParaRPr lang="en-US" sz="1300" dirty="0"/>
          </a:p>
        </p:txBody>
      </p:sp>
      <p:sp>
        <p:nvSpPr>
          <p:cNvPr id="21" name="Shape 19"/>
          <p:cNvSpPr/>
          <p:nvPr/>
        </p:nvSpPr>
        <p:spPr>
          <a:xfrm>
            <a:off x="457200" y="3383280"/>
            <a:ext cx="4023360" cy="1234440"/>
          </a:xfrm>
          <a:prstGeom prst="roundRect">
            <a:avLst>
              <a:gd name="adj" fmla="val 4444"/>
            </a:avLst>
          </a:prstGeom>
          <a:solidFill>
            <a:srgbClr val="F3F6F8"/>
          </a:solidFill>
          <a:ln w="12700">
            <a:solidFill>
              <a:srgbClr val="F3F6F8"/>
            </a:solidFill>
            <a:prstDash val="solid"/>
          </a:ln>
        </p:spPr>
      </p:sp>
      <p:sp>
        <p:nvSpPr>
          <p:cNvPr id="22" name="Shape 20"/>
          <p:cNvSpPr/>
          <p:nvPr/>
        </p:nvSpPr>
        <p:spPr>
          <a:xfrm>
            <a:off x="594360" y="3502152"/>
            <a:ext cx="365760" cy="365760"/>
          </a:xfrm>
          <a:prstGeom prst="ellipse">
            <a:avLst/>
          </a:prstGeom>
          <a:solidFill>
            <a:srgbClr val="0A8577"/>
          </a:solidFill>
          <a:ln w="12700">
            <a:solidFill>
              <a:srgbClr val="0A8577"/>
            </a:solidFill>
            <a:prstDash val="solid"/>
          </a:ln>
        </p:spPr>
      </p:sp>
      <p:sp>
        <p:nvSpPr>
          <p:cNvPr id="23" name="Text 21"/>
          <p:cNvSpPr txBox="1"/>
          <p:nvPr/>
        </p:nvSpPr>
        <p:spPr>
          <a:xfrm>
            <a:off x="1051560" y="3502152"/>
            <a:ext cx="3291840" cy="365760"/>
          </a:xfrm>
          <a:prstGeom prst="rect">
            <a:avLst/>
          </a:prstGeom>
          <a:noFill/>
          <a:ln/>
        </p:spPr>
        <p:txBody>
          <a:bodyPr wrap="square" lIns="0" tIns="0" rIns="0" bIns="0" rtlCol="0" anchor="ctr"/>
          <a:lstStyle/>
          <a:p>
            <a:pPr indent="0" marL="0">
              <a:buNone/>
            </a:pPr>
            <a:r>
              <a:rPr lang="en-US" sz="1500" b="1" dirty="0">
                <a:solidFill>
                  <a:srgbClr val="0A8577"/>
                </a:solidFill>
                <a:latin typeface="Calibri" pitchFamily="34" charset="0"/>
                <a:ea typeface="Calibri" pitchFamily="34" charset="-122"/>
                <a:cs typeface="Calibri" pitchFamily="34" charset="-120"/>
              </a:rPr>
              <a:t>What success looks like</a:t>
            </a:r>
            <a:endParaRPr lang="en-US" sz="1500" dirty="0"/>
          </a:p>
        </p:txBody>
      </p:sp>
      <p:sp>
        <p:nvSpPr>
          <p:cNvPr id="24" name="Text 22"/>
          <p:cNvSpPr txBox="1"/>
          <p:nvPr/>
        </p:nvSpPr>
        <p:spPr>
          <a:xfrm>
            <a:off x="594360" y="3931920"/>
            <a:ext cx="3794760" cy="640080"/>
          </a:xfrm>
          <a:prstGeom prst="rect">
            <a:avLst/>
          </a:prstGeom>
          <a:noFill/>
          <a:ln/>
        </p:spPr>
        <p:txBody>
          <a:bodyPr wrap="square" lIns="0" tIns="0" rIns="0" bIns="0" rtlCol="0" anchor="t"/>
          <a:lstStyle/>
          <a:p>
            <a:pPr indent="0" marL="0">
              <a:buNone/>
            </a:pPr>
            <a:r>
              <a:rPr lang="en-US" sz="1250" dirty="0">
                <a:solidFill>
                  <a:srgbClr val="2B3A4A"/>
                </a:solidFill>
                <a:latin typeface="Calibri" pitchFamily="34" charset="0"/>
                <a:ea typeface="Calibri" pitchFamily="34" charset="-122"/>
                <a:cs typeface="Calibri" pitchFamily="34" charset="-120"/>
              </a:rPr>
              <a:t>85% complete · +25-point average skills gain · every participant leaves with a portfolio of 8 pieces of work (proposed targets)</a:t>
            </a:r>
            <a:endParaRPr lang="en-US" sz="1250" dirty="0"/>
          </a:p>
        </p:txBody>
      </p:sp>
      <p:sp>
        <p:nvSpPr>
          <p:cNvPr id="25" name="Shape 23"/>
          <p:cNvSpPr/>
          <p:nvPr/>
        </p:nvSpPr>
        <p:spPr>
          <a:xfrm>
            <a:off x="4663440" y="3383280"/>
            <a:ext cx="4023360" cy="1234440"/>
          </a:xfrm>
          <a:prstGeom prst="roundRect">
            <a:avLst>
              <a:gd name="adj" fmla="val 4444"/>
            </a:avLst>
          </a:prstGeom>
          <a:solidFill>
            <a:srgbClr val="F3F6F8"/>
          </a:solidFill>
          <a:ln w="12700">
            <a:solidFill>
              <a:srgbClr val="F3F6F8"/>
            </a:solidFill>
            <a:prstDash val="solid"/>
          </a:ln>
        </p:spPr>
      </p:sp>
      <p:sp>
        <p:nvSpPr>
          <p:cNvPr id="26" name="Text 24"/>
          <p:cNvSpPr txBox="1"/>
          <p:nvPr/>
        </p:nvSpPr>
        <p:spPr>
          <a:xfrm>
            <a:off x="4800600" y="3474720"/>
            <a:ext cx="3657600" cy="320040"/>
          </a:xfrm>
          <a:prstGeom prst="rect">
            <a:avLst/>
          </a:prstGeom>
          <a:noFill/>
          <a:ln/>
        </p:spPr>
        <p:txBody>
          <a:bodyPr wrap="square" lIns="0" tIns="0" rIns="0" bIns="0" rtlCol="0" anchor="t"/>
          <a:lstStyle/>
          <a:p>
            <a:pPr indent="0" marL="0">
              <a:buNone/>
            </a:pPr>
            <a:r>
              <a:rPr lang="en-US" sz="1500" b="1" dirty="0">
                <a:solidFill>
                  <a:srgbClr val="0A8577"/>
                </a:solidFill>
                <a:latin typeface="Calibri" pitchFamily="34" charset="0"/>
                <a:ea typeface="Calibri" pitchFamily="34" charset="-122"/>
                <a:cs typeface="Calibri" pitchFamily="34" charset="-120"/>
              </a:rPr>
              <a:t>The partnership</a:t>
            </a:r>
            <a:endParaRPr lang="en-US" sz="1500" dirty="0"/>
          </a:p>
        </p:txBody>
      </p:sp>
      <p:sp>
        <p:nvSpPr>
          <p:cNvPr id="27" name="Shape 25"/>
          <p:cNvSpPr/>
          <p:nvPr/>
        </p:nvSpPr>
        <p:spPr>
          <a:xfrm>
            <a:off x="4800600" y="3858768"/>
            <a:ext cx="1188720" cy="658368"/>
          </a:xfrm>
          <a:prstGeom prst="roundRect">
            <a:avLst>
              <a:gd name="adj" fmla="val 8333"/>
            </a:avLst>
          </a:prstGeom>
          <a:solidFill>
            <a:srgbClr val="10233A"/>
          </a:solidFill>
          <a:ln w="12700">
            <a:solidFill>
              <a:srgbClr val="10233A"/>
            </a:solidFill>
            <a:prstDash val="solid"/>
          </a:ln>
        </p:spPr>
      </p:sp>
      <p:sp>
        <p:nvSpPr>
          <p:cNvPr id="28" name="Text 26"/>
          <p:cNvSpPr txBox="1"/>
          <p:nvPr/>
        </p:nvSpPr>
        <p:spPr>
          <a:xfrm>
            <a:off x="4800600" y="3904488"/>
            <a:ext cx="1188720" cy="228600"/>
          </a:xfrm>
          <a:prstGeom prst="rect">
            <a:avLst/>
          </a:prstGeom>
          <a:noFill/>
          <a:ln/>
        </p:spPr>
        <p:txBody>
          <a:bodyPr wrap="square" lIns="0" tIns="0" rIns="0" bIns="0" rtlCol="0" anchor="t"/>
          <a:lstStyle/>
          <a:p>
            <a:pPr algn="ctr" indent="0" marL="0">
              <a:buNone/>
            </a:pPr>
            <a:r>
              <a:rPr lang="en-US" sz="850" b="1" dirty="0">
                <a:solidFill>
                  <a:srgbClr val="F2A541"/>
                </a:solidFill>
                <a:latin typeface="Calibri" pitchFamily="34" charset="0"/>
                <a:ea typeface="Calibri" pitchFamily="34" charset="-122"/>
                <a:cs typeface="Calibri" pitchFamily="34" charset="-120"/>
              </a:rPr>
              <a:t>LEAD</a:t>
            </a:r>
            <a:endParaRPr lang="en-US" sz="850" dirty="0"/>
          </a:p>
        </p:txBody>
      </p:sp>
      <p:sp>
        <p:nvSpPr>
          <p:cNvPr id="29" name="Text 27"/>
          <p:cNvSpPr txBox="1"/>
          <p:nvPr/>
        </p:nvSpPr>
        <p:spPr>
          <a:xfrm>
            <a:off x="4800600" y="4133088"/>
            <a:ext cx="118872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Green Circle</a:t>
            </a:r>
            <a:endParaRPr lang="en-US" sz="1150" dirty="0"/>
          </a:p>
        </p:txBody>
      </p:sp>
      <p:sp>
        <p:nvSpPr>
          <p:cNvPr id="30" name="Shape 28"/>
          <p:cNvSpPr/>
          <p:nvPr/>
        </p:nvSpPr>
        <p:spPr>
          <a:xfrm>
            <a:off x="6080760" y="3858768"/>
            <a:ext cx="1188720" cy="658368"/>
          </a:xfrm>
          <a:prstGeom prst="roundRect">
            <a:avLst>
              <a:gd name="adj" fmla="val 8333"/>
            </a:avLst>
          </a:prstGeom>
          <a:solidFill>
            <a:srgbClr val="10233A"/>
          </a:solidFill>
          <a:ln w="12700">
            <a:solidFill>
              <a:srgbClr val="10233A"/>
            </a:solidFill>
            <a:prstDash val="solid"/>
          </a:ln>
        </p:spPr>
      </p:sp>
      <p:sp>
        <p:nvSpPr>
          <p:cNvPr id="31" name="Text 29"/>
          <p:cNvSpPr txBox="1"/>
          <p:nvPr/>
        </p:nvSpPr>
        <p:spPr>
          <a:xfrm>
            <a:off x="6080760" y="3904488"/>
            <a:ext cx="1188720" cy="228600"/>
          </a:xfrm>
          <a:prstGeom prst="rect">
            <a:avLst/>
          </a:prstGeom>
          <a:noFill/>
          <a:ln/>
        </p:spPr>
        <p:txBody>
          <a:bodyPr wrap="square" lIns="0" tIns="0" rIns="0" bIns="0" rtlCol="0" anchor="t"/>
          <a:lstStyle/>
          <a:p>
            <a:pPr algn="ctr" indent="0" marL="0">
              <a:buNone/>
            </a:pPr>
            <a:r>
              <a:rPr lang="en-US" sz="850" b="1" dirty="0">
                <a:solidFill>
                  <a:srgbClr val="F2A541"/>
                </a:solidFill>
                <a:latin typeface="Calibri" pitchFamily="34" charset="0"/>
                <a:ea typeface="Calibri" pitchFamily="34" charset="-122"/>
                <a:cs typeface="Calibri" pitchFamily="34" charset="-120"/>
              </a:rPr>
              <a:t>PROPOSED HOST*</a:t>
            </a:r>
            <a:endParaRPr lang="en-US" sz="850" dirty="0"/>
          </a:p>
        </p:txBody>
      </p:sp>
      <p:sp>
        <p:nvSpPr>
          <p:cNvPr id="32" name="Text 30"/>
          <p:cNvSpPr txBox="1"/>
          <p:nvPr/>
        </p:nvSpPr>
        <p:spPr>
          <a:xfrm>
            <a:off x="6080760" y="4133088"/>
            <a:ext cx="118872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Jubilee Institute</a:t>
            </a:r>
            <a:endParaRPr lang="en-US" sz="1150" dirty="0"/>
          </a:p>
        </p:txBody>
      </p:sp>
      <p:sp>
        <p:nvSpPr>
          <p:cNvPr id="33" name="Shape 31"/>
          <p:cNvSpPr/>
          <p:nvPr/>
        </p:nvSpPr>
        <p:spPr>
          <a:xfrm>
            <a:off x="7360920" y="3858768"/>
            <a:ext cx="1188720" cy="658368"/>
          </a:xfrm>
          <a:prstGeom prst="roundRect">
            <a:avLst>
              <a:gd name="adj" fmla="val 8333"/>
            </a:avLst>
          </a:prstGeom>
          <a:solidFill>
            <a:srgbClr val="10233A"/>
          </a:solidFill>
          <a:ln w="12700">
            <a:solidFill>
              <a:srgbClr val="10233A"/>
            </a:solidFill>
            <a:prstDash val="solid"/>
          </a:ln>
        </p:spPr>
      </p:sp>
      <p:sp>
        <p:nvSpPr>
          <p:cNvPr id="34" name="Text 32"/>
          <p:cNvSpPr txBox="1"/>
          <p:nvPr/>
        </p:nvSpPr>
        <p:spPr>
          <a:xfrm>
            <a:off x="7360920" y="3904488"/>
            <a:ext cx="1188720" cy="228600"/>
          </a:xfrm>
          <a:prstGeom prst="rect">
            <a:avLst/>
          </a:prstGeom>
          <a:noFill/>
          <a:ln/>
        </p:spPr>
        <p:txBody>
          <a:bodyPr wrap="square" lIns="0" tIns="0" rIns="0" bIns="0" rtlCol="0" anchor="t"/>
          <a:lstStyle/>
          <a:p>
            <a:pPr algn="ctr" indent="0" marL="0">
              <a:buNone/>
            </a:pPr>
            <a:r>
              <a:rPr lang="en-US" sz="850" b="1" dirty="0">
                <a:solidFill>
                  <a:srgbClr val="F2A541"/>
                </a:solidFill>
                <a:latin typeface="Calibri" pitchFamily="34" charset="0"/>
                <a:ea typeface="Calibri" pitchFamily="34" charset="-122"/>
                <a:cs typeface="Calibri" pitchFamily="34" charset="-120"/>
              </a:rPr>
              <a:t>PARTICIPANTS</a:t>
            </a:r>
            <a:endParaRPr lang="en-US" sz="850" dirty="0"/>
          </a:p>
        </p:txBody>
      </p:sp>
      <p:sp>
        <p:nvSpPr>
          <p:cNvPr id="35" name="Text 33"/>
          <p:cNvSpPr txBox="1"/>
          <p:nvPr/>
        </p:nvSpPr>
        <p:spPr>
          <a:xfrm>
            <a:off x="7360920" y="4133088"/>
            <a:ext cx="118872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20 per cohort</a:t>
            </a:r>
            <a:endParaRPr lang="en-US" sz="1150" dirty="0"/>
          </a:p>
        </p:txBody>
      </p:sp>
      <p:pic>
        <p:nvPicPr>
          <p:cNvPr id="37" name="Image 0" descr="preencoded.png">    </p:cNvPr>
          <p:cNvPicPr>
            <a:picLocks noChangeAspect="1"/>
          </p:cNvPicPr>
          <p:nvPr/>
        </p:nvPicPr>
        <p:blipFill>
          <a:blip r:embed="rId1"/>
          <a:stretch>
            <a:fillRect/>
          </a:stretch>
        </p:blipFill>
        <p:spPr>
          <a:xfrm>
            <a:off x="3429000" y="1554480"/>
            <a:ext cx="182880" cy="182880"/>
          </a:xfrm>
          <a:prstGeom prst="rect">
            <a:avLst/>
          </a:prstGeom>
        </p:spPr>
      </p:pic>
      <p:pic>
        <p:nvPicPr>
          <p:cNvPr id="38" name="Image 1" descr="preencoded.png">    </p:cNvPr>
          <p:cNvPicPr>
            <a:picLocks noChangeAspect="1"/>
          </p:cNvPicPr>
          <p:nvPr/>
        </p:nvPicPr>
        <p:blipFill>
          <a:blip r:embed="rId2"/>
          <a:stretch>
            <a:fillRect/>
          </a:stretch>
        </p:blipFill>
        <p:spPr>
          <a:xfrm>
            <a:off x="1335024" y="1554480"/>
            <a:ext cx="182880" cy="182880"/>
          </a:xfrm>
          <a:prstGeom prst="rect">
            <a:avLst/>
          </a:prstGeom>
        </p:spPr>
      </p:pic>
      <p:pic>
        <p:nvPicPr>
          <p:cNvPr id="39" name="Image 2" descr="preencoded.png">    </p:cNvPr>
          <p:cNvPicPr>
            <a:picLocks noChangeAspect="1"/>
          </p:cNvPicPr>
          <p:nvPr/>
        </p:nvPicPr>
        <p:blipFill>
          <a:blip r:embed="rId3"/>
          <a:stretch>
            <a:fillRect/>
          </a:stretch>
        </p:blipFill>
        <p:spPr>
          <a:xfrm>
            <a:off x="5522976" y="1554480"/>
            <a:ext cx="182880" cy="182880"/>
          </a:xfrm>
          <a:prstGeom prst="rect">
            <a:avLst/>
          </a:prstGeom>
        </p:spPr>
      </p:pic>
      <p:pic>
        <p:nvPicPr>
          <p:cNvPr id="40" name="Image 3" descr="preencoded.png">    </p:cNvPr>
          <p:cNvPicPr>
            <a:picLocks noChangeAspect="1"/>
          </p:cNvPicPr>
          <p:nvPr/>
        </p:nvPicPr>
        <p:blipFill>
          <a:blip r:embed="rId4"/>
          <a:stretch>
            <a:fillRect/>
          </a:stretch>
        </p:blipFill>
        <p:spPr>
          <a:xfrm>
            <a:off x="7616952" y="1554480"/>
            <a:ext cx="182880" cy="182880"/>
          </a:xfrm>
          <a:prstGeom prst="rect">
            <a:avLst/>
          </a:prstGeom>
        </p:spPr>
      </p:pic>
      <p:pic>
        <p:nvPicPr>
          <p:cNvPr id="41" name="Image 4" descr="preencoded.png">    </p:cNvPr>
          <p:cNvPicPr>
            <a:picLocks noChangeAspect="1"/>
          </p:cNvPicPr>
          <p:nvPr/>
        </p:nvPicPr>
        <p:blipFill>
          <a:blip r:embed="rId5"/>
          <a:stretch>
            <a:fillRect/>
          </a:stretch>
        </p:blipFill>
        <p:spPr>
          <a:xfrm>
            <a:off x="685800" y="3593592"/>
            <a:ext cx="182880" cy="182880"/>
          </a:xfrm>
          <a:prstGeom prst="rect">
            <a:avLst/>
          </a:prstGeom>
        </p:spPr>
      </p:pic>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2  ·  WHY GREEN CIRCLE</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What Green Circle adds to the partnership</a:t>
            </a:r>
            <a:endParaRPr lang="en-US" sz="2500" dirty="0"/>
          </a:p>
        </p:txBody>
      </p:sp>
      <p:sp>
        <p:nvSpPr>
          <p:cNvPr id="5" name="Shape 3"/>
          <p:cNvSpPr/>
          <p:nvPr/>
        </p:nvSpPr>
        <p:spPr>
          <a:xfrm>
            <a:off x="457200" y="1298448"/>
            <a:ext cx="4892040" cy="585216"/>
          </a:xfrm>
          <a:prstGeom prst="roundRect">
            <a:avLst>
              <a:gd name="adj" fmla="val 9375"/>
            </a:avLst>
          </a:prstGeom>
          <a:solidFill>
            <a:srgbClr val="F3F6F8"/>
          </a:solidFill>
          <a:ln w="12700">
            <a:solidFill>
              <a:srgbClr val="F3F6F8"/>
            </a:solidFill>
            <a:prstDash val="solid"/>
          </a:ln>
        </p:spPr>
      </p:sp>
      <p:sp>
        <p:nvSpPr>
          <p:cNvPr id="6" name="Shape 4"/>
          <p:cNvSpPr/>
          <p:nvPr/>
        </p:nvSpPr>
        <p:spPr>
          <a:xfrm>
            <a:off x="566928" y="1399032"/>
            <a:ext cx="384048" cy="384048"/>
          </a:xfrm>
          <a:prstGeom prst="ellipse">
            <a:avLst/>
          </a:prstGeom>
          <a:solidFill>
            <a:srgbClr val="0A8577"/>
          </a:solidFill>
          <a:ln w="12700">
            <a:solidFill>
              <a:srgbClr val="0A8577"/>
            </a:solidFill>
            <a:prstDash val="solid"/>
          </a:ln>
        </p:spPr>
      </p:sp>
      <p:sp>
        <p:nvSpPr>
          <p:cNvPr id="7" name="Text 5"/>
          <p:cNvSpPr txBox="1"/>
          <p:nvPr/>
        </p:nvSpPr>
        <p:spPr>
          <a:xfrm>
            <a:off x="1051560" y="1298448"/>
            <a:ext cx="1508760" cy="585216"/>
          </a:xfrm>
          <a:prstGeom prst="rect">
            <a:avLst/>
          </a:prstGeom>
          <a:noFill/>
          <a:ln/>
        </p:spPr>
        <p:txBody>
          <a:bodyPr wrap="square" lIns="0" tIns="0" rIns="0" bIns="0" rtlCol="0" anchor="ctr"/>
          <a:lstStyle/>
          <a:p>
            <a:pPr indent="0" marL="0">
              <a:buNone/>
            </a:pPr>
            <a:r>
              <a:rPr lang="en-US" sz="1300" b="1" dirty="0">
                <a:solidFill>
                  <a:srgbClr val="0A8577"/>
                </a:solidFill>
                <a:latin typeface="Calibri" pitchFamily="34" charset="0"/>
                <a:ea typeface="Calibri" pitchFamily="34" charset="-122"/>
                <a:cs typeface="Calibri" pitchFamily="34" charset="-120"/>
              </a:rPr>
              <a:t>AI expertise</a:t>
            </a:r>
            <a:endParaRPr lang="en-US" sz="1300" dirty="0"/>
          </a:p>
        </p:txBody>
      </p:sp>
      <p:sp>
        <p:nvSpPr>
          <p:cNvPr id="8" name="Text 6"/>
          <p:cNvSpPr txBox="1"/>
          <p:nvPr/>
        </p:nvSpPr>
        <p:spPr>
          <a:xfrm>
            <a:off x="2606040" y="1298448"/>
            <a:ext cx="2651760" cy="585216"/>
          </a:xfrm>
          <a:prstGeom prst="rect">
            <a:avLst/>
          </a:prstGeom>
          <a:noFill/>
          <a:ln/>
        </p:spPr>
        <p:txBody>
          <a:bodyPr wrap="square" lIns="0" tIns="0" rIns="0" bIns="0" rtlCol="0" anchor="ctr"/>
          <a:lstStyle/>
          <a:p>
            <a:pPr indent="0" marL="0">
              <a:buNone/>
            </a:pPr>
            <a:r>
              <a:rPr lang="en-US" sz="1100" dirty="0">
                <a:solidFill>
                  <a:srgbClr val="2B3A4A"/>
                </a:solidFill>
                <a:latin typeface="Calibri" pitchFamily="34" charset="0"/>
                <a:ea typeface="Calibri" pitchFamily="34" charset="-122"/>
                <a:cs typeface="Calibri" pitchFamily="34" charset="-120"/>
              </a:rPr>
              <a:t>Designs and leads all AI content, labs and coaching</a:t>
            </a:r>
            <a:endParaRPr lang="en-US" sz="1100" dirty="0"/>
          </a:p>
        </p:txBody>
      </p:sp>
      <p:sp>
        <p:nvSpPr>
          <p:cNvPr id="9" name="Shape 7"/>
          <p:cNvSpPr/>
          <p:nvPr/>
        </p:nvSpPr>
        <p:spPr>
          <a:xfrm>
            <a:off x="457200" y="1965960"/>
            <a:ext cx="4892040" cy="585216"/>
          </a:xfrm>
          <a:prstGeom prst="roundRect">
            <a:avLst>
              <a:gd name="adj" fmla="val 9375"/>
            </a:avLst>
          </a:prstGeom>
          <a:solidFill>
            <a:srgbClr val="F3F6F8"/>
          </a:solidFill>
          <a:ln w="12700">
            <a:solidFill>
              <a:srgbClr val="F3F6F8"/>
            </a:solidFill>
            <a:prstDash val="solid"/>
          </a:ln>
        </p:spPr>
      </p:sp>
      <p:sp>
        <p:nvSpPr>
          <p:cNvPr id="10" name="Shape 8"/>
          <p:cNvSpPr/>
          <p:nvPr/>
        </p:nvSpPr>
        <p:spPr>
          <a:xfrm>
            <a:off x="566928" y="2066544"/>
            <a:ext cx="384048" cy="384048"/>
          </a:xfrm>
          <a:prstGeom prst="ellipse">
            <a:avLst/>
          </a:prstGeom>
          <a:solidFill>
            <a:srgbClr val="0A8577"/>
          </a:solidFill>
          <a:ln w="12700">
            <a:solidFill>
              <a:srgbClr val="0A8577"/>
            </a:solidFill>
            <a:prstDash val="solid"/>
          </a:ln>
        </p:spPr>
      </p:sp>
      <p:sp>
        <p:nvSpPr>
          <p:cNvPr id="11" name="Text 9"/>
          <p:cNvSpPr txBox="1"/>
          <p:nvPr/>
        </p:nvSpPr>
        <p:spPr>
          <a:xfrm>
            <a:off x="1051560" y="1965960"/>
            <a:ext cx="1508760" cy="585216"/>
          </a:xfrm>
          <a:prstGeom prst="rect">
            <a:avLst/>
          </a:prstGeom>
          <a:noFill/>
          <a:ln/>
        </p:spPr>
        <p:txBody>
          <a:bodyPr wrap="square" lIns="0" tIns="0" rIns="0" bIns="0" rtlCol="0" anchor="ctr"/>
          <a:lstStyle/>
          <a:p>
            <a:pPr indent="0" marL="0">
              <a:buNone/>
            </a:pPr>
            <a:r>
              <a:rPr lang="en-US" sz="1300" b="1" dirty="0">
                <a:solidFill>
                  <a:srgbClr val="0A8577"/>
                </a:solidFill>
                <a:latin typeface="Calibri" pitchFamily="34" charset="0"/>
                <a:ea typeface="Calibri" pitchFamily="34" charset="-122"/>
                <a:cs typeface="Calibri" pitchFamily="34" charset="-120"/>
              </a:rPr>
              <a:t>A ready program</a:t>
            </a:r>
            <a:endParaRPr lang="en-US" sz="1300" dirty="0"/>
          </a:p>
        </p:txBody>
      </p:sp>
      <p:sp>
        <p:nvSpPr>
          <p:cNvPr id="12" name="Text 10"/>
          <p:cNvSpPr txBox="1"/>
          <p:nvPr/>
        </p:nvSpPr>
        <p:spPr>
          <a:xfrm>
            <a:off x="2606040" y="1965960"/>
            <a:ext cx="2651760" cy="585216"/>
          </a:xfrm>
          <a:prstGeom prst="rect">
            <a:avLst/>
          </a:prstGeom>
          <a:noFill/>
          <a:ln/>
        </p:spPr>
        <p:txBody>
          <a:bodyPr wrap="square" lIns="0" tIns="0" rIns="0" bIns="0" rtlCol="0" anchor="ctr"/>
          <a:lstStyle/>
          <a:p>
            <a:pPr indent="0" marL="0">
              <a:buNone/>
            </a:pPr>
            <a:r>
              <a:rPr lang="en-US" sz="1100" dirty="0">
                <a:solidFill>
                  <a:srgbClr val="2B3A4A"/>
                </a:solidFill>
                <a:latin typeface="Calibri" pitchFamily="34" charset="0"/>
                <a:ea typeface="Calibri" pitchFamily="34" charset="-122"/>
                <a:cs typeface="Calibri" pitchFamily="34" charset="-120"/>
              </a:rPr>
              <a:t>11 modules, 96 hours, sessions, tools and a capstone, already designed</a:t>
            </a:r>
            <a:endParaRPr lang="en-US" sz="1100" dirty="0"/>
          </a:p>
        </p:txBody>
      </p:sp>
      <p:sp>
        <p:nvSpPr>
          <p:cNvPr id="13" name="Shape 11"/>
          <p:cNvSpPr/>
          <p:nvPr/>
        </p:nvSpPr>
        <p:spPr>
          <a:xfrm>
            <a:off x="457200" y="2633472"/>
            <a:ext cx="4892040" cy="585216"/>
          </a:xfrm>
          <a:prstGeom prst="roundRect">
            <a:avLst>
              <a:gd name="adj" fmla="val 9375"/>
            </a:avLst>
          </a:prstGeom>
          <a:solidFill>
            <a:srgbClr val="F3F6F8"/>
          </a:solidFill>
          <a:ln w="12700">
            <a:solidFill>
              <a:srgbClr val="F3F6F8"/>
            </a:solidFill>
            <a:prstDash val="solid"/>
          </a:ln>
        </p:spPr>
      </p:sp>
      <p:sp>
        <p:nvSpPr>
          <p:cNvPr id="14" name="Shape 12"/>
          <p:cNvSpPr/>
          <p:nvPr/>
        </p:nvSpPr>
        <p:spPr>
          <a:xfrm>
            <a:off x="566928" y="2734056"/>
            <a:ext cx="384048" cy="384048"/>
          </a:xfrm>
          <a:prstGeom prst="ellipse">
            <a:avLst/>
          </a:prstGeom>
          <a:solidFill>
            <a:srgbClr val="0A8577"/>
          </a:solidFill>
          <a:ln w="12700">
            <a:solidFill>
              <a:srgbClr val="0A8577"/>
            </a:solidFill>
            <a:prstDash val="solid"/>
          </a:ln>
        </p:spPr>
      </p:sp>
      <p:sp>
        <p:nvSpPr>
          <p:cNvPr id="15" name="Text 13"/>
          <p:cNvSpPr txBox="1"/>
          <p:nvPr/>
        </p:nvSpPr>
        <p:spPr>
          <a:xfrm>
            <a:off x="1051560" y="2633472"/>
            <a:ext cx="1508760" cy="585216"/>
          </a:xfrm>
          <a:prstGeom prst="rect">
            <a:avLst/>
          </a:prstGeom>
          <a:noFill/>
          <a:ln/>
        </p:spPr>
        <p:txBody>
          <a:bodyPr wrap="square" lIns="0" tIns="0" rIns="0" bIns="0" rtlCol="0" anchor="ctr"/>
          <a:lstStyle/>
          <a:p>
            <a:pPr indent="0" marL="0">
              <a:buNone/>
            </a:pPr>
            <a:r>
              <a:rPr lang="en-US" sz="1300" b="1" dirty="0">
                <a:solidFill>
                  <a:srgbClr val="0A8577"/>
                </a:solidFill>
                <a:latin typeface="Calibri" pitchFamily="34" charset="0"/>
                <a:ea typeface="Calibri" pitchFamily="34" charset="-122"/>
                <a:cs typeface="Calibri" pitchFamily="34" charset="-120"/>
              </a:rPr>
              <a:t>Program leadership</a:t>
            </a:r>
            <a:endParaRPr lang="en-US" sz="1300" dirty="0"/>
          </a:p>
        </p:txBody>
      </p:sp>
      <p:sp>
        <p:nvSpPr>
          <p:cNvPr id="16" name="Text 14"/>
          <p:cNvSpPr txBox="1"/>
          <p:nvPr/>
        </p:nvSpPr>
        <p:spPr>
          <a:xfrm>
            <a:off x="2606040" y="2633472"/>
            <a:ext cx="2651760" cy="585216"/>
          </a:xfrm>
          <a:prstGeom prst="rect">
            <a:avLst/>
          </a:prstGeom>
          <a:noFill/>
          <a:ln/>
        </p:spPr>
        <p:txBody>
          <a:bodyPr wrap="square" lIns="0" tIns="0" rIns="0" bIns="0" rtlCol="0" anchor="ctr"/>
          <a:lstStyle/>
          <a:p>
            <a:pPr indent="0" marL="0">
              <a:buNone/>
            </a:pPr>
            <a:r>
              <a:rPr lang="en-US" sz="1100" dirty="0">
                <a:solidFill>
                  <a:srgbClr val="2B3A4A"/>
                </a:solidFill>
                <a:latin typeface="Calibri" pitchFamily="34" charset="0"/>
                <a:ea typeface="Calibri" pitchFamily="34" charset="-122"/>
                <a:cs typeface="Calibri" pitchFamily="34" charset="-120"/>
              </a:rPr>
              <a:t>One accountable lead for delivery, quality and reporting</a:t>
            </a:r>
            <a:endParaRPr lang="en-US" sz="1100" dirty="0"/>
          </a:p>
        </p:txBody>
      </p:sp>
      <p:sp>
        <p:nvSpPr>
          <p:cNvPr id="17" name="Shape 15"/>
          <p:cNvSpPr/>
          <p:nvPr/>
        </p:nvSpPr>
        <p:spPr>
          <a:xfrm>
            <a:off x="457200" y="3300984"/>
            <a:ext cx="4892040" cy="585216"/>
          </a:xfrm>
          <a:prstGeom prst="roundRect">
            <a:avLst>
              <a:gd name="adj" fmla="val 9375"/>
            </a:avLst>
          </a:prstGeom>
          <a:solidFill>
            <a:srgbClr val="F3F6F8"/>
          </a:solidFill>
          <a:ln w="12700">
            <a:solidFill>
              <a:srgbClr val="F3F6F8"/>
            </a:solidFill>
            <a:prstDash val="solid"/>
          </a:ln>
        </p:spPr>
      </p:sp>
      <p:sp>
        <p:nvSpPr>
          <p:cNvPr id="18" name="Shape 16"/>
          <p:cNvSpPr/>
          <p:nvPr/>
        </p:nvSpPr>
        <p:spPr>
          <a:xfrm>
            <a:off x="566928" y="3401568"/>
            <a:ext cx="384048" cy="384048"/>
          </a:xfrm>
          <a:prstGeom prst="ellipse">
            <a:avLst/>
          </a:prstGeom>
          <a:solidFill>
            <a:srgbClr val="0A8577"/>
          </a:solidFill>
          <a:ln w="12700">
            <a:solidFill>
              <a:srgbClr val="0A8577"/>
            </a:solidFill>
            <a:prstDash val="solid"/>
          </a:ln>
        </p:spPr>
      </p:sp>
      <p:sp>
        <p:nvSpPr>
          <p:cNvPr id="19" name="Text 17"/>
          <p:cNvSpPr txBox="1"/>
          <p:nvPr/>
        </p:nvSpPr>
        <p:spPr>
          <a:xfrm>
            <a:off x="1051560" y="3300984"/>
            <a:ext cx="1508760" cy="585216"/>
          </a:xfrm>
          <a:prstGeom prst="rect">
            <a:avLst/>
          </a:prstGeom>
          <a:noFill/>
          <a:ln/>
        </p:spPr>
        <p:txBody>
          <a:bodyPr wrap="square" lIns="0" tIns="0" rIns="0" bIns="0" rtlCol="0" anchor="ctr"/>
          <a:lstStyle/>
          <a:p>
            <a:pPr indent="0" marL="0">
              <a:buNone/>
            </a:pPr>
            <a:r>
              <a:rPr lang="en-US" sz="1300" b="1" dirty="0">
                <a:solidFill>
                  <a:srgbClr val="0A8577"/>
                </a:solidFill>
                <a:latin typeface="Calibri" pitchFamily="34" charset="0"/>
                <a:ea typeface="Calibri" pitchFamily="34" charset="-122"/>
                <a:cs typeface="Calibri" pitchFamily="34" charset="-120"/>
              </a:rPr>
              <a:t>Delivery record</a:t>
            </a:r>
            <a:endParaRPr lang="en-US" sz="1300" dirty="0"/>
          </a:p>
        </p:txBody>
      </p:sp>
      <p:sp>
        <p:nvSpPr>
          <p:cNvPr id="20" name="Text 18"/>
          <p:cNvSpPr txBox="1"/>
          <p:nvPr/>
        </p:nvSpPr>
        <p:spPr>
          <a:xfrm>
            <a:off x="2606040" y="3300984"/>
            <a:ext cx="2651760" cy="585216"/>
          </a:xfrm>
          <a:prstGeom prst="rect">
            <a:avLst/>
          </a:prstGeom>
          <a:noFill/>
          <a:ln/>
        </p:spPr>
        <p:txBody>
          <a:bodyPr wrap="square" lIns="0" tIns="0" rIns="0" bIns="0" rtlCol="0" anchor="ctr"/>
          <a:lstStyle/>
          <a:p>
            <a:pPr indent="0" marL="0">
              <a:buNone/>
            </a:pPr>
            <a:r>
              <a:rPr lang="en-US" sz="1100" dirty="0">
                <a:solidFill>
                  <a:srgbClr val="2B3A4A"/>
                </a:solidFill>
                <a:latin typeface="Calibri" pitchFamily="34" charset="0"/>
                <a:ea typeface="Calibri" pitchFamily="34" charset="-122"/>
                <a:cs typeface="Calibri" pitchFamily="34" charset="-120"/>
              </a:rPr>
              <a:t>References: USAID, CFYE, MoDEE, Q2 Impact</a:t>
            </a:r>
            <a:endParaRPr lang="en-US" sz="1100" dirty="0"/>
          </a:p>
        </p:txBody>
      </p:sp>
      <p:sp>
        <p:nvSpPr>
          <p:cNvPr id="21" name="Shape 19"/>
          <p:cNvSpPr/>
          <p:nvPr/>
        </p:nvSpPr>
        <p:spPr>
          <a:xfrm>
            <a:off x="457200" y="3968496"/>
            <a:ext cx="4892040" cy="585216"/>
          </a:xfrm>
          <a:prstGeom prst="roundRect">
            <a:avLst>
              <a:gd name="adj" fmla="val 9375"/>
            </a:avLst>
          </a:prstGeom>
          <a:solidFill>
            <a:srgbClr val="F3F6F8"/>
          </a:solidFill>
          <a:ln w="12700">
            <a:solidFill>
              <a:srgbClr val="F3F6F8"/>
            </a:solidFill>
            <a:prstDash val="solid"/>
          </a:ln>
        </p:spPr>
      </p:sp>
      <p:sp>
        <p:nvSpPr>
          <p:cNvPr id="22" name="Shape 20"/>
          <p:cNvSpPr/>
          <p:nvPr/>
        </p:nvSpPr>
        <p:spPr>
          <a:xfrm>
            <a:off x="566928" y="4069080"/>
            <a:ext cx="384048" cy="384048"/>
          </a:xfrm>
          <a:prstGeom prst="ellipse">
            <a:avLst/>
          </a:prstGeom>
          <a:solidFill>
            <a:srgbClr val="0A8577"/>
          </a:solidFill>
          <a:ln w="12700">
            <a:solidFill>
              <a:srgbClr val="0A8577"/>
            </a:solidFill>
            <a:prstDash val="solid"/>
          </a:ln>
        </p:spPr>
      </p:sp>
      <p:sp>
        <p:nvSpPr>
          <p:cNvPr id="23" name="Text 21"/>
          <p:cNvSpPr txBox="1"/>
          <p:nvPr/>
        </p:nvSpPr>
        <p:spPr>
          <a:xfrm>
            <a:off x="1051560" y="3968496"/>
            <a:ext cx="1508760" cy="585216"/>
          </a:xfrm>
          <a:prstGeom prst="rect">
            <a:avLst/>
          </a:prstGeom>
          <a:noFill/>
          <a:ln/>
        </p:spPr>
        <p:txBody>
          <a:bodyPr wrap="square" lIns="0" tIns="0" rIns="0" bIns="0" rtlCol="0" anchor="ctr"/>
          <a:lstStyle/>
          <a:p>
            <a:pPr indent="0" marL="0">
              <a:buNone/>
            </a:pPr>
            <a:r>
              <a:rPr lang="en-US" sz="1300" b="1" dirty="0">
                <a:solidFill>
                  <a:srgbClr val="0A8577"/>
                </a:solidFill>
                <a:latin typeface="Calibri" pitchFamily="34" charset="0"/>
                <a:ea typeface="Calibri" pitchFamily="34" charset="-122"/>
                <a:cs typeface="Calibri" pitchFamily="34" charset="-120"/>
              </a:rPr>
              <a:t>Secure by default</a:t>
            </a:r>
            <a:endParaRPr lang="en-US" sz="1300" dirty="0"/>
          </a:p>
        </p:txBody>
      </p:sp>
      <p:sp>
        <p:nvSpPr>
          <p:cNvPr id="24" name="Text 22"/>
          <p:cNvSpPr txBox="1"/>
          <p:nvPr/>
        </p:nvSpPr>
        <p:spPr>
          <a:xfrm>
            <a:off x="2606040" y="3968496"/>
            <a:ext cx="2651760" cy="585216"/>
          </a:xfrm>
          <a:prstGeom prst="rect">
            <a:avLst/>
          </a:prstGeom>
          <a:noFill/>
          <a:ln/>
        </p:spPr>
        <p:txBody>
          <a:bodyPr wrap="square" lIns="0" tIns="0" rIns="0" bIns="0" rtlCol="0" anchor="ctr"/>
          <a:lstStyle/>
          <a:p>
            <a:pPr indent="0" marL="0">
              <a:buNone/>
            </a:pPr>
            <a:r>
              <a:rPr lang="en-US" sz="1100" dirty="0">
                <a:solidFill>
                  <a:srgbClr val="2B3A4A"/>
                </a:solidFill>
                <a:latin typeface="Calibri" pitchFamily="34" charset="0"/>
                <a:ea typeface="Calibri" pitchFamily="34" charset="-122"/>
                <a:cs typeface="Calibri" pitchFamily="34" charset="-120"/>
              </a:rPr>
              <a:t>“be aware..be secure”: privacy, credential safety and honest AI labelling in every module</a:t>
            </a:r>
            <a:endParaRPr lang="en-US" sz="1100" dirty="0"/>
          </a:p>
        </p:txBody>
      </p:sp>
      <p:sp>
        <p:nvSpPr>
          <p:cNvPr id="25" name="Shape 23"/>
          <p:cNvSpPr/>
          <p:nvPr/>
        </p:nvSpPr>
        <p:spPr>
          <a:xfrm>
            <a:off x="5532120" y="1298448"/>
            <a:ext cx="3154680" cy="3264408"/>
          </a:xfrm>
          <a:prstGeom prst="roundRect">
            <a:avLst>
              <a:gd name="adj" fmla="val 1739"/>
            </a:avLst>
          </a:prstGeom>
          <a:solidFill>
            <a:srgbClr val="10233A"/>
          </a:solidFill>
          <a:ln w="12700">
            <a:solidFill>
              <a:srgbClr val="10233A"/>
            </a:solidFill>
            <a:prstDash val="solid"/>
          </a:ln>
        </p:spPr>
      </p:sp>
      <p:sp>
        <p:nvSpPr>
          <p:cNvPr id="26" name="Shape 24"/>
          <p:cNvSpPr/>
          <p:nvPr/>
        </p:nvSpPr>
        <p:spPr>
          <a:xfrm>
            <a:off x="5669280" y="1435608"/>
            <a:ext cx="384048" cy="384048"/>
          </a:xfrm>
          <a:prstGeom prst="ellipse">
            <a:avLst/>
          </a:prstGeom>
          <a:solidFill>
            <a:srgbClr val="F2A541"/>
          </a:solidFill>
          <a:ln w="12700">
            <a:solidFill>
              <a:srgbClr val="F2A541"/>
            </a:solidFill>
            <a:prstDash val="solid"/>
          </a:ln>
        </p:spPr>
      </p:sp>
      <p:sp>
        <p:nvSpPr>
          <p:cNvPr id="27" name="Text 25"/>
          <p:cNvSpPr txBox="1"/>
          <p:nvPr/>
        </p:nvSpPr>
        <p:spPr>
          <a:xfrm>
            <a:off x="6144768" y="1435608"/>
            <a:ext cx="2468880" cy="384048"/>
          </a:xfrm>
          <a:prstGeom prst="rect">
            <a:avLst/>
          </a:prstGeom>
          <a:noFill/>
          <a:ln/>
        </p:spPr>
        <p:txBody>
          <a:bodyPr wrap="square" lIns="0" tIns="0" rIns="0" bIns="0" rtlCol="0" anchor="ctr"/>
          <a:lstStyle/>
          <a:p>
            <a:pPr indent="0" marL="0">
              <a:buNone/>
            </a:pPr>
            <a:r>
              <a:rPr lang="en-US" sz="1400" b="1" dirty="0">
                <a:solidFill>
                  <a:srgbClr val="F2A541"/>
                </a:solidFill>
                <a:latin typeface="Calibri" pitchFamily="34" charset="0"/>
                <a:ea typeface="Calibri" pitchFamily="34" charset="-122"/>
                <a:cs typeface="Calibri" pitchFamily="34" charset="-120"/>
              </a:rPr>
              <a:t>Value for Jubilee Institute</a:t>
            </a:r>
            <a:endParaRPr lang="en-US" sz="1400" dirty="0"/>
          </a:p>
        </p:txBody>
      </p:sp>
      <p:sp>
        <p:nvSpPr>
          <p:cNvPr id="28" name="Text 26"/>
          <p:cNvSpPr txBox="1"/>
          <p:nvPr/>
        </p:nvSpPr>
        <p:spPr>
          <a:xfrm>
            <a:off x="5687568" y="1965960"/>
            <a:ext cx="2880360" cy="2514600"/>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A complete, hands-on AI content program on its site, with no design burden</a:t>
            </a:r>
            <a:endParaRPr lang="en-US" sz="1150" dirty="0"/>
          </a:p>
          <a:p>
            <a:pPr marL="152400" indent="-1524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Participants who leave with finished work and portfolios</a:t>
            </a:r>
            <a:endParaRPr lang="en-US" sz="1150" dirty="0"/>
          </a:p>
          <a:p>
            <a:pPr marL="152400" indent="-1524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A Demo Day the Institute can host and showcase</a:t>
            </a:r>
            <a:endParaRPr lang="en-US" sz="1150" dirty="0"/>
          </a:p>
          <a:p>
            <a:pPr marL="152400" indent="-1524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Measured, reported results it can cite</a:t>
            </a:r>
            <a:endParaRPr lang="en-US" sz="1150" dirty="0"/>
          </a:p>
          <a:p>
            <a:pPr marL="152400" indent="-1524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A curriculum that can run again with new cohorts, if agreed</a:t>
            </a:r>
            <a:endParaRPr lang="en-US" sz="1150" dirty="0"/>
          </a:p>
        </p:txBody>
      </p:sp>
      <p:pic>
        <p:nvPicPr>
          <p:cNvPr id="29" name="Image 0" descr="preencoded.png">    </p:cNvPr>
          <p:cNvPicPr>
            <a:picLocks noChangeAspect="1"/>
          </p:cNvPicPr>
          <p:nvPr/>
        </p:nvPicPr>
        <p:blipFill>
          <a:blip r:embed="rId1"/>
          <a:stretch>
            <a:fillRect/>
          </a:stretch>
        </p:blipFill>
        <p:spPr>
          <a:xfrm>
            <a:off x="662940" y="1495044"/>
            <a:ext cx="192024" cy="192024"/>
          </a:xfrm>
          <a:prstGeom prst="rect">
            <a:avLst/>
          </a:prstGeom>
        </p:spPr>
      </p:pic>
      <p:pic>
        <p:nvPicPr>
          <p:cNvPr id="30" name="Image 1" descr="preencoded.png">    </p:cNvPr>
          <p:cNvPicPr>
            <a:picLocks noChangeAspect="1"/>
          </p:cNvPicPr>
          <p:nvPr/>
        </p:nvPicPr>
        <p:blipFill>
          <a:blip r:embed="rId2"/>
          <a:stretch>
            <a:fillRect/>
          </a:stretch>
        </p:blipFill>
        <p:spPr>
          <a:xfrm>
            <a:off x="662940" y="2162556"/>
            <a:ext cx="192024" cy="192024"/>
          </a:xfrm>
          <a:prstGeom prst="rect">
            <a:avLst/>
          </a:prstGeom>
        </p:spPr>
      </p:pic>
      <p:pic>
        <p:nvPicPr>
          <p:cNvPr id="31" name="Image 2" descr="preencoded.png">    </p:cNvPr>
          <p:cNvPicPr>
            <a:picLocks noChangeAspect="1"/>
          </p:cNvPicPr>
          <p:nvPr/>
        </p:nvPicPr>
        <p:blipFill>
          <a:blip r:embed="rId3"/>
          <a:stretch>
            <a:fillRect/>
          </a:stretch>
        </p:blipFill>
        <p:spPr>
          <a:xfrm>
            <a:off x="662940" y="4165092"/>
            <a:ext cx="192024" cy="192024"/>
          </a:xfrm>
          <a:prstGeom prst="rect">
            <a:avLst/>
          </a:prstGeom>
        </p:spPr>
      </p:pic>
      <p:pic>
        <p:nvPicPr>
          <p:cNvPr id="32" name="Image 3" descr="preencoded.png">    </p:cNvPr>
          <p:cNvPicPr>
            <a:picLocks noChangeAspect="1"/>
          </p:cNvPicPr>
          <p:nvPr/>
        </p:nvPicPr>
        <p:blipFill>
          <a:blip r:embed="rId4"/>
          <a:stretch>
            <a:fillRect/>
          </a:stretch>
        </p:blipFill>
        <p:spPr>
          <a:xfrm>
            <a:off x="662940" y="2830068"/>
            <a:ext cx="192024" cy="192024"/>
          </a:xfrm>
          <a:prstGeom prst="rect">
            <a:avLst/>
          </a:prstGeom>
        </p:spPr>
      </p:pic>
      <p:pic>
        <p:nvPicPr>
          <p:cNvPr id="33" name="Image 4" descr="preencoded.png">    </p:cNvPr>
          <p:cNvPicPr>
            <a:picLocks noChangeAspect="1"/>
          </p:cNvPicPr>
          <p:nvPr/>
        </p:nvPicPr>
        <p:blipFill>
          <a:blip r:embed="rId5"/>
          <a:stretch>
            <a:fillRect/>
          </a:stretch>
        </p:blipFill>
        <p:spPr>
          <a:xfrm>
            <a:off x="662940" y="3497580"/>
            <a:ext cx="192024" cy="192024"/>
          </a:xfrm>
          <a:prstGeom prst="rect">
            <a:avLst/>
          </a:prstGeom>
        </p:spPr>
      </p:pic>
      <p:pic>
        <p:nvPicPr>
          <p:cNvPr id="34" name="Image 5" descr="preencoded.png">    </p:cNvPr>
          <p:cNvPicPr>
            <a:picLocks noChangeAspect="1"/>
          </p:cNvPicPr>
          <p:nvPr/>
        </p:nvPicPr>
        <p:blipFill>
          <a:blip r:embed="rId6"/>
          <a:stretch>
            <a:fillRect/>
          </a:stretch>
        </p:blipFill>
        <p:spPr>
          <a:xfrm>
            <a:off x="5765292" y="1531620"/>
            <a:ext cx="192024" cy="192024"/>
          </a:xfrm>
          <a:prstGeom prst="rect">
            <a:avLst/>
          </a:prstGeom>
        </p:spPr>
      </p:pic>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3  ·  THE NEED</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Many use AI. Few use it for real work</a:t>
            </a:r>
            <a:endParaRPr lang="en-US" sz="2500" dirty="0"/>
          </a:p>
        </p:txBody>
      </p:sp>
      <p:sp>
        <p:nvSpPr>
          <p:cNvPr id="5" name="Text 3"/>
          <p:cNvSpPr txBox="1"/>
          <p:nvPr/>
        </p:nvSpPr>
        <p:spPr>
          <a:xfrm>
            <a:off x="457200" y="1280160"/>
            <a:ext cx="3657600" cy="274320"/>
          </a:xfrm>
          <a:prstGeom prst="rect">
            <a:avLst/>
          </a:prstGeom>
          <a:noFill/>
          <a:ln/>
        </p:spPr>
        <p:txBody>
          <a:bodyPr wrap="square" lIns="0" tIns="0" rIns="0" bIns="0" rtlCol="0" anchor="t"/>
          <a:lstStyle/>
          <a:p>
            <a:pPr indent="0" marL="0">
              <a:buNone/>
            </a:pPr>
            <a:r>
              <a:rPr lang="en-US" sz="1300" b="1" dirty="0">
                <a:solidFill>
                  <a:srgbClr val="586676"/>
                </a:solidFill>
                <a:latin typeface="Calibri" pitchFamily="34" charset="0"/>
                <a:ea typeface="Calibri" pitchFamily="34" charset="-122"/>
                <a:cs typeface="Calibri" pitchFamily="34" charset="-120"/>
              </a:rPr>
              <a:t>Typical starting point</a:t>
            </a:r>
            <a:endParaRPr lang="en-US" sz="1300" dirty="0"/>
          </a:p>
        </p:txBody>
      </p:sp>
      <p:sp>
        <p:nvSpPr>
          <p:cNvPr id="6" name="Text 4"/>
          <p:cNvSpPr txBox="1"/>
          <p:nvPr/>
        </p:nvSpPr>
        <p:spPr>
          <a:xfrm>
            <a:off x="4572000" y="1280160"/>
            <a:ext cx="3657600" cy="274320"/>
          </a:xfrm>
          <a:prstGeom prst="rect">
            <a:avLst/>
          </a:prstGeom>
          <a:noFill/>
          <a:ln/>
        </p:spPr>
        <p:txBody>
          <a:bodyPr wrap="square" lIns="0" tIns="0" rIns="0" bIns="0" rtlCol="0" anchor="t"/>
          <a:lstStyle/>
          <a:p>
            <a:pPr indent="0" marL="0">
              <a:buNone/>
            </a:pPr>
            <a:r>
              <a:rPr lang="en-US" sz="1300" b="1" dirty="0">
                <a:solidFill>
                  <a:srgbClr val="0A8577"/>
                </a:solidFill>
                <a:latin typeface="Calibri" pitchFamily="34" charset="0"/>
                <a:ea typeface="Calibri" pitchFamily="34" charset="-122"/>
                <a:cs typeface="Calibri" pitchFamily="34" charset="-120"/>
              </a:rPr>
              <a:t>What the program builds</a:t>
            </a:r>
            <a:endParaRPr lang="en-US" sz="1300" dirty="0"/>
          </a:p>
        </p:txBody>
      </p:sp>
      <p:sp>
        <p:nvSpPr>
          <p:cNvPr id="7" name="Shape 5"/>
          <p:cNvSpPr/>
          <p:nvPr/>
        </p:nvSpPr>
        <p:spPr>
          <a:xfrm>
            <a:off x="457200" y="1645920"/>
            <a:ext cx="3657600" cy="566928"/>
          </a:xfrm>
          <a:prstGeom prst="roundRect">
            <a:avLst>
              <a:gd name="adj" fmla="val 9677"/>
            </a:avLst>
          </a:prstGeom>
          <a:solidFill>
            <a:srgbClr val="F3F6F8"/>
          </a:solidFill>
          <a:ln w="12700">
            <a:solidFill>
              <a:srgbClr val="F3F6F8"/>
            </a:solidFill>
            <a:prstDash val="solid"/>
          </a:ln>
        </p:spPr>
      </p:sp>
      <p:sp>
        <p:nvSpPr>
          <p:cNvPr id="8" name="Text 6"/>
          <p:cNvSpPr txBox="1"/>
          <p:nvPr/>
        </p:nvSpPr>
        <p:spPr>
          <a:xfrm>
            <a:off x="621792" y="1645920"/>
            <a:ext cx="3383280" cy="566928"/>
          </a:xfrm>
          <a:prstGeom prst="rect">
            <a:avLst/>
          </a:prstGeom>
          <a:noFill/>
          <a:ln/>
        </p:spPr>
        <p:txBody>
          <a:bodyPr wrap="square" lIns="0" tIns="0" rIns="0" bIns="0" rtlCol="0" anchor="ctr"/>
          <a:lstStyle/>
          <a:p>
            <a:pPr indent="0" marL="0">
              <a:buNone/>
            </a:pPr>
            <a:r>
              <a:rPr lang="en-US" sz="1250" dirty="0">
                <a:solidFill>
                  <a:srgbClr val="2B3A4A"/>
                </a:solidFill>
                <a:latin typeface="Calibri" pitchFamily="34" charset="0"/>
                <a:ea typeface="Calibri" pitchFamily="34" charset="-122"/>
                <a:cs typeface="Calibri" pitchFamily="34" charset="-120"/>
              </a:rPr>
              <a:t>Using AI to get quick answers</a:t>
            </a:r>
            <a:endParaRPr lang="en-US" sz="1250" dirty="0"/>
          </a:p>
        </p:txBody>
      </p:sp>
      <p:sp>
        <p:nvSpPr>
          <p:cNvPr id="9" name="Shape 7"/>
          <p:cNvSpPr/>
          <p:nvPr/>
        </p:nvSpPr>
        <p:spPr>
          <a:xfrm>
            <a:off x="4572000" y="1645920"/>
            <a:ext cx="4114800" cy="566928"/>
          </a:xfrm>
          <a:prstGeom prst="roundRect">
            <a:avLst>
              <a:gd name="adj" fmla="val 9677"/>
            </a:avLst>
          </a:prstGeom>
          <a:solidFill>
            <a:srgbClr val="10233A"/>
          </a:solidFill>
          <a:ln w="12700">
            <a:solidFill>
              <a:srgbClr val="10233A"/>
            </a:solidFill>
            <a:prstDash val="solid"/>
          </a:ln>
        </p:spPr>
      </p:sp>
      <p:sp>
        <p:nvSpPr>
          <p:cNvPr id="10" name="Shape 8"/>
          <p:cNvSpPr/>
          <p:nvPr/>
        </p:nvSpPr>
        <p:spPr>
          <a:xfrm>
            <a:off x="4727448" y="1865376"/>
            <a:ext cx="128016" cy="128016"/>
          </a:xfrm>
          <a:prstGeom prst="ellipse">
            <a:avLst/>
          </a:prstGeom>
          <a:solidFill>
            <a:srgbClr val="F2A541"/>
          </a:solidFill>
          <a:ln w="12700">
            <a:solidFill>
              <a:srgbClr val="F2A541"/>
            </a:solidFill>
            <a:prstDash val="solid"/>
          </a:ln>
        </p:spPr>
      </p:sp>
      <p:sp>
        <p:nvSpPr>
          <p:cNvPr id="11" name="Text 9"/>
          <p:cNvSpPr txBox="1"/>
          <p:nvPr/>
        </p:nvSpPr>
        <p:spPr>
          <a:xfrm>
            <a:off x="4983480" y="1645920"/>
            <a:ext cx="361188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Using AI to produce work a client can use</a:t>
            </a:r>
            <a:endParaRPr lang="en-US" sz="1250" dirty="0"/>
          </a:p>
        </p:txBody>
      </p:sp>
      <p:sp>
        <p:nvSpPr>
          <p:cNvPr id="12" name="Shape 10"/>
          <p:cNvSpPr/>
          <p:nvPr/>
        </p:nvSpPr>
        <p:spPr>
          <a:xfrm>
            <a:off x="457200" y="2313432"/>
            <a:ext cx="3657600" cy="566928"/>
          </a:xfrm>
          <a:prstGeom prst="roundRect">
            <a:avLst>
              <a:gd name="adj" fmla="val 9677"/>
            </a:avLst>
          </a:prstGeom>
          <a:solidFill>
            <a:srgbClr val="F3F6F8"/>
          </a:solidFill>
          <a:ln w="12700">
            <a:solidFill>
              <a:srgbClr val="F3F6F8"/>
            </a:solidFill>
            <a:prstDash val="solid"/>
          </a:ln>
        </p:spPr>
      </p:sp>
      <p:sp>
        <p:nvSpPr>
          <p:cNvPr id="13" name="Text 11"/>
          <p:cNvSpPr txBox="1"/>
          <p:nvPr/>
        </p:nvSpPr>
        <p:spPr>
          <a:xfrm>
            <a:off x="621792" y="2313432"/>
            <a:ext cx="3383280" cy="566928"/>
          </a:xfrm>
          <a:prstGeom prst="rect">
            <a:avLst/>
          </a:prstGeom>
          <a:noFill/>
          <a:ln/>
        </p:spPr>
        <p:txBody>
          <a:bodyPr wrap="square" lIns="0" tIns="0" rIns="0" bIns="0" rtlCol="0" anchor="ctr"/>
          <a:lstStyle/>
          <a:p>
            <a:pPr indent="0" marL="0">
              <a:buNone/>
            </a:pPr>
            <a:r>
              <a:rPr lang="en-US" sz="1250" dirty="0">
                <a:solidFill>
                  <a:srgbClr val="2B3A4A"/>
                </a:solidFill>
                <a:latin typeface="Calibri" pitchFamily="34" charset="0"/>
                <a:ea typeface="Calibri" pitchFamily="34" charset="-122"/>
                <a:cs typeface="Calibri" pitchFamily="34" charset="-120"/>
              </a:rPr>
              <a:t>Tool tips picked up from social media</a:t>
            </a:r>
            <a:endParaRPr lang="en-US" sz="1250" dirty="0"/>
          </a:p>
        </p:txBody>
      </p:sp>
      <p:sp>
        <p:nvSpPr>
          <p:cNvPr id="14" name="Shape 12"/>
          <p:cNvSpPr/>
          <p:nvPr/>
        </p:nvSpPr>
        <p:spPr>
          <a:xfrm>
            <a:off x="4572000" y="2313432"/>
            <a:ext cx="4114800" cy="566928"/>
          </a:xfrm>
          <a:prstGeom prst="roundRect">
            <a:avLst>
              <a:gd name="adj" fmla="val 9677"/>
            </a:avLst>
          </a:prstGeom>
          <a:solidFill>
            <a:srgbClr val="10233A"/>
          </a:solidFill>
          <a:ln w="12700">
            <a:solidFill>
              <a:srgbClr val="10233A"/>
            </a:solidFill>
            <a:prstDash val="solid"/>
          </a:ln>
        </p:spPr>
      </p:sp>
      <p:sp>
        <p:nvSpPr>
          <p:cNvPr id="15" name="Shape 13"/>
          <p:cNvSpPr/>
          <p:nvPr/>
        </p:nvSpPr>
        <p:spPr>
          <a:xfrm>
            <a:off x="4727448" y="2532888"/>
            <a:ext cx="128016" cy="128016"/>
          </a:xfrm>
          <a:prstGeom prst="ellipse">
            <a:avLst/>
          </a:prstGeom>
          <a:solidFill>
            <a:srgbClr val="F2A541"/>
          </a:solidFill>
          <a:ln w="12700">
            <a:solidFill>
              <a:srgbClr val="F2A541"/>
            </a:solidFill>
            <a:prstDash val="solid"/>
          </a:ln>
        </p:spPr>
      </p:sp>
      <p:sp>
        <p:nvSpPr>
          <p:cNvPr id="16" name="Text 14"/>
          <p:cNvSpPr txBox="1"/>
          <p:nvPr/>
        </p:nvSpPr>
        <p:spPr>
          <a:xfrm>
            <a:off x="4983480" y="2313432"/>
            <a:ext cx="361188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 structured path from idea to published campaign</a:t>
            </a:r>
            <a:endParaRPr lang="en-US" sz="1250" dirty="0"/>
          </a:p>
        </p:txBody>
      </p:sp>
      <p:sp>
        <p:nvSpPr>
          <p:cNvPr id="17" name="Shape 15"/>
          <p:cNvSpPr/>
          <p:nvPr/>
        </p:nvSpPr>
        <p:spPr>
          <a:xfrm>
            <a:off x="457200" y="2980944"/>
            <a:ext cx="3657600" cy="566928"/>
          </a:xfrm>
          <a:prstGeom prst="roundRect">
            <a:avLst>
              <a:gd name="adj" fmla="val 9677"/>
            </a:avLst>
          </a:prstGeom>
          <a:solidFill>
            <a:srgbClr val="F3F6F8"/>
          </a:solidFill>
          <a:ln w="12700">
            <a:solidFill>
              <a:srgbClr val="F3F6F8"/>
            </a:solidFill>
            <a:prstDash val="solid"/>
          </a:ln>
        </p:spPr>
      </p:sp>
      <p:sp>
        <p:nvSpPr>
          <p:cNvPr id="18" name="Text 16"/>
          <p:cNvSpPr txBox="1"/>
          <p:nvPr/>
        </p:nvSpPr>
        <p:spPr>
          <a:xfrm>
            <a:off x="621792" y="2980944"/>
            <a:ext cx="3383280" cy="566928"/>
          </a:xfrm>
          <a:prstGeom prst="rect">
            <a:avLst/>
          </a:prstGeom>
          <a:noFill/>
          <a:ln/>
        </p:spPr>
        <p:txBody>
          <a:bodyPr wrap="square" lIns="0" tIns="0" rIns="0" bIns="0" rtlCol="0" anchor="ctr"/>
          <a:lstStyle/>
          <a:p>
            <a:pPr indent="0" marL="0">
              <a:buNone/>
            </a:pPr>
            <a:r>
              <a:rPr lang="en-US" sz="1250" dirty="0">
                <a:solidFill>
                  <a:srgbClr val="2B3A4A"/>
                </a:solidFill>
                <a:latin typeface="Calibri" pitchFamily="34" charset="0"/>
                <a:ea typeface="Calibri" pitchFamily="34" charset="-122"/>
                <a:cs typeface="Calibri" pitchFamily="34" charset="-120"/>
              </a:rPr>
              <a:t>Accepting whatever the tool returns</a:t>
            </a:r>
            <a:endParaRPr lang="en-US" sz="1250" dirty="0"/>
          </a:p>
        </p:txBody>
      </p:sp>
      <p:sp>
        <p:nvSpPr>
          <p:cNvPr id="19" name="Shape 17"/>
          <p:cNvSpPr/>
          <p:nvPr/>
        </p:nvSpPr>
        <p:spPr>
          <a:xfrm>
            <a:off x="4572000" y="2980944"/>
            <a:ext cx="4114800" cy="566928"/>
          </a:xfrm>
          <a:prstGeom prst="roundRect">
            <a:avLst>
              <a:gd name="adj" fmla="val 9677"/>
            </a:avLst>
          </a:prstGeom>
          <a:solidFill>
            <a:srgbClr val="10233A"/>
          </a:solidFill>
          <a:ln w="12700">
            <a:solidFill>
              <a:srgbClr val="10233A"/>
            </a:solidFill>
            <a:prstDash val="solid"/>
          </a:ln>
        </p:spPr>
      </p:sp>
      <p:sp>
        <p:nvSpPr>
          <p:cNvPr id="20" name="Shape 18"/>
          <p:cNvSpPr/>
          <p:nvPr/>
        </p:nvSpPr>
        <p:spPr>
          <a:xfrm>
            <a:off x="4727448" y="3200400"/>
            <a:ext cx="128016" cy="128016"/>
          </a:xfrm>
          <a:prstGeom prst="ellipse">
            <a:avLst/>
          </a:prstGeom>
          <a:solidFill>
            <a:srgbClr val="F2A541"/>
          </a:solidFill>
          <a:ln w="12700">
            <a:solidFill>
              <a:srgbClr val="F2A541"/>
            </a:solidFill>
            <a:prstDash val="solid"/>
          </a:ln>
        </p:spPr>
      </p:sp>
      <p:sp>
        <p:nvSpPr>
          <p:cNvPr id="21" name="Text 19"/>
          <p:cNvSpPr txBox="1"/>
          <p:nvPr/>
        </p:nvSpPr>
        <p:spPr>
          <a:xfrm>
            <a:off x="4983480" y="2980944"/>
            <a:ext cx="361188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Checking facts, editing drafts and labelling AI content</a:t>
            </a:r>
            <a:endParaRPr lang="en-US" sz="1250" dirty="0"/>
          </a:p>
        </p:txBody>
      </p:sp>
      <p:sp>
        <p:nvSpPr>
          <p:cNvPr id="22" name="Shape 20"/>
          <p:cNvSpPr/>
          <p:nvPr/>
        </p:nvSpPr>
        <p:spPr>
          <a:xfrm>
            <a:off x="457200" y="3648456"/>
            <a:ext cx="3657600" cy="566928"/>
          </a:xfrm>
          <a:prstGeom prst="roundRect">
            <a:avLst>
              <a:gd name="adj" fmla="val 9677"/>
            </a:avLst>
          </a:prstGeom>
          <a:solidFill>
            <a:srgbClr val="F3F6F8"/>
          </a:solidFill>
          <a:ln w="12700">
            <a:solidFill>
              <a:srgbClr val="F3F6F8"/>
            </a:solidFill>
            <a:prstDash val="solid"/>
          </a:ln>
        </p:spPr>
      </p:sp>
      <p:sp>
        <p:nvSpPr>
          <p:cNvPr id="23" name="Text 21"/>
          <p:cNvSpPr txBox="1"/>
          <p:nvPr/>
        </p:nvSpPr>
        <p:spPr>
          <a:xfrm>
            <a:off x="621792" y="3648456"/>
            <a:ext cx="3383280" cy="566928"/>
          </a:xfrm>
          <a:prstGeom prst="rect">
            <a:avLst/>
          </a:prstGeom>
          <a:noFill/>
          <a:ln/>
        </p:spPr>
        <p:txBody>
          <a:bodyPr wrap="square" lIns="0" tIns="0" rIns="0" bIns="0" rtlCol="0" anchor="ctr"/>
          <a:lstStyle/>
          <a:p>
            <a:pPr indent="0" marL="0">
              <a:buNone/>
            </a:pPr>
            <a:r>
              <a:rPr lang="en-US" sz="1250" dirty="0">
                <a:solidFill>
                  <a:srgbClr val="2B3A4A"/>
                </a:solidFill>
                <a:latin typeface="Calibri" pitchFamily="34" charset="0"/>
                <a:ea typeface="Calibri" pitchFamily="34" charset="-122"/>
                <a:cs typeface="Calibri" pitchFamily="34" charset="-120"/>
              </a:rPr>
              <a:t>No proof of what they can do</a:t>
            </a:r>
            <a:endParaRPr lang="en-US" sz="1250" dirty="0"/>
          </a:p>
        </p:txBody>
      </p:sp>
      <p:sp>
        <p:nvSpPr>
          <p:cNvPr id="24" name="Shape 22"/>
          <p:cNvSpPr/>
          <p:nvPr/>
        </p:nvSpPr>
        <p:spPr>
          <a:xfrm>
            <a:off x="4572000" y="3648456"/>
            <a:ext cx="4114800" cy="566928"/>
          </a:xfrm>
          <a:prstGeom prst="roundRect">
            <a:avLst>
              <a:gd name="adj" fmla="val 9677"/>
            </a:avLst>
          </a:prstGeom>
          <a:solidFill>
            <a:srgbClr val="10233A"/>
          </a:solidFill>
          <a:ln w="12700">
            <a:solidFill>
              <a:srgbClr val="10233A"/>
            </a:solidFill>
            <a:prstDash val="solid"/>
          </a:ln>
        </p:spPr>
      </p:sp>
      <p:sp>
        <p:nvSpPr>
          <p:cNvPr id="25" name="Shape 23"/>
          <p:cNvSpPr/>
          <p:nvPr/>
        </p:nvSpPr>
        <p:spPr>
          <a:xfrm>
            <a:off x="4727448" y="3867912"/>
            <a:ext cx="128016" cy="128016"/>
          </a:xfrm>
          <a:prstGeom prst="ellipse">
            <a:avLst/>
          </a:prstGeom>
          <a:solidFill>
            <a:srgbClr val="F2A541"/>
          </a:solidFill>
          <a:ln w="12700">
            <a:solidFill>
              <a:srgbClr val="F2A541"/>
            </a:solidFill>
            <a:prstDash val="solid"/>
          </a:ln>
        </p:spPr>
      </p:sp>
      <p:sp>
        <p:nvSpPr>
          <p:cNvPr id="26" name="Text 24"/>
          <p:cNvSpPr txBox="1"/>
          <p:nvPr/>
        </p:nvSpPr>
        <p:spPr>
          <a:xfrm>
            <a:off x="4983480" y="3648456"/>
            <a:ext cx="361188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 portfolio, a capstone project and a live presentation</a:t>
            </a:r>
            <a:endParaRPr lang="en-US" sz="1250" dirty="0"/>
          </a:p>
        </p:txBody>
      </p:sp>
      <p:sp>
        <p:nvSpPr>
          <p:cNvPr id="27" name="Text 25"/>
          <p:cNvSpPr txBox="1"/>
          <p:nvPr/>
        </p:nvSpPr>
        <p:spPr>
          <a:xfrm>
            <a:off x="457200" y="4370832"/>
            <a:ext cx="8229600" cy="274320"/>
          </a:xfrm>
          <a:prstGeom prst="rect">
            <a:avLst/>
          </a:prstGeom>
          <a:noFill/>
          <a:ln/>
        </p:spPr>
        <p:txBody>
          <a:bodyPr wrap="square" lIns="0" tIns="0" rIns="0" bIns="0" rtlCol="0" anchor="t"/>
          <a:lstStyle/>
          <a:p>
            <a:pPr indent="0" marL="0">
              <a:buNone/>
            </a:pPr>
            <a:r>
              <a:rPr lang="en-US" sz="1050" i="1" dirty="0">
                <a:solidFill>
                  <a:srgbClr val="586676"/>
                </a:solidFill>
                <a:latin typeface="Calibri" pitchFamily="34" charset="0"/>
                <a:ea typeface="Calibri" pitchFamily="34" charset="-122"/>
                <a:cs typeface="Calibri" pitchFamily="34" charset="-120"/>
              </a:rPr>
              <a:t>The starting point is an assumption; the pre-assessment in session 1 confirms it for each cohort.</a:t>
            </a:r>
            <a:endParaRPr lang="en-US" sz="1050" dirty="0"/>
          </a:p>
        </p:txBody>
      </p:sp>
      <p:pic>
        <p:nvPicPr>
          <p:cNvPr id="28" name="Image 0" descr="preencoded.png">    </p:cNvPr>
          <p:cNvPicPr>
            <a:picLocks noChangeAspect="1"/>
          </p:cNvPicPr>
          <p:nvPr/>
        </p:nvPicPr>
        <p:blipFill>
          <a:blip r:embed="rId1"/>
          <a:stretch>
            <a:fillRect/>
          </a:stretch>
        </p:blipFill>
        <p:spPr>
          <a:xfrm>
            <a:off x="4206240" y="1801368"/>
            <a:ext cx="256032" cy="256032"/>
          </a:xfrm>
          <a:prstGeom prst="rect">
            <a:avLst/>
          </a:prstGeom>
        </p:spPr>
      </p:pic>
      <p:pic>
        <p:nvPicPr>
          <p:cNvPr id="29" name="Image 1" descr="preencoded.png">    </p:cNvPr>
          <p:cNvPicPr>
            <a:picLocks noChangeAspect="1"/>
          </p:cNvPicPr>
          <p:nvPr/>
        </p:nvPicPr>
        <p:blipFill>
          <a:blip r:embed="rId2"/>
          <a:stretch>
            <a:fillRect/>
          </a:stretch>
        </p:blipFill>
        <p:spPr>
          <a:xfrm>
            <a:off x="4206240" y="2468880"/>
            <a:ext cx="256032" cy="256032"/>
          </a:xfrm>
          <a:prstGeom prst="rect">
            <a:avLst/>
          </a:prstGeom>
        </p:spPr>
      </p:pic>
      <p:pic>
        <p:nvPicPr>
          <p:cNvPr id="30" name="Image 2" descr="preencoded.png">    </p:cNvPr>
          <p:cNvPicPr>
            <a:picLocks noChangeAspect="1"/>
          </p:cNvPicPr>
          <p:nvPr/>
        </p:nvPicPr>
        <p:blipFill>
          <a:blip r:embed="rId3"/>
          <a:stretch>
            <a:fillRect/>
          </a:stretch>
        </p:blipFill>
        <p:spPr>
          <a:xfrm>
            <a:off x="4206240" y="3803904"/>
            <a:ext cx="256032" cy="256032"/>
          </a:xfrm>
          <a:prstGeom prst="rect">
            <a:avLst/>
          </a:prstGeom>
        </p:spPr>
      </p:pic>
      <p:pic>
        <p:nvPicPr>
          <p:cNvPr id="31" name="Image 3" descr="preencoded.png">    </p:cNvPr>
          <p:cNvPicPr>
            <a:picLocks noChangeAspect="1"/>
          </p:cNvPicPr>
          <p:nvPr/>
        </p:nvPicPr>
        <p:blipFill>
          <a:blip r:embed="rId4"/>
          <a:stretch>
            <a:fillRect/>
          </a:stretch>
        </p:blipFill>
        <p:spPr>
          <a:xfrm>
            <a:off x="4206240" y="3136392"/>
            <a:ext cx="256032" cy="256032"/>
          </a:xfrm>
          <a:prstGeom prst="rect">
            <a:avLst/>
          </a:prstGeom>
        </p:spPr>
      </p:pic>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4  ·  THE JOURNEY</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From a client's idea to a published campaign</a:t>
            </a:r>
            <a:endParaRPr lang="en-US" sz="2500" dirty="0"/>
          </a:p>
        </p:txBody>
      </p:sp>
      <p:sp>
        <p:nvSpPr>
          <p:cNvPr id="5" name="Shape 3"/>
          <p:cNvSpPr/>
          <p:nvPr/>
        </p:nvSpPr>
        <p:spPr>
          <a:xfrm>
            <a:off x="457200" y="1261872"/>
            <a:ext cx="1929384" cy="1133856"/>
          </a:xfrm>
          <a:prstGeom prst="roundRect">
            <a:avLst>
              <a:gd name="adj" fmla="val 4839"/>
            </a:avLst>
          </a:prstGeom>
          <a:solidFill>
            <a:srgbClr val="F3F6F8"/>
          </a:solidFill>
          <a:ln w="12700">
            <a:solidFill>
              <a:srgbClr val="F3F6F8"/>
            </a:solidFill>
            <a:prstDash val="solid"/>
          </a:ln>
        </p:spPr>
      </p:sp>
      <p:sp>
        <p:nvSpPr>
          <p:cNvPr id="6" name="Shape 4"/>
          <p:cNvSpPr/>
          <p:nvPr/>
        </p:nvSpPr>
        <p:spPr>
          <a:xfrm>
            <a:off x="576072" y="1371600"/>
            <a:ext cx="438912" cy="438912"/>
          </a:xfrm>
          <a:prstGeom prst="ellipse">
            <a:avLst/>
          </a:prstGeom>
          <a:solidFill>
            <a:srgbClr val="0A8577"/>
          </a:solidFill>
          <a:ln w="12700">
            <a:solidFill>
              <a:srgbClr val="0A8577"/>
            </a:solidFill>
            <a:prstDash val="solid"/>
          </a:ln>
        </p:spPr>
      </p:sp>
      <p:sp>
        <p:nvSpPr>
          <p:cNvPr id="7" name="Text 5"/>
          <p:cNvSpPr txBox="1"/>
          <p:nvPr/>
        </p:nvSpPr>
        <p:spPr>
          <a:xfrm>
            <a:off x="576072" y="1865376"/>
            <a:ext cx="1737360" cy="475488"/>
          </a:xfrm>
          <a:prstGeom prst="rect">
            <a:avLst/>
          </a:prstGeom>
          <a:noFill/>
          <a:ln/>
        </p:spPr>
        <p:txBody>
          <a:bodyPr wrap="square" lIns="0" tIns="0" rIns="0" bIns="0" rtlCol="0" anchor="ctr"/>
          <a:lstStyle/>
          <a:p>
            <a:pPr indent="0" marL="0">
              <a:buNone/>
            </a:pPr>
            <a:r>
              <a:rPr lang="en-US" sz="1300" b="1" dirty="0">
                <a:solidFill>
                  <a:srgbClr val="10233A"/>
                </a:solidFill>
                <a:latin typeface="Calibri" pitchFamily="34" charset="0"/>
                <a:ea typeface="Calibri" pitchFamily="34" charset="-122"/>
                <a:cs typeface="Calibri" pitchFamily="34" charset="-120"/>
              </a:rPr>
              <a:t>Research &amp; Client Brief</a:t>
            </a:r>
            <a:endParaRPr lang="en-US" sz="1300" dirty="0"/>
          </a:p>
        </p:txBody>
      </p:sp>
      <p:sp>
        <p:nvSpPr>
          <p:cNvPr id="8" name="Text 6"/>
          <p:cNvSpPr txBox="1"/>
          <p:nvPr/>
        </p:nvSpPr>
        <p:spPr>
          <a:xfrm>
            <a:off x="1828800" y="1371600"/>
            <a:ext cx="457200" cy="274320"/>
          </a:xfrm>
          <a:prstGeom prst="rect">
            <a:avLst/>
          </a:prstGeom>
          <a:noFill/>
          <a:ln/>
        </p:spPr>
        <p:txBody>
          <a:bodyPr wrap="square" lIns="0" tIns="0" rIns="0" bIns="0" rtlCol="0" anchor="t"/>
          <a:lstStyle/>
          <a:p>
            <a:pPr algn="r" indent="0" marL="0">
              <a:buNone/>
            </a:pPr>
            <a:r>
              <a:rPr lang="en-US" sz="1100" b="1" dirty="0">
                <a:solidFill>
                  <a:srgbClr val="0A8577"/>
                </a:solidFill>
                <a:latin typeface="Calibri" pitchFamily="34" charset="0"/>
                <a:ea typeface="Calibri" pitchFamily="34" charset="-122"/>
                <a:cs typeface="Calibri" pitchFamily="34" charset="-120"/>
              </a:rPr>
              <a:t>01</a:t>
            </a:r>
            <a:endParaRPr lang="en-US" sz="1100" dirty="0"/>
          </a:p>
        </p:txBody>
      </p:sp>
      <p:sp>
        <p:nvSpPr>
          <p:cNvPr id="9" name="Shape 7"/>
          <p:cNvSpPr/>
          <p:nvPr/>
        </p:nvSpPr>
        <p:spPr>
          <a:xfrm>
            <a:off x="2551176" y="1261872"/>
            <a:ext cx="1929384" cy="1133856"/>
          </a:xfrm>
          <a:prstGeom prst="roundRect">
            <a:avLst>
              <a:gd name="adj" fmla="val 4839"/>
            </a:avLst>
          </a:prstGeom>
          <a:solidFill>
            <a:srgbClr val="F3F6F8"/>
          </a:solidFill>
          <a:ln w="12700">
            <a:solidFill>
              <a:srgbClr val="F3F6F8"/>
            </a:solidFill>
            <a:prstDash val="solid"/>
          </a:ln>
        </p:spPr>
      </p:sp>
      <p:sp>
        <p:nvSpPr>
          <p:cNvPr id="10" name="Shape 8"/>
          <p:cNvSpPr/>
          <p:nvPr/>
        </p:nvSpPr>
        <p:spPr>
          <a:xfrm>
            <a:off x="2670048" y="1371600"/>
            <a:ext cx="438912" cy="438912"/>
          </a:xfrm>
          <a:prstGeom prst="ellipse">
            <a:avLst/>
          </a:prstGeom>
          <a:solidFill>
            <a:srgbClr val="0A8577"/>
          </a:solidFill>
          <a:ln w="12700">
            <a:solidFill>
              <a:srgbClr val="0A8577"/>
            </a:solidFill>
            <a:prstDash val="solid"/>
          </a:ln>
        </p:spPr>
      </p:sp>
      <p:sp>
        <p:nvSpPr>
          <p:cNvPr id="11" name="Text 9"/>
          <p:cNvSpPr txBox="1"/>
          <p:nvPr/>
        </p:nvSpPr>
        <p:spPr>
          <a:xfrm>
            <a:off x="2670048" y="1865376"/>
            <a:ext cx="1737360" cy="475488"/>
          </a:xfrm>
          <a:prstGeom prst="rect">
            <a:avLst/>
          </a:prstGeom>
          <a:noFill/>
          <a:ln/>
        </p:spPr>
        <p:txBody>
          <a:bodyPr wrap="square" lIns="0" tIns="0" rIns="0" bIns="0" rtlCol="0" anchor="ctr"/>
          <a:lstStyle/>
          <a:p>
            <a:pPr indent="0" marL="0">
              <a:buNone/>
            </a:pPr>
            <a:r>
              <a:rPr lang="en-US" sz="1300" b="1" dirty="0">
                <a:solidFill>
                  <a:srgbClr val="10233A"/>
                </a:solidFill>
                <a:latin typeface="Calibri" pitchFamily="34" charset="0"/>
                <a:ea typeface="Calibri" pitchFamily="34" charset="-122"/>
                <a:cs typeface="Calibri" pitchFamily="34" charset="-120"/>
              </a:rPr>
              <a:t>Prompting &amp; Content</a:t>
            </a:r>
            <a:endParaRPr lang="en-US" sz="1300" dirty="0"/>
          </a:p>
        </p:txBody>
      </p:sp>
      <p:sp>
        <p:nvSpPr>
          <p:cNvPr id="12" name="Text 10"/>
          <p:cNvSpPr txBox="1"/>
          <p:nvPr/>
        </p:nvSpPr>
        <p:spPr>
          <a:xfrm>
            <a:off x="3922776" y="1371600"/>
            <a:ext cx="457200" cy="274320"/>
          </a:xfrm>
          <a:prstGeom prst="rect">
            <a:avLst/>
          </a:prstGeom>
          <a:noFill/>
          <a:ln/>
        </p:spPr>
        <p:txBody>
          <a:bodyPr wrap="square" lIns="0" tIns="0" rIns="0" bIns="0" rtlCol="0" anchor="t"/>
          <a:lstStyle/>
          <a:p>
            <a:pPr algn="r" indent="0" marL="0">
              <a:buNone/>
            </a:pPr>
            <a:r>
              <a:rPr lang="en-US" sz="1100" b="1" dirty="0">
                <a:solidFill>
                  <a:srgbClr val="0A8577"/>
                </a:solidFill>
                <a:latin typeface="Calibri" pitchFamily="34" charset="0"/>
                <a:ea typeface="Calibri" pitchFamily="34" charset="-122"/>
                <a:cs typeface="Calibri" pitchFamily="34" charset="-120"/>
              </a:rPr>
              <a:t>02</a:t>
            </a:r>
            <a:endParaRPr lang="en-US" sz="1100" dirty="0"/>
          </a:p>
        </p:txBody>
      </p:sp>
      <p:sp>
        <p:nvSpPr>
          <p:cNvPr id="13" name="Shape 11"/>
          <p:cNvSpPr/>
          <p:nvPr/>
        </p:nvSpPr>
        <p:spPr>
          <a:xfrm>
            <a:off x="4645152" y="1261872"/>
            <a:ext cx="1929384" cy="1133856"/>
          </a:xfrm>
          <a:prstGeom prst="roundRect">
            <a:avLst>
              <a:gd name="adj" fmla="val 4839"/>
            </a:avLst>
          </a:prstGeom>
          <a:solidFill>
            <a:srgbClr val="F3F6F8"/>
          </a:solidFill>
          <a:ln w="12700">
            <a:solidFill>
              <a:srgbClr val="F3F6F8"/>
            </a:solidFill>
            <a:prstDash val="solid"/>
          </a:ln>
        </p:spPr>
      </p:sp>
      <p:sp>
        <p:nvSpPr>
          <p:cNvPr id="14" name="Shape 12"/>
          <p:cNvSpPr/>
          <p:nvPr/>
        </p:nvSpPr>
        <p:spPr>
          <a:xfrm>
            <a:off x="4764024" y="1371600"/>
            <a:ext cx="438912" cy="438912"/>
          </a:xfrm>
          <a:prstGeom prst="ellipse">
            <a:avLst/>
          </a:prstGeom>
          <a:solidFill>
            <a:srgbClr val="0A8577"/>
          </a:solidFill>
          <a:ln w="12700">
            <a:solidFill>
              <a:srgbClr val="0A8577"/>
            </a:solidFill>
            <a:prstDash val="solid"/>
          </a:ln>
        </p:spPr>
      </p:sp>
      <p:sp>
        <p:nvSpPr>
          <p:cNvPr id="15" name="Text 13"/>
          <p:cNvSpPr txBox="1"/>
          <p:nvPr/>
        </p:nvSpPr>
        <p:spPr>
          <a:xfrm>
            <a:off x="4764024" y="1865376"/>
            <a:ext cx="1737360" cy="475488"/>
          </a:xfrm>
          <a:prstGeom prst="rect">
            <a:avLst/>
          </a:prstGeom>
          <a:noFill/>
          <a:ln/>
        </p:spPr>
        <p:txBody>
          <a:bodyPr wrap="square" lIns="0" tIns="0" rIns="0" bIns="0" rtlCol="0" anchor="ctr"/>
          <a:lstStyle/>
          <a:p>
            <a:pPr indent="0" marL="0">
              <a:buNone/>
            </a:pPr>
            <a:r>
              <a:rPr lang="en-US" sz="1300" b="1" dirty="0">
                <a:solidFill>
                  <a:srgbClr val="10233A"/>
                </a:solidFill>
                <a:latin typeface="Calibri" pitchFamily="34" charset="0"/>
                <a:ea typeface="Calibri" pitchFamily="34" charset="-122"/>
                <a:cs typeface="Calibri" pitchFamily="34" charset="-120"/>
              </a:rPr>
              <a:t>Characters, Voice &amp; Visuals</a:t>
            </a:r>
            <a:endParaRPr lang="en-US" sz="1300" dirty="0"/>
          </a:p>
        </p:txBody>
      </p:sp>
      <p:sp>
        <p:nvSpPr>
          <p:cNvPr id="16" name="Text 14"/>
          <p:cNvSpPr txBox="1"/>
          <p:nvPr/>
        </p:nvSpPr>
        <p:spPr>
          <a:xfrm>
            <a:off x="6016752" y="1371600"/>
            <a:ext cx="457200" cy="274320"/>
          </a:xfrm>
          <a:prstGeom prst="rect">
            <a:avLst/>
          </a:prstGeom>
          <a:noFill/>
          <a:ln/>
        </p:spPr>
        <p:txBody>
          <a:bodyPr wrap="square" lIns="0" tIns="0" rIns="0" bIns="0" rtlCol="0" anchor="t"/>
          <a:lstStyle/>
          <a:p>
            <a:pPr algn="r" indent="0" marL="0">
              <a:buNone/>
            </a:pPr>
            <a:r>
              <a:rPr lang="en-US" sz="1100" b="1" dirty="0">
                <a:solidFill>
                  <a:srgbClr val="0A8577"/>
                </a:solidFill>
                <a:latin typeface="Calibri" pitchFamily="34" charset="0"/>
                <a:ea typeface="Calibri" pitchFamily="34" charset="-122"/>
                <a:cs typeface="Calibri" pitchFamily="34" charset="-120"/>
              </a:rPr>
              <a:t>03</a:t>
            </a:r>
            <a:endParaRPr lang="en-US" sz="1100" dirty="0"/>
          </a:p>
        </p:txBody>
      </p:sp>
      <p:sp>
        <p:nvSpPr>
          <p:cNvPr id="17" name="Shape 15"/>
          <p:cNvSpPr/>
          <p:nvPr/>
        </p:nvSpPr>
        <p:spPr>
          <a:xfrm>
            <a:off x="6739128" y="1261872"/>
            <a:ext cx="1929384" cy="1133856"/>
          </a:xfrm>
          <a:prstGeom prst="roundRect">
            <a:avLst>
              <a:gd name="adj" fmla="val 4839"/>
            </a:avLst>
          </a:prstGeom>
          <a:solidFill>
            <a:srgbClr val="F3F6F8"/>
          </a:solidFill>
          <a:ln w="12700">
            <a:solidFill>
              <a:srgbClr val="F3F6F8"/>
            </a:solidFill>
            <a:prstDash val="solid"/>
          </a:ln>
        </p:spPr>
      </p:sp>
      <p:sp>
        <p:nvSpPr>
          <p:cNvPr id="18" name="Shape 16"/>
          <p:cNvSpPr/>
          <p:nvPr/>
        </p:nvSpPr>
        <p:spPr>
          <a:xfrm>
            <a:off x="6858000" y="1371600"/>
            <a:ext cx="438912" cy="438912"/>
          </a:xfrm>
          <a:prstGeom prst="ellipse">
            <a:avLst/>
          </a:prstGeom>
          <a:solidFill>
            <a:srgbClr val="0A8577"/>
          </a:solidFill>
          <a:ln w="12700">
            <a:solidFill>
              <a:srgbClr val="0A8577"/>
            </a:solidFill>
            <a:prstDash val="solid"/>
          </a:ln>
        </p:spPr>
      </p:sp>
      <p:sp>
        <p:nvSpPr>
          <p:cNvPr id="19" name="Text 17"/>
          <p:cNvSpPr txBox="1"/>
          <p:nvPr/>
        </p:nvSpPr>
        <p:spPr>
          <a:xfrm>
            <a:off x="6858000" y="1865376"/>
            <a:ext cx="1737360" cy="475488"/>
          </a:xfrm>
          <a:prstGeom prst="rect">
            <a:avLst/>
          </a:prstGeom>
          <a:noFill/>
          <a:ln/>
        </p:spPr>
        <p:txBody>
          <a:bodyPr wrap="square" lIns="0" tIns="0" rIns="0" bIns="0" rtlCol="0" anchor="ctr"/>
          <a:lstStyle/>
          <a:p>
            <a:pPr indent="0" marL="0">
              <a:buNone/>
            </a:pPr>
            <a:r>
              <a:rPr lang="en-US" sz="1300" b="1" dirty="0">
                <a:solidFill>
                  <a:srgbClr val="10233A"/>
                </a:solidFill>
                <a:latin typeface="Calibri" pitchFamily="34" charset="0"/>
                <a:ea typeface="Calibri" pitchFamily="34" charset="-122"/>
                <a:cs typeface="Calibri" pitchFamily="34" charset="-120"/>
              </a:rPr>
              <a:t>Script &amp; Storyboard</a:t>
            </a:r>
            <a:endParaRPr lang="en-US" sz="1300" dirty="0"/>
          </a:p>
        </p:txBody>
      </p:sp>
      <p:sp>
        <p:nvSpPr>
          <p:cNvPr id="20" name="Text 18"/>
          <p:cNvSpPr txBox="1"/>
          <p:nvPr/>
        </p:nvSpPr>
        <p:spPr>
          <a:xfrm>
            <a:off x="8110728" y="1371600"/>
            <a:ext cx="457200" cy="274320"/>
          </a:xfrm>
          <a:prstGeom prst="rect">
            <a:avLst/>
          </a:prstGeom>
          <a:noFill/>
          <a:ln/>
        </p:spPr>
        <p:txBody>
          <a:bodyPr wrap="square" lIns="0" tIns="0" rIns="0" bIns="0" rtlCol="0" anchor="t"/>
          <a:lstStyle/>
          <a:p>
            <a:pPr algn="r" indent="0" marL="0">
              <a:buNone/>
            </a:pPr>
            <a:r>
              <a:rPr lang="en-US" sz="1100" b="1" dirty="0">
                <a:solidFill>
                  <a:srgbClr val="0A8577"/>
                </a:solidFill>
                <a:latin typeface="Calibri" pitchFamily="34" charset="0"/>
                <a:ea typeface="Calibri" pitchFamily="34" charset="-122"/>
                <a:cs typeface="Calibri" pitchFamily="34" charset="-120"/>
              </a:rPr>
              <a:t>04</a:t>
            </a:r>
            <a:endParaRPr lang="en-US" sz="1100" dirty="0"/>
          </a:p>
        </p:txBody>
      </p:sp>
      <p:sp>
        <p:nvSpPr>
          <p:cNvPr id="21" name="Shape 19"/>
          <p:cNvSpPr/>
          <p:nvPr/>
        </p:nvSpPr>
        <p:spPr>
          <a:xfrm>
            <a:off x="457200" y="2505456"/>
            <a:ext cx="1929384" cy="1133856"/>
          </a:xfrm>
          <a:prstGeom prst="roundRect">
            <a:avLst>
              <a:gd name="adj" fmla="val 4839"/>
            </a:avLst>
          </a:prstGeom>
          <a:solidFill>
            <a:srgbClr val="10233A"/>
          </a:solidFill>
          <a:ln w="12700">
            <a:solidFill>
              <a:srgbClr val="10233A"/>
            </a:solidFill>
            <a:prstDash val="solid"/>
          </a:ln>
        </p:spPr>
      </p:sp>
      <p:sp>
        <p:nvSpPr>
          <p:cNvPr id="22" name="Shape 20"/>
          <p:cNvSpPr/>
          <p:nvPr/>
        </p:nvSpPr>
        <p:spPr>
          <a:xfrm>
            <a:off x="576072" y="2615184"/>
            <a:ext cx="438912" cy="438912"/>
          </a:xfrm>
          <a:prstGeom prst="ellipse">
            <a:avLst/>
          </a:prstGeom>
          <a:solidFill>
            <a:srgbClr val="F2A541"/>
          </a:solidFill>
          <a:ln w="12700">
            <a:solidFill>
              <a:srgbClr val="F2A541"/>
            </a:solidFill>
            <a:prstDash val="solid"/>
          </a:ln>
        </p:spPr>
      </p:sp>
      <p:sp>
        <p:nvSpPr>
          <p:cNvPr id="23" name="Text 21"/>
          <p:cNvSpPr txBox="1"/>
          <p:nvPr/>
        </p:nvSpPr>
        <p:spPr>
          <a:xfrm>
            <a:off x="576072" y="3108960"/>
            <a:ext cx="173736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AI Video &amp; Editing</a:t>
            </a:r>
            <a:endParaRPr lang="en-US" sz="1300" dirty="0"/>
          </a:p>
        </p:txBody>
      </p:sp>
      <p:sp>
        <p:nvSpPr>
          <p:cNvPr id="24" name="Text 22"/>
          <p:cNvSpPr txBox="1"/>
          <p:nvPr/>
        </p:nvSpPr>
        <p:spPr>
          <a:xfrm>
            <a:off x="1828800" y="2615184"/>
            <a:ext cx="457200" cy="274320"/>
          </a:xfrm>
          <a:prstGeom prst="rect">
            <a:avLst/>
          </a:prstGeom>
          <a:noFill/>
          <a:ln/>
        </p:spPr>
        <p:txBody>
          <a:bodyPr wrap="square" lIns="0" tIns="0" rIns="0" bIns="0" rtlCol="0" anchor="t"/>
          <a:lstStyle/>
          <a:p>
            <a:pPr algn="r" indent="0" marL="0">
              <a:buNone/>
            </a:pPr>
            <a:r>
              <a:rPr lang="en-US" sz="1100" b="1" dirty="0">
                <a:solidFill>
                  <a:srgbClr val="F2A541"/>
                </a:solidFill>
                <a:latin typeface="Calibri" pitchFamily="34" charset="0"/>
                <a:ea typeface="Calibri" pitchFamily="34" charset="-122"/>
                <a:cs typeface="Calibri" pitchFamily="34" charset="-120"/>
              </a:rPr>
              <a:t>05</a:t>
            </a:r>
            <a:endParaRPr lang="en-US" sz="1100" dirty="0"/>
          </a:p>
        </p:txBody>
      </p:sp>
      <p:sp>
        <p:nvSpPr>
          <p:cNvPr id="25" name="Shape 23"/>
          <p:cNvSpPr/>
          <p:nvPr/>
        </p:nvSpPr>
        <p:spPr>
          <a:xfrm>
            <a:off x="2551176" y="2505456"/>
            <a:ext cx="1929384" cy="1133856"/>
          </a:xfrm>
          <a:prstGeom prst="roundRect">
            <a:avLst>
              <a:gd name="adj" fmla="val 4839"/>
            </a:avLst>
          </a:prstGeom>
          <a:solidFill>
            <a:srgbClr val="10233A"/>
          </a:solidFill>
          <a:ln w="12700">
            <a:solidFill>
              <a:srgbClr val="10233A"/>
            </a:solidFill>
            <a:prstDash val="solid"/>
          </a:ln>
        </p:spPr>
      </p:sp>
      <p:sp>
        <p:nvSpPr>
          <p:cNvPr id="26" name="Shape 24"/>
          <p:cNvSpPr/>
          <p:nvPr/>
        </p:nvSpPr>
        <p:spPr>
          <a:xfrm>
            <a:off x="2670048" y="2615184"/>
            <a:ext cx="438912" cy="438912"/>
          </a:xfrm>
          <a:prstGeom prst="ellipse">
            <a:avLst/>
          </a:prstGeom>
          <a:solidFill>
            <a:srgbClr val="F2A541"/>
          </a:solidFill>
          <a:ln w="12700">
            <a:solidFill>
              <a:srgbClr val="F2A541"/>
            </a:solidFill>
            <a:prstDash val="solid"/>
          </a:ln>
        </p:spPr>
      </p:sp>
      <p:sp>
        <p:nvSpPr>
          <p:cNvPr id="27" name="Text 25"/>
          <p:cNvSpPr txBox="1"/>
          <p:nvPr/>
        </p:nvSpPr>
        <p:spPr>
          <a:xfrm>
            <a:off x="2670048" y="3108960"/>
            <a:ext cx="173736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Digital Marketing</a:t>
            </a:r>
            <a:endParaRPr lang="en-US" sz="1300" dirty="0"/>
          </a:p>
        </p:txBody>
      </p:sp>
      <p:sp>
        <p:nvSpPr>
          <p:cNvPr id="28" name="Text 26"/>
          <p:cNvSpPr txBox="1"/>
          <p:nvPr/>
        </p:nvSpPr>
        <p:spPr>
          <a:xfrm>
            <a:off x="3922776" y="2615184"/>
            <a:ext cx="457200" cy="274320"/>
          </a:xfrm>
          <a:prstGeom prst="rect">
            <a:avLst/>
          </a:prstGeom>
          <a:noFill/>
          <a:ln/>
        </p:spPr>
        <p:txBody>
          <a:bodyPr wrap="square" lIns="0" tIns="0" rIns="0" bIns="0" rtlCol="0" anchor="t"/>
          <a:lstStyle/>
          <a:p>
            <a:pPr algn="r" indent="0" marL="0">
              <a:buNone/>
            </a:pPr>
            <a:r>
              <a:rPr lang="en-US" sz="1100" b="1" dirty="0">
                <a:solidFill>
                  <a:srgbClr val="F2A541"/>
                </a:solidFill>
                <a:latin typeface="Calibri" pitchFamily="34" charset="0"/>
                <a:ea typeface="Calibri" pitchFamily="34" charset="-122"/>
                <a:cs typeface="Calibri" pitchFamily="34" charset="-120"/>
              </a:rPr>
              <a:t>06</a:t>
            </a:r>
            <a:endParaRPr lang="en-US" sz="1100" dirty="0"/>
          </a:p>
        </p:txBody>
      </p:sp>
      <p:sp>
        <p:nvSpPr>
          <p:cNvPr id="29" name="Shape 27"/>
          <p:cNvSpPr/>
          <p:nvPr/>
        </p:nvSpPr>
        <p:spPr>
          <a:xfrm>
            <a:off x="4645152" y="2505456"/>
            <a:ext cx="1929384" cy="1133856"/>
          </a:xfrm>
          <a:prstGeom prst="roundRect">
            <a:avLst>
              <a:gd name="adj" fmla="val 4839"/>
            </a:avLst>
          </a:prstGeom>
          <a:solidFill>
            <a:srgbClr val="10233A"/>
          </a:solidFill>
          <a:ln w="12700">
            <a:solidFill>
              <a:srgbClr val="10233A"/>
            </a:solidFill>
            <a:prstDash val="solid"/>
          </a:ln>
        </p:spPr>
      </p:sp>
      <p:sp>
        <p:nvSpPr>
          <p:cNvPr id="30" name="Shape 28"/>
          <p:cNvSpPr/>
          <p:nvPr/>
        </p:nvSpPr>
        <p:spPr>
          <a:xfrm>
            <a:off x="4764024" y="2615184"/>
            <a:ext cx="438912" cy="438912"/>
          </a:xfrm>
          <a:prstGeom prst="ellipse">
            <a:avLst/>
          </a:prstGeom>
          <a:solidFill>
            <a:srgbClr val="F2A541"/>
          </a:solidFill>
          <a:ln w="12700">
            <a:solidFill>
              <a:srgbClr val="F2A541"/>
            </a:solidFill>
            <a:prstDash val="solid"/>
          </a:ln>
        </p:spPr>
      </p:sp>
      <p:sp>
        <p:nvSpPr>
          <p:cNvPr id="31" name="Text 29"/>
          <p:cNvSpPr txBox="1"/>
          <p:nvPr/>
        </p:nvSpPr>
        <p:spPr>
          <a:xfrm>
            <a:off x="4764024" y="3108960"/>
            <a:ext cx="173736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n8n Automation</a:t>
            </a:r>
            <a:endParaRPr lang="en-US" sz="1300" dirty="0"/>
          </a:p>
        </p:txBody>
      </p:sp>
      <p:sp>
        <p:nvSpPr>
          <p:cNvPr id="32" name="Text 30"/>
          <p:cNvSpPr txBox="1"/>
          <p:nvPr/>
        </p:nvSpPr>
        <p:spPr>
          <a:xfrm>
            <a:off x="6016752" y="2615184"/>
            <a:ext cx="457200" cy="274320"/>
          </a:xfrm>
          <a:prstGeom prst="rect">
            <a:avLst/>
          </a:prstGeom>
          <a:noFill/>
          <a:ln/>
        </p:spPr>
        <p:txBody>
          <a:bodyPr wrap="square" lIns="0" tIns="0" rIns="0" bIns="0" rtlCol="0" anchor="t"/>
          <a:lstStyle/>
          <a:p>
            <a:pPr algn="r" indent="0" marL="0">
              <a:buNone/>
            </a:pPr>
            <a:r>
              <a:rPr lang="en-US" sz="1100" b="1" dirty="0">
                <a:solidFill>
                  <a:srgbClr val="F2A541"/>
                </a:solidFill>
                <a:latin typeface="Calibri" pitchFamily="34" charset="0"/>
                <a:ea typeface="Calibri" pitchFamily="34" charset="-122"/>
                <a:cs typeface="Calibri" pitchFamily="34" charset="-120"/>
              </a:rPr>
              <a:t>07</a:t>
            </a:r>
            <a:endParaRPr lang="en-US" sz="1100" dirty="0"/>
          </a:p>
        </p:txBody>
      </p:sp>
      <p:sp>
        <p:nvSpPr>
          <p:cNvPr id="33" name="Shape 31"/>
          <p:cNvSpPr/>
          <p:nvPr/>
        </p:nvSpPr>
        <p:spPr>
          <a:xfrm>
            <a:off x="6739128" y="2505456"/>
            <a:ext cx="1929384" cy="1133856"/>
          </a:xfrm>
          <a:prstGeom prst="roundRect">
            <a:avLst>
              <a:gd name="adj" fmla="val 4839"/>
            </a:avLst>
          </a:prstGeom>
          <a:solidFill>
            <a:srgbClr val="10233A"/>
          </a:solidFill>
          <a:ln w="12700">
            <a:solidFill>
              <a:srgbClr val="10233A"/>
            </a:solidFill>
            <a:prstDash val="solid"/>
          </a:ln>
        </p:spPr>
      </p:sp>
      <p:sp>
        <p:nvSpPr>
          <p:cNvPr id="34" name="Shape 32"/>
          <p:cNvSpPr/>
          <p:nvPr/>
        </p:nvSpPr>
        <p:spPr>
          <a:xfrm>
            <a:off x="6858000" y="2615184"/>
            <a:ext cx="438912" cy="438912"/>
          </a:xfrm>
          <a:prstGeom prst="ellipse">
            <a:avLst/>
          </a:prstGeom>
          <a:solidFill>
            <a:srgbClr val="F2A541"/>
          </a:solidFill>
          <a:ln w="12700">
            <a:solidFill>
              <a:srgbClr val="F2A541"/>
            </a:solidFill>
            <a:prstDash val="solid"/>
          </a:ln>
        </p:spPr>
      </p:sp>
      <p:sp>
        <p:nvSpPr>
          <p:cNvPr id="35" name="Text 33"/>
          <p:cNvSpPr txBox="1"/>
          <p:nvPr/>
        </p:nvSpPr>
        <p:spPr>
          <a:xfrm>
            <a:off x="6858000" y="3108960"/>
            <a:ext cx="173736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Portfolio &amp; Capstone</a:t>
            </a:r>
            <a:endParaRPr lang="en-US" sz="1300" dirty="0"/>
          </a:p>
        </p:txBody>
      </p:sp>
      <p:sp>
        <p:nvSpPr>
          <p:cNvPr id="36" name="Text 34"/>
          <p:cNvSpPr txBox="1"/>
          <p:nvPr/>
        </p:nvSpPr>
        <p:spPr>
          <a:xfrm>
            <a:off x="8110728" y="2615184"/>
            <a:ext cx="457200" cy="274320"/>
          </a:xfrm>
          <a:prstGeom prst="rect">
            <a:avLst/>
          </a:prstGeom>
          <a:noFill/>
          <a:ln/>
        </p:spPr>
        <p:txBody>
          <a:bodyPr wrap="square" lIns="0" tIns="0" rIns="0" bIns="0" rtlCol="0" anchor="t"/>
          <a:lstStyle/>
          <a:p>
            <a:pPr algn="r" indent="0" marL="0">
              <a:buNone/>
            </a:pPr>
            <a:r>
              <a:rPr lang="en-US" sz="1100" b="1" dirty="0">
                <a:solidFill>
                  <a:srgbClr val="F2A541"/>
                </a:solidFill>
                <a:latin typeface="Calibri" pitchFamily="34" charset="0"/>
                <a:ea typeface="Calibri" pitchFamily="34" charset="-122"/>
                <a:cs typeface="Calibri" pitchFamily="34" charset="-120"/>
              </a:rPr>
              <a:t>08</a:t>
            </a:r>
            <a:endParaRPr lang="en-US" sz="1100" dirty="0"/>
          </a:p>
        </p:txBody>
      </p:sp>
      <p:sp>
        <p:nvSpPr>
          <p:cNvPr id="37" name="Shape 35"/>
          <p:cNvSpPr/>
          <p:nvPr/>
        </p:nvSpPr>
        <p:spPr>
          <a:xfrm>
            <a:off x="457200" y="3794760"/>
            <a:ext cx="8229600" cy="822960"/>
          </a:xfrm>
          <a:prstGeom prst="roundRect">
            <a:avLst>
              <a:gd name="adj" fmla="val 6667"/>
            </a:avLst>
          </a:prstGeom>
          <a:solidFill>
            <a:srgbClr val="10233A"/>
          </a:solidFill>
          <a:ln w="12700">
            <a:solidFill>
              <a:srgbClr val="10233A"/>
            </a:solidFill>
            <a:prstDash val="solid"/>
          </a:ln>
        </p:spPr>
      </p:sp>
      <p:sp>
        <p:nvSpPr>
          <p:cNvPr id="38" name="Text 36"/>
          <p:cNvSpPr txBox="1"/>
          <p:nvPr/>
        </p:nvSpPr>
        <p:spPr>
          <a:xfrm>
            <a:off x="621792" y="3794760"/>
            <a:ext cx="7909560" cy="822960"/>
          </a:xfrm>
          <a:prstGeom prst="rect">
            <a:avLst/>
          </a:prstGeom>
          <a:noFill/>
          <a:ln/>
        </p:spPr>
        <p:txBody>
          <a:bodyPr wrap="square" lIns="0" tIns="0" rIns="0" bIns="0" rtlCol="0" anchor="ctr"/>
          <a:lstStyle/>
          <a:p>
            <a:pPr indent="0" marL="0">
              <a:buNone/>
            </a:pPr>
            <a:r>
              <a:rPr lang="en-US" sz="1200" b="1" dirty="0">
                <a:solidFill>
                  <a:srgbClr val="F2A541"/>
                </a:solidFill>
                <a:latin typeface="Calibri" pitchFamily="34" charset="0"/>
                <a:ea typeface="Calibri" pitchFamily="34" charset="-122"/>
                <a:cs typeface="Calibri" pitchFamily="34" charset="-120"/>
              </a:rPr>
              <a:t>Why this focus: </a:t>
            </a:r>
            <a:pPr indent="0" marL="0">
              <a:buNone/>
            </a:pPr>
            <a:r>
              <a:rPr lang="en-US" sz="1200" dirty="0">
                <a:solidFill>
                  <a:srgbClr val="FFFFFF"/>
                </a:solidFill>
                <a:latin typeface="Calibri" pitchFamily="34" charset="0"/>
                <a:ea typeface="Calibri" pitchFamily="34" charset="-122"/>
                <a:cs typeface="Calibri" pitchFamily="34" charset="-120"/>
              </a:rPr>
              <a:t>small businesses, NGOs and community initiatives need steady content but often lack the time or skills to produce it. AI Creators trains participants to deliver that work with AI tools, step by step, the way a small agency works with a real client.</a:t>
            </a:r>
            <a:endParaRPr lang="en-US" sz="1200" dirty="0"/>
          </a:p>
        </p:txBody>
      </p:sp>
      <p:pic>
        <p:nvPicPr>
          <p:cNvPr id="39" name="Image 0" descr="preencoded.png">    </p:cNvPr>
          <p:cNvPicPr>
            <a:picLocks noChangeAspect="1"/>
          </p:cNvPicPr>
          <p:nvPr/>
        </p:nvPicPr>
        <p:blipFill>
          <a:blip r:embed="rId1"/>
          <a:stretch>
            <a:fillRect/>
          </a:stretch>
        </p:blipFill>
        <p:spPr>
          <a:xfrm>
            <a:off x="685800" y="1481328"/>
            <a:ext cx="219456" cy="219456"/>
          </a:xfrm>
          <a:prstGeom prst="rect">
            <a:avLst/>
          </a:prstGeom>
        </p:spPr>
      </p:pic>
      <p:pic>
        <p:nvPicPr>
          <p:cNvPr id="40" name="Image 1" descr="preencoded.png">    </p:cNvPr>
          <p:cNvPicPr>
            <a:picLocks noChangeAspect="1"/>
          </p:cNvPicPr>
          <p:nvPr/>
        </p:nvPicPr>
        <p:blipFill>
          <a:blip r:embed="rId2"/>
          <a:stretch>
            <a:fillRect/>
          </a:stretch>
        </p:blipFill>
        <p:spPr>
          <a:xfrm>
            <a:off x="2779776" y="1481328"/>
            <a:ext cx="219456" cy="219456"/>
          </a:xfrm>
          <a:prstGeom prst="rect">
            <a:avLst/>
          </a:prstGeom>
        </p:spPr>
      </p:pic>
      <p:pic>
        <p:nvPicPr>
          <p:cNvPr id="41" name="Image 2" descr="preencoded.png">    </p:cNvPr>
          <p:cNvPicPr>
            <a:picLocks noChangeAspect="1"/>
          </p:cNvPicPr>
          <p:nvPr/>
        </p:nvPicPr>
        <p:blipFill>
          <a:blip r:embed="rId3"/>
          <a:stretch>
            <a:fillRect/>
          </a:stretch>
        </p:blipFill>
        <p:spPr>
          <a:xfrm>
            <a:off x="4873752" y="1481328"/>
            <a:ext cx="219456" cy="219456"/>
          </a:xfrm>
          <a:prstGeom prst="rect">
            <a:avLst/>
          </a:prstGeom>
        </p:spPr>
      </p:pic>
      <p:pic>
        <p:nvPicPr>
          <p:cNvPr id="42" name="Image 3" descr="preencoded.png">    </p:cNvPr>
          <p:cNvPicPr>
            <a:picLocks noChangeAspect="1"/>
          </p:cNvPicPr>
          <p:nvPr/>
        </p:nvPicPr>
        <p:blipFill>
          <a:blip r:embed="rId4"/>
          <a:stretch>
            <a:fillRect/>
          </a:stretch>
        </p:blipFill>
        <p:spPr>
          <a:xfrm>
            <a:off x="6967728" y="1481328"/>
            <a:ext cx="219456" cy="219456"/>
          </a:xfrm>
          <a:prstGeom prst="rect">
            <a:avLst/>
          </a:prstGeom>
        </p:spPr>
      </p:pic>
      <p:pic>
        <p:nvPicPr>
          <p:cNvPr id="43" name="Image 4" descr="preencoded.png">    </p:cNvPr>
          <p:cNvPicPr>
            <a:picLocks noChangeAspect="1"/>
          </p:cNvPicPr>
          <p:nvPr/>
        </p:nvPicPr>
        <p:blipFill>
          <a:blip r:embed="rId5"/>
          <a:stretch>
            <a:fillRect/>
          </a:stretch>
        </p:blipFill>
        <p:spPr>
          <a:xfrm>
            <a:off x="4873752" y="2724912"/>
            <a:ext cx="219456" cy="219456"/>
          </a:xfrm>
          <a:prstGeom prst="rect">
            <a:avLst/>
          </a:prstGeom>
        </p:spPr>
      </p:pic>
      <p:pic>
        <p:nvPicPr>
          <p:cNvPr id="44" name="Image 5" descr="preencoded.png">    </p:cNvPr>
          <p:cNvPicPr>
            <a:picLocks noChangeAspect="1"/>
          </p:cNvPicPr>
          <p:nvPr/>
        </p:nvPicPr>
        <p:blipFill>
          <a:blip r:embed="rId6"/>
          <a:stretch>
            <a:fillRect/>
          </a:stretch>
        </p:blipFill>
        <p:spPr>
          <a:xfrm>
            <a:off x="2779776" y="2724912"/>
            <a:ext cx="219456" cy="219456"/>
          </a:xfrm>
          <a:prstGeom prst="rect">
            <a:avLst/>
          </a:prstGeom>
        </p:spPr>
      </p:pic>
      <p:pic>
        <p:nvPicPr>
          <p:cNvPr id="45" name="Image 6" descr="preencoded.png">    </p:cNvPr>
          <p:cNvPicPr>
            <a:picLocks noChangeAspect="1"/>
          </p:cNvPicPr>
          <p:nvPr/>
        </p:nvPicPr>
        <p:blipFill>
          <a:blip r:embed="rId7"/>
          <a:stretch>
            <a:fillRect/>
          </a:stretch>
        </p:blipFill>
        <p:spPr>
          <a:xfrm>
            <a:off x="685800" y="2724912"/>
            <a:ext cx="219456" cy="219456"/>
          </a:xfrm>
          <a:prstGeom prst="rect">
            <a:avLst/>
          </a:prstGeom>
        </p:spPr>
      </p:pic>
      <p:pic>
        <p:nvPicPr>
          <p:cNvPr id="46" name="Image 7" descr="preencoded.png">    </p:cNvPr>
          <p:cNvPicPr>
            <a:picLocks noChangeAspect="1"/>
          </p:cNvPicPr>
          <p:nvPr/>
        </p:nvPicPr>
        <p:blipFill>
          <a:blip r:embed="rId8"/>
          <a:stretch>
            <a:fillRect/>
          </a:stretch>
        </p:blipFill>
        <p:spPr>
          <a:xfrm>
            <a:off x="6967728" y="2724912"/>
            <a:ext cx="219456" cy="219456"/>
          </a:xfrm>
          <a:prstGeom prst="rect">
            <a:avLst/>
          </a:prstGeom>
        </p:spPr>
      </p:pic>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5  ·  LEARN</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Eleven modules, 96 hours per participant</a:t>
            </a:r>
            <a:endParaRPr lang="en-US" sz="2500" dirty="0"/>
          </a:p>
        </p:txBody>
      </p:sp>
      <p:graphicFrame>
        <p:nvGraphicFramePr>
          <p:cNvPr id="5" name="Chart 0" descr=""/>
          <p:cNvGraphicFramePr/>
          <p:nvPr/>
        </p:nvGraphicFramePr>
        <p:xfrm>
          <a:off x="365760" y="1188720"/>
          <a:ext cx="5120640" cy="34747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669280" y="1298448"/>
            <a:ext cx="3017520" cy="3310128"/>
          </a:xfrm>
          <a:prstGeom prst="roundRect">
            <a:avLst>
              <a:gd name="adj" fmla="val 1818"/>
            </a:avLst>
          </a:prstGeom>
          <a:solidFill>
            <a:srgbClr val="F3F6F8"/>
          </a:solidFill>
          <a:ln w="12700">
            <a:solidFill>
              <a:srgbClr val="F3F6F8"/>
            </a:solidFill>
            <a:prstDash val="solid"/>
          </a:ln>
        </p:spPr>
      </p:sp>
      <p:sp>
        <p:nvSpPr>
          <p:cNvPr id="7" name="Shape 4"/>
          <p:cNvSpPr/>
          <p:nvPr/>
        </p:nvSpPr>
        <p:spPr>
          <a:xfrm>
            <a:off x="5806440" y="1417320"/>
            <a:ext cx="384048" cy="384048"/>
          </a:xfrm>
          <a:prstGeom prst="ellipse">
            <a:avLst/>
          </a:prstGeom>
          <a:solidFill>
            <a:srgbClr val="0A8577"/>
          </a:solidFill>
          <a:ln w="12700">
            <a:solidFill>
              <a:srgbClr val="0A8577"/>
            </a:solidFill>
            <a:prstDash val="solid"/>
          </a:ln>
        </p:spPr>
      </p:sp>
      <p:sp>
        <p:nvSpPr>
          <p:cNvPr id="8" name="Text 5"/>
          <p:cNvSpPr txBox="1"/>
          <p:nvPr/>
        </p:nvSpPr>
        <p:spPr>
          <a:xfrm>
            <a:off x="6281928" y="1417320"/>
            <a:ext cx="2286000" cy="384048"/>
          </a:xfrm>
          <a:prstGeom prst="rect">
            <a:avLst/>
          </a:prstGeom>
          <a:noFill/>
          <a:ln/>
        </p:spPr>
        <p:txBody>
          <a:bodyPr wrap="square" lIns="0" tIns="0" rIns="0" bIns="0" rtlCol="0" anchor="ctr"/>
          <a:lstStyle/>
          <a:p>
            <a:pPr indent="0" marL="0">
              <a:buNone/>
            </a:pPr>
            <a:r>
              <a:rPr lang="en-US" sz="1500" b="1" dirty="0">
                <a:solidFill>
                  <a:srgbClr val="0A8577"/>
                </a:solidFill>
                <a:latin typeface="Calibri" pitchFamily="34" charset="0"/>
                <a:ea typeface="Calibri" pitchFamily="34" charset="-122"/>
                <a:cs typeface="Calibri" pitchFamily="34" charset="-120"/>
              </a:rPr>
              <a:t>How it is delivered</a:t>
            </a:r>
            <a:endParaRPr lang="en-US" sz="1500" dirty="0"/>
          </a:p>
        </p:txBody>
      </p:sp>
      <p:sp>
        <p:nvSpPr>
          <p:cNvPr id="9" name="Text 6"/>
          <p:cNvSpPr txBox="1"/>
          <p:nvPr/>
        </p:nvSpPr>
        <p:spPr>
          <a:xfrm>
            <a:off x="5824728" y="1920240"/>
            <a:ext cx="2743200" cy="2606040"/>
          </a:xfrm>
          <a:prstGeom prst="rect">
            <a:avLst/>
          </a:prstGeom>
          <a:noFill/>
          <a:ln/>
        </p:spPr>
        <p:txBody>
          <a:bodyPr wrap="square" lIns="0" tIns="0" rIns="0" bIns="0" rtlCol="0" anchor="t"/>
          <a:lstStyle/>
          <a:p>
            <a:pPr indent="0" marL="0">
              <a:spcAft>
                <a:spcPts val="300"/>
              </a:spcAft>
              <a:buNone/>
            </a:pPr>
            <a:r>
              <a:rPr lang="en-US" sz="1200" dirty="0">
                <a:solidFill>
                  <a:srgbClr val="2B3A4A"/>
                </a:solidFill>
                <a:latin typeface="Calibri" pitchFamily="34" charset="0"/>
                <a:ea typeface="Calibri" pitchFamily="34" charset="-122"/>
                <a:cs typeface="Calibri" pitchFamily="34" charset="-120"/>
              </a:rPr>
              <a:t>32 sessions × 3 hours, three a week</a:t>
            </a:r>
            <a:endParaRPr lang="en-US" sz="1200" dirty="0"/>
          </a:p>
          <a:p>
            <a:pPr indent="0" marL="0">
              <a:spcAft>
                <a:spcPts val="300"/>
              </a:spcAft>
              <a:buNone/>
            </a:pPr>
            <a:r>
              <a:rPr lang="en-US" sz="1200" dirty="0">
                <a:solidFill>
                  <a:srgbClr val="2B3A4A"/>
                </a:solidFill>
                <a:latin typeface="Calibri" pitchFamily="34" charset="0"/>
                <a:ea typeface="Calibri" pitchFamily="34" charset="-122"/>
                <a:cs typeface="Calibri" pitchFamily="34" charset="-120"/>
              </a:rPr>
              <a:t>28.5 h concept and demo</a:t>
            </a:r>
            <a:endParaRPr lang="en-US" sz="1200" dirty="0"/>
          </a:p>
          <a:p>
            <a:pPr indent="0" marL="0">
              <a:spcAft>
                <a:spcPts val="300"/>
              </a:spcAft>
              <a:buNone/>
            </a:pPr>
            <a:r>
              <a:rPr lang="en-US" sz="1200" dirty="0">
                <a:solidFill>
                  <a:srgbClr val="2B3A4A"/>
                </a:solidFill>
                <a:latin typeface="Calibri" pitchFamily="34" charset="0"/>
                <a:ea typeface="Calibri" pitchFamily="34" charset="-122"/>
                <a:cs typeface="Calibri" pitchFamily="34" charset="-120"/>
              </a:rPr>
              <a:t>67.5 h hands-on practice</a:t>
            </a:r>
            <a:endParaRPr lang="en-US" sz="1200" dirty="0"/>
          </a:p>
          <a:p>
            <a:pPr indent="0" marL="0">
              <a:spcAft>
                <a:spcPts val="300"/>
              </a:spcAft>
              <a:buNone/>
            </a:pPr>
            <a:r>
              <a:rPr lang="en-US" sz="600" dirty="0">
                <a:solidFill>
                  <a:srgbClr val="2B3A4A"/>
                </a:solidFill>
                <a:latin typeface="Calibri" pitchFamily="34" charset="0"/>
                <a:ea typeface="Calibri" pitchFamily="34" charset="-122"/>
                <a:cs typeface="Calibri" pitchFamily="34" charset="-120"/>
              </a:rPr>
              <a:t> </a:t>
            </a:r>
            <a:endParaRPr lang="en-US" sz="1200" dirty="0"/>
          </a:p>
          <a:p>
            <a:pPr indent="0" marL="0">
              <a:spcAft>
                <a:spcPts val="300"/>
              </a:spcAft>
              <a:buNone/>
            </a:pPr>
            <a:r>
              <a:rPr lang="en-US" sz="1200" dirty="0">
                <a:solidFill>
                  <a:srgbClr val="2B3A4A"/>
                </a:solidFill>
                <a:latin typeface="Calibri" pitchFamily="34" charset="0"/>
                <a:ea typeface="Calibri" pitchFamily="34" charset="-122"/>
                <a:cs typeface="Calibri" pitchFamily="34" charset="-120"/>
              </a:rPr>
              <a:t>Every session follows the same loop: see it, try it, build it, show it.</a:t>
            </a:r>
            <a:endParaRPr lang="en-US" sz="1200" dirty="0"/>
          </a:p>
          <a:p>
            <a:pPr indent="0" marL="0">
              <a:spcAft>
                <a:spcPts val="300"/>
              </a:spcAft>
              <a:buNone/>
            </a:pPr>
            <a:r>
              <a:rPr lang="en-US" sz="600" dirty="0">
                <a:solidFill>
                  <a:srgbClr val="2B3A4A"/>
                </a:solidFill>
                <a:latin typeface="Calibri" pitchFamily="34" charset="0"/>
                <a:ea typeface="Calibri" pitchFamily="34" charset="-122"/>
                <a:cs typeface="Calibri" pitchFamily="34" charset="-120"/>
              </a:rPr>
              <a:t> </a:t>
            </a:r>
            <a:endParaRPr lang="en-US" sz="1200" dirty="0"/>
          </a:p>
          <a:p>
            <a:pPr indent="0" marL="0">
              <a:spcAft>
                <a:spcPts val="300"/>
              </a:spcAft>
              <a:buNone/>
            </a:pPr>
            <a:r>
              <a:rPr lang="en-US" sz="1200" dirty="0">
                <a:solidFill>
                  <a:srgbClr val="2B3A4A"/>
                </a:solidFill>
                <a:latin typeface="Calibri" pitchFamily="34" charset="0"/>
                <a:ea typeface="Calibri" pitchFamily="34" charset="-122"/>
                <a:cs typeface="Calibri" pitchFamily="34" charset="-120"/>
              </a:rPr>
              <a:t>Completion = 80% attendance + capstone. Certificate of completion (proposed).</a:t>
            </a:r>
            <a:endParaRPr lang="en-US" sz="1200" dirty="0"/>
          </a:p>
        </p:txBody>
      </p:sp>
      <p:pic>
        <p:nvPicPr>
          <p:cNvPr id="10" name="Image 0" descr="preencoded.png">    </p:cNvPr>
          <p:cNvPicPr>
            <a:picLocks noChangeAspect="1"/>
          </p:cNvPicPr>
          <p:nvPr/>
        </p:nvPicPr>
        <p:blipFill>
          <a:blip r:embed="rId2"/>
          <a:stretch>
            <a:fillRect/>
          </a:stretch>
        </p:blipFill>
        <p:spPr>
          <a:xfrm>
            <a:off x="5902452" y="1513332"/>
            <a:ext cx="192024" cy="192024"/>
          </a:xfrm>
          <a:prstGeom prst="rect">
            <a:avLst/>
          </a:prstGeom>
        </p:spPr>
      </p:pic>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6  ·  MODULES</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Modules M1–M6 at a glance</a:t>
            </a:r>
            <a:endParaRPr lang="en-US" sz="2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514600"/>
                <a:gridCol w="548640"/>
                <a:gridCol w="2240280"/>
                <a:gridCol w="292608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Module</a:t>
                      </a:r>
                      <a:endParaRPr lang="en-US" sz="105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1023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Hours</a:t>
                      </a:r>
                      <a:endParaRPr lang="en-US" sz="105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1023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Key tools</a:t>
                      </a:r>
                      <a:endParaRPr lang="en-US" sz="105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1023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Participants produce</a:t>
                      </a:r>
                      <a:endParaRPr lang="en-US" sz="105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10233A"/>
                    </a:solidFill>
                  </a:tcPr>
                </a:tc>
              </a:tr>
              <a:tr h="329184">
                <a:tc>
                  <a:txBody>
                    <a:bodyPr/>
                    <a:lstStyle/>
                    <a:p>
                      <a:pPr indent="0" marL="0">
                        <a:buNone/>
                      </a:pPr>
                      <a:r>
                        <a:rPr lang="en-US" sz="1000" b="1" dirty="0">
                          <a:solidFill>
                            <a:srgbClr val="0A8577"/>
                          </a:solidFill>
                          <a:latin typeface="Calibri" pitchFamily="34" charset="0"/>
                          <a:ea typeface="Calibri" pitchFamily="34" charset="-122"/>
                          <a:cs typeface="Calibri" pitchFamily="34" charset="-120"/>
                        </a:rPr>
                        <a:t>M1  </a:t>
                      </a:r>
                      <a:pPr indent="0" marL="0">
                        <a:buNone/>
                      </a:pPr>
                      <a:r>
                        <a:rPr lang="en-US" sz="1000" b="1" dirty="0">
                          <a:solidFill>
                            <a:srgbClr val="10233A"/>
                          </a:solidFill>
                          <a:latin typeface="Calibri" pitchFamily="34" charset="0"/>
                          <a:ea typeface="Calibri" pitchFamily="34" charset="-122"/>
                          <a:cs typeface="Calibri" pitchFamily="34" charset="-120"/>
                        </a:rPr>
                        <a:t>Orientation, Pre-Assessment &amp; AI Literacy</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algn="ctr" indent="0" marL="0">
                        <a:buNone/>
                      </a:pPr>
                      <a:r>
                        <a:rPr lang="en-US" sz="1000" b="1" dirty="0">
                          <a:solidFill>
                            <a:srgbClr val="10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ChatGPT, Gemini, Google Forms</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Pre-assessment, signed Responsible AI pledge, assistant comparison log</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r>
              <a:tr h="329184">
                <a:tc>
                  <a:txBody>
                    <a:bodyPr/>
                    <a:lstStyle/>
                    <a:p>
                      <a:pPr indent="0" marL="0">
                        <a:buNone/>
                      </a:pPr>
                      <a:r>
                        <a:rPr lang="en-US" sz="1000" b="1" dirty="0">
                          <a:solidFill>
                            <a:srgbClr val="0A8577"/>
                          </a:solidFill>
                          <a:latin typeface="Calibri" pitchFamily="34" charset="0"/>
                          <a:ea typeface="Calibri" pitchFamily="34" charset="-122"/>
                          <a:cs typeface="Calibri" pitchFamily="34" charset="-120"/>
                        </a:rPr>
                        <a:t>M2  </a:t>
                      </a:r>
                      <a:pPr indent="0" marL="0">
                        <a:buNone/>
                      </a:pPr>
                      <a:r>
                        <a:rPr lang="en-US" sz="1000" b="1" dirty="0">
                          <a:solidFill>
                            <a:srgbClr val="10233A"/>
                          </a:solidFill>
                          <a:latin typeface="Calibri" pitchFamily="34" charset="0"/>
                          <a:ea typeface="Calibri" pitchFamily="34" charset="-122"/>
                          <a:cs typeface="Calibri" pitchFamily="34" charset="-120"/>
                        </a:rPr>
                        <a:t>Prompt &amp; Context Engineering</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0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ChatGPT, Gemini, Google Docs</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Prompt library (10+ prompts) and one context pack</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0A8577"/>
                          </a:solidFill>
                          <a:latin typeface="Calibri" pitchFamily="34" charset="0"/>
                          <a:ea typeface="Calibri" pitchFamily="34" charset="-122"/>
                          <a:cs typeface="Calibri" pitchFamily="34" charset="-120"/>
                        </a:rPr>
                        <a:t>M3  </a:t>
                      </a:r>
                      <a:pPr indent="0" marL="0">
                        <a:buNone/>
                      </a:pPr>
                      <a:r>
                        <a:rPr lang="en-US" sz="1000" b="1" dirty="0">
                          <a:solidFill>
                            <a:srgbClr val="10233A"/>
                          </a:solidFill>
                          <a:latin typeface="Calibri" pitchFamily="34" charset="0"/>
                          <a:ea typeface="Calibri" pitchFamily="34" charset="-122"/>
                          <a:cs typeface="Calibri" pitchFamily="34" charset="-120"/>
                        </a:rPr>
                        <a:t>AI Research, Fact Verification &amp; Client Briefs</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algn="ctr" indent="0" marL="0">
                        <a:buNone/>
                      </a:pPr>
                      <a:r>
                        <a:rPr lang="en-US" sz="1000" b="1" dirty="0">
                          <a:solidFill>
                            <a:srgbClr val="10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Gemini, ChatGPT, Google Docs</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Verified research sheet and a one-page creative brief</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r>
              <a:tr h="329184">
                <a:tc>
                  <a:txBody>
                    <a:bodyPr/>
                    <a:lstStyle/>
                    <a:p>
                      <a:pPr indent="0" marL="0">
                        <a:buNone/>
                      </a:pPr>
                      <a:r>
                        <a:rPr lang="en-US" sz="1000" b="1" dirty="0">
                          <a:solidFill>
                            <a:srgbClr val="0A8577"/>
                          </a:solidFill>
                          <a:latin typeface="Calibri" pitchFamily="34" charset="0"/>
                          <a:ea typeface="Calibri" pitchFamily="34" charset="-122"/>
                          <a:cs typeface="Calibri" pitchFamily="34" charset="-120"/>
                        </a:rPr>
                        <a:t>M4  </a:t>
                      </a:r>
                      <a:pPr indent="0" marL="0">
                        <a:buNone/>
                      </a:pPr>
                      <a:r>
                        <a:rPr lang="en-US" sz="1000" b="1" dirty="0">
                          <a:solidFill>
                            <a:srgbClr val="10233A"/>
                          </a:solidFill>
                          <a:latin typeface="Calibri" pitchFamily="34" charset="0"/>
                          <a:ea typeface="Calibri" pitchFamily="34" charset="-122"/>
                          <a:cs typeface="Calibri" pitchFamily="34" charset="-120"/>
                        </a:rPr>
                        <a:t>AI Content Creation &amp; Copywriting</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0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ChatGPT, Gemini, Canva</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Content pillars sheet, one carousel, five captions with CTAs</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0A8577"/>
                          </a:solidFill>
                          <a:latin typeface="Calibri" pitchFamily="34" charset="0"/>
                          <a:ea typeface="Calibri" pitchFamily="34" charset="-122"/>
                          <a:cs typeface="Calibri" pitchFamily="34" charset="-120"/>
                        </a:rPr>
                        <a:t>M5  </a:t>
                      </a:r>
                      <a:pPr indent="0" marL="0">
                        <a:buNone/>
                      </a:pPr>
                      <a:r>
                        <a:rPr lang="en-US" sz="1000" b="1" dirty="0">
                          <a:solidFill>
                            <a:srgbClr val="10233A"/>
                          </a:solidFill>
                          <a:latin typeface="Calibri" pitchFamily="34" charset="0"/>
                          <a:ea typeface="Calibri" pitchFamily="34" charset="-122"/>
                          <a:cs typeface="Calibri" pitchFamily="34" charset="-120"/>
                        </a:rPr>
                        <a:t>AI Characters, Voice &amp; Visuals</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algn="ctr" indent="0" marL="0">
                        <a:buNone/>
                      </a:pPr>
                      <a:r>
                        <a:rPr lang="en-US" sz="1000" b="1" dirty="0">
                          <a:solidFill>
                            <a:srgbClr val="10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ChatGPT / Gemini image generation, Canva, Recorded narration (phone or USB mic), ElevenLabs</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Character sheet, voice profile, six-image visual set, 30-second narration</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r>
              <a:tr h="329184">
                <a:tc>
                  <a:txBody>
                    <a:bodyPr/>
                    <a:lstStyle/>
                    <a:p>
                      <a:pPr indent="0" marL="0">
                        <a:buNone/>
                      </a:pPr>
                      <a:r>
                        <a:rPr lang="en-US" sz="1000" b="1" dirty="0">
                          <a:solidFill>
                            <a:srgbClr val="0A8577"/>
                          </a:solidFill>
                          <a:latin typeface="Calibri" pitchFamily="34" charset="0"/>
                          <a:ea typeface="Calibri" pitchFamily="34" charset="-122"/>
                          <a:cs typeface="Calibri" pitchFamily="34" charset="-120"/>
                        </a:rPr>
                        <a:t>M6  </a:t>
                      </a:r>
                      <a:pPr indent="0" marL="0">
                        <a:buNone/>
                      </a:pPr>
                      <a:r>
                        <a:rPr lang="en-US" sz="1000" b="1" dirty="0">
                          <a:solidFill>
                            <a:srgbClr val="10233A"/>
                          </a:solidFill>
                          <a:latin typeface="Calibri" pitchFamily="34" charset="0"/>
                          <a:ea typeface="Calibri" pitchFamily="34" charset="-122"/>
                          <a:cs typeface="Calibri" pitchFamily="34" charset="-120"/>
                        </a:rPr>
                        <a:t>Scriptwriting, Storytelling &amp; Storyboarding</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0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ChatGPT, Gemini, Google Sheets, Canva</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Script and storyboard with shot list</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6  ·  MODULES</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Modules M7–M11 at a glance</a:t>
            </a:r>
            <a:endParaRPr lang="en-US" sz="2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514600"/>
                <a:gridCol w="548640"/>
                <a:gridCol w="2240280"/>
                <a:gridCol w="292608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Module</a:t>
                      </a:r>
                      <a:endParaRPr lang="en-US" sz="105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1023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Hours</a:t>
                      </a:r>
                      <a:endParaRPr lang="en-US" sz="105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1023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Key tools</a:t>
                      </a:r>
                      <a:endParaRPr lang="en-US" sz="105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1023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Participants produce</a:t>
                      </a:r>
                      <a:endParaRPr lang="en-US" sz="105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10233A"/>
                    </a:solidFill>
                  </a:tcPr>
                </a:tc>
              </a:tr>
              <a:tr h="329184">
                <a:tc>
                  <a:txBody>
                    <a:bodyPr/>
                    <a:lstStyle/>
                    <a:p>
                      <a:pPr indent="0" marL="0">
                        <a:buNone/>
                      </a:pPr>
                      <a:r>
                        <a:rPr lang="en-US" sz="1000" b="1" dirty="0">
                          <a:solidFill>
                            <a:srgbClr val="0A8577"/>
                          </a:solidFill>
                          <a:latin typeface="Calibri" pitchFamily="34" charset="0"/>
                          <a:ea typeface="Calibri" pitchFamily="34" charset="-122"/>
                          <a:cs typeface="Calibri" pitchFamily="34" charset="-120"/>
                        </a:rPr>
                        <a:t>M7  </a:t>
                      </a:r>
                      <a:pPr indent="0" marL="0">
                        <a:buNone/>
                      </a:pPr>
                      <a:r>
                        <a:rPr lang="en-US" sz="1000" b="1" dirty="0">
                          <a:solidFill>
                            <a:srgbClr val="10233A"/>
                          </a:solidFill>
                          <a:latin typeface="Calibri" pitchFamily="34" charset="0"/>
                          <a:ea typeface="Calibri" pitchFamily="34" charset="-122"/>
                          <a:cs typeface="Calibri" pitchFamily="34" charset="-120"/>
                        </a:rPr>
                        <a:t>AI Video Production, Editing &amp; Publishing</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algn="ctr" indent="0" marL="0">
                        <a:buNone/>
                      </a:pPr>
                      <a:r>
                        <a:rPr lang="en-US" sz="1000" b="1" dirty="0">
                          <a:solidFill>
                            <a:srgbClr val="10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Google Flow, CapCut, Canva</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Edited 30–45 second video and a completed publishing checklist</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r>
              <a:tr h="329184">
                <a:tc>
                  <a:txBody>
                    <a:bodyPr/>
                    <a:lstStyle/>
                    <a:p>
                      <a:pPr indent="0" marL="0">
                        <a:buNone/>
                      </a:pPr>
                      <a:r>
                        <a:rPr lang="en-US" sz="1000" b="1" dirty="0">
                          <a:solidFill>
                            <a:srgbClr val="0A8577"/>
                          </a:solidFill>
                          <a:latin typeface="Calibri" pitchFamily="34" charset="0"/>
                          <a:ea typeface="Calibri" pitchFamily="34" charset="-122"/>
                          <a:cs typeface="Calibri" pitchFamily="34" charset="-120"/>
                        </a:rPr>
                        <a:t>M8  </a:t>
                      </a:r>
                      <a:pPr indent="0" marL="0">
                        <a:buNone/>
                      </a:pPr>
                      <a:r>
                        <a:rPr lang="en-US" sz="1000" b="1" dirty="0">
                          <a:solidFill>
                            <a:srgbClr val="10233A"/>
                          </a:solidFill>
                          <a:latin typeface="Calibri" pitchFamily="34" charset="0"/>
                          <a:ea typeface="Calibri" pitchFamily="34" charset="-122"/>
                          <a:cs typeface="Calibri" pitchFamily="34" charset="-120"/>
                        </a:rPr>
                        <a:t>Digital Marketing Foundations</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0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ChatGPT, Gemini, Google Sheets, Canva</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Audience persona, four-week content calendar, campaign one-pager</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0A8577"/>
                          </a:solidFill>
                          <a:latin typeface="Calibri" pitchFamily="34" charset="0"/>
                          <a:ea typeface="Calibri" pitchFamily="34" charset="-122"/>
                          <a:cs typeface="Calibri" pitchFamily="34" charset="-120"/>
                        </a:rPr>
                        <a:t>M9  </a:t>
                      </a:r>
                      <a:pPr indent="0" marL="0">
                        <a:buNone/>
                      </a:pPr>
                      <a:r>
                        <a:rPr lang="en-US" sz="1000" b="1" dirty="0">
                          <a:solidFill>
                            <a:srgbClr val="10233A"/>
                          </a:solidFill>
                          <a:latin typeface="Calibri" pitchFamily="34" charset="0"/>
                          <a:ea typeface="Calibri" pitchFamily="34" charset="-122"/>
                          <a:cs typeface="Calibri" pitchFamily="34" charset="-120"/>
                        </a:rPr>
                        <a:t>Automation with n8n</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algn="ctr" indent="0" marL="0">
                        <a:buNone/>
                      </a:pPr>
                      <a:r>
                        <a:rPr lang="en-US" sz="1000" b="1" dirty="0">
                          <a:solidFill>
                            <a:srgbClr val="10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n8n (program-hosted), Google Sheets, AI model node</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Working workflow, a hand-drawn or digital flow diagram, and a one-page explanation</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r>
              <a:tr h="329184">
                <a:tc>
                  <a:txBody>
                    <a:bodyPr/>
                    <a:lstStyle/>
                    <a:p>
                      <a:pPr indent="0" marL="0">
                        <a:buNone/>
                      </a:pPr>
                      <a:r>
                        <a:rPr lang="en-US" sz="1000" b="1" dirty="0">
                          <a:solidFill>
                            <a:srgbClr val="0A8577"/>
                          </a:solidFill>
                          <a:latin typeface="Calibri" pitchFamily="34" charset="0"/>
                          <a:ea typeface="Calibri" pitchFamily="34" charset="-122"/>
                          <a:cs typeface="Calibri" pitchFamily="34" charset="-120"/>
                        </a:rPr>
                        <a:t>M10  </a:t>
                      </a:r>
                      <a:pPr indent="0" marL="0">
                        <a:buNone/>
                      </a:pPr>
                      <a:r>
                        <a:rPr lang="en-US" sz="1000" b="1" dirty="0">
                          <a:solidFill>
                            <a:srgbClr val="10233A"/>
                          </a:solidFill>
                          <a:latin typeface="Calibri" pitchFamily="34" charset="0"/>
                          <a:ea typeface="Calibri" pitchFamily="34" charset="-122"/>
                          <a:cs typeface="Calibri" pitchFamily="34" charset="-120"/>
                        </a:rPr>
                        <a:t>Vibe Coding, Portfolio &amp; Freelancing</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0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ChatGPT / Gemini (canvas features), GitHub Pages, Google Docs</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Published portfolio or landing page, three service packages, client message templates</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0A8577"/>
                          </a:solidFill>
                          <a:latin typeface="Calibri" pitchFamily="34" charset="0"/>
                          <a:ea typeface="Calibri" pitchFamily="34" charset="-122"/>
                          <a:cs typeface="Calibri" pitchFamily="34" charset="-120"/>
                        </a:rPr>
                        <a:t>M11  </a:t>
                      </a:r>
                      <a:pPr indent="0" marL="0">
                        <a:buNone/>
                      </a:pPr>
                      <a:r>
                        <a:rPr lang="en-US" sz="1000" b="1" dirty="0">
                          <a:solidFill>
                            <a:srgbClr val="10233A"/>
                          </a:solidFill>
                          <a:latin typeface="Calibri" pitchFamily="34" charset="0"/>
                          <a:ea typeface="Calibri" pitchFamily="34" charset="-122"/>
                          <a:cs typeface="Calibri" pitchFamily="34" charset="-120"/>
                        </a:rPr>
                        <a:t>Capstone Studio, Post-Assessment &amp; Demo Day</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algn="ctr" indent="0" marL="0">
                        <a:buNone/>
                      </a:pPr>
                      <a:r>
                        <a:rPr lang="en-US" sz="1000" b="1" dirty="0">
                          <a:solidFill>
                            <a:srgbClr val="10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All program tools</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c>
                  <a:txBody>
                    <a:bodyPr/>
                    <a:lstStyle/>
                    <a:p>
                      <a:pPr indent="0" marL="0">
                        <a:buNone/>
                      </a:pPr>
                      <a:r>
                        <a:rPr lang="en-US" sz="1000" dirty="0">
                          <a:solidFill>
                            <a:srgbClr val="2B3A4A"/>
                          </a:solidFill>
                          <a:latin typeface="Calibri" pitchFamily="34" charset="0"/>
                          <a:ea typeface="Calibri" pitchFamily="34" charset="-122"/>
                          <a:cs typeface="Calibri" pitchFamily="34" charset="-120"/>
                        </a:rPr>
                        <a:t>Full capstone package and final presentation</a:t>
                      </a:r>
                      <a:endParaRPr lang="en-US" sz="1000" dirty="0">
                        <a:latin typeface="Calibri" charset="0"/>
                        <a:ea typeface="Calibri" charset="0"/>
                        <a:cs typeface="Calibri" charset="0"/>
                      </a:endParaRPr>
                    </a:p>
                  </a:txBody>
                  <a:tcPr marL="73152" marR="73152" marT="36576" marB="36576" anchor="ctr">
                    <a:lnL w="6350" cap="flat" cmpd="sng" algn="ctr">
                      <a:solidFill>
                        <a:srgbClr val="DDE3E9"/>
                      </a:solidFill>
                      <a:prstDash val="solid"/>
                      <a:round/>
                      <a:headEnd type="none" w="med" len="med"/>
                      <a:tailEnd type="none" w="med" len="med"/>
                    </a:lnL>
                    <a:lnR w="6350" cap="flat" cmpd="sng" algn="ctr">
                      <a:solidFill>
                        <a:srgbClr val="DDE3E9"/>
                      </a:solidFill>
                      <a:prstDash val="solid"/>
                      <a:round/>
                      <a:headEnd type="none" w="med" len="med"/>
                      <a:tailEnd type="none" w="med" len="med"/>
                    </a:lnR>
                    <a:lnT w="6350" cap="flat" cmpd="sng" algn="ctr">
                      <a:solidFill>
                        <a:srgbClr val="DDE3E9"/>
                      </a:solidFill>
                      <a:prstDash val="solid"/>
                      <a:round/>
                      <a:headEnd type="none" w="med" len="med"/>
                      <a:tailEnd type="none" w="med" len="med"/>
                    </a:lnT>
                    <a:lnB w="6350" cap="flat" cmpd="sng" algn="ctr">
                      <a:solidFill>
                        <a:srgbClr val="DDE3E9"/>
                      </a:solidFill>
                      <a:prstDash val="solid"/>
                      <a:round/>
                      <a:headEnd type="none" w="med" len="med"/>
                      <a:tailEnd type="none" w="med" len="med"/>
                    </a:lnB>
                    <a:solidFill>
                      <a:srgbClr val="F3F6F8"/>
                    </a:solidFill>
                  </a:tcPr>
                </a:tc>
              </a:tr>
            </a:tbl>
          </a:graphicData>
        </a:graphic>
      </p:graphicFrame>
      <p:sp>
        <p:nvSpPr>
          <p:cNvPr id="6" name="Text 3"/>
          <p:cNvSpPr txBox="1"/>
          <p:nvPr/>
        </p:nvSpPr>
        <p:spPr>
          <a:xfrm>
            <a:off x="457200" y="4224528"/>
            <a:ext cx="8229600" cy="384048"/>
          </a:xfrm>
          <a:prstGeom prst="rect">
            <a:avLst/>
          </a:prstGeom>
          <a:noFill/>
          <a:ln/>
        </p:spPr>
        <p:txBody>
          <a:bodyPr wrap="square" lIns="0" tIns="0" rIns="0" bIns="0" rtlCol="0" anchor="t"/>
          <a:lstStyle/>
          <a:p>
            <a:pPr indent="0" marL="0">
              <a:buNone/>
            </a:pPr>
            <a:r>
              <a:rPr lang="en-US" sz="1050" i="1" dirty="0">
                <a:solidFill>
                  <a:srgbClr val="586676"/>
                </a:solidFill>
                <a:latin typeface="Calibri" pitchFamily="34" charset="0"/>
                <a:ea typeface="Calibri" pitchFamily="34" charset="-122"/>
                <a:cs typeface="Calibri" pitchFamily="34" charset="-120"/>
              </a:rPr>
              <a:t>Google Flow and AI voice tools are used where account access allows; otherwise the trainer demonstrates them and participants use recorded narration and their own footage.</a:t>
            </a:r>
            <a:endParaRPr lang="en-US" sz="10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7  ·  THE PLAN</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Twelve weeks, three sessions a week</a:t>
            </a:r>
            <a:endParaRPr lang="en-US" sz="2500" dirty="0"/>
          </a:p>
        </p:txBody>
      </p:sp>
      <p:sp>
        <p:nvSpPr>
          <p:cNvPr id="5" name="Shape 3"/>
          <p:cNvSpPr/>
          <p:nvPr/>
        </p:nvSpPr>
        <p:spPr>
          <a:xfrm>
            <a:off x="457200" y="1298448"/>
            <a:ext cx="1536192" cy="1188720"/>
          </a:xfrm>
          <a:prstGeom prst="roundRect">
            <a:avLst>
              <a:gd name="adj" fmla="val 4615"/>
            </a:avLst>
          </a:prstGeom>
          <a:solidFill>
            <a:srgbClr val="10233A"/>
          </a:solidFill>
          <a:ln w="12700">
            <a:solidFill>
              <a:srgbClr val="10233A"/>
            </a:solidFill>
            <a:prstDash val="solid"/>
          </a:ln>
        </p:spPr>
      </p:sp>
      <p:sp>
        <p:nvSpPr>
          <p:cNvPr id="6" name="Text 4"/>
          <p:cNvSpPr txBox="1"/>
          <p:nvPr/>
        </p:nvSpPr>
        <p:spPr>
          <a:xfrm>
            <a:off x="457200" y="1371600"/>
            <a:ext cx="1536192" cy="292608"/>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Foundations</a:t>
            </a:r>
            <a:endParaRPr lang="en-US" sz="1200" dirty="0"/>
          </a:p>
        </p:txBody>
      </p:sp>
      <p:sp>
        <p:nvSpPr>
          <p:cNvPr id="7" name="Text 5"/>
          <p:cNvSpPr txBox="1"/>
          <p:nvPr/>
        </p:nvSpPr>
        <p:spPr>
          <a:xfrm>
            <a:off x="457200" y="1673352"/>
            <a:ext cx="1536192" cy="457200"/>
          </a:xfrm>
          <a:prstGeom prst="rect">
            <a:avLst/>
          </a:prstGeom>
          <a:noFill/>
          <a:ln/>
        </p:spPr>
        <p:txBody>
          <a:bodyPr wrap="square" lIns="0" tIns="0" rIns="0" bIns="0" rtlCol="0" anchor="ctr"/>
          <a:lstStyle/>
          <a:p>
            <a:pPr algn="ctr" indent="0" marL="0">
              <a:buNone/>
            </a:pPr>
            <a:r>
              <a:rPr lang="en-US" sz="2200" b="1" dirty="0">
                <a:solidFill>
                  <a:srgbClr val="F2A541"/>
                </a:solidFill>
                <a:latin typeface="Cambria" pitchFamily="34" charset="0"/>
                <a:ea typeface="Cambria" pitchFamily="34" charset="-122"/>
                <a:cs typeface="Cambria" pitchFamily="34" charset="-120"/>
              </a:rPr>
              <a:t>M1–M3</a:t>
            </a:r>
            <a:endParaRPr lang="en-US" sz="2200" dirty="0"/>
          </a:p>
        </p:txBody>
      </p:sp>
      <p:sp>
        <p:nvSpPr>
          <p:cNvPr id="8" name="Text 6"/>
          <p:cNvSpPr txBox="1"/>
          <p:nvPr/>
        </p:nvSpPr>
        <p:spPr>
          <a:xfrm>
            <a:off x="457200" y="2148840"/>
            <a:ext cx="1536192" cy="274320"/>
          </a:xfrm>
          <a:prstGeom prst="rect">
            <a:avLst/>
          </a:prstGeom>
          <a:noFill/>
          <a:ln/>
        </p:spPr>
        <p:txBody>
          <a:bodyPr wrap="square" lIns="0" tIns="0" rIns="0" bIns="0" rtlCol="0" anchor="t"/>
          <a:lstStyle/>
          <a:p>
            <a:pPr algn="ctr" indent="0" marL="0">
              <a:buNone/>
            </a:pPr>
            <a:r>
              <a:rPr lang="en-US" sz="1100" dirty="0">
                <a:solidFill>
                  <a:srgbClr val="D9E1EA"/>
                </a:solidFill>
                <a:latin typeface="Calibri" pitchFamily="34" charset="0"/>
                <a:ea typeface="Calibri" pitchFamily="34" charset="-122"/>
                <a:cs typeface="Calibri" pitchFamily="34" charset="-120"/>
              </a:rPr>
              <a:t>Weeks 1–2</a:t>
            </a:r>
            <a:endParaRPr lang="en-US" sz="1100" dirty="0"/>
          </a:p>
        </p:txBody>
      </p:sp>
      <p:sp>
        <p:nvSpPr>
          <p:cNvPr id="9" name="Shape 7"/>
          <p:cNvSpPr/>
          <p:nvPr/>
        </p:nvSpPr>
        <p:spPr>
          <a:xfrm>
            <a:off x="2130552" y="1298448"/>
            <a:ext cx="1536192" cy="1188720"/>
          </a:xfrm>
          <a:prstGeom prst="roundRect">
            <a:avLst>
              <a:gd name="adj" fmla="val 4615"/>
            </a:avLst>
          </a:prstGeom>
          <a:solidFill>
            <a:srgbClr val="0A8577"/>
          </a:solidFill>
          <a:ln w="12700">
            <a:solidFill>
              <a:srgbClr val="0A8577"/>
            </a:solidFill>
            <a:prstDash val="solid"/>
          </a:ln>
        </p:spPr>
      </p:sp>
      <p:sp>
        <p:nvSpPr>
          <p:cNvPr id="10" name="Text 8"/>
          <p:cNvSpPr txBox="1"/>
          <p:nvPr/>
        </p:nvSpPr>
        <p:spPr>
          <a:xfrm>
            <a:off x="2130552" y="1371600"/>
            <a:ext cx="1536192" cy="292608"/>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Create &amp; produce</a:t>
            </a:r>
            <a:endParaRPr lang="en-US" sz="1200" dirty="0"/>
          </a:p>
        </p:txBody>
      </p:sp>
      <p:sp>
        <p:nvSpPr>
          <p:cNvPr id="11" name="Text 9"/>
          <p:cNvSpPr txBox="1"/>
          <p:nvPr/>
        </p:nvSpPr>
        <p:spPr>
          <a:xfrm>
            <a:off x="2130552" y="1673352"/>
            <a:ext cx="1536192" cy="457200"/>
          </a:xfrm>
          <a:prstGeom prst="rect">
            <a:avLst/>
          </a:prstGeom>
          <a:noFill/>
          <a:ln/>
        </p:spPr>
        <p:txBody>
          <a:bodyPr wrap="square" lIns="0" tIns="0" rIns="0" bIns="0" rtlCol="0" anchor="ctr"/>
          <a:lstStyle/>
          <a:p>
            <a:pPr algn="ctr" indent="0" marL="0">
              <a:buNone/>
            </a:pPr>
            <a:r>
              <a:rPr lang="en-US" sz="2200" b="1" dirty="0">
                <a:solidFill>
                  <a:srgbClr val="F2A541"/>
                </a:solidFill>
                <a:latin typeface="Cambria" pitchFamily="34" charset="0"/>
                <a:ea typeface="Cambria" pitchFamily="34" charset="-122"/>
                <a:cs typeface="Cambria" pitchFamily="34" charset="-120"/>
              </a:rPr>
              <a:t>M4–M7</a:t>
            </a:r>
            <a:endParaRPr lang="en-US" sz="2200" dirty="0"/>
          </a:p>
        </p:txBody>
      </p:sp>
      <p:sp>
        <p:nvSpPr>
          <p:cNvPr id="12" name="Text 10"/>
          <p:cNvSpPr txBox="1"/>
          <p:nvPr/>
        </p:nvSpPr>
        <p:spPr>
          <a:xfrm>
            <a:off x="2130552" y="2148840"/>
            <a:ext cx="1536192" cy="274320"/>
          </a:xfrm>
          <a:prstGeom prst="rect">
            <a:avLst/>
          </a:prstGeom>
          <a:noFill/>
          <a:ln/>
        </p:spPr>
        <p:txBody>
          <a:bodyPr wrap="square" lIns="0" tIns="0" rIns="0" bIns="0" rtlCol="0" anchor="t"/>
          <a:lstStyle/>
          <a:p>
            <a:pPr algn="ctr" indent="0" marL="0">
              <a:buNone/>
            </a:pPr>
            <a:r>
              <a:rPr lang="en-US" sz="1100" dirty="0">
                <a:solidFill>
                  <a:srgbClr val="D9E1EA"/>
                </a:solidFill>
                <a:latin typeface="Calibri" pitchFamily="34" charset="0"/>
                <a:ea typeface="Calibri" pitchFamily="34" charset="-122"/>
                <a:cs typeface="Calibri" pitchFamily="34" charset="-120"/>
              </a:rPr>
              <a:t>Weeks 3–7</a:t>
            </a:r>
            <a:endParaRPr lang="en-US" sz="1100" dirty="0"/>
          </a:p>
        </p:txBody>
      </p:sp>
      <p:sp>
        <p:nvSpPr>
          <p:cNvPr id="13" name="Shape 11"/>
          <p:cNvSpPr/>
          <p:nvPr/>
        </p:nvSpPr>
        <p:spPr>
          <a:xfrm>
            <a:off x="3803904" y="1298448"/>
            <a:ext cx="1536192" cy="1188720"/>
          </a:xfrm>
          <a:prstGeom prst="roundRect">
            <a:avLst>
              <a:gd name="adj" fmla="val 4615"/>
            </a:avLst>
          </a:prstGeom>
          <a:solidFill>
            <a:srgbClr val="10233A"/>
          </a:solidFill>
          <a:ln w="12700">
            <a:solidFill>
              <a:srgbClr val="10233A"/>
            </a:solidFill>
            <a:prstDash val="solid"/>
          </a:ln>
        </p:spPr>
      </p:sp>
      <p:sp>
        <p:nvSpPr>
          <p:cNvPr id="14" name="Text 12"/>
          <p:cNvSpPr txBox="1"/>
          <p:nvPr/>
        </p:nvSpPr>
        <p:spPr>
          <a:xfrm>
            <a:off x="3803904" y="1371600"/>
            <a:ext cx="1536192" cy="292608"/>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p>
        </p:txBody>
      </p:sp>
      <p:sp>
        <p:nvSpPr>
          <p:cNvPr id="15" name="Text 13"/>
          <p:cNvSpPr txBox="1"/>
          <p:nvPr/>
        </p:nvSpPr>
        <p:spPr>
          <a:xfrm>
            <a:off x="3803904" y="1673352"/>
            <a:ext cx="1536192" cy="457200"/>
          </a:xfrm>
          <a:prstGeom prst="rect">
            <a:avLst/>
          </a:prstGeom>
          <a:noFill/>
          <a:ln/>
        </p:spPr>
        <p:txBody>
          <a:bodyPr wrap="square" lIns="0" tIns="0" rIns="0" bIns="0" rtlCol="0" anchor="ctr"/>
          <a:lstStyle/>
          <a:p>
            <a:pPr algn="ctr" indent="0" marL="0">
              <a:buNone/>
            </a:pPr>
            <a:r>
              <a:rPr lang="en-US" sz="2200" b="1" dirty="0">
                <a:solidFill>
                  <a:srgbClr val="F2A541"/>
                </a:solidFill>
                <a:latin typeface="Cambria" pitchFamily="34" charset="0"/>
                <a:ea typeface="Cambria" pitchFamily="34" charset="-122"/>
                <a:cs typeface="Cambria" pitchFamily="34" charset="-120"/>
              </a:rPr>
              <a:t>M8</a:t>
            </a:r>
            <a:endParaRPr lang="en-US" sz="2200" dirty="0"/>
          </a:p>
        </p:txBody>
      </p:sp>
      <p:sp>
        <p:nvSpPr>
          <p:cNvPr id="16" name="Text 14"/>
          <p:cNvSpPr txBox="1"/>
          <p:nvPr/>
        </p:nvSpPr>
        <p:spPr>
          <a:xfrm>
            <a:off x="3803904" y="2148840"/>
            <a:ext cx="1536192" cy="274320"/>
          </a:xfrm>
          <a:prstGeom prst="rect">
            <a:avLst/>
          </a:prstGeom>
          <a:noFill/>
          <a:ln/>
        </p:spPr>
        <p:txBody>
          <a:bodyPr wrap="square" lIns="0" tIns="0" rIns="0" bIns="0" rtlCol="0" anchor="t"/>
          <a:lstStyle/>
          <a:p>
            <a:pPr algn="ctr" indent="0" marL="0">
              <a:buNone/>
            </a:pPr>
            <a:r>
              <a:rPr lang="en-US" sz="1100" dirty="0">
                <a:solidFill>
                  <a:srgbClr val="D9E1EA"/>
                </a:solidFill>
                <a:latin typeface="Calibri" pitchFamily="34" charset="0"/>
                <a:ea typeface="Calibri" pitchFamily="34" charset="-122"/>
                <a:cs typeface="Calibri" pitchFamily="34" charset="-120"/>
              </a:rPr>
              <a:t>Weeks 7–8</a:t>
            </a:r>
            <a:endParaRPr lang="en-US" sz="1100" dirty="0"/>
          </a:p>
        </p:txBody>
      </p:sp>
      <p:sp>
        <p:nvSpPr>
          <p:cNvPr id="17" name="Shape 15"/>
          <p:cNvSpPr/>
          <p:nvPr/>
        </p:nvSpPr>
        <p:spPr>
          <a:xfrm>
            <a:off x="5477256" y="1298448"/>
            <a:ext cx="1536192" cy="1188720"/>
          </a:xfrm>
          <a:prstGeom prst="roundRect">
            <a:avLst>
              <a:gd name="adj" fmla="val 4615"/>
            </a:avLst>
          </a:prstGeom>
          <a:solidFill>
            <a:srgbClr val="0A8577"/>
          </a:solidFill>
          <a:ln w="12700">
            <a:solidFill>
              <a:srgbClr val="0A8577"/>
            </a:solidFill>
            <a:prstDash val="solid"/>
          </a:ln>
        </p:spPr>
      </p:sp>
      <p:sp>
        <p:nvSpPr>
          <p:cNvPr id="18" name="Text 16"/>
          <p:cNvSpPr txBox="1"/>
          <p:nvPr/>
        </p:nvSpPr>
        <p:spPr>
          <a:xfrm>
            <a:off x="5477256" y="1371600"/>
            <a:ext cx="1536192" cy="292608"/>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Automate &amp; launch</a:t>
            </a:r>
            <a:endParaRPr lang="en-US" sz="1200" dirty="0"/>
          </a:p>
        </p:txBody>
      </p:sp>
      <p:sp>
        <p:nvSpPr>
          <p:cNvPr id="19" name="Text 17"/>
          <p:cNvSpPr txBox="1"/>
          <p:nvPr/>
        </p:nvSpPr>
        <p:spPr>
          <a:xfrm>
            <a:off x="5477256" y="1673352"/>
            <a:ext cx="1536192" cy="457200"/>
          </a:xfrm>
          <a:prstGeom prst="rect">
            <a:avLst/>
          </a:prstGeom>
          <a:noFill/>
          <a:ln/>
        </p:spPr>
        <p:txBody>
          <a:bodyPr wrap="square" lIns="0" tIns="0" rIns="0" bIns="0" rtlCol="0" anchor="ctr"/>
          <a:lstStyle/>
          <a:p>
            <a:pPr algn="ctr" indent="0" marL="0">
              <a:buNone/>
            </a:pPr>
            <a:r>
              <a:rPr lang="en-US" sz="2200" b="1" dirty="0">
                <a:solidFill>
                  <a:srgbClr val="F2A541"/>
                </a:solidFill>
                <a:latin typeface="Cambria" pitchFamily="34" charset="0"/>
                <a:ea typeface="Cambria" pitchFamily="34" charset="-122"/>
                <a:cs typeface="Cambria" pitchFamily="34" charset="-120"/>
              </a:rPr>
              <a:t>M9–M10</a:t>
            </a:r>
            <a:endParaRPr lang="en-US" sz="2200" dirty="0"/>
          </a:p>
        </p:txBody>
      </p:sp>
      <p:sp>
        <p:nvSpPr>
          <p:cNvPr id="20" name="Text 18"/>
          <p:cNvSpPr txBox="1"/>
          <p:nvPr/>
        </p:nvSpPr>
        <p:spPr>
          <a:xfrm>
            <a:off x="5477256" y="2148840"/>
            <a:ext cx="1536192" cy="274320"/>
          </a:xfrm>
          <a:prstGeom prst="rect">
            <a:avLst/>
          </a:prstGeom>
          <a:noFill/>
          <a:ln/>
        </p:spPr>
        <p:txBody>
          <a:bodyPr wrap="square" lIns="0" tIns="0" rIns="0" bIns="0" rtlCol="0" anchor="t"/>
          <a:lstStyle/>
          <a:p>
            <a:pPr algn="ctr" indent="0" marL="0">
              <a:buNone/>
            </a:pPr>
            <a:r>
              <a:rPr lang="en-US" sz="1100" dirty="0">
                <a:solidFill>
                  <a:srgbClr val="D9E1EA"/>
                </a:solidFill>
                <a:latin typeface="Calibri" pitchFamily="34" charset="0"/>
                <a:ea typeface="Calibri" pitchFamily="34" charset="-122"/>
                <a:cs typeface="Calibri" pitchFamily="34" charset="-120"/>
              </a:rPr>
              <a:t>Weeks 8–10</a:t>
            </a:r>
            <a:endParaRPr lang="en-US" sz="1100" dirty="0"/>
          </a:p>
        </p:txBody>
      </p:sp>
      <p:sp>
        <p:nvSpPr>
          <p:cNvPr id="21" name="Shape 19"/>
          <p:cNvSpPr/>
          <p:nvPr/>
        </p:nvSpPr>
        <p:spPr>
          <a:xfrm>
            <a:off x="7150608" y="1298448"/>
            <a:ext cx="1536192" cy="1188720"/>
          </a:xfrm>
          <a:prstGeom prst="roundRect">
            <a:avLst>
              <a:gd name="adj" fmla="val 4615"/>
            </a:avLst>
          </a:prstGeom>
          <a:solidFill>
            <a:srgbClr val="10233A"/>
          </a:solidFill>
          <a:ln w="12700">
            <a:solidFill>
              <a:srgbClr val="10233A"/>
            </a:solidFill>
            <a:prstDash val="solid"/>
          </a:ln>
        </p:spPr>
      </p:sp>
      <p:sp>
        <p:nvSpPr>
          <p:cNvPr id="22" name="Text 20"/>
          <p:cNvSpPr txBox="1"/>
          <p:nvPr/>
        </p:nvSpPr>
        <p:spPr>
          <a:xfrm>
            <a:off x="7150608" y="1371600"/>
            <a:ext cx="1536192" cy="292608"/>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Capstone</a:t>
            </a:r>
            <a:endParaRPr lang="en-US" sz="1200" dirty="0"/>
          </a:p>
        </p:txBody>
      </p:sp>
      <p:sp>
        <p:nvSpPr>
          <p:cNvPr id="23" name="Text 21"/>
          <p:cNvSpPr txBox="1"/>
          <p:nvPr/>
        </p:nvSpPr>
        <p:spPr>
          <a:xfrm>
            <a:off x="7150608" y="1673352"/>
            <a:ext cx="1536192" cy="457200"/>
          </a:xfrm>
          <a:prstGeom prst="rect">
            <a:avLst/>
          </a:prstGeom>
          <a:noFill/>
          <a:ln/>
        </p:spPr>
        <p:txBody>
          <a:bodyPr wrap="square" lIns="0" tIns="0" rIns="0" bIns="0" rtlCol="0" anchor="ctr"/>
          <a:lstStyle/>
          <a:p>
            <a:pPr algn="ctr" indent="0" marL="0">
              <a:buNone/>
            </a:pPr>
            <a:r>
              <a:rPr lang="en-US" sz="2200" b="1" dirty="0">
                <a:solidFill>
                  <a:srgbClr val="F2A541"/>
                </a:solidFill>
                <a:latin typeface="Cambria" pitchFamily="34" charset="0"/>
                <a:ea typeface="Cambria" pitchFamily="34" charset="-122"/>
                <a:cs typeface="Cambria" pitchFamily="34" charset="-120"/>
              </a:rPr>
              <a:t>M11</a:t>
            </a:r>
            <a:endParaRPr lang="en-US" sz="2200" dirty="0"/>
          </a:p>
        </p:txBody>
      </p:sp>
      <p:sp>
        <p:nvSpPr>
          <p:cNvPr id="24" name="Text 22"/>
          <p:cNvSpPr txBox="1"/>
          <p:nvPr/>
        </p:nvSpPr>
        <p:spPr>
          <a:xfrm>
            <a:off x="7150608" y="2148840"/>
            <a:ext cx="1536192" cy="274320"/>
          </a:xfrm>
          <a:prstGeom prst="rect">
            <a:avLst/>
          </a:prstGeom>
          <a:noFill/>
          <a:ln/>
        </p:spPr>
        <p:txBody>
          <a:bodyPr wrap="square" lIns="0" tIns="0" rIns="0" bIns="0" rtlCol="0" anchor="t"/>
          <a:lstStyle/>
          <a:p>
            <a:pPr algn="ctr" indent="0" marL="0">
              <a:buNone/>
            </a:pPr>
            <a:r>
              <a:rPr lang="en-US" sz="1100" dirty="0">
                <a:solidFill>
                  <a:srgbClr val="D9E1EA"/>
                </a:solidFill>
                <a:latin typeface="Calibri" pitchFamily="34" charset="0"/>
                <a:ea typeface="Calibri" pitchFamily="34" charset="-122"/>
                <a:cs typeface="Calibri" pitchFamily="34" charset="-120"/>
              </a:rPr>
              <a:t>Weeks 10–11</a:t>
            </a:r>
            <a:endParaRPr lang="en-US" sz="1100" dirty="0"/>
          </a:p>
        </p:txBody>
      </p:sp>
      <p:sp>
        <p:nvSpPr>
          <p:cNvPr id="25" name="Shape 23"/>
          <p:cNvSpPr/>
          <p:nvPr/>
        </p:nvSpPr>
        <p:spPr>
          <a:xfrm>
            <a:off x="731520" y="3063240"/>
            <a:ext cx="7680960" cy="0"/>
          </a:xfrm>
          <a:prstGeom prst="line">
            <a:avLst/>
          </a:prstGeom>
          <a:noFill/>
          <a:ln w="38100">
            <a:solidFill>
              <a:srgbClr val="0A8577"/>
            </a:solidFill>
            <a:prstDash val="solid"/>
          </a:ln>
        </p:spPr>
      </p:sp>
      <p:sp>
        <p:nvSpPr>
          <p:cNvPr id="26" name="Shape 24"/>
          <p:cNvSpPr/>
          <p:nvPr/>
        </p:nvSpPr>
        <p:spPr>
          <a:xfrm>
            <a:off x="685800" y="2834640"/>
            <a:ext cx="457200" cy="457200"/>
          </a:xfrm>
          <a:prstGeom prst="ellipse">
            <a:avLst/>
          </a:prstGeom>
          <a:solidFill>
            <a:srgbClr val="10233A"/>
          </a:solidFill>
          <a:ln w="12700">
            <a:solidFill>
              <a:srgbClr val="10233A"/>
            </a:solidFill>
            <a:prstDash val="solid"/>
          </a:ln>
        </p:spPr>
      </p:sp>
      <p:sp>
        <p:nvSpPr>
          <p:cNvPr id="27" name="Text 25"/>
          <p:cNvSpPr txBox="1"/>
          <p:nvPr/>
        </p:nvSpPr>
        <p:spPr>
          <a:xfrm>
            <a:off x="685800" y="28346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8" name="Text 26"/>
          <p:cNvSpPr txBox="1"/>
          <p:nvPr/>
        </p:nvSpPr>
        <p:spPr>
          <a:xfrm>
            <a:off x="228600" y="3401568"/>
            <a:ext cx="1371600" cy="228600"/>
          </a:xfrm>
          <a:prstGeom prst="rect">
            <a:avLst/>
          </a:prstGeom>
          <a:noFill/>
          <a:ln/>
        </p:spPr>
        <p:txBody>
          <a:bodyPr wrap="square" lIns="0" tIns="0" rIns="0" bIns="0" rtlCol="0" anchor="t"/>
          <a:lstStyle/>
          <a:p>
            <a:pPr algn="ctr" indent="0" marL="0">
              <a:buNone/>
            </a:pPr>
            <a:r>
              <a:rPr lang="en-US" sz="1200" b="1" dirty="0">
                <a:solidFill>
                  <a:srgbClr val="10233A"/>
                </a:solidFill>
                <a:latin typeface="Calibri" pitchFamily="34" charset="0"/>
                <a:ea typeface="Calibri" pitchFamily="34" charset="-122"/>
                <a:cs typeface="Calibri" pitchFamily="34" charset="-120"/>
              </a:rPr>
              <a:t>W1</a:t>
            </a:r>
            <a:endParaRPr lang="en-US" sz="1200" dirty="0"/>
          </a:p>
        </p:txBody>
      </p:sp>
      <p:sp>
        <p:nvSpPr>
          <p:cNvPr id="29" name="Text 27"/>
          <p:cNvSpPr txBox="1"/>
          <p:nvPr/>
        </p:nvSpPr>
        <p:spPr>
          <a:xfrm>
            <a:off x="228600" y="3639312"/>
            <a:ext cx="1371600" cy="457200"/>
          </a:xfrm>
          <a:prstGeom prst="rect">
            <a:avLst/>
          </a:prstGeom>
          <a:noFill/>
          <a:ln/>
        </p:spPr>
        <p:txBody>
          <a:bodyPr wrap="square" lIns="0" tIns="0" rIns="0" bIns="0" rtlCol="0" anchor="t"/>
          <a:lstStyle/>
          <a:p>
            <a:pPr algn="ctr" indent="0" marL="0">
              <a:buNone/>
            </a:pPr>
            <a:r>
              <a:rPr lang="en-US" sz="1100" dirty="0">
                <a:solidFill>
                  <a:srgbClr val="2B3A4A"/>
                </a:solidFill>
                <a:latin typeface="Calibri" pitchFamily="34" charset="0"/>
                <a:ea typeface="Calibri" pitchFamily="34" charset="-122"/>
                <a:cs typeface="Calibri" pitchFamily="34" charset="-120"/>
              </a:rPr>
              <a:t>Orientation and pre-assessment</a:t>
            </a:r>
            <a:endParaRPr lang="en-US" sz="1100" dirty="0"/>
          </a:p>
        </p:txBody>
      </p:sp>
      <p:sp>
        <p:nvSpPr>
          <p:cNvPr id="30" name="Shape 28"/>
          <p:cNvSpPr/>
          <p:nvPr/>
        </p:nvSpPr>
        <p:spPr>
          <a:xfrm>
            <a:off x="2148840" y="2834640"/>
            <a:ext cx="457200" cy="457200"/>
          </a:xfrm>
          <a:prstGeom prst="ellipse">
            <a:avLst/>
          </a:prstGeom>
          <a:solidFill>
            <a:srgbClr val="0A8577"/>
          </a:solidFill>
          <a:ln w="12700">
            <a:solidFill>
              <a:srgbClr val="0A8577"/>
            </a:solidFill>
            <a:prstDash val="solid"/>
          </a:ln>
        </p:spPr>
      </p:sp>
      <p:sp>
        <p:nvSpPr>
          <p:cNvPr id="31" name="Text 29"/>
          <p:cNvSpPr txBox="1"/>
          <p:nvPr/>
        </p:nvSpPr>
        <p:spPr>
          <a:xfrm>
            <a:off x="2148840" y="28346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32" name="Text 30"/>
          <p:cNvSpPr txBox="1"/>
          <p:nvPr/>
        </p:nvSpPr>
        <p:spPr>
          <a:xfrm>
            <a:off x="1691640" y="3401568"/>
            <a:ext cx="1371600" cy="228600"/>
          </a:xfrm>
          <a:prstGeom prst="rect">
            <a:avLst/>
          </a:prstGeom>
          <a:noFill/>
          <a:ln/>
        </p:spPr>
        <p:txBody>
          <a:bodyPr wrap="square" lIns="0" tIns="0" rIns="0" bIns="0" rtlCol="0" anchor="t"/>
          <a:lstStyle/>
          <a:p>
            <a:pPr algn="ctr" indent="0" marL="0">
              <a:buNone/>
            </a:pPr>
            <a:r>
              <a:rPr lang="en-US" sz="1200" b="1" dirty="0">
                <a:solidFill>
                  <a:srgbClr val="10233A"/>
                </a:solidFill>
                <a:latin typeface="Calibri" pitchFamily="34" charset="0"/>
                <a:ea typeface="Calibri" pitchFamily="34" charset="-122"/>
                <a:cs typeface="Calibri" pitchFamily="34" charset="-120"/>
              </a:rPr>
              <a:t>W2</a:t>
            </a:r>
            <a:endParaRPr lang="en-US" sz="1200" dirty="0"/>
          </a:p>
        </p:txBody>
      </p:sp>
      <p:sp>
        <p:nvSpPr>
          <p:cNvPr id="33" name="Text 31"/>
          <p:cNvSpPr txBox="1"/>
          <p:nvPr/>
        </p:nvSpPr>
        <p:spPr>
          <a:xfrm>
            <a:off x="1691640" y="3639312"/>
            <a:ext cx="1371600" cy="457200"/>
          </a:xfrm>
          <a:prstGeom prst="rect">
            <a:avLst/>
          </a:prstGeom>
          <a:noFill/>
          <a:ln/>
        </p:spPr>
        <p:txBody>
          <a:bodyPr wrap="square" lIns="0" tIns="0" rIns="0" bIns="0" rtlCol="0" anchor="t"/>
          <a:lstStyle/>
          <a:p>
            <a:pPr algn="ctr" indent="0" marL="0">
              <a:buNone/>
            </a:pPr>
            <a:r>
              <a:rPr lang="en-US" sz="1100" dirty="0">
                <a:solidFill>
                  <a:srgbClr val="2B3A4A"/>
                </a:solidFill>
                <a:latin typeface="Calibri" pitchFamily="34" charset="0"/>
                <a:ea typeface="Calibri" pitchFamily="34" charset="-122"/>
                <a:cs typeface="Calibri" pitchFamily="34" charset="-120"/>
              </a:rPr>
              <a:t>Client brief approved</a:t>
            </a:r>
            <a:endParaRPr lang="en-US" sz="1100" dirty="0"/>
          </a:p>
        </p:txBody>
      </p:sp>
      <p:sp>
        <p:nvSpPr>
          <p:cNvPr id="34" name="Shape 32"/>
          <p:cNvSpPr/>
          <p:nvPr/>
        </p:nvSpPr>
        <p:spPr>
          <a:xfrm>
            <a:off x="3611880" y="2834640"/>
            <a:ext cx="457200" cy="457200"/>
          </a:xfrm>
          <a:prstGeom prst="ellipse">
            <a:avLst/>
          </a:prstGeom>
          <a:solidFill>
            <a:srgbClr val="10233A"/>
          </a:solidFill>
          <a:ln w="12700">
            <a:solidFill>
              <a:srgbClr val="10233A"/>
            </a:solidFill>
            <a:prstDash val="solid"/>
          </a:ln>
        </p:spPr>
      </p:sp>
      <p:sp>
        <p:nvSpPr>
          <p:cNvPr id="35" name="Text 33"/>
          <p:cNvSpPr txBox="1"/>
          <p:nvPr/>
        </p:nvSpPr>
        <p:spPr>
          <a:xfrm>
            <a:off x="3611880" y="28346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6" name="Text 34"/>
          <p:cNvSpPr txBox="1"/>
          <p:nvPr/>
        </p:nvSpPr>
        <p:spPr>
          <a:xfrm>
            <a:off x="3154680" y="3401568"/>
            <a:ext cx="1371600" cy="228600"/>
          </a:xfrm>
          <a:prstGeom prst="rect">
            <a:avLst/>
          </a:prstGeom>
          <a:noFill/>
          <a:ln/>
        </p:spPr>
        <p:txBody>
          <a:bodyPr wrap="square" lIns="0" tIns="0" rIns="0" bIns="0" rtlCol="0" anchor="t"/>
          <a:lstStyle/>
          <a:p>
            <a:pPr algn="ctr" indent="0" marL="0">
              <a:buNone/>
            </a:pPr>
            <a:r>
              <a:rPr lang="en-US" sz="1200" b="1" dirty="0">
                <a:solidFill>
                  <a:srgbClr val="10233A"/>
                </a:solidFill>
                <a:latin typeface="Calibri" pitchFamily="34" charset="0"/>
                <a:ea typeface="Calibri" pitchFamily="34" charset="-122"/>
                <a:cs typeface="Calibri" pitchFamily="34" charset="-120"/>
              </a:rPr>
              <a:t>W7</a:t>
            </a:r>
            <a:endParaRPr lang="en-US" sz="1200" dirty="0"/>
          </a:p>
        </p:txBody>
      </p:sp>
      <p:sp>
        <p:nvSpPr>
          <p:cNvPr id="37" name="Text 35"/>
          <p:cNvSpPr txBox="1"/>
          <p:nvPr/>
        </p:nvSpPr>
        <p:spPr>
          <a:xfrm>
            <a:off x="3154680" y="3639312"/>
            <a:ext cx="1371600" cy="457200"/>
          </a:xfrm>
          <a:prstGeom prst="rect">
            <a:avLst/>
          </a:prstGeom>
          <a:noFill/>
          <a:ln/>
        </p:spPr>
        <p:txBody>
          <a:bodyPr wrap="square" lIns="0" tIns="0" rIns="0" bIns="0" rtlCol="0" anchor="t"/>
          <a:lstStyle/>
          <a:p>
            <a:pPr algn="ctr" indent="0" marL="0">
              <a:buNone/>
            </a:pPr>
            <a:r>
              <a:rPr lang="en-US" sz="1100" dirty="0">
                <a:solidFill>
                  <a:srgbClr val="2B3A4A"/>
                </a:solidFill>
                <a:latin typeface="Calibri" pitchFamily="34" charset="0"/>
                <a:ea typeface="Calibri" pitchFamily="34" charset="-122"/>
                <a:cs typeface="Calibri" pitchFamily="34" charset="-120"/>
              </a:rPr>
              <a:t>Edited video</a:t>
            </a:r>
            <a:endParaRPr lang="en-US" sz="1100" dirty="0"/>
          </a:p>
        </p:txBody>
      </p:sp>
      <p:sp>
        <p:nvSpPr>
          <p:cNvPr id="38" name="Shape 36"/>
          <p:cNvSpPr/>
          <p:nvPr/>
        </p:nvSpPr>
        <p:spPr>
          <a:xfrm>
            <a:off x="5074920" y="2834640"/>
            <a:ext cx="457200" cy="457200"/>
          </a:xfrm>
          <a:prstGeom prst="ellipse">
            <a:avLst/>
          </a:prstGeom>
          <a:solidFill>
            <a:srgbClr val="0A8577"/>
          </a:solidFill>
          <a:ln w="12700">
            <a:solidFill>
              <a:srgbClr val="0A8577"/>
            </a:solidFill>
            <a:prstDash val="solid"/>
          </a:ln>
        </p:spPr>
      </p:sp>
      <p:sp>
        <p:nvSpPr>
          <p:cNvPr id="39" name="Text 37"/>
          <p:cNvSpPr txBox="1"/>
          <p:nvPr/>
        </p:nvSpPr>
        <p:spPr>
          <a:xfrm>
            <a:off x="5074920" y="28346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40" name="Text 38"/>
          <p:cNvSpPr txBox="1"/>
          <p:nvPr/>
        </p:nvSpPr>
        <p:spPr>
          <a:xfrm>
            <a:off x="4617720" y="3401568"/>
            <a:ext cx="1371600" cy="228600"/>
          </a:xfrm>
          <a:prstGeom prst="rect">
            <a:avLst/>
          </a:prstGeom>
          <a:noFill/>
          <a:ln/>
        </p:spPr>
        <p:txBody>
          <a:bodyPr wrap="square" lIns="0" tIns="0" rIns="0" bIns="0" rtlCol="0" anchor="t"/>
          <a:lstStyle/>
          <a:p>
            <a:pPr algn="ctr" indent="0" marL="0">
              <a:buNone/>
            </a:pPr>
            <a:r>
              <a:rPr lang="en-US" sz="1200" b="1" dirty="0">
                <a:solidFill>
                  <a:srgbClr val="10233A"/>
                </a:solidFill>
                <a:latin typeface="Calibri" pitchFamily="34" charset="0"/>
                <a:ea typeface="Calibri" pitchFamily="34" charset="-122"/>
                <a:cs typeface="Calibri" pitchFamily="34" charset="-120"/>
              </a:rPr>
              <a:t>W9</a:t>
            </a:r>
            <a:endParaRPr lang="en-US" sz="1200" dirty="0"/>
          </a:p>
        </p:txBody>
      </p:sp>
      <p:sp>
        <p:nvSpPr>
          <p:cNvPr id="41" name="Text 39"/>
          <p:cNvSpPr txBox="1"/>
          <p:nvPr/>
        </p:nvSpPr>
        <p:spPr>
          <a:xfrm>
            <a:off x="4617720" y="3639312"/>
            <a:ext cx="1371600" cy="457200"/>
          </a:xfrm>
          <a:prstGeom prst="rect">
            <a:avLst/>
          </a:prstGeom>
          <a:noFill/>
          <a:ln/>
        </p:spPr>
        <p:txBody>
          <a:bodyPr wrap="square" lIns="0" tIns="0" rIns="0" bIns="0" rtlCol="0" anchor="t"/>
          <a:lstStyle/>
          <a:p>
            <a:pPr algn="ctr" indent="0" marL="0">
              <a:buNone/>
            </a:pPr>
            <a:r>
              <a:rPr lang="en-US" sz="1100" dirty="0">
                <a:solidFill>
                  <a:srgbClr val="2B3A4A"/>
                </a:solidFill>
                <a:latin typeface="Calibri" pitchFamily="34" charset="0"/>
                <a:ea typeface="Calibri" pitchFamily="34" charset="-122"/>
                <a:cs typeface="Calibri" pitchFamily="34" charset="-120"/>
              </a:rPr>
              <a:t>Working automation</a:t>
            </a:r>
            <a:endParaRPr lang="en-US" sz="1100" dirty="0"/>
          </a:p>
        </p:txBody>
      </p:sp>
      <p:sp>
        <p:nvSpPr>
          <p:cNvPr id="42" name="Shape 40"/>
          <p:cNvSpPr/>
          <p:nvPr/>
        </p:nvSpPr>
        <p:spPr>
          <a:xfrm>
            <a:off x="6537960" y="2834640"/>
            <a:ext cx="457200" cy="457200"/>
          </a:xfrm>
          <a:prstGeom prst="ellipse">
            <a:avLst/>
          </a:prstGeom>
          <a:solidFill>
            <a:srgbClr val="10233A"/>
          </a:solidFill>
          <a:ln w="12700">
            <a:solidFill>
              <a:srgbClr val="10233A"/>
            </a:solidFill>
            <a:prstDash val="solid"/>
          </a:ln>
        </p:spPr>
      </p:sp>
      <p:sp>
        <p:nvSpPr>
          <p:cNvPr id="43" name="Text 41"/>
          <p:cNvSpPr txBox="1"/>
          <p:nvPr/>
        </p:nvSpPr>
        <p:spPr>
          <a:xfrm>
            <a:off x="6537960" y="28346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4" name="Text 42"/>
          <p:cNvSpPr txBox="1"/>
          <p:nvPr/>
        </p:nvSpPr>
        <p:spPr>
          <a:xfrm>
            <a:off x="6080760" y="3401568"/>
            <a:ext cx="1371600" cy="228600"/>
          </a:xfrm>
          <a:prstGeom prst="rect">
            <a:avLst/>
          </a:prstGeom>
          <a:noFill/>
          <a:ln/>
        </p:spPr>
        <p:txBody>
          <a:bodyPr wrap="square" lIns="0" tIns="0" rIns="0" bIns="0" rtlCol="0" anchor="t"/>
          <a:lstStyle/>
          <a:p>
            <a:pPr algn="ctr" indent="0" marL="0">
              <a:buNone/>
            </a:pPr>
            <a:r>
              <a:rPr lang="en-US" sz="1200" b="1" dirty="0">
                <a:solidFill>
                  <a:srgbClr val="10233A"/>
                </a:solidFill>
                <a:latin typeface="Calibri" pitchFamily="34" charset="0"/>
                <a:ea typeface="Calibri" pitchFamily="34" charset="-122"/>
                <a:cs typeface="Calibri" pitchFamily="34" charset="-120"/>
              </a:rPr>
              <a:t>W11</a:t>
            </a:r>
            <a:endParaRPr lang="en-US" sz="1200" dirty="0"/>
          </a:p>
        </p:txBody>
      </p:sp>
      <p:sp>
        <p:nvSpPr>
          <p:cNvPr id="45" name="Text 43"/>
          <p:cNvSpPr txBox="1"/>
          <p:nvPr/>
        </p:nvSpPr>
        <p:spPr>
          <a:xfrm>
            <a:off x="6080760" y="3639312"/>
            <a:ext cx="1371600" cy="457200"/>
          </a:xfrm>
          <a:prstGeom prst="rect">
            <a:avLst/>
          </a:prstGeom>
          <a:noFill/>
          <a:ln/>
        </p:spPr>
        <p:txBody>
          <a:bodyPr wrap="square" lIns="0" tIns="0" rIns="0" bIns="0" rtlCol="0" anchor="t"/>
          <a:lstStyle/>
          <a:p>
            <a:pPr algn="ctr" indent="0" marL="0">
              <a:buNone/>
            </a:pPr>
            <a:r>
              <a:rPr lang="en-US" sz="1100" dirty="0">
                <a:solidFill>
                  <a:srgbClr val="2B3A4A"/>
                </a:solidFill>
                <a:latin typeface="Calibri" pitchFamily="34" charset="0"/>
                <a:ea typeface="Calibri" pitchFamily="34" charset="-122"/>
                <a:cs typeface="Calibri" pitchFamily="34" charset="-120"/>
              </a:rPr>
              <a:t>Post-assessment and Demo Day</a:t>
            </a:r>
            <a:endParaRPr lang="en-US" sz="1100" dirty="0"/>
          </a:p>
        </p:txBody>
      </p:sp>
      <p:sp>
        <p:nvSpPr>
          <p:cNvPr id="46" name="Shape 44"/>
          <p:cNvSpPr/>
          <p:nvPr/>
        </p:nvSpPr>
        <p:spPr>
          <a:xfrm>
            <a:off x="8001000" y="2834640"/>
            <a:ext cx="457200" cy="457200"/>
          </a:xfrm>
          <a:prstGeom prst="ellipse">
            <a:avLst/>
          </a:prstGeom>
          <a:solidFill>
            <a:srgbClr val="0A8577"/>
          </a:solidFill>
          <a:ln w="12700">
            <a:solidFill>
              <a:srgbClr val="0A8577"/>
            </a:solidFill>
            <a:prstDash val="solid"/>
          </a:ln>
        </p:spPr>
      </p:sp>
      <p:sp>
        <p:nvSpPr>
          <p:cNvPr id="47" name="Text 45"/>
          <p:cNvSpPr txBox="1"/>
          <p:nvPr/>
        </p:nvSpPr>
        <p:spPr>
          <a:xfrm>
            <a:off x="8001000" y="28346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8" name="Text 46"/>
          <p:cNvSpPr txBox="1"/>
          <p:nvPr/>
        </p:nvSpPr>
        <p:spPr>
          <a:xfrm>
            <a:off x="7543800" y="3401568"/>
            <a:ext cx="1371600" cy="228600"/>
          </a:xfrm>
          <a:prstGeom prst="rect">
            <a:avLst/>
          </a:prstGeom>
          <a:noFill/>
          <a:ln/>
        </p:spPr>
        <p:txBody>
          <a:bodyPr wrap="square" lIns="0" tIns="0" rIns="0" bIns="0" rtlCol="0" anchor="t"/>
          <a:lstStyle/>
          <a:p>
            <a:pPr algn="ctr" indent="0" marL="0">
              <a:buNone/>
            </a:pPr>
            <a:r>
              <a:rPr lang="en-US" sz="1200" b="1" dirty="0">
                <a:solidFill>
                  <a:srgbClr val="10233A"/>
                </a:solidFill>
                <a:latin typeface="Calibri" pitchFamily="34" charset="0"/>
                <a:ea typeface="Calibri" pitchFamily="34" charset="-122"/>
                <a:cs typeface="Calibri" pitchFamily="34" charset="-120"/>
              </a:rPr>
              <a:t>W12</a:t>
            </a:r>
            <a:endParaRPr lang="en-US" sz="1200" dirty="0"/>
          </a:p>
        </p:txBody>
      </p:sp>
      <p:sp>
        <p:nvSpPr>
          <p:cNvPr id="49" name="Text 47"/>
          <p:cNvSpPr txBox="1"/>
          <p:nvPr/>
        </p:nvSpPr>
        <p:spPr>
          <a:xfrm>
            <a:off x="7543800" y="3639312"/>
            <a:ext cx="1371600" cy="457200"/>
          </a:xfrm>
          <a:prstGeom prst="rect">
            <a:avLst/>
          </a:prstGeom>
          <a:noFill/>
          <a:ln/>
        </p:spPr>
        <p:txBody>
          <a:bodyPr wrap="square" lIns="0" tIns="0" rIns="0" bIns="0" rtlCol="0" anchor="t"/>
          <a:lstStyle/>
          <a:p>
            <a:pPr algn="ctr" indent="0" marL="0">
              <a:buNone/>
            </a:pPr>
            <a:r>
              <a:rPr lang="en-US" sz="1100" dirty="0">
                <a:solidFill>
                  <a:srgbClr val="2B3A4A"/>
                </a:solidFill>
                <a:latin typeface="Calibri" pitchFamily="34" charset="0"/>
                <a:ea typeface="Calibri" pitchFamily="34" charset="-122"/>
                <a:cs typeface="Calibri" pitchFamily="34" charset="-120"/>
              </a:rPr>
              <a:t>Buffer for make-ups</a:t>
            </a:r>
            <a:endParaRPr lang="en-US" sz="1100" dirty="0"/>
          </a:p>
        </p:txBody>
      </p:sp>
      <p:sp>
        <p:nvSpPr>
          <p:cNvPr id="50" name="Text 48"/>
          <p:cNvSpPr txBox="1"/>
          <p:nvPr/>
        </p:nvSpPr>
        <p:spPr>
          <a:xfrm>
            <a:off x="457200" y="4297680"/>
            <a:ext cx="8229600" cy="320040"/>
          </a:xfrm>
          <a:prstGeom prst="rect">
            <a:avLst/>
          </a:prstGeom>
          <a:noFill/>
          <a:ln/>
        </p:spPr>
        <p:txBody>
          <a:bodyPr wrap="square" lIns="0" tIns="0" rIns="0" bIns="0" rtlCol="0" anchor="t"/>
          <a:lstStyle/>
          <a:p>
            <a:pPr indent="0" marL="0">
              <a:buNone/>
            </a:pPr>
            <a:r>
              <a:rPr lang="en-US" sz="1050" i="1" dirty="0">
                <a:solidFill>
                  <a:srgbClr val="586676"/>
                </a:solidFill>
                <a:latin typeface="Calibri" pitchFamily="34" charset="0"/>
                <a:ea typeface="Calibri" pitchFamily="34" charset="-122"/>
                <a:cs typeface="Calibri" pitchFamily="34" charset="-120"/>
              </a:rPr>
              <a:t>Sessions run three times a week (proposed). Each module's output feeds the team's capstone, so the final weeks are for finishing, not starting.</a:t>
            </a:r>
            <a:endParaRPr lang="en-US" sz="10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8  ·  PRACTICE</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Every session ends with something made</a:t>
            </a:r>
            <a:endParaRPr lang="en-US" sz="2500" dirty="0"/>
          </a:p>
        </p:txBody>
      </p:sp>
      <p:sp>
        <p:nvSpPr>
          <p:cNvPr id="5" name="Shape 3"/>
          <p:cNvSpPr/>
          <p:nvPr/>
        </p:nvSpPr>
        <p:spPr>
          <a:xfrm>
            <a:off x="457200" y="1298448"/>
            <a:ext cx="1929384" cy="1325880"/>
          </a:xfrm>
          <a:prstGeom prst="roundRect">
            <a:avLst>
              <a:gd name="adj" fmla="val 4138"/>
            </a:avLst>
          </a:prstGeom>
          <a:solidFill>
            <a:srgbClr val="F3F6F8"/>
          </a:solidFill>
          <a:ln w="12700">
            <a:solidFill>
              <a:srgbClr val="F3F6F8"/>
            </a:solidFill>
            <a:prstDash val="solid"/>
          </a:ln>
        </p:spPr>
      </p:sp>
      <p:sp>
        <p:nvSpPr>
          <p:cNvPr id="6" name="Shape 4"/>
          <p:cNvSpPr/>
          <p:nvPr/>
        </p:nvSpPr>
        <p:spPr>
          <a:xfrm>
            <a:off x="594360" y="1435608"/>
            <a:ext cx="420624" cy="420624"/>
          </a:xfrm>
          <a:prstGeom prst="ellipse">
            <a:avLst/>
          </a:prstGeom>
          <a:solidFill>
            <a:srgbClr val="0A8577"/>
          </a:solidFill>
          <a:ln w="12700">
            <a:solidFill>
              <a:srgbClr val="0A8577"/>
            </a:solidFill>
            <a:prstDash val="solid"/>
          </a:ln>
        </p:spPr>
      </p:sp>
      <p:sp>
        <p:nvSpPr>
          <p:cNvPr id="7" name="Text 5"/>
          <p:cNvSpPr txBox="1"/>
          <p:nvPr/>
        </p:nvSpPr>
        <p:spPr>
          <a:xfrm>
            <a:off x="594360" y="1920240"/>
            <a:ext cx="1691640" cy="320040"/>
          </a:xfrm>
          <a:prstGeom prst="rect">
            <a:avLst/>
          </a:prstGeom>
          <a:noFill/>
          <a:ln/>
        </p:spPr>
        <p:txBody>
          <a:bodyPr wrap="square" lIns="0" tIns="0" rIns="0" bIns="0" rtlCol="0" anchor="t"/>
          <a:lstStyle/>
          <a:p>
            <a:pPr indent="0" marL="0">
              <a:buNone/>
            </a:pPr>
            <a:r>
              <a:rPr lang="en-US" sz="1400" b="1" dirty="0">
                <a:solidFill>
                  <a:srgbClr val="0A8577"/>
                </a:solidFill>
                <a:latin typeface="Calibri" pitchFamily="34" charset="0"/>
                <a:ea typeface="Calibri" pitchFamily="34" charset="-122"/>
                <a:cs typeface="Calibri" pitchFamily="34" charset="-120"/>
              </a:rPr>
              <a:t>1. See it</a:t>
            </a:r>
            <a:endParaRPr lang="en-US" sz="1400" dirty="0"/>
          </a:p>
        </p:txBody>
      </p:sp>
      <p:sp>
        <p:nvSpPr>
          <p:cNvPr id="8" name="Text 6"/>
          <p:cNvSpPr txBox="1"/>
          <p:nvPr/>
        </p:nvSpPr>
        <p:spPr>
          <a:xfrm>
            <a:off x="594360" y="2240280"/>
            <a:ext cx="1691640" cy="347472"/>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Short concept and live demo</a:t>
            </a:r>
            <a:endParaRPr lang="en-US" sz="1100" dirty="0"/>
          </a:p>
        </p:txBody>
      </p:sp>
      <p:sp>
        <p:nvSpPr>
          <p:cNvPr id="9" name="Shape 7"/>
          <p:cNvSpPr/>
          <p:nvPr/>
        </p:nvSpPr>
        <p:spPr>
          <a:xfrm>
            <a:off x="2551176" y="1298448"/>
            <a:ext cx="1929384" cy="1325880"/>
          </a:xfrm>
          <a:prstGeom prst="roundRect">
            <a:avLst>
              <a:gd name="adj" fmla="val 4138"/>
            </a:avLst>
          </a:prstGeom>
          <a:solidFill>
            <a:srgbClr val="F3F6F8"/>
          </a:solidFill>
          <a:ln w="12700">
            <a:solidFill>
              <a:srgbClr val="F3F6F8"/>
            </a:solidFill>
            <a:prstDash val="solid"/>
          </a:ln>
        </p:spPr>
      </p:sp>
      <p:sp>
        <p:nvSpPr>
          <p:cNvPr id="10" name="Shape 8"/>
          <p:cNvSpPr/>
          <p:nvPr/>
        </p:nvSpPr>
        <p:spPr>
          <a:xfrm>
            <a:off x="2688336" y="1435608"/>
            <a:ext cx="420624" cy="420624"/>
          </a:xfrm>
          <a:prstGeom prst="ellipse">
            <a:avLst/>
          </a:prstGeom>
          <a:solidFill>
            <a:srgbClr val="0A8577"/>
          </a:solidFill>
          <a:ln w="12700">
            <a:solidFill>
              <a:srgbClr val="0A8577"/>
            </a:solidFill>
            <a:prstDash val="solid"/>
          </a:ln>
        </p:spPr>
      </p:sp>
      <p:sp>
        <p:nvSpPr>
          <p:cNvPr id="11" name="Text 9"/>
          <p:cNvSpPr txBox="1"/>
          <p:nvPr/>
        </p:nvSpPr>
        <p:spPr>
          <a:xfrm>
            <a:off x="2688336" y="1920240"/>
            <a:ext cx="1691640" cy="320040"/>
          </a:xfrm>
          <a:prstGeom prst="rect">
            <a:avLst/>
          </a:prstGeom>
          <a:noFill/>
          <a:ln/>
        </p:spPr>
        <p:txBody>
          <a:bodyPr wrap="square" lIns="0" tIns="0" rIns="0" bIns="0" rtlCol="0" anchor="t"/>
          <a:lstStyle/>
          <a:p>
            <a:pPr indent="0" marL="0">
              <a:buNone/>
            </a:pPr>
            <a:r>
              <a:rPr lang="en-US" sz="1400" b="1" dirty="0">
                <a:solidFill>
                  <a:srgbClr val="0A8577"/>
                </a:solidFill>
                <a:latin typeface="Calibri" pitchFamily="34" charset="0"/>
                <a:ea typeface="Calibri" pitchFamily="34" charset="-122"/>
                <a:cs typeface="Calibri" pitchFamily="34" charset="-120"/>
              </a:rPr>
              <a:t>2. Try it</a:t>
            </a:r>
            <a:endParaRPr lang="en-US" sz="1400" dirty="0"/>
          </a:p>
        </p:txBody>
      </p:sp>
      <p:sp>
        <p:nvSpPr>
          <p:cNvPr id="12" name="Text 10"/>
          <p:cNvSpPr txBox="1"/>
          <p:nvPr/>
        </p:nvSpPr>
        <p:spPr>
          <a:xfrm>
            <a:off x="2688336" y="2240280"/>
            <a:ext cx="1691640" cy="347472"/>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Guided exercise in pairs</a:t>
            </a:r>
            <a:endParaRPr lang="en-US" sz="1100" dirty="0"/>
          </a:p>
        </p:txBody>
      </p:sp>
      <p:sp>
        <p:nvSpPr>
          <p:cNvPr id="13" name="Shape 11"/>
          <p:cNvSpPr/>
          <p:nvPr/>
        </p:nvSpPr>
        <p:spPr>
          <a:xfrm>
            <a:off x="4645152" y="1298448"/>
            <a:ext cx="1929384" cy="1325880"/>
          </a:xfrm>
          <a:prstGeom prst="roundRect">
            <a:avLst>
              <a:gd name="adj" fmla="val 4138"/>
            </a:avLst>
          </a:prstGeom>
          <a:solidFill>
            <a:srgbClr val="10233A"/>
          </a:solidFill>
          <a:ln w="12700">
            <a:solidFill>
              <a:srgbClr val="10233A"/>
            </a:solidFill>
            <a:prstDash val="solid"/>
          </a:ln>
        </p:spPr>
      </p:sp>
      <p:sp>
        <p:nvSpPr>
          <p:cNvPr id="14" name="Shape 12"/>
          <p:cNvSpPr/>
          <p:nvPr/>
        </p:nvSpPr>
        <p:spPr>
          <a:xfrm>
            <a:off x="4782312" y="1435608"/>
            <a:ext cx="420624" cy="420624"/>
          </a:xfrm>
          <a:prstGeom prst="ellipse">
            <a:avLst/>
          </a:prstGeom>
          <a:solidFill>
            <a:srgbClr val="F2A541"/>
          </a:solidFill>
          <a:ln w="12700">
            <a:solidFill>
              <a:srgbClr val="F2A541"/>
            </a:solidFill>
            <a:prstDash val="solid"/>
          </a:ln>
        </p:spPr>
      </p:sp>
      <p:sp>
        <p:nvSpPr>
          <p:cNvPr id="15" name="Text 13"/>
          <p:cNvSpPr txBox="1"/>
          <p:nvPr/>
        </p:nvSpPr>
        <p:spPr>
          <a:xfrm>
            <a:off x="4782312" y="1920240"/>
            <a:ext cx="1691640" cy="320040"/>
          </a:xfrm>
          <a:prstGeom prst="rect">
            <a:avLst/>
          </a:prstGeom>
          <a:noFill/>
          <a:ln/>
        </p:spPr>
        <p:txBody>
          <a:bodyPr wrap="square" lIns="0" tIns="0" rIns="0" bIns="0" rtlCol="0" anchor="t"/>
          <a:lstStyle/>
          <a:p>
            <a:pPr indent="0" marL="0">
              <a:buNone/>
            </a:pPr>
            <a:r>
              <a:rPr lang="en-US" sz="1400" b="1" dirty="0">
                <a:solidFill>
                  <a:srgbClr val="F2A541"/>
                </a:solidFill>
                <a:latin typeface="Calibri" pitchFamily="34" charset="0"/>
                <a:ea typeface="Calibri" pitchFamily="34" charset="-122"/>
                <a:cs typeface="Calibri" pitchFamily="34" charset="-120"/>
              </a:rPr>
              <a:t>3. Build it</a:t>
            </a:r>
            <a:endParaRPr lang="en-US" sz="1400" dirty="0"/>
          </a:p>
        </p:txBody>
      </p:sp>
      <p:sp>
        <p:nvSpPr>
          <p:cNvPr id="16" name="Text 14"/>
          <p:cNvSpPr txBox="1"/>
          <p:nvPr/>
        </p:nvSpPr>
        <p:spPr>
          <a:xfrm>
            <a:off x="4782312" y="2240280"/>
            <a:ext cx="1691640" cy="34747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Apply it to the capstone client</a:t>
            </a:r>
            <a:endParaRPr lang="en-US" sz="1100" dirty="0"/>
          </a:p>
        </p:txBody>
      </p:sp>
      <p:sp>
        <p:nvSpPr>
          <p:cNvPr id="17" name="Shape 15"/>
          <p:cNvSpPr/>
          <p:nvPr/>
        </p:nvSpPr>
        <p:spPr>
          <a:xfrm>
            <a:off x="6739128" y="1298448"/>
            <a:ext cx="1929384" cy="1325880"/>
          </a:xfrm>
          <a:prstGeom prst="roundRect">
            <a:avLst>
              <a:gd name="adj" fmla="val 4138"/>
            </a:avLst>
          </a:prstGeom>
          <a:solidFill>
            <a:srgbClr val="F3F6F8"/>
          </a:solidFill>
          <a:ln w="12700">
            <a:solidFill>
              <a:srgbClr val="F3F6F8"/>
            </a:solidFill>
            <a:prstDash val="solid"/>
          </a:ln>
        </p:spPr>
      </p:sp>
      <p:sp>
        <p:nvSpPr>
          <p:cNvPr id="18" name="Shape 16"/>
          <p:cNvSpPr/>
          <p:nvPr/>
        </p:nvSpPr>
        <p:spPr>
          <a:xfrm>
            <a:off x="6876288" y="1435608"/>
            <a:ext cx="420624" cy="420624"/>
          </a:xfrm>
          <a:prstGeom prst="ellipse">
            <a:avLst/>
          </a:prstGeom>
          <a:solidFill>
            <a:srgbClr val="0A8577"/>
          </a:solidFill>
          <a:ln w="12700">
            <a:solidFill>
              <a:srgbClr val="0A8577"/>
            </a:solidFill>
            <a:prstDash val="solid"/>
          </a:ln>
        </p:spPr>
      </p:sp>
      <p:sp>
        <p:nvSpPr>
          <p:cNvPr id="19" name="Text 17"/>
          <p:cNvSpPr txBox="1"/>
          <p:nvPr/>
        </p:nvSpPr>
        <p:spPr>
          <a:xfrm>
            <a:off x="6876288" y="1920240"/>
            <a:ext cx="1691640" cy="320040"/>
          </a:xfrm>
          <a:prstGeom prst="rect">
            <a:avLst/>
          </a:prstGeom>
          <a:noFill/>
          <a:ln/>
        </p:spPr>
        <p:txBody>
          <a:bodyPr wrap="square" lIns="0" tIns="0" rIns="0" bIns="0" rtlCol="0" anchor="t"/>
          <a:lstStyle/>
          <a:p>
            <a:pPr indent="0" marL="0">
              <a:buNone/>
            </a:pPr>
            <a:r>
              <a:rPr lang="en-US" sz="1400" b="1" dirty="0">
                <a:solidFill>
                  <a:srgbClr val="0A8577"/>
                </a:solidFill>
                <a:latin typeface="Calibri" pitchFamily="34" charset="0"/>
                <a:ea typeface="Calibri" pitchFamily="34" charset="-122"/>
                <a:cs typeface="Calibri" pitchFamily="34" charset="-120"/>
              </a:rPr>
              <a:t>4. Show it</a:t>
            </a:r>
            <a:endParaRPr lang="en-US" sz="1400" dirty="0"/>
          </a:p>
        </p:txBody>
      </p:sp>
      <p:sp>
        <p:nvSpPr>
          <p:cNvPr id="20" name="Text 18"/>
          <p:cNvSpPr txBox="1"/>
          <p:nvPr/>
        </p:nvSpPr>
        <p:spPr>
          <a:xfrm>
            <a:off x="6876288" y="2240280"/>
            <a:ext cx="1691640" cy="347472"/>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Share, get feedback, improve</a:t>
            </a:r>
            <a:endParaRPr lang="en-US" sz="1100" dirty="0"/>
          </a:p>
        </p:txBody>
      </p:sp>
      <p:sp>
        <p:nvSpPr>
          <p:cNvPr id="21" name="Text 19"/>
          <p:cNvSpPr txBox="1"/>
          <p:nvPr/>
        </p:nvSpPr>
        <p:spPr>
          <a:xfrm>
            <a:off x="457200" y="2816352"/>
            <a:ext cx="4572000" cy="274320"/>
          </a:xfrm>
          <a:prstGeom prst="rect">
            <a:avLst/>
          </a:prstGeom>
          <a:noFill/>
          <a:ln/>
        </p:spPr>
        <p:txBody>
          <a:bodyPr wrap="square" lIns="0" tIns="0" rIns="0" bIns="0" rtlCol="0" anchor="t"/>
          <a:lstStyle/>
          <a:p>
            <a:pPr indent="0" marL="0">
              <a:buNone/>
            </a:pPr>
            <a:r>
              <a:rPr lang="en-US" sz="1300" b="1" dirty="0">
                <a:solidFill>
                  <a:srgbClr val="10233A"/>
                </a:solidFill>
                <a:latin typeface="Calibri" pitchFamily="34" charset="0"/>
                <a:ea typeface="Calibri" pitchFamily="34" charset="-122"/>
                <a:cs typeface="Calibri" pitchFamily="34" charset="-120"/>
              </a:rPr>
              <a:t>A typical 3-hour session</a:t>
            </a:r>
            <a:endParaRPr lang="en-US" sz="1300" dirty="0"/>
          </a:p>
        </p:txBody>
      </p:sp>
      <p:sp>
        <p:nvSpPr>
          <p:cNvPr id="22" name="Shape 20"/>
          <p:cNvSpPr/>
          <p:nvPr/>
        </p:nvSpPr>
        <p:spPr>
          <a:xfrm>
            <a:off x="457200" y="3154680"/>
            <a:ext cx="2258568" cy="438912"/>
          </a:xfrm>
          <a:prstGeom prst="rect">
            <a:avLst/>
          </a:prstGeom>
          <a:solidFill>
            <a:srgbClr val="586676"/>
          </a:solidFill>
          <a:ln w="12700">
            <a:solidFill>
              <a:srgbClr val="586676"/>
            </a:solidFill>
            <a:prstDash val="solid"/>
          </a:ln>
        </p:spPr>
      </p:sp>
      <p:sp>
        <p:nvSpPr>
          <p:cNvPr id="23" name="Text 21"/>
          <p:cNvSpPr txBox="1"/>
          <p:nvPr/>
        </p:nvSpPr>
        <p:spPr>
          <a:xfrm>
            <a:off x="457200" y="3154680"/>
            <a:ext cx="2258568" cy="43891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Concept &amp; demo</a:t>
            </a:r>
            <a:endParaRPr lang="en-US" sz="1150" dirty="0"/>
          </a:p>
        </p:txBody>
      </p:sp>
      <p:sp>
        <p:nvSpPr>
          <p:cNvPr id="24" name="Text 22"/>
          <p:cNvSpPr txBox="1"/>
          <p:nvPr/>
        </p:nvSpPr>
        <p:spPr>
          <a:xfrm>
            <a:off x="457200" y="3630168"/>
            <a:ext cx="2258568" cy="201168"/>
          </a:xfrm>
          <a:prstGeom prst="rect">
            <a:avLst/>
          </a:prstGeom>
          <a:noFill/>
          <a:ln/>
        </p:spPr>
        <p:txBody>
          <a:bodyPr wrap="square" lIns="0" tIns="0" rIns="0" bIns="0" rtlCol="0" anchor="t"/>
          <a:lstStyle/>
          <a:p>
            <a:pPr algn="ctr" indent="0" marL="0">
              <a:buNone/>
            </a:pPr>
            <a:r>
              <a:rPr lang="en-US" sz="950" dirty="0">
                <a:solidFill>
                  <a:srgbClr val="586676"/>
                </a:solidFill>
                <a:latin typeface="Calibri" pitchFamily="34" charset="0"/>
                <a:ea typeface="Calibri" pitchFamily="34" charset="-122"/>
                <a:cs typeface="Calibri" pitchFamily="34" charset="-120"/>
              </a:rPr>
              <a:t>0:00–0:50</a:t>
            </a:r>
            <a:endParaRPr lang="en-US" sz="950" dirty="0"/>
          </a:p>
        </p:txBody>
      </p:sp>
      <p:sp>
        <p:nvSpPr>
          <p:cNvPr id="25" name="Shape 23"/>
          <p:cNvSpPr/>
          <p:nvPr/>
        </p:nvSpPr>
        <p:spPr>
          <a:xfrm>
            <a:off x="2743200" y="3154680"/>
            <a:ext cx="4773168" cy="438912"/>
          </a:xfrm>
          <a:prstGeom prst="rect">
            <a:avLst/>
          </a:prstGeom>
          <a:solidFill>
            <a:srgbClr val="0A8577"/>
          </a:solidFill>
          <a:ln w="12700">
            <a:solidFill>
              <a:srgbClr val="0A8577"/>
            </a:solidFill>
            <a:prstDash val="solid"/>
          </a:ln>
        </p:spPr>
      </p:sp>
      <p:sp>
        <p:nvSpPr>
          <p:cNvPr id="26" name="Text 24"/>
          <p:cNvSpPr txBox="1"/>
          <p:nvPr/>
        </p:nvSpPr>
        <p:spPr>
          <a:xfrm>
            <a:off x="2743200" y="3154680"/>
            <a:ext cx="4773168" cy="43891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Hands-on build</a:t>
            </a:r>
            <a:endParaRPr lang="en-US" sz="1150" dirty="0"/>
          </a:p>
        </p:txBody>
      </p:sp>
      <p:sp>
        <p:nvSpPr>
          <p:cNvPr id="27" name="Text 25"/>
          <p:cNvSpPr txBox="1"/>
          <p:nvPr/>
        </p:nvSpPr>
        <p:spPr>
          <a:xfrm>
            <a:off x="2743200" y="3630168"/>
            <a:ext cx="4773168" cy="201168"/>
          </a:xfrm>
          <a:prstGeom prst="rect">
            <a:avLst/>
          </a:prstGeom>
          <a:noFill/>
          <a:ln/>
        </p:spPr>
        <p:txBody>
          <a:bodyPr wrap="square" lIns="0" tIns="0" rIns="0" bIns="0" rtlCol="0" anchor="t"/>
          <a:lstStyle/>
          <a:p>
            <a:pPr algn="ctr" indent="0" marL="0">
              <a:buNone/>
            </a:pPr>
            <a:r>
              <a:rPr lang="en-US" sz="950" dirty="0">
                <a:solidFill>
                  <a:srgbClr val="586676"/>
                </a:solidFill>
                <a:latin typeface="Calibri" pitchFamily="34" charset="0"/>
                <a:ea typeface="Calibri" pitchFamily="34" charset="-122"/>
                <a:cs typeface="Calibri" pitchFamily="34" charset="-120"/>
              </a:rPr>
              <a:t>0:50–2:35</a:t>
            </a:r>
            <a:endParaRPr lang="en-US" sz="950" dirty="0"/>
          </a:p>
        </p:txBody>
      </p:sp>
      <p:sp>
        <p:nvSpPr>
          <p:cNvPr id="28" name="Shape 26"/>
          <p:cNvSpPr/>
          <p:nvPr/>
        </p:nvSpPr>
        <p:spPr>
          <a:xfrm>
            <a:off x="7543800" y="3154680"/>
            <a:ext cx="1115568" cy="438912"/>
          </a:xfrm>
          <a:prstGeom prst="rect">
            <a:avLst/>
          </a:prstGeom>
          <a:solidFill>
            <a:srgbClr val="10233A"/>
          </a:solidFill>
          <a:ln w="12700">
            <a:solidFill>
              <a:srgbClr val="10233A"/>
            </a:solidFill>
            <a:prstDash val="solid"/>
          </a:ln>
        </p:spPr>
      </p:sp>
      <p:sp>
        <p:nvSpPr>
          <p:cNvPr id="29" name="Text 27"/>
          <p:cNvSpPr txBox="1"/>
          <p:nvPr/>
        </p:nvSpPr>
        <p:spPr>
          <a:xfrm>
            <a:off x="7543800" y="3154680"/>
            <a:ext cx="1115568" cy="43891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Show &amp; feedback</a:t>
            </a:r>
            <a:endParaRPr lang="en-US" sz="950" dirty="0"/>
          </a:p>
        </p:txBody>
      </p:sp>
      <p:sp>
        <p:nvSpPr>
          <p:cNvPr id="30" name="Text 28"/>
          <p:cNvSpPr txBox="1"/>
          <p:nvPr/>
        </p:nvSpPr>
        <p:spPr>
          <a:xfrm>
            <a:off x="7543800" y="3630168"/>
            <a:ext cx="1115568" cy="201168"/>
          </a:xfrm>
          <a:prstGeom prst="rect">
            <a:avLst/>
          </a:prstGeom>
          <a:noFill/>
          <a:ln/>
        </p:spPr>
        <p:txBody>
          <a:bodyPr wrap="square" lIns="0" tIns="0" rIns="0" bIns="0" rtlCol="0" anchor="t"/>
          <a:lstStyle/>
          <a:p>
            <a:pPr algn="ctr" indent="0" marL="0">
              <a:buNone/>
            </a:pPr>
            <a:r>
              <a:rPr lang="en-US" sz="950" dirty="0">
                <a:solidFill>
                  <a:srgbClr val="586676"/>
                </a:solidFill>
                <a:latin typeface="Calibri" pitchFamily="34" charset="0"/>
                <a:ea typeface="Calibri" pitchFamily="34" charset="-122"/>
                <a:cs typeface="Calibri" pitchFamily="34" charset="-120"/>
              </a:rPr>
              <a:t>2:35–3:00</a:t>
            </a:r>
            <a:endParaRPr lang="en-US" sz="950" dirty="0"/>
          </a:p>
        </p:txBody>
      </p:sp>
      <p:sp>
        <p:nvSpPr>
          <p:cNvPr id="31" name="Text 29"/>
          <p:cNvSpPr txBox="1"/>
          <p:nvPr/>
        </p:nvSpPr>
        <p:spPr>
          <a:xfrm>
            <a:off x="457200" y="4069080"/>
            <a:ext cx="8229600" cy="457200"/>
          </a:xfrm>
          <a:prstGeom prst="rect">
            <a:avLst/>
          </a:prstGeom>
          <a:noFill/>
          <a:ln/>
        </p:spPr>
        <p:txBody>
          <a:bodyPr wrap="square" lIns="0" tIns="0" rIns="0" bIns="0" rtlCol="0" anchor="t"/>
          <a:lstStyle/>
          <a:p>
            <a:pPr indent="0" marL="0">
              <a:buNone/>
            </a:pPr>
            <a:r>
              <a:rPr lang="en-US" sz="1400" b="1" dirty="0">
                <a:solidFill>
                  <a:srgbClr val="10233A"/>
                </a:solidFill>
                <a:latin typeface="Calibri" pitchFamily="34" charset="0"/>
                <a:ea typeface="Calibri" pitchFamily="34" charset="-122"/>
                <a:cs typeface="Calibri" pitchFamily="34" charset="-120"/>
              </a:rPr>
              <a:t>12 structured exercises, one capstone client per team, and a portfolio folder that grows every session.</a:t>
            </a:r>
            <a:endParaRPr lang="en-US" sz="1400" dirty="0"/>
          </a:p>
        </p:txBody>
      </p:sp>
      <p:pic>
        <p:nvPicPr>
          <p:cNvPr id="32" name="Image 0" descr="preencoded.png">    </p:cNvPr>
          <p:cNvPicPr>
            <a:picLocks noChangeAspect="1"/>
          </p:cNvPicPr>
          <p:nvPr/>
        </p:nvPicPr>
        <p:blipFill>
          <a:blip r:embed="rId1"/>
          <a:stretch>
            <a:fillRect/>
          </a:stretch>
        </p:blipFill>
        <p:spPr>
          <a:xfrm>
            <a:off x="2793492" y="1540764"/>
            <a:ext cx="210312" cy="210312"/>
          </a:xfrm>
          <a:prstGeom prst="rect">
            <a:avLst/>
          </a:prstGeom>
        </p:spPr>
      </p:pic>
      <p:pic>
        <p:nvPicPr>
          <p:cNvPr id="33" name="Image 1" descr="preencoded.png">    </p:cNvPr>
          <p:cNvPicPr>
            <a:picLocks noChangeAspect="1"/>
          </p:cNvPicPr>
          <p:nvPr/>
        </p:nvPicPr>
        <p:blipFill>
          <a:blip r:embed="rId2"/>
          <a:stretch>
            <a:fillRect/>
          </a:stretch>
        </p:blipFill>
        <p:spPr>
          <a:xfrm>
            <a:off x="699516" y="1540764"/>
            <a:ext cx="210312" cy="210312"/>
          </a:xfrm>
          <a:prstGeom prst="rect">
            <a:avLst/>
          </a:prstGeom>
        </p:spPr>
      </p:pic>
      <p:pic>
        <p:nvPicPr>
          <p:cNvPr id="34" name="Image 2" descr="preencoded.png">    </p:cNvPr>
          <p:cNvPicPr>
            <a:picLocks noChangeAspect="1"/>
          </p:cNvPicPr>
          <p:nvPr/>
        </p:nvPicPr>
        <p:blipFill>
          <a:blip r:embed="rId3"/>
          <a:stretch>
            <a:fillRect/>
          </a:stretch>
        </p:blipFill>
        <p:spPr>
          <a:xfrm>
            <a:off x="6981444" y="1540764"/>
            <a:ext cx="210312" cy="210312"/>
          </a:xfrm>
          <a:prstGeom prst="rect">
            <a:avLst/>
          </a:prstGeom>
        </p:spPr>
      </p:pic>
      <p:pic>
        <p:nvPicPr>
          <p:cNvPr id="35" name="Image 3" descr="preencoded.png">    </p:cNvPr>
          <p:cNvPicPr>
            <a:picLocks noChangeAspect="1"/>
          </p:cNvPicPr>
          <p:nvPr/>
        </p:nvPicPr>
        <p:blipFill>
          <a:blip r:embed="rId4"/>
          <a:stretch>
            <a:fillRect/>
          </a:stretch>
        </p:blipFill>
        <p:spPr>
          <a:xfrm>
            <a:off x="4887468" y="1540764"/>
            <a:ext cx="210312" cy="210312"/>
          </a:xfrm>
          <a:prstGeom prst="rect">
            <a:avLst/>
          </a:prstGeom>
        </p:spPr>
      </p:pic>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9  ·  TOOLS</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The AI tools participants learn to use</a:t>
            </a:r>
            <a:endParaRPr lang="en-US" sz="2500" dirty="0"/>
          </a:p>
        </p:txBody>
      </p:sp>
      <p:sp>
        <p:nvSpPr>
          <p:cNvPr id="5" name="Shape 3"/>
          <p:cNvSpPr/>
          <p:nvPr/>
        </p:nvSpPr>
        <p:spPr>
          <a:xfrm>
            <a:off x="457200" y="1298448"/>
            <a:ext cx="2651760" cy="1481328"/>
          </a:xfrm>
          <a:prstGeom prst="roundRect">
            <a:avLst>
              <a:gd name="adj" fmla="val 3704"/>
            </a:avLst>
          </a:prstGeom>
          <a:solidFill>
            <a:srgbClr val="F3F6F8"/>
          </a:solidFill>
          <a:ln w="12700">
            <a:solidFill>
              <a:srgbClr val="F3F6F8"/>
            </a:solidFill>
            <a:prstDash val="solid"/>
          </a:ln>
        </p:spPr>
      </p:sp>
      <p:sp>
        <p:nvSpPr>
          <p:cNvPr id="6" name="Shape 4"/>
          <p:cNvSpPr/>
          <p:nvPr/>
        </p:nvSpPr>
        <p:spPr>
          <a:xfrm>
            <a:off x="594360" y="1435608"/>
            <a:ext cx="420624" cy="420624"/>
          </a:xfrm>
          <a:prstGeom prst="ellipse">
            <a:avLst/>
          </a:prstGeom>
          <a:solidFill>
            <a:srgbClr val="0A8577"/>
          </a:solidFill>
          <a:ln w="12700">
            <a:solidFill>
              <a:srgbClr val="0A8577"/>
            </a:solidFill>
            <a:prstDash val="solid"/>
          </a:ln>
        </p:spPr>
      </p:sp>
      <p:sp>
        <p:nvSpPr>
          <p:cNvPr id="7" name="Text 5"/>
          <p:cNvSpPr txBox="1"/>
          <p:nvPr/>
        </p:nvSpPr>
        <p:spPr>
          <a:xfrm>
            <a:off x="1115568" y="1435608"/>
            <a:ext cx="1920240" cy="420624"/>
          </a:xfrm>
          <a:prstGeom prst="rect">
            <a:avLst/>
          </a:prstGeom>
          <a:noFill/>
          <a:ln/>
        </p:spPr>
        <p:txBody>
          <a:bodyPr wrap="square" lIns="0" tIns="0" rIns="0" bIns="0" rtlCol="0" anchor="ctr"/>
          <a:lstStyle/>
          <a:p>
            <a:pPr indent="0" marL="0">
              <a:buNone/>
            </a:pPr>
            <a:r>
              <a:rPr lang="en-US" sz="1400" b="1" dirty="0">
                <a:solidFill>
                  <a:srgbClr val="0A8577"/>
                </a:solidFill>
                <a:latin typeface="Calibri" pitchFamily="34" charset="0"/>
                <a:ea typeface="Calibri" pitchFamily="34" charset="-122"/>
                <a:cs typeface="Calibri" pitchFamily="34" charset="-120"/>
              </a:rPr>
              <a:t>AI assistants</a:t>
            </a:r>
            <a:endParaRPr lang="en-US" sz="1400" dirty="0"/>
          </a:p>
        </p:txBody>
      </p:sp>
      <p:sp>
        <p:nvSpPr>
          <p:cNvPr id="8" name="Text 6"/>
          <p:cNvSpPr txBox="1"/>
          <p:nvPr/>
        </p:nvSpPr>
        <p:spPr>
          <a:xfrm>
            <a:off x="594360" y="1956816"/>
            <a:ext cx="2423160" cy="292608"/>
          </a:xfrm>
          <a:prstGeom prst="rect">
            <a:avLst/>
          </a:prstGeom>
          <a:noFill/>
          <a:ln/>
        </p:spPr>
        <p:txBody>
          <a:bodyPr wrap="square" lIns="0" tIns="0" rIns="0" bIns="0" rtlCol="0" anchor="t"/>
          <a:lstStyle/>
          <a:p>
            <a:pPr indent="0" marL="0">
              <a:buNone/>
            </a:pPr>
            <a:r>
              <a:rPr lang="en-US" sz="1200" b="1" dirty="0">
                <a:solidFill>
                  <a:srgbClr val="10233A"/>
                </a:solidFill>
                <a:latin typeface="Calibri" pitchFamily="34" charset="0"/>
                <a:ea typeface="Calibri" pitchFamily="34" charset="-122"/>
                <a:cs typeface="Calibri" pitchFamily="34" charset="-120"/>
              </a:rPr>
              <a:t>ChatGPT · Gemini</a:t>
            </a:r>
            <a:endParaRPr lang="en-US" sz="1200" dirty="0"/>
          </a:p>
        </p:txBody>
      </p:sp>
      <p:sp>
        <p:nvSpPr>
          <p:cNvPr id="9" name="Text 7"/>
          <p:cNvSpPr txBox="1"/>
          <p:nvPr/>
        </p:nvSpPr>
        <p:spPr>
          <a:xfrm>
            <a:off x="594360" y="2258568"/>
            <a:ext cx="2423160" cy="411480"/>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Research, prompting, writing and editing</a:t>
            </a:r>
            <a:endParaRPr lang="en-US" sz="1100" dirty="0"/>
          </a:p>
        </p:txBody>
      </p:sp>
      <p:sp>
        <p:nvSpPr>
          <p:cNvPr id="10" name="Shape 8"/>
          <p:cNvSpPr/>
          <p:nvPr/>
        </p:nvSpPr>
        <p:spPr>
          <a:xfrm>
            <a:off x="3246120" y="1298448"/>
            <a:ext cx="2651760" cy="1481328"/>
          </a:xfrm>
          <a:prstGeom prst="roundRect">
            <a:avLst>
              <a:gd name="adj" fmla="val 3704"/>
            </a:avLst>
          </a:prstGeom>
          <a:solidFill>
            <a:srgbClr val="F3F6F8"/>
          </a:solidFill>
          <a:ln w="12700">
            <a:solidFill>
              <a:srgbClr val="F3F6F8"/>
            </a:solidFill>
            <a:prstDash val="solid"/>
          </a:ln>
        </p:spPr>
      </p:sp>
      <p:sp>
        <p:nvSpPr>
          <p:cNvPr id="11" name="Shape 9"/>
          <p:cNvSpPr/>
          <p:nvPr/>
        </p:nvSpPr>
        <p:spPr>
          <a:xfrm>
            <a:off x="3383280" y="1435608"/>
            <a:ext cx="420624" cy="420624"/>
          </a:xfrm>
          <a:prstGeom prst="ellipse">
            <a:avLst/>
          </a:prstGeom>
          <a:solidFill>
            <a:srgbClr val="0A8577"/>
          </a:solidFill>
          <a:ln w="12700">
            <a:solidFill>
              <a:srgbClr val="0A8577"/>
            </a:solidFill>
            <a:prstDash val="solid"/>
          </a:ln>
        </p:spPr>
      </p:sp>
      <p:sp>
        <p:nvSpPr>
          <p:cNvPr id="12" name="Text 10"/>
          <p:cNvSpPr txBox="1"/>
          <p:nvPr/>
        </p:nvSpPr>
        <p:spPr>
          <a:xfrm>
            <a:off x="3904488" y="1435608"/>
            <a:ext cx="1920240" cy="420624"/>
          </a:xfrm>
          <a:prstGeom prst="rect">
            <a:avLst/>
          </a:prstGeom>
          <a:noFill/>
          <a:ln/>
        </p:spPr>
        <p:txBody>
          <a:bodyPr wrap="square" lIns="0" tIns="0" rIns="0" bIns="0" rtlCol="0" anchor="ctr"/>
          <a:lstStyle/>
          <a:p>
            <a:pPr indent="0" marL="0">
              <a:buNone/>
            </a:pPr>
            <a:r>
              <a:rPr lang="en-US" sz="1400" b="1" dirty="0">
                <a:solidFill>
                  <a:srgbClr val="0A8577"/>
                </a:solidFill>
                <a:latin typeface="Calibri" pitchFamily="34" charset="0"/>
                <a:ea typeface="Calibri" pitchFamily="34" charset="-122"/>
                <a:cs typeface="Calibri" pitchFamily="34" charset="-120"/>
              </a:rPr>
              <a:t>Design &amp; images</a:t>
            </a:r>
            <a:endParaRPr lang="en-US" sz="1400" dirty="0"/>
          </a:p>
        </p:txBody>
      </p:sp>
      <p:sp>
        <p:nvSpPr>
          <p:cNvPr id="13" name="Text 11"/>
          <p:cNvSpPr txBox="1"/>
          <p:nvPr/>
        </p:nvSpPr>
        <p:spPr>
          <a:xfrm>
            <a:off x="3383280" y="1956816"/>
            <a:ext cx="2423160" cy="292608"/>
          </a:xfrm>
          <a:prstGeom prst="rect">
            <a:avLst/>
          </a:prstGeom>
          <a:noFill/>
          <a:ln/>
        </p:spPr>
        <p:txBody>
          <a:bodyPr wrap="square" lIns="0" tIns="0" rIns="0" bIns="0" rtlCol="0" anchor="t"/>
          <a:lstStyle/>
          <a:p>
            <a:pPr indent="0" marL="0">
              <a:buNone/>
            </a:pPr>
            <a:r>
              <a:rPr lang="en-US" sz="1200" b="1" dirty="0">
                <a:solidFill>
                  <a:srgbClr val="10233A"/>
                </a:solidFill>
                <a:latin typeface="Calibri" pitchFamily="34" charset="0"/>
                <a:ea typeface="Calibri" pitchFamily="34" charset="-122"/>
                <a:cs typeface="Calibri" pitchFamily="34" charset="-120"/>
              </a:rPr>
              <a:t>Canva · ChatGPT / Gemini images</a:t>
            </a:r>
            <a:endParaRPr lang="en-US" sz="1200" dirty="0"/>
          </a:p>
        </p:txBody>
      </p:sp>
      <p:sp>
        <p:nvSpPr>
          <p:cNvPr id="14" name="Text 12"/>
          <p:cNvSpPr txBox="1"/>
          <p:nvPr/>
        </p:nvSpPr>
        <p:spPr>
          <a:xfrm>
            <a:off x="3383280" y="2258568"/>
            <a:ext cx="2423160" cy="411480"/>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Carousels, characters, brand visuals</a:t>
            </a:r>
            <a:endParaRPr lang="en-US" sz="1100" dirty="0"/>
          </a:p>
        </p:txBody>
      </p:sp>
      <p:sp>
        <p:nvSpPr>
          <p:cNvPr id="15" name="Shape 13"/>
          <p:cNvSpPr/>
          <p:nvPr/>
        </p:nvSpPr>
        <p:spPr>
          <a:xfrm>
            <a:off x="6035040" y="1298448"/>
            <a:ext cx="2651760" cy="1481328"/>
          </a:xfrm>
          <a:prstGeom prst="roundRect">
            <a:avLst>
              <a:gd name="adj" fmla="val 3704"/>
            </a:avLst>
          </a:prstGeom>
          <a:solidFill>
            <a:srgbClr val="F3F6F8"/>
          </a:solidFill>
          <a:ln w="12700">
            <a:solidFill>
              <a:srgbClr val="F3F6F8"/>
            </a:solidFill>
            <a:prstDash val="solid"/>
          </a:ln>
        </p:spPr>
      </p:sp>
      <p:sp>
        <p:nvSpPr>
          <p:cNvPr id="16" name="Shape 14"/>
          <p:cNvSpPr/>
          <p:nvPr/>
        </p:nvSpPr>
        <p:spPr>
          <a:xfrm>
            <a:off x="6172200" y="1435608"/>
            <a:ext cx="420624" cy="420624"/>
          </a:xfrm>
          <a:prstGeom prst="ellipse">
            <a:avLst/>
          </a:prstGeom>
          <a:solidFill>
            <a:srgbClr val="0A8577"/>
          </a:solidFill>
          <a:ln w="12700">
            <a:solidFill>
              <a:srgbClr val="0A8577"/>
            </a:solidFill>
            <a:prstDash val="solid"/>
          </a:ln>
        </p:spPr>
      </p:sp>
      <p:sp>
        <p:nvSpPr>
          <p:cNvPr id="17" name="Text 15"/>
          <p:cNvSpPr txBox="1"/>
          <p:nvPr/>
        </p:nvSpPr>
        <p:spPr>
          <a:xfrm>
            <a:off x="6693408" y="1435608"/>
            <a:ext cx="1920240" cy="420624"/>
          </a:xfrm>
          <a:prstGeom prst="rect">
            <a:avLst/>
          </a:prstGeom>
          <a:noFill/>
          <a:ln/>
        </p:spPr>
        <p:txBody>
          <a:bodyPr wrap="square" lIns="0" tIns="0" rIns="0" bIns="0" rtlCol="0" anchor="ctr"/>
          <a:lstStyle/>
          <a:p>
            <a:pPr indent="0" marL="0">
              <a:buNone/>
            </a:pPr>
            <a:r>
              <a:rPr lang="en-US" sz="1400" b="1" dirty="0">
                <a:solidFill>
                  <a:srgbClr val="0A8577"/>
                </a:solidFill>
                <a:latin typeface="Calibri" pitchFamily="34" charset="0"/>
                <a:ea typeface="Calibri" pitchFamily="34" charset="-122"/>
                <a:cs typeface="Calibri" pitchFamily="34" charset="-120"/>
              </a:rPr>
              <a:t>Video</a:t>
            </a:r>
            <a:endParaRPr lang="en-US" sz="1400" dirty="0"/>
          </a:p>
        </p:txBody>
      </p:sp>
      <p:sp>
        <p:nvSpPr>
          <p:cNvPr id="18" name="Text 16"/>
          <p:cNvSpPr txBox="1"/>
          <p:nvPr/>
        </p:nvSpPr>
        <p:spPr>
          <a:xfrm>
            <a:off x="6172200" y="1956816"/>
            <a:ext cx="2423160" cy="292608"/>
          </a:xfrm>
          <a:prstGeom prst="rect">
            <a:avLst/>
          </a:prstGeom>
          <a:noFill/>
          <a:ln/>
        </p:spPr>
        <p:txBody>
          <a:bodyPr wrap="square" lIns="0" tIns="0" rIns="0" bIns="0" rtlCol="0" anchor="t"/>
          <a:lstStyle/>
          <a:p>
            <a:pPr indent="0" marL="0">
              <a:buNone/>
            </a:pPr>
            <a:r>
              <a:rPr lang="en-US" sz="1200" b="1" dirty="0">
                <a:solidFill>
                  <a:srgbClr val="10233A"/>
                </a:solidFill>
                <a:latin typeface="Calibri" pitchFamily="34" charset="0"/>
                <a:ea typeface="Calibri" pitchFamily="34" charset="-122"/>
                <a:cs typeface="Calibri" pitchFamily="34" charset="-120"/>
              </a:rPr>
              <a:t>Google Flow · CapCut</a:t>
            </a:r>
            <a:endParaRPr lang="en-US" sz="1200" dirty="0"/>
          </a:p>
        </p:txBody>
      </p:sp>
      <p:sp>
        <p:nvSpPr>
          <p:cNvPr id="19" name="Text 17"/>
          <p:cNvSpPr txBox="1"/>
          <p:nvPr/>
        </p:nvSpPr>
        <p:spPr>
          <a:xfrm>
            <a:off x="6172200" y="2258568"/>
            <a:ext cx="2423160" cy="411480"/>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Generated shots, editing, captions</a:t>
            </a:r>
            <a:endParaRPr lang="en-US" sz="1100" dirty="0"/>
          </a:p>
        </p:txBody>
      </p:sp>
      <p:sp>
        <p:nvSpPr>
          <p:cNvPr id="20" name="Shape 18"/>
          <p:cNvSpPr/>
          <p:nvPr/>
        </p:nvSpPr>
        <p:spPr>
          <a:xfrm>
            <a:off x="457200" y="2926080"/>
            <a:ext cx="2651760" cy="1481328"/>
          </a:xfrm>
          <a:prstGeom prst="roundRect">
            <a:avLst>
              <a:gd name="adj" fmla="val 3704"/>
            </a:avLst>
          </a:prstGeom>
          <a:solidFill>
            <a:srgbClr val="F3F6F8"/>
          </a:solidFill>
          <a:ln w="12700">
            <a:solidFill>
              <a:srgbClr val="F3F6F8"/>
            </a:solidFill>
            <a:prstDash val="solid"/>
          </a:ln>
        </p:spPr>
      </p:sp>
      <p:sp>
        <p:nvSpPr>
          <p:cNvPr id="21" name="Shape 19"/>
          <p:cNvSpPr/>
          <p:nvPr/>
        </p:nvSpPr>
        <p:spPr>
          <a:xfrm>
            <a:off x="594360" y="3063240"/>
            <a:ext cx="420624" cy="420624"/>
          </a:xfrm>
          <a:prstGeom prst="ellipse">
            <a:avLst/>
          </a:prstGeom>
          <a:solidFill>
            <a:srgbClr val="0A8577"/>
          </a:solidFill>
          <a:ln w="12700">
            <a:solidFill>
              <a:srgbClr val="0A8577"/>
            </a:solidFill>
            <a:prstDash val="solid"/>
          </a:ln>
        </p:spPr>
      </p:sp>
      <p:sp>
        <p:nvSpPr>
          <p:cNvPr id="22" name="Text 20"/>
          <p:cNvSpPr txBox="1"/>
          <p:nvPr/>
        </p:nvSpPr>
        <p:spPr>
          <a:xfrm>
            <a:off x="1115568" y="3063240"/>
            <a:ext cx="1920240" cy="420624"/>
          </a:xfrm>
          <a:prstGeom prst="rect">
            <a:avLst/>
          </a:prstGeom>
          <a:noFill/>
          <a:ln/>
        </p:spPr>
        <p:txBody>
          <a:bodyPr wrap="square" lIns="0" tIns="0" rIns="0" bIns="0" rtlCol="0" anchor="ctr"/>
          <a:lstStyle/>
          <a:p>
            <a:pPr indent="0" marL="0">
              <a:buNone/>
            </a:pPr>
            <a:r>
              <a:rPr lang="en-US" sz="1400" b="1" dirty="0">
                <a:solidFill>
                  <a:srgbClr val="0A8577"/>
                </a:solidFill>
                <a:latin typeface="Calibri" pitchFamily="34" charset="0"/>
                <a:ea typeface="Calibri" pitchFamily="34" charset="-122"/>
                <a:cs typeface="Calibri" pitchFamily="34" charset="-120"/>
              </a:rPr>
              <a:t>Voice</a:t>
            </a:r>
            <a:endParaRPr lang="en-US" sz="1400" dirty="0"/>
          </a:p>
        </p:txBody>
      </p:sp>
      <p:sp>
        <p:nvSpPr>
          <p:cNvPr id="23" name="Text 21"/>
          <p:cNvSpPr txBox="1"/>
          <p:nvPr/>
        </p:nvSpPr>
        <p:spPr>
          <a:xfrm>
            <a:off x="594360" y="3584448"/>
            <a:ext cx="2423160" cy="292608"/>
          </a:xfrm>
          <a:prstGeom prst="rect">
            <a:avLst/>
          </a:prstGeom>
          <a:noFill/>
          <a:ln/>
        </p:spPr>
        <p:txBody>
          <a:bodyPr wrap="square" lIns="0" tIns="0" rIns="0" bIns="0" rtlCol="0" anchor="t"/>
          <a:lstStyle/>
          <a:p>
            <a:pPr indent="0" marL="0">
              <a:buNone/>
            </a:pPr>
            <a:r>
              <a:rPr lang="en-US" sz="1200" b="1" dirty="0">
                <a:solidFill>
                  <a:srgbClr val="10233A"/>
                </a:solidFill>
                <a:latin typeface="Calibri" pitchFamily="34" charset="0"/>
                <a:ea typeface="Calibri" pitchFamily="34" charset="-122"/>
                <a:cs typeface="Calibri" pitchFamily="34" charset="-120"/>
              </a:rPr>
              <a:t>ElevenLabs · recorded narration</a:t>
            </a:r>
            <a:endParaRPr lang="en-US" sz="1200" dirty="0"/>
          </a:p>
        </p:txBody>
      </p:sp>
      <p:sp>
        <p:nvSpPr>
          <p:cNvPr id="24" name="Text 22"/>
          <p:cNvSpPr txBox="1"/>
          <p:nvPr/>
        </p:nvSpPr>
        <p:spPr>
          <a:xfrm>
            <a:off x="594360" y="3886200"/>
            <a:ext cx="2423160" cy="411480"/>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Voice profiles and 30-second narration</a:t>
            </a:r>
            <a:endParaRPr lang="en-US" sz="1100" dirty="0"/>
          </a:p>
        </p:txBody>
      </p:sp>
      <p:sp>
        <p:nvSpPr>
          <p:cNvPr id="25" name="Shape 23"/>
          <p:cNvSpPr/>
          <p:nvPr/>
        </p:nvSpPr>
        <p:spPr>
          <a:xfrm>
            <a:off x="3246120" y="2926080"/>
            <a:ext cx="2651760" cy="1481328"/>
          </a:xfrm>
          <a:prstGeom prst="roundRect">
            <a:avLst>
              <a:gd name="adj" fmla="val 3704"/>
            </a:avLst>
          </a:prstGeom>
          <a:solidFill>
            <a:srgbClr val="10233A"/>
          </a:solidFill>
          <a:ln w="12700">
            <a:solidFill>
              <a:srgbClr val="10233A"/>
            </a:solidFill>
            <a:prstDash val="solid"/>
          </a:ln>
        </p:spPr>
      </p:sp>
      <p:sp>
        <p:nvSpPr>
          <p:cNvPr id="26" name="Shape 24"/>
          <p:cNvSpPr/>
          <p:nvPr/>
        </p:nvSpPr>
        <p:spPr>
          <a:xfrm>
            <a:off x="3383280" y="3063240"/>
            <a:ext cx="420624" cy="420624"/>
          </a:xfrm>
          <a:prstGeom prst="ellipse">
            <a:avLst/>
          </a:prstGeom>
          <a:solidFill>
            <a:srgbClr val="F2A541"/>
          </a:solidFill>
          <a:ln w="12700">
            <a:solidFill>
              <a:srgbClr val="F2A541"/>
            </a:solidFill>
            <a:prstDash val="solid"/>
          </a:ln>
        </p:spPr>
      </p:sp>
      <p:sp>
        <p:nvSpPr>
          <p:cNvPr id="27" name="Text 25"/>
          <p:cNvSpPr txBox="1"/>
          <p:nvPr/>
        </p:nvSpPr>
        <p:spPr>
          <a:xfrm>
            <a:off x="3904488" y="3063240"/>
            <a:ext cx="1920240" cy="420624"/>
          </a:xfrm>
          <a:prstGeom prst="rect">
            <a:avLst/>
          </a:prstGeom>
          <a:noFill/>
          <a:ln/>
        </p:spPr>
        <p:txBody>
          <a:bodyPr wrap="square" lIns="0" tIns="0" rIns="0" bIns="0" rtlCol="0" anchor="ctr"/>
          <a:lstStyle/>
          <a:p>
            <a:pPr indent="0" marL="0">
              <a:buNone/>
            </a:pPr>
            <a:r>
              <a:rPr lang="en-US" sz="1400" b="1" dirty="0">
                <a:solidFill>
                  <a:srgbClr val="F2A541"/>
                </a:solidFill>
                <a:latin typeface="Calibri" pitchFamily="34" charset="0"/>
                <a:ea typeface="Calibri" pitchFamily="34" charset="-122"/>
                <a:cs typeface="Calibri" pitchFamily="34" charset="-120"/>
              </a:rPr>
              <a:t>Automation</a:t>
            </a:r>
            <a:endParaRPr lang="en-US" sz="1400" dirty="0"/>
          </a:p>
        </p:txBody>
      </p:sp>
      <p:sp>
        <p:nvSpPr>
          <p:cNvPr id="28" name="Text 26"/>
          <p:cNvSpPr txBox="1"/>
          <p:nvPr/>
        </p:nvSpPr>
        <p:spPr>
          <a:xfrm>
            <a:off x="3383280" y="3584448"/>
            <a:ext cx="2423160" cy="29260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n8n · Google Sheets</a:t>
            </a:r>
            <a:endParaRPr lang="en-US" sz="1200" dirty="0"/>
          </a:p>
        </p:txBody>
      </p:sp>
      <p:sp>
        <p:nvSpPr>
          <p:cNvPr id="29" name="Text 27"/>
          <p:cNvSpPr txBox="1"/>
          <p:nvPr/>
        </p:nvSpPr>
        <p:spPr>
          <a:xfrm>
            <a:off x="3383280" y="3886200"/>
            <a:ext cx="2423160" cy="411480"/>
          </a:xfrm>
          <a:prstGeom prst="rect">
            <a:avLst/>
          </a:prstGeom>
          <a:noFill/>
          <a:ln/>
        </p:spPr>
        <p:txBody>
          <a:bodyPr wrap="square" lIns="0" tIns="0" rIns="0" bIns="0" rtlCol="0" anchor="t"/>
          <a:lstStyle/>
          <a:p>
            <a:pPr indent="0" marL="0">
              <a:buNone/>
            </a:pPr>
            <a:r>
              <a:rPr lang="en-US" sz="1100" dirty="0">
                <a:solidFill>
                  <a:srgbClr val="D9E1EA"/>
                </a:solidFill>
                <a:latin typeface="Calibri" pitchFamily="34" charset="0"/>
                <a:ea typeface="Calibri" pitchFamily="34" charset="-122"/>
                <a:cs typeface="Calibri" pitchFamily="34" charset="-120"/>
              </a:rPr>
              <a:t>Form → AI → Sheets content workflow</a:t>
            </a:r>
            <a:endParaRPr lang="en-US" sz="1100" dirty="0"/>
          </a:p>
        </p:txBody>
      </p:sp>
      <p:sp>
        <p:nvSpPr>
          <p:cNvPr id="30" name="Shape 28"/>
          <p:cNvSpPr/>
          <p:nvPr/>
        </p:nvSpPr>
        <p:spPr>
          <a:xfrm>
            <a:off x="6035040" y="2926080"/>
            <a:ext cx="2651760" cy="1481328"/>
          </a:xfrm>
          <a:prstGeom prst="roundRect">
            <a:avLst>
              <a:gd name="adj" fmla="val 3704"/>
            </a:avLst>
          </a:prstGeom>
          <a:solidFill>
            <a:srgbClr val="F3F6F8"/>
          </a:solidFill>
          <a:ln w="12700">
            <a:solidFill>
              <a:srgbClr val="F3F6F8"/>
            </a:solidFill>
            <a:prstDash val="solid"/>
          </a:ln>
        </p:spPr>
      </p:sp>
      <p:sp>
        <p:nvSpPr>
          <p:cNvPr id="31" name="Shape 29"/>
          <p:cNvSpPr/>
          <p:nvPr/>
        </p:nvSpPr>
        <p:spPr>
          <a:xfrm>
            <a:off x="6172200" y="3063240"/>
            <a:ext cx="420624" cy="420624"/>
          </a:xfrm>
          <a:prstGeom prst="ellipse">
            <a:avLst/>
          </a:prstGeom>
          <a:solidFill>
            <a:srgbClr val="0A8577"/>
          </a:solidFill>
          <a:ln w="12700">
            <a:solidFill>
              <a:srgbClr val="0A8577"/>
            </a:solidFill>
            <a:prstDash val="solid"/>
          </a:ln>
        </p:spPr>
      </p:sp>
      <p:sp>
        <p:nvSpPr>
          <p:cNvPr id="32" name="Text 30"/>
          <p:cNvSpPr txBox="1"/>
          <p:nvPr/>
        </p:nvSpPr>
        <p:spPr>
          <a:xfrm>
            <a:off x="6693408" y="3063240"/>
            <a:ext cx="1920240" cy="420624"/>
          </a:xfrm>
          <a:prstGeom prst="rect">
            <a:avLst/>
          </a:prstGeom>
          <a:noFill/>
          <a:ln/>
        </p:spPr>
        <p:txBody>
          <a:bodyPr wrap="square" lIns="0" tIns="0" rIns="0" bIns="0" rtlCol="0" anchor="ctr"/>
          <a:lstStyle/>
          <a:p>
            <a:pPr indent="0" marL="0">
              <a:buNone/>
            </a:pPr>
            <a:r>
              <a:rPr lang="en-US" sz="1400" b="1" dirty="0">
                <a:solidFill>
                  <a:srgbClr val="0A8577"/>
                </a:solidFill>
                <a:latin typeface="Calibri" pitchFamily="34" charset="0"/>
                <a:ea typeface="Calibri" pitchFamily="34" charset="-122"/>
                <a:cs typeface="Calibri" pitchFamily="34" charset="-120"/>
              </a:rPr>
              <a:t>Web &amp; portfolio</a:t>
            </a:r>
            <a:endParaRPr lang="en-US" sz="1400" dirty="0"/>
          </a:p>
        </p:txBody>
      </p:sp>
      <p:sp>
        <p:nvSpPr>
          <p:cNvPr id="33" name="Text 31"/>
          <p:cNvSpPr txBox="1"/>
          <p:nvPr/>
        </p:nvSpPr>
        <p:spPr>
          <a:xfrm>
            <a:off x="6172200" y="3584448"/>
            <a:ext cx="2423160" cy="292608"/>
          </a:xfrm>
          <a:prstGeom prst="rect">
            <a:avLst/>
          </a:prstGeom>
          <a:noFill/>
          <a:ln/>
        </p:spPr>
        <p:txBody>
          <a:bodyPr wrap="square" lIns="0" tIns="0" rIns="0" bIns="0" rtlCol="0" anchor="t"/>
          <a:lstStyle/>
          <a:p>
            <a:pPr indent="0" marL="0">
              <a:buNone/>
            </a:pPr>
            <a:r>
              <a:rPr lang="en-US" sz="1200" b="1" dirty="0">
                <a:solidFill>
                  <a:srgbClr val="10233A"/>
                </a:solidFill>
                <a:latin typeface="Calibri" pitchFamily="34" charset="0"/>
                <a:ea typeface="Calibri" pitchFamily="34" charset="-122"/>
                <a:cs typeface="Calibri" pitchFamily="34" charset="-120"/>
              </a:rPr>
              <a:t>AI canvas · GitHub Pages</a:t>
            </a:r>
            <a:endParaRPr lang="en-US" sz="1200" dirty="0"/>
          </a:p>
        </p:txBody>
      </p:sp>
      <p:sp>
        <p:nvSpPr>
          <p:cNvPr id="34" name="Text 32"/>
          <p:cNvSpPr txBox="1"/>
          <p:nvPr/>
        </p:nvSpPr>
        <p:spPr>
          <a:xfrm>
            <a:off x="6172200" y="3886200"/>
            <a:ext cx="2423160" cy="411480"/>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A published one-page portfolio</a:t>
            </a:r>
            <a:endParaRPr lang="en-US" sz="1100" dirty="0"/>
          </a:p>
        </p:txBody>
      </p:sp>
      <p:pic>
        <p:nvPicPr>
          <p:cNvPr id="35" name="Image 0" descr="preencoded.png">    </p:cNvPr>
          <p:cNvPicPr>
            <a:picLocks noChangeAspect="1"/>
          </p:cNvPicPr>
          <p:nvPr/>
        </p:nvPicPr>
        <p:blipFill>
          <a:blip r:embed="rId1"/>
          <a:stretch>
            <a:fillRect/>
          </a:stretch>
        </p:blipFill>
        <p:spPr>
          <a:xfrm>
            <a:off x="699516" y="1540764"/>
            <a:ext cx="210312" cy="210312"/>
          </a:xfrm>
          <a:prstGeom prst="rect">
            <a:avLst/>
          </a:prstGeom>
        </p:spPr>
      </p:pic>
      <p:pic>
        <p:nvPicPr>
          <p:cNvPr id="36" name="Image 1" descr="preencoded.png">    </p:cNvPr>
          <p:cNvPicPr>
            <a:picLocks noChangeAspect="1"/>
          </p:cNvPicPr>
          <p:nvPr/>
        </p:nvPicPr>
        <p:blipFill>
          <a:blip r:embed="rId2"/>
          <a:stretch>
            <a:fillRect/>
          </a:stretch>
        </p:blipFill>
        <p:spPr>
          <a:xfrm>
            <a:off x="6277356" y="1540764"/>
            <a:ext cx="210312" cy="210312"/>
          </a:xfrm>
          <a:prstGeom prst="rect">
            <a:avLst/>
          </a:prstGeom>
        </p:spPr>
      </p:pic>
      <p:pic>
        <p:nvPicPr>
          <p:cNvPr id="37" name="Image 2" descr="preencoded.png">    </p:cNvPr>
          <p:cNvPicPr>
            <a:picLocks noChangeAspect="1"/>
          </p:cNvPicPr>
          <p:nvPr/>
        </p:nvPicPr>
        <p:blipFill>
          <a:blip r:embed="rId3"/>
          <a:stretch>
            <a:fillRect/>
          </a:stretch>
        </p:blipFill>
        <p:spPr>
          <a:xfrm>
            <a:off x="3488436" y="1540764"/>
            <a:ext cx="210312" cy="210312"/>
          </a:xfrm>
          <a:prstGeom prst="rect">
            <a:avLst/>
          </a:prstGeom>
        </p:spPr>
      </p:pic>
      <p:pic>
        <p:nvPicPr>
          <p:cNvPr id="38" name="Image 3" descr="preencoded.png">    </p:cNvPr>
          <p:cNvPicPr>
            <a:picLocks noChangeAspect="1"/>
          </p:cNvPicPr>
          <p:nvPr/>
        </p:nvPicPr>
        <p:blipFill>
          <a:blip r:embed="rId4"/>
          <a:stretch>
            <a:fillRect/>
          </a:stretch>
        </p:blipFill>
        <p:spPr>
          <a:xfrm>
            <a:off x="699516" y="3168396"/>
            <a:ext cx="210312" cy="210312"/>
          </a:xfrm>
          <a:prstGeom prst="rect">
            <a:avLst/>
          </a:prstGeom>
        </p:spPr>
      </p:pic>
      <p:pic>
        <p:nvPicPr>
          <p:cNvPr id="39" name="Image 4" descr="preencoded.png">    </p:cNvPr>
          <p:cNvPicPr>
            <a:picLocks noChangeAspect="1"/>
          </p:cNvPicPr>
          <p:nvPr/>
        </p:nvPicPr>
        <p:blipFill>
          <a:blip r:embed="rId5"/>
          <a:stretch>
            <a:fillRect/>
          </a:stretch>
        </p:blipFill>
        <p:spPr>
          <a:xfrm>
            <a:off x="3488436" y="3168396"/>
            <a:ext cx="210312" cy="210312"/>
          </a:xfrm>
          <a:prstGeom prst="rect">
            <a:avLst/>
          </a:prstGeom>
        </p:spPr>
      </p:pic>
      <p:pic>
        <p:nvPicPr>
          <p:cNvPr id="40" name="Image 5" descr="preencoded.png">    </p:cNvPr>
          <p:cNvPicPr>
            <a:picLocks noChangeAspect="1"/>
          </p:cNvPicPr>
          <p:nvPr/>
        </p:nvPicPr>
        <p:blipFill>
          <a:blip r:embed="rId6"/>
          <a:stretch>
            <a:fillRect/>
          </a:stretch>
        </p:blipFill>
        <p:spPr>
          <a:xfrm>
            <a:off x="6277356" y="3168396"/>
            <a:ext cx="210312" cy="210312"/>
          </a:xfrm>
          <a:prstGeom prst="rect">
            <a:avLst/>
          </a:prstGeom>
        </p:spPr>
      </p:pic>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10  ·  CAPSTONE</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Capstone: an AI-powered mini digital agency</a:t>
            </a:r>
            <a:endParaRPr lang="en-US" sz="2500" dirty="0"/>
          </a:p>
        </p:txBody>
      </p:sp>
      <p:sp>
        <p:nvSpPr>
          <p:cNvPr id="5" name="Text 3"/>
          <p:cNvSpPr txBox="1"/>
          <p:nvPr/>
        </p:nvSpPr>
        <p:spPr>
          <a:xfrm>
            <a:off x="457200" y="1234440"/>
            <a:ext cx="8229600" cy="411480"/>
          </a:xfrm>
          <a:prstGeom prst="rect">
            <a:avLst/>
          </a:prstGeom>
          <a:noFill/>
          <a:ln/>
        </p:spPr>
        <p:txBody>
          <a:bodyPr wrap="square" lIns="0" tIns="0" rIns="0" bIns="0" rtlCol="0" anchor="t"/>
          <a:lstStyle/>
          <a:p>
            <a:pPr indent="0" marL="0">
              <a:buNone/>
            </a:pPr>
            <a:r>
              <a:rPr lang="en-US" sz="1200" dirty="0">
                <a:solidFill>
                  <a:srgbClr val="2B3A4A"/>
                </a:solidFill>
                <a:latin typeface="Calibri" pitchFamily="34" charset="0"/>
                <a:ea typeface="Calibri" pitchFamily="34" charset="-122"/>
                <a:cs typeface="Calibri" pitchFamily="34" charset="-120"/>
              </a:rPr>
              <a:t>Teams of 3–4 choose a real or realistic client (a small business, NGO, local shop or community initiative) and deliver a complete campaign package.</a:t>
            </a:r>
            <a:endParaRPr lang="en-US" sz="1200" dirty="0"/>
          </a:p>
        </p:txBody>
      </p:sp>
      <p:sp>
        <p:nvSpPr>
          <p:cNvPr id="6" name="Shape 4"/>
          <p:cNvSpPr/>
          <p:nvPr/>
        </p:nvSpPr>
        <p:spPr>
          <a:xfrm>
            <a:off x="457200" y="1719072"/>
            <a:ext cx="1554480" cy="365760"/>
          </a:xfrm>
          <a:prstGeom prst="roundRect">
            <a:avLst>
              <a:gd name="adj" fmla="val 15000"/>
            </a:avLst>
          </a:prstGeom>
          <a:solidFill>
            <a:srgbClr val="10233A"/>
          </a:solidFill>
          <a:ln w="12700">
            <a:solidFill>
              <a:srgbClr val="10233A"/>
            </a:solidFill>
            <a:prstDash val="solid"/>
          </a:ln>
        </p:spPr>
      </p:sp>
      <p:sp>
        <p:nvSpPr>
          <p:cNvPr id="7" name="Text 5"/>
          <p:cNvSpPr txBox="1"/>
          <p:nvPr/>
        </p:nvSpPr>
        <p:spPr>
          <a:xfrm>
            <a:off x="457200" y="1719072"/>
            <a:ext cx="155448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Discover</a:t>
            </a:r>
            <a:endParaRPr lang="en-US" sz="1150" dirty="0"/>
          </a:p>
        </p:txBody>
      </p:sp>
      <p:sp>
        <p:nvSpPr>
          <p:cNvPr id="8" name="Shape 6"/>
          <p:cNvSpPr/>
          <p:nvPr/>
        </p:nvSpPr>
        <p:spPr>
          <a:xfrm>
            <a:off x="457200" y="2148840"/>
            <a:ext cx="1554480" cy="2148840"/>
          </a:xfrm>
          <a:prstGeom prst="roundRect">
            <a:avLst>
              <a:gd name="adj" fmla="val 3529"/>
            </a:avLst>
          </a:prstGeom>
          <a:solidFill>
            <a:srgbClr val="F3F6F8"/>
          </a:solidFill>
          <a:ln w="12700">
            <a:solidFill>
              <a:srgbClr val="F3F6F8"/>
            </a:solidFill>
            <a:prstDash val="solid"/>
          </a:ln>
        </p:spPr>
      </p:sp>
      <p:sp>
        <p:nvSpPr>
          <p:cNvPr id="9" name="Shape 7"/>
          <p:cNvSpPr/>
          <p:nvPr/>
        </p:nvSpPr>
        <p:spPr>
          <a:xfrm>
            <a:off x="530352" y="2249424"/>
            <a:ext cx="182880" cy="182880"/>
          </a:xfrm>
          <a:prstGeom prst="ellipse">
            <a:avLst/>
          </a:prstGeom>
          <a:solidFill>
            <a:srgbClr val="0A8577"/>
          </a:solidFill>
          <a:ln w="12700">
            <a:solidFill>
              <a:srgbClr val="0A8577"/>
            </a:solidFill>
            <a:prstDash val="solid"/>
          </a:ln>
        </p:spPr>
      </p:sp>
      <p:sp>
        <p:nvSpPr>
          <p:cNvPr id="10" name="Text 8"/>
          <p:cNvSpPr txBox="1"/>
          <p:nvPr/>
        </p:nvSpPr>
        <p:spPr>
          <a:xfrm>
            <a:off x="530352" y="2249424"/>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1" name="Text 9"/>
          <p:cNvSpPr txBox="1"/>
          <p:nvPr/>
        </p:nvSpPr>
        <p:spPr>
          <a:xfrm>
            <a:off x="768096" y="2221992"/>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Research</a:t>
            </a:r>
            <a:endParaRPr lang="en-US" sz="1000" dirty="0"/>
          </a:p>
        </p:txBody>
      </p:sp>
      <p:sp>
        <p:nvSpPr>
          <p:cNvPr id="12" name="Shape 10"/>
          <p:cNvSpPr/>
          <p:nvPr/>
        </p:nvSpPr>
        <p:spPr>
          <a:xfrm>
            <a:off x="530352" y="2505456"/>
            <a:ext cx="182880" cy="182880"/>
          </a:xfrm>
          <a:prstGeom prst="ellipse">
            <a:avLst/>
          </a:prstGeom>
          <a:solidFill>
            <a:srgbClr val="0A8577"/>
          </a:solidFill>
          <a:ln w="12700">
            <a:solidFill>
              <a:srgbClr val="0A8577"/>
            </a:solidFill>
            <a:prstDash val="solid"/>
          </a:ln>
        </p:spPr>
      </p:sp>
      <p:sp>
        <p:nvSpPr>
          <p:cNvPr id="13" name="Text 11"/>
          <p:cNvSpPr txBox="1"/>
          <p:nvPr/>
        </p:nvSpPr>
        <p:spPr>
          <a:xfrm>
            <a:off x="530352" y="2505456"/>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4" name="Text 12"/>
          <p:cNvSpPr txBox="1"/>
          <p:nvPr/>
        </p:nvSpPr>
        <p:spPr>
          <a:xfrm>
            <a:off x="768096" y="2478024"/>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Client brief</a:t>
            </a:r>
            <a:endParaRPr lang="en-US" sz="1000" dirty="0"/>
          </a:p>
        </p:txBody>
      </p:sp>
      <p:sp>
        <p:nvSpPr>
          <p:cNvPr id="15" name="Shape 13"/>
          <p:cNvSpPr/>
          <p:nvPr/>
        </p:nvSpPr>
        <p:spPr>
          <a:xfrm>
            <a:off x="530352" y="2761488"/>
            <a:ext cx="182880" cy="182880"/>
          </a:xfrm>
          <a:prstGeom prst="ellipse">
            <a:avLst/>
          </a:prstGeom>
          <a:solidFill>
            <a:srgbClr val="0A8577"/>
          </a:solidFill>
          <a:ln w="12700">
            <a:solidFill>
              <a:srgbClr val="0A8577"/>
            </a:solidFill>
            <a:prstDash val="solid"/>
          </a:ln>
        </p:spPr>
      </p:sp>
      <p:sp>
        <p:nvSpPr>
          <p:cNvPr id="16" name="Text 14"/>
          <p:cNvSpPr txBox="1"/>
          <p:nvPr/>
        </p:nvSpPr>
        <p:spPr>
          <a:xfrm>
            <a:off x="530352" y="2761488"/>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7" name="Text 15"/>
          <p:cNvSpPr txBox="1"/>
          <p:nvPr/>
        </p:nvSpPr>
        <p:spPr>
          <a:xfrm>
            <a:off x="768096" y="2734056"/>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Audience persona</a:t>
            </a:r>
            <a:endParaRPr lang="en-US" sz="1000" dirty="0"/>
          </a:p>
        </p:txBody>
      </p:sp>
      <p:sp>
        <p:nvSpPr>
          <p:cNvPr id="18" name="Shape 16"/>
          <p:cNvSpPr/>
          <p:nvPr/>
        </p:nvSpPr>
        <p:spPr>
          <a:xfrm>
            <a:off x="530352" y="3017520"/>
            <a:ext cx="182880" cy="182880"/>
          </a:xfrm>
          <a:prstGeom prst="ellipse">
            <a:avLst/>
          </a:prstGeom>
          <a:solidFill>
            <a:srgbClr val="0A8577"/>
          </a:solidFill>
          <a:ln w="12700">
            <a:solidFill>
              <a:srgbClr val="0A8577"/>
            </a:solidFill>
            <a:prstDash val="solid"/>
          </a:ln>
        </p:spPr>
      </p:sp>
      <p:sp>
        <p:nvSpPr>
          <p:cNvPr id="19" name="Text 17"/>
          <p:cNvSpPr txBox="1"/>
          <p:nvPr/>
        </p:nvSpPr>
        <p:spPr>
          <a:xfrm>
            <a:off x="530352" y="3017520"/>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0" name="Text 18"/>
          <p:cNvSpPr txBox="1"/>
          <p:nvPr/>
        </p:nvSpPr>
        <p:spPr>
          <a:xfrm>
            <a:off x="768096" y="2990088"/>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Marketing objective</a:t>
            </a:r>
            <a:endParaRPr lang="en-US" sz="1000" dirty="0"/>
          </a:p>
        </p:txBody>
      </p:sp>
      <p:sp>
        <p:nvSpPr>
          <p:cNvPr id="21" name="Shape 19"/>
          <p:cNvSpPr/>
          <p:nvPr/>
        </p:nvSpPr>
        <p:spPr>
          <a:xfrm>
            <a:off x="2130552" y="1719072"/>
            <a:ext cx="1554480" cy="365760"/>
          </a:xfrm>
          <a:prstGeom prst="roundRect">
            <a:avLst>
              <a:gd name="adj" fmla="val 15000"/>
            </a:avLst>
          </a:prstGeom>
          <a:solidFill>
            <a:srgbClr val="10233A"/>
          </a:solidFill>
          <a:ln w="12700">
            <a:solidFill>
              <a:srgbClr val="10233A"/>
            </a:solidFill>
            <a:prstDash val="solid"/>
          </a:ln>
        </p:spPr>
      </p:sp>
      <p:sp>
        <p:nvSpPr>
          <p:cNvPr id="22" name="Text 20"/>
          <p:cNvSpPr txBox="1"/>
          <p:nvPr/>
        </p:nvSpPr>
        <p:spPr>
          <a:xfrm>
            <a:off x="2130552" y="1719072"/>
            <a:ext cx="155448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Plan</a:t>
            </a:r>
            <a:endParaRPr lang="en-US" sz="1150" dirty="0"/>
          </a:p>
        </p:txBody>
      </p:sp>
      <p:sp>
        <p:nvSpPr>
          <p:cNvPr id="23" name="Shape 21"/>
          <p:cNvSpPr/>
          <p:nvPr/>
        </p:nvSpPr>
        <p:spPr>
          <a:xfrm>
            <a:off x="2130552" y="2148840"/>
            <a:ext cx="1554480" cy="2148840"/>
          </a:xfrm>
          <a:prstGeom prst="roundRect">
            <a:avLst>
              <a:gd name="adj" fmla="val 3529"/>
            </a:avLst>
          </a:prstGeom>
          <a:solidFill>
            <a:srgbClr val="F3F6F8"/>
          </a:solidFill>
          <a:ln w="12700">
            <a:solidFill>
              <a:srgbClr val="F3F6F8"/>
            </a:solidFill>
            <a:prstDash val="solid"/>
          </a:ln>
        </p:spPr>
      </p:sp>
      <p:sp>
        <p:nvSpPr>
          <p:cNvPr id="24" name="Shape 22"/>
          <p:cNvSpPr/>
          <p:nvPr/>
        </p:nvSpPr>
        <p:spPr>
          <a:xfrm>
            <a:off x="2203704" y="2249424"/>
            <a:ext cx="182880" cy="182880"/>
          </a:xfrm>
          <a:prstGeom prst="ellipse">
            <a:avLst/>
          </a:prstGeom>
          <a:solidFill>
            <a:srgbClr val="0A8577"/>
          </a:solidFill>
          <a:ln w="12700">
            <a:solidFill>
              <a:srgbClr val="0A8577"/>
            </a:solidFill>
            <a:prstDash val="solid"/>
          </a:ln>
        </p:spPr>
      </p:sp>
      <p:sp>
        <p:nvSpPr>
          <p:cNvPr id="25" name="Text 23"/>
          <p:cNvSpPr txBox="1"/>
          <p:nvPr/>
        </p:nvSpPr>
        <p:spPr>
          <a:xfrm>
            <a:off x="2203704" y="2249424"/>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6" name="Text 24"/>
          <p:cNvSpPr txBox="1"/>
          <p:nvPr/>
        </p:nvSpPr>
        <p:spPr>
          <a:xfrm>
            <a:off x="2441448" y="2221992"/>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Content strategy</a:t>
            </a:r>
            <a:endParaRPr lang="en-US" sz="1000" dirty="0"/>
          </a:p>
        </p:txBody>
      </p:sp>
      <p:sp>
        <p:nvSpPr>
          <p:cNvPr id="27" name="Shape 25"/>
          <p:cNvSpPr/>
          <p:nvPr/>
        </p:nvSpPr>
        <p:spPr>
          <a:xfrm>
            <a:off x="2203704" y="2505456"/>
            <a:ext cx="182880" cy="182880"/>
          </a:xfrm>
          <a:prstGeom prst="ellipse">
            <a:avLst/>
          </a:prstGeom>
          <a:solidFill>
            <a:srgbClr val="0A8577"/>
          </a:solidFill>
          <a:ln w="12700">
            <a:solidFill>
              <a:srgbClr val="0A8577"/>
            </a:solidFill>
            <a:prstDash val="solid"/>
          </a:ln>
        </p:spPr>
      </p:sp>
      <p:sp>
        <p:nvSpPr>
          <p:cNvPr id="28" name="Text 26"/>
          <p:cNvSpPr txBox="1"/>
          <p:nvPr/>
        </p:nvSpPr>
        <p:spPr>
          <a:xfrm>
            <a:off x="2203704" y="2505456"/>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9" name="Text 27"/>
          <p:cNvSpPr txBox="1"/>
          <p:nvPr/>
        </p:nvSpPr>
        <p:spPr>
          <a:xfrm>
            <a:off x="2441448" y="2478024"/>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Content calendar</a:t>
            </a:r>
            <a:endParaRPr lang="en-US" sz="1000" dirty="0"/>
          </a:p>
        </p:txBody>
      </p:sp>
      <p:sp>
        <p:nvSpPr>
          <p:cNvPr id="30" name="Shape 28"/>
          <p:cNvSpPr/>
          <p:nvPr/>
        </p:nvSpPr>
        <p:spPr>
          <a:xfrm>
            <a:off x="2203704" y="2761488"/>
            <a:ext cx="182880" cy="182880"/>
          </a:xfrm>
          <a:prstGeom prst="ellipse">
            <a:avLst/>
          </a:prstGeom>
          <a:solidFill>
            <a:srgbClr val="0A8577"/>
          </a:solidFill>
          <a:ln w="12700">
            <a:solidFill>
              <a:srgbClr val="0A8577"/>
            </a:solidFill>
            <a:prstDash val="solid"/>
          </a:ln>
        </p:spPr>
      </p:sp>
      <p:sp>
        <p:nvSpPr>
          <p:cNvPr id="31" name="Text 29"/>
          <p:cNvSpPr txBox="1"/>
          <p:nvPr/>
        </p:nvSpPr>
        <p:spPr>
          <a:xfrm>
            <a:off x="2203704" y="2761488"/>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7</a:t>
            </a:r>
            <a:endParaRPr lang="en-US" sz="750" dirty="0"/>
          </a:p>
        </p:txBody>
      </p:sp>
      <p:sp>
        <p:nvSpPr>
          <p:cNvPr id="32" name="Text 30"/>
          <p:cNvSpPr txBox="1"/>
          <p:nvPr/>
        </p:nvSpPr>
        <p:spPr>
          <a:xfrm>
            <a:off x="2441448" y="2734056"/>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Marketing campaign</a:t>
            </a:r>
            <a:endParaRPr lang="en-US" sz="1000" dirty="0"/>
          </a:p>
        </p:txBody>
      </p:sp>
      <p:sp>
        <p:nvSpPr>
          <p:cNvPr id="33" name="Shape 31"/>
          <p:cNvSpPr/>
          <p:nvPr/>
        </p:nvSpPr>
        <p:spPr>
          <a:xfrm>
            <a:off x="3803904" y="1719072"/>
            <a:ext cx="1554480" cy="365760"/>
          </a:xfrm>
          <a:prstGeom prst="roundRect">
            <a:avLst>
              <a:gd name="adj" fmla="val 15000"/>
            </a:avLst>
          </a:prstGeom>
          <a:solidFill>
            <a:srgbClr val="F2A541"/>
          </a:solidFill>
          <a:ln w="12700">
            <a:solidFill>
              <a:srgbClr val="F2A541"/>
            </a:solidFill>
            <a:prstDash val="solid"/>
          </a:ln>
        </p:spPr>
      </p:sp>
      <p:sp>
        <p:nvSpPr>
          <p:cNvPr id="34" name="Text 32"/>
          <p:cNvSpPr txBox="1"/>
          <p:nvPr/>
        </p:nvSpPr>
        <p:spPr>
          <a:xfrm>
            <a:off x="3803904" y="1719072"/>
            <a:ext cx="1554480" cy="365760"/>
          </a:xfrm>
          <a:prstGeom prst="rect">
            <a:avLst/>
          </a:prstGeom>
          <a:noFill/>
          <a:ln/>
        </p:spPr>
        <p:txBody>
          <a:bodyPr wrap="square" lIns="0" tIns="0" rIns="0" bIns="0" rtlCol="0" anchor="ctr"/>
          <a:lstStyle/>
          <a:p>
            <a:pPr algn="ctr" indent="0" marL="0">
              <a:buNone/>
            </a:pPr>
            <a:r>
              <a:rPr lang="en-US" sz="1150" b="1" dirty="0">
                <a:solidFill>
                  <a:srgbClr val="10233A"/>
                </a:solidFill>
                <a:latin typeface="Calibri" pitchFamily="34" charset="0"/>
                <a:ea typeface="Calibri" pitchFamily="34" charset="-122"/>
                <a:cs typeface="Calibri" pitchFamily="34" charset="-120"/>
              </a:rPr>
              <a:t>Create</a:t>
            </a:r>
            <a:endParaRPr lang="en-US" sz="1150" dirty="0"/>
          </a:p>
        </p:txBody>
      </p:sp>
      <p:sp>
        <p:nvSpPr>
          <p:cNvPr id="35" name="Shape 33"/>
          <p:cNvSpPr/>
          <p:nvPr/>
        </p:nvSpPr>
        <p:spPr>
          <a:xfrm>
            <a:off x="3803904" y="2148840"/>
            <a:ext cx="1554480" cy="2148840"/>
          </a:xfrm>
          <a:prstGeom prst="roundRect">
            <a:avLst>
              <a:gd name="adj" fmla="val 3529"/>
            </a:avLst>
          </a:prstGeom>
          <a:solidFill>
            <a:srgbClr val="F3F6F8"/>
          </a:solidFill>
          <a:ln w="12700">
            <a:solidFill>
              <a:srgbClr val="F3F6F8"/>
            </a:solidFill>
            <a:prstDash val="solid"/>
          </a:ln>
        </p:spPr>
      </p:sp>
      <p:sp>
        <p:nvSpPr>
          <p:cNvPr id="36" name="Shape 34"/>
          <p:cNvSpPr/>
          <p:nvPr/>
        </p:nvSpPr>
        <p:spPr>
          <a:xfrm>
            <a:off x="3877056" y="2249424"/>
            <a:ext cx="182880" cy="182880"/>
          </a:xfrm>
          <a:prstGeom prst="ellipse">
            <a:avLst/>
          </a:prstGeom>
          <a:solidFill>
            <a:srgbClr val="F2A541"/>
          </a:solidFill>
          <a:ln w="12700">
            <a:solidFill>
              <a:srgbClr val="F2A541"/>
            </a:solidFill>
            <a:prstDash val="solid"/>
          </a:ln>
        </p:spPr>
      </p:sp>
      <p:sp>
        <p:nvSpPr>
          <p:cNvPr id="37" name="Text 35"/>
          <p:cNvSpPr txBox="1"/>
          <p:nvPr/>
        </p:nvSpPr>
        <p:spPr>
          <a:xfrm>
            <a:off x="3877056" y="2249424"/>
            <a:ext cx="182880" cy="182880"/>
          </a:xfrm>
          <a:prstGeom prst="rect">
            <a:avLst/>
          </a:prstGeom>
          <a:noFill/>
          <a:ln/>
        </p:spPr>
        <p:txBody>
          <a:bodyPr wrap="square" lIns="0" tIns="0" rIns="0" bIns="0" rtlCol="0" anchor="ctr"/>
          <a:lstStyle/>
          <a:p>
            <a:pPr algn="ctr" indent="0" marL="0">
              <a:buNone/>
            </a:pPr>
            <a:r>
              <a:rPr lang="en-US" sz="750" b="1" dirty="0">
                <a:solidFill>
                  <a:srgbClr val="10233A"/>
                </a:solidFill>
                <a:latin typeface="Calibri" pitchFamily="34" charset="0"/>
                <a:ea typeface="Calibri" pitchFamily="34" charset="-122"/>
                <a:cs typeface="Calibri" pitchFamily="34" charset="-120"/>
              </a:rPr>
              <a:t>8</a:t>
            </a:r>
            <a:endParaRPr lang="en-US" sz="750" dirty="0"/>
          </a:p>
        </p:txBody>
      </p:sp>
      <p:sp>
        <p:nvSpPr>
          <p:cNvPr id="38" name="Text 36"/>
          <p:cNvSpPr txBox="1"/>
          <p:nvPr/>
        </p:nvSpPr>
        <p:spPr>
          <a:xfrm>
            <a:off x="4114800" y="2221992"/>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AI character</a:t>
            </a:r>
            <a:endParaRPr lang="en-US" sz="1000" dirty="0"/>
          </a:p>
        </p:txBody>
      </p:sp>
      <p:sp>
        <p:nvSpPr>
          <p:cNvPr id="39" name="Shape 37"/>
          <p:cNvSpPr/>
          <p:nvPr/>
        </p:nvSpPr>
        <p:spPr>
          <a:xfrm>
            <a:off x="3877056" y="2505456"/>
            <a:ext cx="182880" cy="182880"/>
          </a:xfrm>
          <a:prstGeom prst="ellipse">
            <a:avLst/>
          </a:prstGeom>
          <a:solidFill>
            <a:srgbClr val="F2A541"/>
          </a:solidFill>
          <a:ln w="12700">
            <a:solidFill>
              <a:srgbClr val="F2A541"/>
            </a:solidFill>
            <a:prstDash val="solid"/>
          </a:ln>
        </p:spPr>
      </p:sp>
      <p:sp>
        <p:nvSpPr>
          <p:cNvPr id="40" name="Text 38"/>
          <p:cNvSpPr txBox="1"/>
          <p:nvPr/>
        </p:nvSpPr>
        <p:spPr>
          <a:xfrm>
            <a:off x="3877056" y="2505456"/>
            <a:ext cx="182880" cy="182880"/>
          </a:xfrm>
          <a:prstGeom prst="rect">
            <a:avLst/>
          </a:prstGeom>
          <a:noFill/>
          <a:ln/>
        </p:spPr>
        <p:txBody>
          <a:bodyPr wrap="square" lIns="0" tIns="0" rIns="0" bIns="0" rtlCol="0" anchor="ctr"/>
          <a:lstStyle/>
          <a:p>
            <a:pPr algn="ctr" indent="0" marL="0">
              <a:buNone/>
            </a:pPr>
            <a:r>
              <a:rPr lang="en-US" sz="750" b="1" dirty="0">
                <a:solidFill>
                  <a:srgbClr val="10233A"/>
                </a:solidFill>
                <a:latin typeface="Calibri" pitchFamily="34" charset="0"/>
                <a:ea typeface="Calibri" pitchFamily="34" charset="-122"/>
                <a:cs typeface="Calibri" pitchFamily="34" charset="-120"/>
              </a:rPr>
              <a:t>9</a:t>
            </a:r>
            <a:endParaRPr lang="en-US" sz="750" dirty="0"/>
          </a:p>
        </p:txBody>
      </p:sp>
      <p:sp>
        <p:nvSpPr>
          <p:cNvPr id="41" name="Text 39"/>
          <p:cNvSpPr txBox="1"/>
          <p:nvPr/>
        </p:nvSpPr>
        <p:spPr>
          <a:xfrm>
            <a:off x="4114800" y="2478024"/>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Voice profile</a:t>
            </a:r>
            <a:endParaRPr lang="en-US" sz="1000" dirty="0"/>
          </a:p>
        </p:txBody>
      </p:sp>
      <p:sp>
        <p:nvSpPr>
          <p:cNvPr id="42" name="Shape 40"/>
          <p:cNvSpPr/>
          <p:nvPr/>
        </p:nvSpPr>
        <p:spPr>
          <a:xfrm>
            <a:off x="3877056" y="2761488"/>
            <a:ext cx="182880" cy="182880"/>
          </a:xfrm>
          <a:prstGeom prst="ellipse">
            <a:avLst/>
          </a:prstGeom>
          <a:solidFill>
            <a:srgbClr val="F2A541"/>
          </a:solidFill>
          <a:ln w="12700">
            <a:solidFill>
              <a:srgbClr val="F2A541"/>
            </a:solidFill>
            <a:prstDash val="solid"/>
          </a:ln>
        </p:spPr>
      </p:sp>
      <p:sp>
        <p:nvSpPr>
          <p:cNvPr id="43" name="Text 41"/>
          <p:cNvSpPr txBox="1"/>
          <p:nvPr/>
        </p:nvSpPr>
        <p:spPr>
          <a:xfrm>
            <a:off x="3877056" y="2761488"/>
            <a:ext cx="182880" cy="182880"/>
          </a:xfrm>
          <a:prstGeom prst="rect">
            <a:avLst/>
          </a:prstGeom>
          <a:noFill/>
          <a:ln/>
        </p:spPr>
        <p:txBody>
          <a:bodyPr wrap="square" lIns="0" tIns="0" rIns="0" bIns="0" rtlCol="0" anchor="ctr"/>
          <a:lstStyle/>
          <a:p>
            <a:pPr algn="ctr" indent="0" marL="0">
              <a:buNone/>
            </a:pPr>
            <a:r>
              <a:rPr lang="en-US" sz="750" b="1" dirty="0">
                <a:solidFill>
                  <a:srgbClr val="10233A"/>
                </a:solidFill>
                <a:latin typeface="Calibri" pitchFamily="34" charset="0"/>
                <a:ea typeface="Calibri" pitchFamily="34" charset="-122"/>
                <a:cs typeface="Calibri" pitchFamily="34" charset="-120"/>
              </a:rPr>
              <a:t>10</a:t>
            </a:r>
            <a:endParaRPr lang="en-US" sz="750" dirty="0"/>
          </a:p>
        </p:txBody>
      </p:sp>
      <p:sp>
        <p:nvSpPr>
          <p:cNvPr id="44" name="Text 42"/>
          <p:cNvSpPr txBox="1"/>
          <p:nvPr/>
        </p:nvSpPr>
        <p:spPr>
          <a:xfrm>
            <a:off x="4114800" y="2734056"/>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Visual assets</a:t>
            </a:r>
            <a:endParaRPr lang="en-US" sz="1000" dirty="0"/>
          </a:p>
        </p:txBody>
      </p:sp>
      <p:sp>
        <p:nvSpPr>
          <p:cNvPr id="45" name="Shape 43"/>
          <p:cNvSpPr/>
          <p:nvPr/>
        </p:nvSpPr>
        <p:spPr>
          <a:xfrm>
            <a:off x="3877056" y="3017520"/>
            <a:ext cx="182880" cy="182880"/>
          </a:xfrm>
          <a:prstGeom prst="ellipse">
            <a:avLst/>
          </a:prstGeom>
          <a:solidFill>
            <a:srgbClr val="F2A541"/>
          </a:solidFill>
          <a:ln w="12700">
            <a:solidFill>
              <a:srgbClr val="F2A541"/>
            </a:solidFill>
            <a:prstDash val="solid"/>
          </a:ln>
        </p:spPr>
      </p:sp>
      <p:sp>
        <p:nvSpPr>
          <p:cNvPr id="46" name="Text 44"/>
          <p:cNvSpPr txBox="1"/>
          <p:nvPr/>
        </p:nvSpPr>
        <p:spPr>
          <a:xfrm>
            <a:off x="3877056" y="3017520"/>
            <a:ext cx="182880" cy="182880"/>
          </a:xfrm>
          <a:prstGeom prst="rect">
            <a:avLst/>
          </a:prstGeom>
          <a:noFill/>
          <a:ln/>
        </p:spPr>
        <p:txBody>
          <a:bodyPr wrap="square" lIns="0" tIns="0" rIns="0" bIns="0" rtlCol="0" anchor="ctr"/>
          <a:lstStyle/>
          <a:p>
            <a:pPr algn="ctr" indent="0" marL="0">
              <a:buNone/>
            </a:pPr>
            <a:r>
              <a:rPr lang="en-US" sz="750" b="1" dirty="0">
                <a:solidFill>
                  <a:srgbClr val="10233A"/>
                </a:solidFill>
                <a:latin typeface="Calibri" pitchFamily="34" charset="0"/>
                <a:ea typeface="Calibri" pitchFamily="34" charset="-122"/>
                <a:cs typeface="Calibri" pitchFamily="34" charset="-120"/>
              </a:rPr>
              <a:t>11</a:t>
            </a:r>
            <a:endParaRPr lang="en-US" sz="750" dirty="0"/>
          </a:p>
        </p:txBody>
      </p:sp>
      <p:sp>
        <p:nvSpPr>
          <p:cNvPr id="47" name="Text 45"/>
          <p:cNvSpPr txBox="1"/>
          <p:nvPr/>
        </p:nvSpPr>
        <p:spPr>
          <a:xfrm>
            <a:off x="4114800" y="2990088"/>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Video scripts</a:t>
            </a:r>
            <a:endParaRPr lang="en-US" sz="1000" dirty="0"/>
          </a:p>
        </p:txBody>
      </p:sp>
      <p:sp>
        <p:nvSpPr>
          <p:cNvPr id="48" name="Shape 46"/>
          <p:cNvSpPr/>
          <p:nvPr/>
        </p:nvSpPr>
        <p:spPr>
          <a:xfrm>
            <a:off x="3877056" y="3273552"/>
            <a:ext cx="182880" cy="182880"/>
          </a:xfrm>
          <a:prstGeom prst="ellipse">
            <a:avLst/>
          </a:prstGeom>
          <a:solidFill>
            <a:srgbClr val="F2A541"/>
          </a:solidFill>
          <a:ln w="12700">
            <a:solidFill>
              <a:srgbClr val="F2A541"/>
            </a:solidFill>
            <a:prstDash val="solid"/>
          </a:ln>
        </p:spPr>
      </p:sp>
      <p:sp>
        <p:nvSpPr>
          <p:cNvPr id="49" name="Text 47"/>
          <p:cNvSpPr txBox="1"/>
          <p:nvPr/>
        </p:nvSpPr>
        <p:spPr>
          <a:xfrm>
            <a:off x="3877056" y="3273552"/>
            <a:ext cx="182880" cy="182880"/>
          </a:xfrm>
          <a:prstGeom prst="rect">
            <a:avLst/>
          </a:prstGeom>
          <a:noFill/>
          <a:ln/>
        </p:spPr>
        <p:txBody>
          <a:bodyPr wrap="square" lIns="0" tIns="0" rIns="0" bIns="0" rtlCol="0" anchor="ctr"/>
          <a:lstStyle/>
          <a:p>
            <a:pPr algn="ctr" indent="0" marL="0">
              <a:buNone/>
            </a:pPr>
            <a:r>
              <a:rPr lang="en-US" sz="750" b="1" dirty="0">
                <a:solidFill>
                  <a:srgbClr val="10233A"/>
                </a:solidFill>
                <a:latin typeface="Calibri" pitchFamily="34" charset="0"/>
                <a:ea typeface="Calibri" pitchFamily="34" charset="-122"/>
                <a:cs typeface="Calibri" pitchFamily="34" charset="-120"/>
              </a:rPr>
              <a:t>12</a:t>
            </a:r>
            <a:endParaRPr lang="en-US" sz="750" dirty="0"/>
          </a:p>
        </p:txBody>
      </p:sp>
      <p:sp>
        <p:nvSpPr>
          <p:cNvPr id="50" name="Text 48"/>
          <p:cNvSpPr txBox="1"/>
          <p:nvPr/>
        </p:nvSpPr>
        <p:spPr>
          <a:xfrm>
            <a:off x="4114800" y="3246120"/>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Storyboard</a:t>
            </a:r>
            <a:endParaRPr lang="en-US" sz="1000" dirty="0"/>
          </a:p>
        </p:txBody>
      </p:sp>
      <p:sp>
        <p:nvSpPr>
          <p:cNvPr id="51" name="Shape 49"/>
          <p:cNvSpPr/>
          <p:nvPr/>
        </p:nvSpPr>
        <p:spPr>
          <a:xfrm>
            <a:off x="3877056" y="3529584"/>
            <a:ext cx="182880" cy="182880"/>
          </a:xfrm>
          <a:prstGeom prst="ellipse">
            <a:avLst/>
          </a:prstGeom>
          <a:solidFill>
            <a:srgbClr val="F2A541"/>
          </a:solidFill>
          <a:ln w="12700">
            <a:solidFill>
              <a:srgbClr val="F2A541"/>
            </a:solidFill>
            <a:prstDash val="solid"/>
          </a:ln>
        </p:spPr>
      </p:sp>
      <p:sp>
        <p:nvSpPr>
          <p:cNvPr id="52" name="Text 50"/>
          <p:cNvSpPr txBox="1"/>
          <p:nvPr/>
        </p:nvSpPr>
        <p:spPr>
          <a:xfrm>
            <a:off x="3877056" y="3529584"/>
            <a:ext cx="182880" cy="182880"/>
          </a:xfrm>
          <a:prstGeom prst="rect">
            <a:avLst/>
          </a:prstGeom>
          <a:noFill/>
          <a:ln/>
        </p:spPr>
        <p:txBody>
          <a:bodyPr wrap="square" lIns="0" tIns="0" rIns="0" bIns="0" rtlCol="0" anchor="ctr"/>
          <a:lstStyle/>
          <a:p>
            <a:pPr algn="ctr" indent="0" marL="0">
              <a:buNone/>
            </a:pPr>
            <a:r>
              <a:rPr lang="en-US" sz="750" b="1" dirty="0">
                <a:solidFill>
                  <a:srgbClr val="10233A"/>
                </a:solidFill>
                <a:latin typeface="Calibri" pitchFamily="34" charset="0"/>
                <a:ea typeface="Calibri" pitchFamily="34" charset="-122"/>
                <a:cs typeface="Calibri" pitchFamily="34" charset="-120"/>
              </a:rPr>
              <a:t>13</a:t>
            </a:r>
            <a:endParaRPr lang="en-US" sz="750" dirty="0"/>
          </a:p>
        </p:txBody>
      </p:sp>
      <p:sp>
        <p:nvSpPr>
          <p:cNvPr id="53" name="Text 51"/>
          <p:cNvSpPr txBox="1"/>
          <p:nvPr/>
        </p:nvSpPr>
        <p:spPr>
          <a:xfrm>
            <a:off x="4114800" y="3502152"/>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AI video</a:t>
            </a:r>
            <a:endParaRPr lang="en-US" sz="1000" dirty="0"/>
          </a:p>
        </p:txBody>
      </p:sp>
      <p:sp>
        <p:nvSpPr>
          <p:cNvPr id="54" name="Shape 52"/>
          <p:cNvSpPr/>
          <p:nvPr/>
        </p:nvSpPr>
        <p:spPr>
          <a:xfrm>
            <a:off x="3877056" y="3785616"/>
            <a:ext cx="182880" cy="182880"/>
          </a:xfrm>
          <a:prstGeom prst="ellipse">
            <a:avLst/>
          </a:prstGeom>
          <a:solidFill>
            <a:srgbClr val="F2A541"/>
          </a:solidFill>
          <a:ln w="12700">
            <a:solidFill>
              <a:srgbClr val="F2A541"/>
            </a:solidFill>
            <a:prstDash val="solid"/>
          </a:ln>
        </p:spPr>
      </p:sp>
      <p:sp>
        <p:nvSpPr>
          <p:cNvPr id="55" name="Text 53"/>
          <p:cNvSpPr txBox="1"/>
          <p:nvPr/>
        </p:nvSpPr>
        <p:spPr>
          <a:xfrm>
            <a:off x="3877056" y="3785616"/>
            <a:ext cx="182880" cy="182880"/>
          </a:xfrm>
          <a:prstGeom prst="rect">
            <a:avLst/>
          </a:prstGeom>
          <a:noFill/>
          <a:ln/>
        </p:spPr>
        <p:txBody>
          <a:bodyPr wrap="square" lIns="0" tIns="0" rIns="0" bIns="0" rtlCol="0" anchor="ctr"/>
          <a:lstStyle/>
          <a:p>
            <a:pPr algn="ctr" indent="0" marL="0">
              <a:buNone/>
            </a:pPr>
            <a:r>
              <a:rPr lang="en-US" sz="750" b="1" dirty="0">
                <a:solidFill>
                  <a:srgbClr val="10233A"/>
                </a:solidFill>
                <a:latin typeface="Calibri" pitchFamily="34" charset="0"/>
                <a:ea typeface="Calibri" pitchFamily="34" charset="-122"/>
                <a:cs typeface="Calibri" pitchFamily="34" charset="-120"/>
              </a:rPr>
              <a:t>14</a:t>
            </a:r>
            <a:endParaRPr lang="en-US" sz="750" dirty="0"/>
          </a:p>
        </p:txBody>
      </p:sp>
      <p:sp>
        <p:nvSpPr>
          <p:cNvPr id="56" name="Text 54"/>
          <p:cNvSpPr txBox="1"/>
          <p:nvPr/>
        </p:nvSpPr>
        <p:spPr>
          <a:xfrm>
            <a:off x="4114800" y="3758184"/>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Edited final video</a:t>
            </a:r>
            <a:endParaRPr lang="en-US" sz="1000" dirty="0"/>
          </a:p>
        </p:txBody>
      </p:sp>
      <p:sp>
        <p:nvSpPr>
          <p:cNvPr id="57" name="Shape 55"/>
          <p:cNvSpPr/>
          <p:nvPr/>
        </p:nvSpPr>
        <p:spPr>
          <a:xfrm>
            <a:off x="3877056" y="4041648"/>
            <a:ext cx="182880" cy="182880"/>
          </a:xfrm>
          <a:prstGeom prst="ellipse">
            <a:avLst/>
          </a:prstGeom>
          <a:solidFill>
            <a:srgbClr val="F2A541"/>
          </a:solidFill>
          <a:ln w="12700">
            <a:solidFill>
              <a:srgbClr val="F2A541"/>
            </a:solidFill>
            <a:prstDash val="solid"/>
          </a:ln>
        </p:spPr>
      </p:sp>
      <p:sp>
        <p:nvSpPr>
          <p:cNvPr id="58" name="Text 56"/>
          <p:cNvSpPr txBox="1"/>
          <p:nvPr/>
        </p:nvSpPr>
        <p:spPr>
          <a:xfrm>
            <a:off x="3877056" y="4041648"/>
            <a:ext cx="182880" cy="182880"/>
          </a:xfrm>
          <a:prstGeom prst="rect">
            <a:avLst/>
          </a:prstGeom>
          <a:noFill/>
          <a:ln/>
        </p:spPr>
        <p:txBody>
          <a:bodyPr wrap="square" lIns="0" tIns="0" rIns="0" bIns="0" rtlCol="0" anchor="ctr"/>
          <a:lstStyle/>
          <a:p>
            <a:pPr algn="ctr" indent="0" marL="0">
              <a:buNone/>
            </a:pPr>
            <a:r>
              <a:rPr lang="en-US" sz="750" b="1" dirty="0">
                <a:solidFill>
                  <a:srgbClr val="10233A"/>
                </a:solidFill>
                <a:latin typeface="Calibri" pitchFamily="34" charset="0"/>
                <a:ea typeface="Calibri" pitchFamily="34" charset="-122"/>
                <a:cs typeface="Calibri" pitchFamily="34" charset="-120"/>
              </a:rPr>
              <a:t>15</a:t>
            </a:r>
            <a:endParaRPr lang="en-US" sz="750" dirty="0"/>
          </a:p>
        </p:txBody>
      </p:sp>
      <p:sp>
        <p:nvSpPr>
          <p:cNvPr id="59" name="Text 57"/>
          <p:cNvSpPr txBox="1"/>
          <p:nvPr/>
        </p:nvSpPr>
        <p:spPr>
          <a:xfrm>
            <a:off x="4114800" y="4014216"/>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Social posts</a:t>
            </a:r>
            <a:endParaRPr lang="en-US" sz="1000" dirty="0"/>
          </a:p>
        </p:txBody>
      </p:sp>
      <p:sp>
        <p:nvSpPr>
          <p:cNvPr id="60" name="Shape 58"/>
          <p:cNvSpPr/>
          <p:nvPr/>
        </p:nvSpPr>
        <p:spPr>
          <a:xfrm>
            <a:off x="5477256" y="1719072"/>
            <a:ext cx="1554480" cy="365760"/>
          </a:xfrm>
          <a:prstGeom prst="roundRect">
            <a:avLst>
              <a:gd name="adj" fmla="val 15000"/>
            </a:avLst>
          </a:prstGeom>
          <a:solidFill>
            <a:srgbClr val="10233A"/>
          </a:solidFill>
          <a:ln w="12700">
            <a:solidFill>
              <a:srgbClr val="10233A"/>
            </a:solidFill>
            <a:prstDash val="solid"/>
          </a:ln>
        </p:spPr>
      </p:sp>
      <p:sp>
        <p:nvSpPr>
          <p:cNvPr id="61" name="Text 59"/>
          <p:cNvSpPr txBox="1"/>
          <p:nvPr/>
        </p:nvSpPr>
        <p:spPr>
          <a:xfrm>
            <a:off x="5477256" y="1719072"/>
            <a:ext cx="155448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Automate &amp; launch</a:t>
            </a:r>
            <a:endParaRPr lang="en-US" sz="1150" dirty="0"/>
          </a:p>
        </p:txBody>
      </p:sp>
      <p:sp>
        <p:nvSpPr>
          <p:cNvPr id="62" name="Shape 60"/>
          <p:cNvSpPr/>
          <p:nvPr/>
        </p:nvSpPr>
        <p:spPr>
          <a:xfrm>
            <a:off x="5477256" y="2148840"/>
            <a:ext cx="1554480" cy="2148840"/>
          </a:xfrm>
          <a:prstGeom prst="roundRect">
            <a:avLst>
              <a:gd name="adj" fmla="val 3529"/>
            </a:avLst>
          </a:prstGeom>
          <a:solidFill>
            <a:srgbClr val="F3F6F8"/>
          </a:solidFill>
          <a:ln w="12700">
            <a:solidFill>
              <a:srgbClr val="F3F6F8"/>
            </a:solidFill>
            <a:prstDash val="solid"/>
          </a:ln>
        </p:spPr>
      </p:sp>
      <p:sp>
        <p:nvSpPr>
          <p:cNvPr id="63" name="Shape 61"/>
          <p:cNvSpPr/>
          <p:nvPr/>
        </p:nvSpPr>
        <p:spPr>
          <a:xfrm>
            <a:off x="5550408" y="2249424"/>
            <a:ext cx="182880" cy="182880"/>
          </a:xfrm>
          <a:prstGeom prst="ellipse">
            <a:avLst/>
          </a:prstGeom>
          <a:solidFill>
            <a:srgbClr val="0A8577"/>
          </a:solidFill>
          <a:ln w="12700">
            <a:solidFill>
              <a:srgbClr val="0A8577"/>
            </a:solidFill>
            <a:prstDash val="solid"/>
          </a:ln>
        </p:spPr>
      </p:sp>
      <p:sp>
        <p:nvSpPr>
          <p:cNvPr id="64" name="Text 62"/>
          <p:cNvSpPr txBox="1"/>
          <p:nvPr/>
        </p:nvSpPr>
        <p:spPr>
          <a:xfrm>
            <a:off x="5550408" y="2249424"/>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16</a:t>
            </a:r>
            <a:endParaRPr lang="en-US" sz="750" dirty="0"/>
          </a:p>
        </p:txBody>
      </p:sp>
      <p:sp>
        <p:nvSpPr>
          <p:cNvPr id="65" name="Text 63"/>
          <p:cNvSpPr txBox="1"/>
          <p:nvPr/>
        </p:nvSpPr>
        <p:spPr>
          <a:xfrm>
            <a:off x="5788152" y="2221992"/>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n8n automation</a:t>
            </a:r>
            <a:endParaRPr lang="en-US" sz="1000" dirty="0"/>
          </a:p>
        </p:txBody>
      </p:sp>
      <p:sp>
        <p:nvSpPr>
          <p:cNvPr id="66" name="Shape 64"/>
          <p:cNvSpPr/>
          <p:nvPr/>
        </p:nvSpPr>
        <p:spPr>
          <a:xfrm>
            <a:off x="5550408" y="2505456"/>
            <a:ext cx="182880" cy="182880"/>
          </a:xfrm>
          <a:prstGeom prst="ellipse">
            <a:avLst/>
          </a:prstGeom>
          <a:solidFill>
            <a:srgbClr val="0A8577"/>
          </a:solidFill>
          <a:ln w="12700">
            <a:solidFill>
              <a:srgbClr val="0A8577"/>
            </a:solidFill>
            <a:prstDash val="solid"/>
          </a:ln>
        </p:spPr>
      </p:sp>
      <p:sp>
        <p:nvSpPr>
          <p:cNvPr id="67" name="Text 65"/>
          <p:cNvSpPr txBox="1"/>
          <p:nvPr/>
        </p:nvSpPr>
        <p:spPr>
          <a:xfrm>
            <a:off x="5550408" y="2505456"/>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17</a:t>
            </a:r>
            <a:endParaRPr lang="en-US" sz="750" dirty="0"/>
          </a:p>
        </p:txBody>
      </p:sp>
      <p:sp>
        <p:nvSpPr>
          <p:cNvPr id="68" name="Text 66"/>
          <p:cNvSpPr txBox="1"/>
          <p:nvPr/>
        </p:nvSpPr>
        <p:spPr>
          <a:xfrm>
            <a:off x="5788152" y="2478024"/>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Landing page</a:t>
            </a:r>
            <a:endParaRPr lang="en-US" sz="1000" dirty="0"/>
          </a:p>
        </p:txBody>
      </p:sp>
      <p:sp>
        <p:nvSpPr>
          <p:cNvPr id="69" name="Shape 67"/>
          <p:cNvSpPr/>
          <p:nvPr/>
        </p:nvSpPr>
        <p:spPr>
          <a:xfrm>
            <a:off x="7150608" y="1719072"/>
            <a:ext cx="1554480" cy="365760"/>
          </a:xfrm>
          <a:prstGeom prst="roundRect">
            <a:avLst>
              <a:gd name="adj" fmla="val 15000"/>
            </a:avLst>
          </a:prstGeom>
          <a:solidFill>
            <a:srgbClr val="10233A"/>
          </a:solidFill>
          <a:ln w="12700">
            <a:solidFill>
              <a:srgbClr val="10233A"/>
            </a:solidFill>
            <a:prstDash val="solid"/>
          </a:ln>
        </p:spPr>
      </p:sp>
      <p:sp>
        <p:nvSpPr>
          <p:cNvPr id="70" name="Text 68"/>
          <p:cNvSpPr txBox="1"/>
          <p:nvPr/>
        </p:nvSpPr>
        <p:spPr>
          <a:xfrm>
            <a:off x="7150608" y="1719072"/>
            <a:ext cx="155448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Present</a:t>
            </a:r>
            <a:endParaRPr lang="en-US" sz="1150" dirty="0"/>
          </a:p>
        </p:txBody>
      </p:sp>
      <p:sp>
        <p:nvSpPr>
          <p:cNvPr id="71" name="Shape 69"/>
          <p:cNvSpPr/>
          <p:nvPr/>
        </p:nvSpPr>
        <p:spPr>
          <a:xfrm>
            <a:off x="7150608" y="2148840"/>
            <a:ext cx="1554480" cy="2148840"/>
          </a:xfrm>
          <a:prstGeom prst="roundRect">
            <a:avLst>
              <a:gd name="adj" fmla="val 3529"/>
            </a:avLst>
          </a:prstGeom>
          <a:solidFill>
            <a:srgbClr val="F3F6F8"/>
          </a:solidFill>
          <a:ln w="12700">
            <a:solidFill>
              <a:srgbClr val="F3F6F8"/>
            </a:solidFill>
            <a:prstDash val="solid"/>
          </a:ln>
        </p:spPr>
      </p:sp>
      <p:sp>
        <p:nvSpPr>
          <p:cNvPr id="72" name="Shape 70"/>
          <p:cNvSpPr/>
          <p:nvPr/>
        </p:nvSpPr>
        <p:spPr>
          <a:xfrm>
            <a:off x="7223760" y="2249424"/>
            <a:ext cx="182880" cy="182880"/>
          </a:xfrm>
          <a:prstGeom prst="ellipse">
            <a:avLst/>
          </a:prstGeom>
          <a:solidFill>
            <a:srgbClr val="0A8577"/>
          </a:solidFill>
          <a:ln w="12700">
            <a:solidFill>
              <a:srgbClr val="0A8577"/>
            </a:solidFill>
            <a:prstDash val="solid"/>
          </a:ln>
        </p:spPr>
      </p:sp>
      <p:sp>
        <p:nvSpPr>
          <p:cNvPr id="73" name="Text 71"/>
          <p:cNvSpPr txBox="1"/>
          <p:nvPr/>
        </p:nvSpPr>
        <p:spPr>
          <a:xfrm>
            <a:off x="7223760" y="2249424"/>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18</a:t>
            </a:r>
            <a:endParaRPr lang="en-US" sz="750" dirty="0"/>
          </a:p>
        </p:txBody>
      </p:sp>
      <p:sp>
        <p:nvSpPr>
          <p:cNvPr id="74" name="Text 72"/>
          <p:cNvSpPr txBox="1"/>
          <p:nvPr/>
        </p:nvSpPr>
        <p:spPr>
          <a:xfrm>
            <a:off x="7461504" y="2221992"/>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Portfolio case study</a:t>
            </a:r>
            <a:endParaRPr lang="en-US" sz="1000" dirty="0"/>
          </a:p>
        </p:txBody>
      </p:sp>
      <p:sp>
        <p:nvSpPr>
          <p:cNvPr id="75" name="Shape 73"/>
          <p:cNvSpPr/>
          <p:nvPr/>
        </p:nvSpPr>
        <p:spPr>
          <a:xfrm>
            <a:off x="7223760" y="2505456"/>
            <a:ext cx="182880" cy="182880"/>
          </a:xfrm>
          <a:prstGeom prst="ellipse">
            <a:avLst/>
          </a:prstGeom>
          <a:solidFill>
            <a:srgbClr val="0A8577"/>
          </a:solidFill>
          <a:ln w="12700">
            <a:solidFill>
              <a:srgbClr val="0A8577"/>
            </a:solidFill>
            <a:prstDash val="solid"/>
          </a:ln>
        </p:spPr>
      </p:sp>
      <p:sp>
        <p:nvSpPr>
          <p:cNvPr id="76" name="Text 74"/>
          <p:cNvSpPr txBox="1"/>
          <p:nvPr/>
        </p:nvSpPr>
        <p:spPr>
          <a:xfrm>
            <a:off x="7223760" y="2505456"/>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19</a:t>
            </a:r>
            <a:endParaRPr lang="en-US" sz="750" dirty="0"/>
          </a:p>
        </p:txBody>
      </p:sp>
      <p:sp>
        <p:nvSpPr>
          <p:cNvPr id="77" name="Text 75"/>
          <p:cNvSpPr txBox="1"/>
          <p:nvPr/>
        </p:nvSpPr>
        <p:spPr>
          <a:xfrm>
            <a:off x="7461504" y="2478024"/>
            <a:ext cx="1225296" cy="237744"/>
          </a:xfrm>
          <a:prstGeom prst="rect">
            <a:avLst/>
          </a:prstGeom>
          <a:noFill/>
          <a:ln/>
        </p:spPr>
        <p:txBody>
          <a:bodyPr wrap="square" lIns="0" tIns="0" rIns="0" bIns="0" rtlCol="0" anchor="ctr"/>
          <a:lstStyle/>
          <a:p>
            <a:pPr indent="0" marL="0">
              <a:buNone/>
            </a:pPr>
            <a:r>
              <a:rPr lang="en-US" sz="1000" dirty="0">
                <a:solidFill>
                  <a:srgbClr val="2B3A4A"/>
                </a:solidFill>
                <a:latin typeface="Calibri" pitchFamily="34" charset="0"/>
                <a:ea typeface="Calibri" pitchFamily="34" charset="-122"/>
                <a:cs typeface="Calibri" pitchFamily="34" charset="-120"/>
              </a:rPr>
              <a:t>Final presentation</a:t>
            </a:r>
            <a:endParaRPr lang="en-US" sz="1000" dirty="0"/>
          </a:p>
        </p:txBody>
      </p:sp>
      <p:sp>
        <p:nvSpPr>
          <p:cNvPr id="78" name="Text 76"/>
          <p:cNvSpPr txBox="1"/>
          <p:nvPr/>
        </p:nvSpPr>
        <p:spPr>
          <a:xfrm>
            <a:off x="457200" y="4370832"/>
            <a:ext cx="8229600" cy="274320"/>
          </a:xfrm>
          <a:prstGeom prst="rect">
            <a:avLst/>
          </a:prstGeom>
          <a:noFill/>
          <a:ln/>
        </p:spPr>
        <p:txBody>
          <a:bodyPr wrap="square" lIns="0" tIns="0" rIns="0" bIns="0" rtlCol="0" anchor="t"/>
          <a:lstStyle/>
          <a:p>
            <a:pPr indent="0" marL="0">
              <a:buNone/>
            </a:pPr>
            <a:r>
              <a:rPr lang="en-US" sz="1150" b="1" dirty="0">
                <a:solidFill>
                  <a:srgbClr val="10233A"/>
                </a:solidFill>
                <a:latin typeface="Calibri" pitchFamily="34" charset="0"/>
                <a:ea typeface="Calibri" pitchFamily="34" charset="-122"/>
                <a:cs typeface="Calibri" pitchFamily="34" charset="-120"/>
              </a:rPr>
              <a:t>19 deliverables. Team roles rotate: strategist · content lead · visual &amp; video lead · automation lead.</a:t>
            </a:r>
            <a:endParaRPr lang="en-US" sz="11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11  ·  PROVING PROGRESS</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Measuring real change, before and after</a:t>
            </a:r>
            <a:endParaRPr lang="en-US" sz="2500" dirty="0"/>
          </a:p>
        </p:txBody>
      </p:sp>
      <p:sp>
        <p:nvSpPr>
          <p:cNvPr id="5" name="Shape 3"/>
          <p:cNvSpPr/>
          <p:nvPr/>
        </p:nvSpPr>
        <p:spPr>
          <a:xfrm>
            <a:off x="457200" y="1298448"/>
            <a:ext cx="2651760" cy="1783080"/>
          </a:xfrm>
          <a:prstGeom prst="roundRect">
            <a:avLst>
              <a:gd name="adj" fmla="val 3077"/>
            </a:avLst>
          </a:prstGeom>
          <a:solidFill>
            <a:srgbClr val="10233A"/>
          </a:solidFill>
          <a:ln w="12700">
            <a:solidFill>
              <a:srgbClr val="10233A"/>
            </a:solidFill>
            <a:prstDash val="solid"/>
          </a:ln>
        </p:spPr>
      </p:sp>
      <p:sp>
        <p:nvSpPr>
          <p:cNvPr id="6" name="Text 4"/>
          <p:cNvSpPr txBox="1"/>
          <p:nvPr/>
        </p:nvSpPr>
        <p:spPr>
          <a:xfrm>
            <a:off x="612648" y="1417320"/>
            <a:ext cx="2377440" cy="228600"/>
          </a:xfrm>
          <a:prstGeom prst="rect">
            <a:avLst/>
          </a:prstGeom>
          <a:noFill/>
          <a:ln/>
        </p:spPr>
        <p:txBody>
          <a:bodyPr wrap="square" lIns="0" tIns="0" rIns="0" bIns="0" rtlCol="0" anchor="t"/>
          <a:lstStyle/>
          <a:p>
            <a:pPr indent="0" marL="0">
              <a:buNone/>
            </a:pPr>
            <a:r>
              <a:rPr lang="en-US" sz="1100" b="1" dirty="0">
                <a:solidFill>
                  <a:srgbClr val="F2A541"/>
                </a:solidFill>
                <a:latin typeface="Calibri" pitchFamily="34" charset="0"/>
                <a:ea typeface="Calibri" pitchFamily="34" charset="-122"/>
                <a:cs typeface="Calibri" pitchFamily="34" charset="-120"/>
              </a:rPr>
              <a:t>BEFORE</a:t>
            </a:r>
            <a:endParaRPr lang="en-US" sz="1100" dirty="0"/>
          </a:p>
        </p:txBody>
      </p:sp>
      <p:sp>
        <p:nvSpPr>
          <p:cNvPr id="7" name="Text 5"/>
          <p:cNvSpPr txBox="1"/>
          <p:nvPr/>
        </p:nvSpPr>
        <p:spPr>
          <a:xfrm>
            <a:off x="612648" y="1664208"/>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Session 1</a:t>
            </a:r>
            <a:endParaRPr lang="en-US" sz="1800" dirty="0"/>
          </a:p>
        </p:txBody>
      </p:sp>
      <p:sp>
        <p:nvSpPr>
          <p:cNvPr id="8" name="Text 6"/>
          <p:cNvSpPr txBox="1"/>
          <p:nvPr/>
        </p:nvSpPr>
        <p:spPr>
          <a:xfrm>
            <a:off x="612648" y="2075688"/>
            <a:ext cx="2377440" cy="96012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Knowledge check (50 pts) and a 30-minute practical task (50 pts), plus a self-rating. Sets each person's baseline; not graded.</a:t>
            </a:r>
            <a:endParaRPr lang="en-US" sz="1100" dirty="0"/>
          </a:p>
        </p:txBody>
      </p:sp>
      <p:sp>
        <p:nvSpPr>
          <p:cNvPr id="9" name="Shape 7"/>
          <p:cNvSpPr/>
          <p:nvPr/>
        </p:nvSpPr>
        <p:spPr>
          <a:xfrm>
            <a:off x="3291840" y="1298448"/>
            <a:ext cx="2651760" cy="1783080"/>
          </a:xfrm>
          <a:prstGeom prst="roundRect">
            <a:avLst>
              <a:gd name="adj" fmla="val 3077"/>
            </a:avLst>
          </a:prstGeom>
          <a:solidFill>
            <a:srgbClr val="0A8577"/>
          </a:solidFill>
          <a:ln w="12700">
            <a:solidFill>
              <a:srgbClr val="0A8577"/>
            </a:solidFill>
            <a:prstDash val="solid"/>
          </a:ln>
        </p:spPr>
      </p:sp>
      <p:sp>
        <p:nvSpPr>
          <p:cNvPr id="10" name="Text 8"/>
          <p:cNvSpPr txBox="1"/>
          <p:nvPr/>
        </p:nvSpPr>
        <p:spPr>
          <a:xfrm>
            <a:off x="3447288" y="1417320"/>
            <a:ext cx="2377440" cy="228600"/>
          </a:xfrm>
          <a:prstGeom prst="rect">
            <a:avLst/>
          </a:prstGeom>
          <a:noFill/>
          <a:ln/>
        </p:spPr>
        <p:txBody>
          <a:bodyPr wrap="square" lIns="0" tIns="0" rIns="0" bIns="0" rtlCol="0" anchor="t"/>
          <a:lstStyle/>
          <a:p>
            <a:pPr indent="0" marL="0">
              <a:buNone/>
            </a:pPr>
            <a:r>
              <a:rPr lang="en-US" sz="1100" b="1" dirty="0">
                <a:solidFill>
                  <a:srgbClr val="F2A541"/>
                </a:solidFill>
                <a:latin typeface="Calibri" pitchFamily="34" charset="0"/>
                <a:ea typeface="Calibri" pitchFamily="34" charset="-122"/>
                <a:cs typeface="Calibri" pitchFamily="34" charset="-120"/>
              </a:rPr>
              <a:t>AFTER</a:t>
            </a:r>
            <a:endParaRPr lang="en-US" sz="1100" dirty="0"/>
          </a:p>
        </p:txBody>
      </p:sp>
      <p:sp>
        <p:nvSpPr>
          <p:cNvPr id="11" name="Text 9"/>
          <p:cNvSpPr txBox="1"/>
          <p:nvPr/>
        </p:nvSpPr>
        <p:spPr>
          <a:xfrm>
            <a:off x="3447288" y="1664208"/>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Session 32</a:t>
            </a:r>
            <a:endParaRPr lang="en-US" sz="1800" dirty="0"/>
          </a:p>
        </p:txBody>
      </p:sp>
      <p:sp>
        <p:nvSpPr>
          <p:cNvPr id="12" name="Text 10"/>
          <p:cNvSpPr txBox="1"/>
          <p:nvPr/>
        </p:nvSpPr>
        <p:spPr>
          <a:xfrm>
            <a:off x="3447288" y="2075688"/>
            <a:ext cx="2377440" cy="96012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Same structure and scoring, with parallel questions and a new brief. Gain = post minus pre, out of 100.</a:t>
            </a:r>
            <a:endParaRPr lang="en-US" sz="1100" dirty="0"/>
          </a:p>
        </p:txBody>
      </p:sp>
      <p:sp>
        <p:nvSpPr>
          <p:cNvPr id="13" name="Shape 11"/>
          <p:cNvSpPr/>
          <p:nvPr/>
        </p:nvSpPr>
        <p:spPr>
          <a:xfrm>
            <a:off x="6126480" y="1298448"/>
            <a:ext cx="2651760" cy="1783080"/>
          </a:xfrm>
          <a:prstGeom prst="roundRect">
            <a:avLst>
              <a:gd name="adj" fmla="val 3077"/>
            </a:avLst>
          </a:prstGeom>
          <a:solidFill>
            <a:srgbClr val="E4572E"/>
          </a:solidFill>
          <a:ln w="12700">
            <a:solidFill>
              <a:srgbClr val="E4572E"/>
            </a:solidFill>
            <a:prstDash val="solid"/>
          </a:ln>
        </p:spPr>
      </p:sp>
      <p:sp>
        <p:nvSpPr>
          <p:cNvPr id="14" name="Text 12"/>
          <p:cNvSpPr txBox="1"/>
          <p:nvPr/>
        </p:nvSpPr>
        <p:spPr>
          <a:xfrm>
            <a:off x="6281928" y="1417320"/>
            <a:ext cx="2377440" cy="22860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LATER</a:t>
            </a:r>
            <a:endParaRPr lang="en-US" sz="1100" dirty="0"/>
          </a:p>
        </p:txBody>
      </p:sp>
      <p:sp>
        <p:nvSpPr>
          <p:cNvPr id="15" name="Text 13"/>
          <p:cNvSpPr txBox="1"/>
          <p:nvPr/>
        </p:nvSpPr>
        <p:spPr>
          <a:xfrm>
            <a:off x="6281928" y="1664208"/>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3 months (proposed)</a:t>
            </a:r>
            <a:endParaRPr lang="en-US" sz="1800" dirty="0"/>
          </a:p>
        </p:txBody>
      </p:sp>
      <p:sp>
        <p:nvSpPr>
          <p:cNvPr id="16" name="Text 14"/>
          <p:cNvSpPr txBox="1"/>
          <p:nvPr/>
        </p:nvSpPr>
        <p:spPr>
          <a:xfrm>
            <a:off x="6281928" y="2075688"/>
            <a:ext cx="2377440" cy="96012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Short follow-up survey on skills use, portfolio activity and opportunities pursued.</a:t>
            </a:r>
            <a:endParaRPr lang="en-US" sz="1100" dirty="0"/>
          </a:p>
        </p:txBody>
      </p:sp>
      <p:sp>
        <p:nvSpPr>
          <p:cNvPr id="17" name="Shape 15"/>
          <p:cNvSpPr/>
          <p:nvPr/>
        </p:nvSpPr>
        <p:spPr>
          <a:xfrm>
            <a:off x="457200" y="3246120"/>
            <a:ext cx="4023360" cy="1371600"/>
          </a:xfrm>
          <a:prstGeom prst="roundRect">
            <a:avLst>
              <a:gd name="adj" fmla="val 4000"/>
            </a:avLst>
          </a:prstGeom>
          <a:solidFill>
            <a:srgbClr val="F3F6F8"/>
          </a:solidFill>
          <a:ln w="12700">
            <a:solidFill>
              <a:srgbClr val="F3F6F8"/>
            </a:solidFill>
            <a:prstDash val="solid"/>
          </a:ln>
        </p:spPr>
      </p:sp>
      <p:sp>
        <p:nvSpPr>
          <p:cNvPr id="18" name="Shape 16"/>
          <p:cNvSpPr/>
          <p:nvPr/>
        </p:nvSpPr>
        <p:spPr>
          <a:xfrm>
            <a:off x="594360" y="3364992"/>
            <a:ext cx="384048" cy="384048"/>
          </a:xfrm>
          <a:prstGeom prst="ellipse">
            <a:avLst/>
          </a:prstGeom>
          <a:solidFill>
            <a:srgbClr val="0A8577"/>
          </a:solidFill>
          <a:ln w="12700">
            <a:solidFill>
              <a:srgbClr val="0A8577"/>
            </a:solidFill>
            <a:prstDash val="solid"/>
          </a:ln>
        </p:spPr>
      </p:sp>
      <p:sp>
        <p:nvSpPr>
          <p:cNvPr id="19" name="Text 17"/>
          <p:cNvSpPr txBox="1"/>
          <p:nvPr/>
        </p:nvSpPr>
        <p:spPr>
          <a:xfrm>
            <a:off x="1069848" y="3364992"/>
            <a:ext cx="3200400" cy="384048"/>
          </a:xfrm>
          <a:prstGeom prst="rect">
            <a:avLst/>
          </a:prstGeom>
          <a:noFill/>
          <a:ln/>
        </p:spPr>
        <p:txBody>
          <a:bodyPr wrap="square" lIns="0" tIns="0" rIns="0" bIns="0" rtlCol="0" anchor="ctr"/>
          <a:lstStyle/>
          <a:p>
            <a:pPr indent="0" marL="0">
              <a:buNone/>
            </a:pPr>
            <a:r>
              <a:rPr lang="en-US" sz="1400" b="1" dirty="0">
                <a:solidFill>
                  <a:srgbClr val="0A8577"/>
                </a:solidFill>
                <a:latin typeface="Calibri" pitchFamily="34" charset="0"/>
                <a:ea typeface="Calibri" pitchFamily="34" charset="-122"/>
                <a:cs typeface="Calibri" pitchFamily="34" charset="-120"/>
              </a:rPr>
              <a:t>What is measured</a:t>
            </a:r>
            <a:endParaRPr lang="en-US" sz="1400" dirty="0"/>
          </a:p>
        </p:txBody>
      </p:sp>
      <p:sp>
        <p:nvSpPr>
          <p:cNvPr id="20" name="Text 18"/>
          <p:cNvSpPr txBox="1"/>
          <p:nvPr/>
        </p:nvSpPr>
        <p:spPr>
          <a:xfrm>
            <a:off x="594360" y="3794760"/>
            <a:ext cx="3794760" cy="777240"/>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AI basics and prompting · fact-checking · marketing terms · automation concepts · a practical content task scored by rubric · self-rated confidence</a:t>
            </a:r>
            <a:endParaRPr lang="en-US" sz="1100" dirty="0"/>
          </a:p>
        </p:txBody>
      </p:sp>
      <p:sp>
        <p:nvSpPr>
          <p:cNvPr id="21" name="Shape 19"/>
          <p:cNvSpPr/>
          <p:nvPr/>
        </p:nvSpPr>
        <p:spPr>
          <a:xfrm>
            <a:off x="4663440" y="3246120"/>
            <a:ext cx="4023360" cy="1371600"/>
          </a:xfrm>
          <a:prstGeom prst="roundRect">
            <a:avLst>
              <a:gd name="adj" fmla="val 4000"/>
            </a:avLst>
          </a:prstGeom>
          <a:solidFill>
            <a:srgbClr val="F3F6F8"/>
          </a:solidFill>
          <a:ln w="12700">
            <a:solidFill>
              <a:srgbClr val="F3F6F8"/>
            </a:solidFill>
            <a:prstDash val="solid"/>
          </a:ln>
        </p:spPr>
      </p:sp>
      <p:sp>
        <p:nvSpPr>
          <p:cNvPr id="22" name="Shape 20"/>
          <p:cNvSpPr/>
          <p:nvPr/>
        </p:nvSpPr>
        <p:spPr>
          <a:xfrm>
            <a:off x="4800600" y="3364992"/>
            <a:ext cx="384048" cy="384048"/>
          </a:xfrm>
          <a:prstGeom prst="ellipse">
            <a:avLst/>
          </a:prstGeom>
          <a:solidFill>
            <a:srgbClr val="0A8577"/>
          </a:solidFill>
          <a:ln w="12700">
            <a:solidFill>
              <a:srgbClr val="0A8577"/>
            </a:solidFill>
            <a:prstDash val="solid"/>
          </a:ln>
        </p:spPr>
      </p:sp>
      <p:sp>
        <p:nvSpPr>
          <p:cNvPr id="23" name="Text 21"/>
          <p:cNvSpPr txBox="1"/>
          <p:nvPr/>
        </p:nvSpPr>
        <p:spPr>
          <a:xfrm>
            <a:off x="5276088" y="3364992"/>
            <a:ext cx="3291840" cy="384048"/>
          </a:xfrm>
          <a:prstGeom prst="rect">
            <a:avLst/>
          </a:prstGeom>
          <a:noFill/>
          <a:ln/>
        </p:spPr>
        <p:txBody>
          <a:bodyPr wrap="square" lIns="0" tIns="0" rIns="0" bIns="0" rtlCol="0" anchor="ctr"/>
          <a:lstStyle/>
          <a:p>
            <a:pPr indent="0" marL="0">
              <a:buNone/>
            </a:pPr>
            <a:r>
              <a:rPr lang="en-US" sz="1400" b="1" dirty="0">
                <a:solidFill>
                  <a:srgbClr val="0A8577"/>
                </a:solidFill>
                <a:latin typeface="Calibri" pitchFamily="34" charset="0"/>
                <a:ea typeface="Calibri" pitchFamily="34" charset="-122"/>
                <a:cs typeface="Calibri" pitchFamily="34" charset="-120"/>
              </a:rPr>
              <a:t>Target and quality control</a:t>
            </a:r>
            <a:endParaRPr lang="en-US" sz="1400" dirty="0"/>
          </a:p>
        </p:txBody>
      </p:sp>
      <p:sp>
        <p:nvSpPr>
          <p:cNvPr id="24" name="Text 22"/>
          <p:cNvSpPr txBox="1"/>
          <p:nvPr/>
        </p:nvSpPr>
        <p:spPr>
          <a:xfrm>
            <a:off x="4800600" y="3794760"/>
            <a:ext cx="3794760" cy="777240"/>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+25 points average gain (proposed). The same rubric is used for the practical task, module deliverables and capstone, so results can be compared.</a:t>
            </a:r>
            <a:endParaRPr lang="en-US" sz="1100" dirty="0"/>
          </a:p>
        </p:txBody>
      </p:sp>
      <p:pic>
        <p:nvPicPr>
          <p:cNvPr id="25" name="Image 0" descr="preencoded.png">    </p:cNvPr>
          <p:cNvPicPr>
            <a:picLocks noChangeAspect="1"/>
          </p:cNvPicPr>
          <p:nvPr/>
        </p:nvPicPr>
        <p:blipFill>
          <a:blip r:embed="rId1"/>
          <a:stretch>
            <a:fillRect/>
          </a:stretch>
        </p:blipFill>
        <p:spPr>
          <a:xfrm>
            <a:off x="690372" y="3461004"/>
            <a:ext cx="192024" cy="192024"/>
          </a:xfrm>
          <a:prstGeom prst="rect">
            <a:avLst/>
          </a:prstGeom>
        </p:spPr>
      </p:pic>
      <p:pic>
        <p:nvPicPr>
          <p:cNvPr id="26" name="Image 1" descr="preencoded.png">    </p:cNvPr>
          <p:cNvPicPr>
            <a:picLocks noChangeAspect="1"/>
          </p:cNvPicPr>
          <p:nvPr/>
        </p:nvPicPr>
        <p:blipFill>
          <a:blip r:embed="rId2"/>
          <a:stretch>
            <a:fillRect/>
          </a:stretch>
        </p:blipFill>
        <p:spPr>
          <a:xfrm>
            <a:off x="4896612" y="3461004"/>
            <a:ext cx="192024" cy="192024"/>
          </a:xfrm>
          <a:prstGeom prst="rect">
            <a:avLst/>
          </a:prstGeom>
        </p:spPr>
      </p:pic>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12  ·  EVIDENCE</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Results framework: what will be reported</a:t>
            </a:r>
            <a:endParaRPr lang="en-US" sz="2500" dirty="0"/>
          </a:p>
        </p:txBody>
      </p:sp>
      <p:sp>
        <p:nvSpPr>
          <p:cNvPr id="5" name="Shape 3"/>
          <p:cNvSpPr/>
          <p:nvPr/>
        </p:nvSpPr>
        <p:spPr>
          <a:xfrm>
            <a:off x="457200" y="1280160"/>
            <a:ext cx="4937760" cy="365760"/>
          </a:xfrm>
          <a:prstGeom prst="roundRect">
            <a:avLst>
              <a:gd name="adj" fmla="val 15000"/>
            </a:avLst>
          </a:prstGeom>
          <a:solidFill>
            <a:srgbClr val="F3F6F8"/>
          </a:solidFill>
          <a:ln w="12700">
            <a:solidFill>
              <a:srgbClr val="F3F6F8"/>
            </a:solidFill>
            <a:prstDash val="solid"/>
          </a:ln>
        </p:spPr>
      </p:sp>
      <p:sp>
        <p:nvSpPr>
          <p:cNvPr id="6" name="Text 4"/>
          <p:cNvSpPr txBox="1"/>
          <p:nvPr/>
        </p:nvSpPr>
        <p:spPr>
          <a:xfrm>
            <a:off x="594360" y="1280160"/>
            <a:ext cx="2286000"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Program completion</a:t>
            </a:r>
            <a:endParaRPr lang="en-US" sz="1150" dirty="0"/>
          </a:p>
        </p:txBody>
      </p:sp>
      <p:sp>
        <p:nvSpPr>
          <p:cNvPr id="7" name="Text 5"/>
          <p:cNvSpPr txBox="1"/>
          <p:nvPr/>
        </p:nvSpPr>
        <p:spPr>
          <a:xfrm>
            <a:off x="2926080" y="1280160"/>
            <a:ext cx="2377440" cy="365760"/>
          </a:xfrm>
          <a:prstGeom prst="rect">
            <a:avLst/>
          </a:prstGeom>
          <a:noFill/>
          <a:ln/>
        </p:spPr>
        <p:txBody>
          <a:bodyPr wrap="square" lIns="0" tIns="0" rIns="0" bIns="0" rtlCol="0" anchor="ctr"/>
          <a:lstStyle/>
          <a:p>
            <a:pPr indent="0" marL="0">
              <a:buNone/>
            </a:pPr>
            <a:r>
              <a:rPr lang="en-US" sz="1050" dirty="0">
                <a:solidFill>
                  <a:srgbClr val="2B3A4A"/>
                </a:solidFill>
                <a:latin typeface="Calibri" pitchFamily="34" charset="0"/>
                <a:ea typeface="Calibri" pitchFamily="34" charset="-122"/>
                <a:cs typeface="Calibri" pitchFamily="34" charset="-120"/>
              </a:rPr>
              <a:t>Attendance at 80%+ of sessions</a:t>
            </a:r>
            <a:endParaRPr lang="en-US" sz="1050" dirty="0"/>
          </a:p>
        </p:txBody>
      </p:sp>
      <p:sp>
        <p:nvSpPr>
          <p:cNvPr id="8" name="Shape 6"/>
          <p:cNvSpPr/>
          <p:nvPr/>
        </p:nvSpPr>
        <p:spPr>
          <a:xfrm>
            <a:off x="457200" y="1700784"/>
            <a:ext cx="4937760" cy="365760"/>
          </a:xfrm>
          <a:prstGeom prst="roundRect">
            <a:avLst>
              <a:gd name="adj" fmla="val 15000"/>
            </a:avLst>
          </a:prstGeom>
          <a:solidFill>
            <a:srgbClr val="F3F6F8"/>
          </a:solidFill>
          <a:ln w="12700">
            <a:solidFill>
              <a:srgbClr val="F3F6F8"/>
            </a:solidFill>
            <a:prstDash val="solid"/>
          </a:ln>
        </p:spPr>
      </p:sp>
      <p:sp>
        <p:nvSpPr>
          <p:cNvPr id="9" name="Text 7"/>
          <p:cNvSpPr txBox="1"/>
          <p:nvPr/>
        </p:nvSpPr>
        <p:spPr>
          <a:xfrm>
            <a:off x="594360" y="1700784"/>
            <a:ext cx="2286000"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Pre/post improvement</a:t>
            </a:r>
            <a:endParaRPr lang="en-US" sz="1150" dirty="0"/>
          </a:p>
        </p:txBody>
      </p:sp>
      <p:sp>
        <p:nvSpPr>
          <p:cNvPr id="10" name="Text 8"/>
          <p:cNvSpPr txBox="1"/>
          <p:nvPr/>
        </p:nvSpPr>
        <p:spPr>
          <a:xfrm>
            <a:off x="2926080" y="1700784"/>
            <a:ext cx="2377440" cy="365760"/>
          </a:xfrm>
          <a:prstGeom prst="rect">
            <a:avLst/>
          </a:prstGeom>
          <a:noFill/>
          <a:ln/>
        </p:spPr>
        <p:txBody>
          <a:bodyPr wrap="square" lIns="0" tIns="0" rIns="0" bIns="0" rtlCol="0" anchor="ctr"/>
          <a:lstStyle/>
          <a:p>
            <a:pPr indent="0" marL="0">
              <a:buNone/>
            </a:pPr>
            <a:r>
              <a:rPr lang="en-US" sz="1050" dirty="0">
                <a:solidFill>
                  <a:srgbClr val="2B3A4A"/>
                </a:solidFill>
                <a:latin typeface="Calibri" pitchFamily="34" charset="0"/>
                <a:ea typeface="Calibri" pitchFamily="34" charset="-122"/>
                <a:cs typeface="Calibri" pitchFamily="34" charset="-120"/>
              </a:rPr>
              <a:t>Same assessment at start and end</a:t>
            </a:r>
            <a:endParaRPr lang="en-US" sz="1050" dirty="0"/>
          </a:p>
        </p:txBody>
      </p:sp>
      <p:sp>
        <p:nvSpPr>
          <p:cNvPr id="11" name="Shape 9"/>
          <p:cNvSpPr/>
          <p:nvPr/>
        </p:nvSpPr>
        <p:spPr>
          <a:xfrm>
            <a:off x="457200" y="2121408"/>
            <a:ext cx="4937760" cy="365760"/>
          </a:xfrm>
          <a:prstGeom prst="roundRect">
            <a:avLst>
              <a:gd name="adj" fmla="val 15000"/>
            </a:avLst>
          </a:prstGeom>
          <a:solidFill>
            <a:srgbClr val="F3F6F8"/>
          </a:solidFill>
          <a:ln w="12700">
            <a:solidFill>
              <a:srgbClr val="F3F6F8"/>
            </a:solidFill>
            <a:prstDash val="solid"/>
          </a:ln>
        </p:spPr>
      </p:sp>
      <p:sp>
        <p:nvSpPr>
          <p:cNvPr id="12" name="Text 10"/>
          <p:cNvSpPr txBox="1"/>
          <p:nvPr/>
        </p:nvSpPr>
        <p:spPr>
          <a:xfrm>
            <a:off x="594360" y="2121408"/>
            <a:ext cx="2286000"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Practical assignments</a:t>
            </a:r>
            <a:endParaRPr lang="en-US" sz="1150" dirty="0"/>
          </a:p>
        </p:txBody>
      </p:sp>
      <p:sp>
        <p:nvSpPr>
          <p:cNvPr id="13" name="Text 11"/>
          <p:cNvSpPr txBox="1"/>
          <p:nvPr/>
        </p:nvSpPr>
        <p:spPr>
          <a:xfrm>
            <a:off x="2926080" y="2121408"/>
            <a:ext cx="2377440" cy="365760"/>
          </a:xfrm>
          <a:prstGeom prst="rect">
            <a:avLst/>
          </a:prstGeom>
          <a:noFill/>
          <a:ln/>
        </p:spPr>
        <p:txBody>
          <a:bodyPr wrap="square" lIns="0" tIns="0" rIns="0" bIns="0" rtlCol="0" anchor="ctr"/>
          <a:lstStyle/>
          <a:p>
            <a:pPr indent="0" marL="0">
              <a:buNone/>
            </a:pPr>
            <a:r>
              <a:rPr lang="en-US" sz="1050" dirty="0">
                <a:solidFill>
                  <a:srgbClr val="2B3A4A"/>
                </a:solidFill>
                <a:latin typeface="Calibri" pitchFamily="34" charset="0"/>
                <a:ea typeface="Calibri" pitchFamily="34" charset="-122"/>
                <a:cs typeface="Calibri" pitchFamily="34" charset="-120"/>
              </a:rPr>
              <a:t>Module deliverables submitted</a:t>
            </a:r>
            <a:endParaRPr lang="en-US" sz="1050" dirty="0"/>
          </a:p>
        </p:txBody>
      </p:sp>
      <p:sp>
        <p:nvSpPr>
          <p:cNvPr id="14" name="Shape 12"/>
          <p:cNvSpPr/>
          <p:nvPr/>
        </p:nvSpPr>
        <p:spPr>
          <a:xfrm>
            <a:off x="457200" y="2542032"/>
            <a:ext cx="4937760" cy="365760"/>
          </a:xfrm>
          <a:prstGeom prst="roundRect">
            <a:avLst>
              <a:gd name="adj" fmla="val 15000"/>
            </a:avLst>
          </a:prstGeom>
          <a:solidFill>
            <a:srgbClr val="E0EFED"/>
          </a:solidFill>
          <a:ln w="12700">
            <a:solidFill>
              <a:srgbClr val="E0EFED"/>
            </a:solidFill>
            <a:prstDash val="solid"/>
          </a:ln>
        </p:spPr>
      </p:sp>
      <p:sp>
        <p:nvSpPr>
          <p:cNvPr id="15" name="Text 13"/>
          <p:cNvSpPr txBox="1"/>
          <p:nvPr/>
        </p:nvSpPr>
        <p:spPr>
          <a:xfrm>
            <a:off x="594360" y="2542032"/>
            <a:ext cx="2286000"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Video project</a:t>
            </a:r>
            <a:endParaRPr lang="en-US" sz="1150" dirty="0"/>
          </a:p>
        </p:txBody>
      </p:sp>
      <p:sp>
        <p:nvSpPr>
          <p:cNvPr id="16" name="Text 14"/>
          <p:cNvSpPr txBox="1"/>
          <p:nvPr/>
        </p:nvSpPr>
        <p:spPr>
          <a:xfrm>
            <a:off x="2926080" y="2542032"/>
            <a:ext cx="2377440" cy="365760"/>
          </a:xfrm>
          <a:prstGeom prst="rect">
            <a:avLst/>
          </a:prstGeom>
          <a:noFill/>
          <a:ln/>
        </p:spPr>
        <p:txBody>
          <a:bodyPr wrap="square" lIns="0" tIns="0" rIns="0" bIns="0" rtlCol="0" anchor="ctr"/>
          <a:lstStyle/>
          <a:p>
            <a:pPr indent="0" marL="0">
              <a:buNone/>
            </a:pPr>
            <a:r>
              <a:rPr lang="en-US" sz="1050" dirty="0">
                <a:solidFill>
                  <a:srgbClr val="2B3A4A"/>
                </a:solidFill>
                <a:latin typeface="Calibri" pitchFamily="34" charset="0"/>
                <a:ea typeface="Calibri" pitchFamily="34" charset="-122"/>
                <a:cs typeface="Calibri" pitchFamily="34" charset="-120"/>
              </a:rPr>
              <a:t>Edited video meets the rubric</a:t>
            </a:r>
            <a:endParaRPr lang="en-US" sz="1050" dirty="0"/>
          </a:p>
        </p:txBody>
      </p:sp>
      <p:sp>
        <p:nvSpPr>
          <p:cNvPr id="17" name="Shape 15"/>
          <p:cNvSpPr/>
          <p:nvPr/>
        </p:nvSpPr>
        <p:spPr>
          <a:xfrm>
            <a:off x="457200" y="2962656"/>
            <a:ext cx="4937760" cy="365760"/>
          </a:xfrm>
          <a:prstGeom prst="roundRect">
            <a:avLst>
              <a:gd name="adj" fmla="val 15000"/>
            </a:avLst>
          </a:prstGeom>
          <a:solidFill>
            <a:srgbClr val="E0EFED"/>
          </a:solidFill>
          <a:ln w="12700">
            <a:solidFill>
              <a:srgbClr val="E0EFED"/>
            </a:solidFill>
            <a:prstDash val="solid"/>
          </a:ln>
        </p:spPr>
      </p:sp>
      <p:sp>
        <p:nvSpPr>
          <p:cNvPr id="18" name="Text 16"/>
          <p:cNvSpPr txBox="1"/>
          <p:nvPr/>
        </p:nvSpPr>
        <p:spPr>
          <a:xfrm>
            <a:off x="594360" y="2962656"/>
            <a:ext cx="2286000"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Automation project</a:t>
            </a:r>
            <a:endParaRPr lang="en-US" sz="1150" dirty="0"/>
          </a:p>
        </p:txBody>
      </p:sp>
      <p:sp>
        <p:nvSpPr>
          <p:cNvPr id="19" name="Text 17"/>
          <p:cNvSpPr txBox="1"/>
          <p:nvPr/>
        </p:nvSpPr>
        <p:spPr>
          <a:xfrm>
            <a:off x="2926080" y="2962656"/>
            <a:ext cx="2377440" cy="365760"/>
          </a:xfrm>
          <a:prstGeom prst="rect">
            <a:avLst/>
          </a:prstGeom>
          <a:noFill/>
          <a:ln/>
        </p:spPr>
        <p:txBody>
          <a:bodyPr wrap="square" lIns="0" tIns="0" rIns="0" bIns="0" rtlCol="0" anchor="ctr"/>
          <a:lstStyle/>
          <a:p>
            <a:pPr indent="0" marL="0">
              <a:buNone/>
            </a:pPr>
            <a:r>
              <a:rPr lang="en-US" sz="1050" dirty="0">
                <a:solidFill>
                  <a:srgbClr val="2B3A4A"/>
                </a:solidFill>
                <a:latin typeface="Calibri" pitchFamily="34" charset="0"/>
                <a:ea typeface="Calibri" pitchFamily="34" charset="-122"/>
                <a:cs typeface="Calibri" pitchFamily="34" charset="-120"/>
              </a:rPr>
              <a:t>Workflow runs end to end</a:t>
            </a:r>
            <a:endParaRPr lang="en-US" sz="1050" dirty="0"/>
          </a:p>
        </p:txBody>
      </p:sp>
      <p:sp>
        <p:nvSpPr>
          <p:cNvPr id="20" name="Shape 18"/>
          <p:cNvSpPr/>
          <p:nvPr/>
        </p:nvSpPr>
        <p:spPr>
          <a:xfrm>
            <a:off x="457200" y="3383280"/>
            <a:ext cx="4937760" cy="365760"/>
          </a:xfrm>
          <a:prstGeom prst="roundRect">
            <a:avLst>
              <a:gd name="adj" fmla="val 15000"/>
            </a:avLst>
          </a:prstGeom>
          <a:solidFill>
            <a:srgbClr val="E0EFED"/>
          </a:solidFill>
          <a:ln w="12700">
            <a:solidFill>
              <a:srgbClr val="E0EFED"/>
            </a:solidFill>
            <a:prstDash val="solid"/>
          </a:ln>
        </p:spPr>
      </p:sp>
      <p:sp>
        <p:nvSpPr>
          <p:cNvPr id="21" name="Text 19"/>
          <p:cNvSpPr txBox="1"/>
          <p:nvPr/>
        </p:nvSpPr>
        <p:spPr>
          <a:xfrm>
            <a:off x="594360" y="3383280"/>
            <a:ext cx="2286000"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Capstone &amp; presentation</a:t>
            </a:r>
            <a:endParaRPr lang="en-US" sz="1150" dirty="0"/>
          </a:p>
        </p:txBody>
      </p:sp>
      <p:sp>
        <p:nvSpPr>
          <p:cNvPr id="22" name="Text 20"/>
          <p:cNvSpPr txBox="1"/>
          <p:nvPr/>
        </p:nvSpPr>
        <p:spPr>
          <a:xfrm>
            <a:off x="2926080" y="3383280"/>
            <a:ext cx="2377440" cy="365760"/>
          </a:xfrm>
          <a:prstGeom prst="rect">
            <a:avLst/>
          </a:prstGeom>
          <a:noFill/>
          <a:ln/>
        </p:spPr>
        <p:txBody>
          <a:bodyPr wrap="square" lIns="0" tIns="0" rIns="0" bIns="0" rtlCol="0" anchor="ctr"/>
          <a:lstStyle/>
          <a:p>
            <a:pPr indent="0" marL="0">
              <a:buNone/>
            </a:pPr>
            <a:r>
              <a:rPr lang="en-US" sz="1050" dirty="0">
                <a:solidFill>
                  <a:srgbClr val="2B3A4A"/>
                </a:solidFill>
                <a:latin typeface="Calibri" pitchFamily="34" charset="0"/>
                <a:ea typeface="Calibri" pitchFamily="34" charset="-122"/>
                <a:cs typeface="Calibri" pitchFamily="34" charset="-120"/>
              </a:rPr>
              <a:t>Rubric score of 3/4 or higher</a:t>
            </a:r>
            <a:endParaRPr lang="en-US" sz="1050" dirty="0"/>
          </a:p>
        </p:txBody>
      </p:sp>
      <p:sp>
        <p:nvSpPr>
          <p:cNvPr id="23" name="Shape 21"/>
          <p:cNvSpPr/>
          <p:nvPr/>
        </p:nvSpPr>
        <p:spPr>
          <a:xfrm>
            <a:off x="457200" y="3803904"/>
            <a:ext cx="4937760" cy="365760"/>
          </a:xfrm>
          <a:prstGeom prst="roundRect">
            <a:avLst>
              <a:gd name="adj" fmla="val 15000"/>
            </a:avLst>
          </a:prstGeom>
          <a:solidFill>
            <a:srgbClr val="FCEBD3"/>
          </a:solidFill>
          <a:ln w="12700">
            <a:solidFill>
              <a:srgbClr val="FCEBD3"/>
            </a:solidFill>
            <a:prstDash val="solid"/>
          </a:ln>
        </p:spPr>
      </p:sp>
      <p:sp>
        <p:nvSpPr>
          <p:cNvPr id="24" name="Text 22"/>
          <p:cNvSpPr txBox="1"/>
          <p:nvPr/>
        </p:nvSpPr>
        <p:spPr>
          <a:xfrm>
            <a:off x="594360" y="3803904"/>
            <a:ext cx="2286000"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Portfolio completion</a:t>
            </a:r>
            <a:endParaRPr lang="en-US" sz="1150" dirty="0"/>
          </a:p>
        </p:txBody>
      </p:sp>
      <p:sp>
        <p:nvSpPr>
          <p:cNvPr id="25" name="Text 23"/>
          <p:cNvSpPr txBox="1"/>
          <p:nvPr/>
        </p:nvSpPr>
        <p:spPr>
          <a:xfrm>
            <a:off x="2926080" y="3803904"/>
            <a:ext cx="2377440" cy="365760"/>
          </a:xfrm>
          <a:prstGeom prst="rect">
            <a:avLst/>
          </a:prstGeom>
          <a:noFill/>
          <a:ln/>
        </p:spPr>
        <p:txBody>
          <a:bodyPr wrap="square" lIns="0" tIns="0" rIns="0" bIns="0" rtlCol="0" anchor="ctr"/>
          <a:lstStyle/>
          <a:p>
            <a:pPr indent="0" marL="0">
              <a:buNone/>
            </a:pPr>
            <a:r>
              <a:rPr lang="en-US" sz="1050" dirty="0">
                <a:solidFill>
                  <a:srgbClr val="2B3A4A"/>
                </a:solidFill>
                <a:latin typeface="Calibri" pitchFamily="34" charset="0"/>
                <a:ea typeface="Calibri" pitchFamily="34" charset="-122"/>
                <a:cs typeface="Calibri" pitchFamily="34" charset="-120"/>
              </a:rPr>
              <a:t>Published page with 3+ pieces</a:t>
            </a:r>
            <a:endParaRPr lang="en-US" sz="1050" dirty="0"/>
          </a:p>
        </p:txBody>
      </p:sp>
      <p:sp>
        <p:nvSpPr>
          <p:cNvPr id="26" name="Shape 24"/>
          <p:cNvSpPr/>
          <p:nvPr/>
        </p:nvSpPr>
        <p:spPr>
          <a:xfrm>
            <a:off x="457200" y="4224528"/>
            <a:ext cx="4937760" cy="365760"/>
          </a:xfrm>
          <a:prstGeom prst="roundRect">
            <a:avLst>
              <a:gd name="adj" fmla="val 15000"/>
            </a:avLst>
          </a:prstGeom>
          <a:solidFill>
            <a:srgbClr val="FCEBD3"/>
          </a:solidFill>
          <a:ln w="12700">
            <a:solidFill>
              <a:srgbClr val="FCEBD3"/>
            </a:solidFill>
            <a:prstDash val="solid"/>
          </a:ln>
        </p:spPr>
      </p:sp>
      <p:sp>
        <p:nvSpPr>
          <p:cNvPr id="27" name="Text 25"/>
          <p:cNvSpPr txBox="1"/>
          <p:nvPr/>
        </p:nvSpPr>
        <p:spPr>
          <a:xfrm>
            <a:off x="594360" y="4224528"/>
            <a:ext cx="2286000"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Freelance readiness</a:t>
            </a:r>
            <a:endParaRPr lang="en-US" sz="1150" dirty="0"/>
          </a:p>
        </p:txBody>
      </p:sp>
      <p:sp>
        <p:nvSpPr>
          <p:cNvPr id="28" name="Text 26"/>
          <p:cNvSpPr txBox="1"/>
          <p:nvPr/>
        </p:nvSpPr>
        <p:spPr>
          <a:xfrm>
            <a:off x="2926080" y="4224528"/>
            <a:ext cx="2377440" cy="365760"/>
          </a:xfrm>
          <a:prstGeom prst="rect">
            <a:avLst/>
          </a:prstGeom>
          <a:noFill/>
          <a:ln/>
        </p:spPr>
        <p:txBody>
          <a:bodyPr wrap="square" lIns="0" tIns="0" rIns="0" bIns="0" rtlCol="0" anchor="ctr"/>
          <a:lstStyle/>
          <a:p>
            <a:pPr indent="0" marL="0">
              <a:buNone/>
            </a:pPr>
            <a:r>
              <a:rPr lang="en-US" sz="1050" dirty="0">
                <a:solidFill>
                  <a:srgbClr val="2B3A4A"/>
                </a:solidFill>
                <a:latin typeface="Calibri" pitchFamily="34" charset="0"/>
                <a:ea typeface="Calibri" pitchFamily="34" charset="-122"/>
                <a:cs typeface="Calibri" pitchFamily="34" charset="-120"/>
              </a:rPr>
              <a:t>Readiness checklist completed</a:t>
            </a:r>
            <a:endParaRPr lang="en-US" sz="1050" dirty="0"/>
          </a:p>
        </p:txBody>
      </p:sp>
      <p:sp>
        <p:nvSpPr>
          <p:cNvPr id="29" name="Shape 27"/>
          <p:cNvSpPr/>
          <p:nvPr/>
        </p:nvSpPr>
        <p:spPr>
          <a:xfrm>
            <a:off x="5577840" y="1280160"/>
            <a:ext cx="3108960" cy="3310128"/>
          </a:xfrm>
          <a:prstGeom prst="roundRect">
            <a:avLst>
              <a:gd name="adj" fmla="val 1765"/>
            </a:avLst>
          </a:prstGeom>
          <a:solidFill>
            <a:srgbClr val="F3F6F8"/>
          </a:solidFill>
          <a:ln w="12700">
            <a:solidFill>
              <a:srgbClr val="F3F6F8"/>
            </a:solidFill>
            <a:prstDash val="solid"/>
          </a:ln>
        </p:spPr>
      </p:sp>
      <p:sp>
        <p:nvSpPr>
          <p:cNvPr id="30" name="Shape 28"/>
          <p:cNvSpPr/>
          <p:nvPr/>
        </p:nvSpPr>
        <p:spPr>
          <a:xfrm>
            <a:off x="5715000" y="1399032"/>
            <a:ext cx="384048" cy="384048"/>
          </a:xfrm>
          <a:prstGeom prst="ellipse">
            <a:avLst/>
          </a:prstGeom>
          <a:solidFill>
            <a:srgbClr val="0A8577"/>
          </a:solidFill>
          <a:ln w="12700">
            <a:solidFill>
              <a:srgbClr val="0A8577"/>
            </a:solidFill>
            <a:prstDash val="solid"/>
          </a:ln>
        </p:spPr>
      </p:sp>
      <p:sp>
        <p:nvSpPr>
          <p:cNvPr id="31" name="Text 29"/>
          <p:cNvSpPr txBox="1"/>
          <p:nvPr/>
        </p:nvSpPr>
        <p:spPr>
          <a:xfrm>
            <a:off x="6190488" y="1399032"/>
            <a:ext cx="2377440" cy="384048"/>
          </a:xfrm>
          <a:prstGeom prst="rect">
            <a:avLst/>
          </a:prstGeom>
          <a:noFill/>
          <a:ln/>
        </p:spPr>
        <p:txBody>
          <a:bodyPr wrap="square" lIns="0" tIns="0" rIns="0" bIns="0" rtlCol="0" anchor="ctr"/>
          <a:lstStyle/>
          <a:p>
            <a:pPr indent="0" marL="0">
              <a:buNone/>
            </a:pPr>
            <a:r>
              <a:rPr lang="en-US" sz="1400" b="1" dirty="0">
                <a:solidFill>
                  <a:srgbClr val="0A8577"/>
                </a:solidFill>
                <a:latin typeface="Calibri" pitchFamily="34" charset="0"/>
                <a:ea typeface="Calibri" pitchFamily="34" charset="-122"/>
                <a:cs typeface="Calibri" pitchFamily="34" charset="-120"/>
              </a:rPr>
              <a:t>Key targets (proposed)</a:t>
            </a:r>
            <a:endParaRPr lang="en-US" sz="1400" dirty="0"/>
          </a:p>
        </p:txBody>
      </p:sp>
      <p:sp>
        <p:nvSpPr>
          <p:cNvPr id="32" name="Text 30"/>
          <p:cNvSpPr txBox="1"/>
          <p:nvPr/>
        </p:nvSpPr>
        <p:spPr>
          <a:xfrm>
            <a:off x="5733288" y="1892808"/>
            <a:ext cx="2834640" cy="219456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B3A4A"/>
                </a:solidFill>
                <a:latin typeface="Calibri" pitchFamily="34" charset="0"/>
                <a:ea typeface="Calibri" pitchFamily="34" charset="-122"/>
                <a:cs typeface="Calibri" pitchFamily="34" charset="-120"/>
              </a:rPr>
              <a:t>85% complete the program</a:t>
            </a:r>
            <a:endParaRPr lang="en-US" sz="1100" dirty="0"/>
          </a:p>
          <a:p>
            <a:pPr marL="152400" indent="-152400">
              <a:spcAft>
                <a:spcPts val="500"/>
              </a:spcAft>
              <a:buSzPct val="100000"/>
              <a:buChar char="•"/>
            </a:pPr>
            <a:r>
              <a:rPr lang="en-US" sz="1100" dirty="0">
                <a:solidFill>
                  <a:srgbClr val="2B3A4A"/>
                </a:solidFill>
                <a:latin typeface="Calibri" pitchFamily="34" charset="0"/>
                <a:ea typeface="Calibri" pitchFamily="34" charset="-122"/>
                <a:cs typeface="Calibri" pitchFamily="34" charset="-120"/>
              </a:rPr>
              <a:t>+25 points average gain</a:t>
            </a:r>
            <a:endParaRPr lang="en-US" sz="1100" dirty="0"/>
          </a:p>
          <a:p>
            <a:pPr marL="152400" indent="-152400">
              <a:spcAft>
                <a:spcPts val="500"/>
              </a:spcAft>
              <a:buSzPct val="100000"/>
              <a:buChar char="•"/>
            </a:pPr>
            <a:r>
              <a:rPr lang="en-US" sz="1100" dirty="0">
                <a:solidFill>
                  <a:srgbClr val="2B3A4A"/>
                </a:solidFill>
                <a:latin typeface="Calibri" pitchFamily="34" charset="0"/>
                <a:ea typeface="Calibri" pitchFamily="34" charset="-122"/>
                <a:cs typeface="Calibri" pitchFamily="34" charset="-120"/>
              </a:rPr>
              <a:t>90% of deliverables submitted</a:t>
            </a:r>
            <a:endParaRPr lang="en-US" sz="1100" dirty="0"/>
          </a:p>
          <a:p>
            <a:pPr marL="152400" indent="-152400">
              <a:spcAft>
                <a:spcPts val="500"/>
              </a:spcAft>
              <a:buSzPct val="100000"/>
              <a:buChar char="•"/>
            </a:pPr>
            <a:r>
              <a:rPr lang="en-US" sz="1100" dirty="0">
                <a:solidFill>
                  <a:srgbClr val="2B3A4A"/>
                </a:solidFill>
                <a:latin typeface="Calibri" pitchFamily="34" charset="0"/>
                <a:ea typeface="Calibri" pitchFamily="34" charset="-122"/>
                <a:cs typeface="Calibri" pitchFamily="34" charset="-120"/>
              </a:rPr>
              <a:t>85% complete the video project</a:t>
            </a:r>
            <a:endParaRPr lang="en-US" sz="1100" dirty="0"/>
          </a:p>
          <a:p>
            <a:pPr marL="152400" indent="-152400">
              <a:spcAft>
                <a:spcPts val="500"/>
              </a:spcAft>
              <a:buSzPct val="100000"/>
              <a:buChar char="•"/>
            </a:pPr>
            <a:r>
              <a:rPr lang="en-US" sz="1100" dirty="0">
                <a:solidFill>
                  <a:srgbClr val="2B3A4A"/>
                </a:solidFill>
                <a:latin typeface="Calibri" pitchFamily="34" charset="0"/>
                <a:ea typeface="Calibri" pitchFamily="34" charset="-122"/>
                <a:cs typeface="Calibri" pitchFamily="34" charset="-120"/>
              </a:rPr>
              <a:t>80% build a working automation</a:t>
            </a:r>
            <a:endParaRPr lang="en-US" sz="1100" dirty="0"/>
          </a:p>
          <a:p>
            <a:pPr marL="152400" indent="-152400">
              <a:spcAft>
                <a:spcPts val="500"/>
              </a:spcAft>
              <a:buSzPct val="100000"/>
              <a:buChar char="•"/>
            </a:pPr>
            <a:r>
              <a:rPr lang="en-US" sz="1100" dirty="0">
                <a:solidFill>
                  <a:srgbClr val="2B3A4A"/>
                </a:solidFill>
                <a:latin typeface="Calibri" pitchFamily="34" charset="0"/>
                <a:ea typeface="Calibri" pitchFamily="34" charset="-122"/>
                <a:cs typeface="Calibri" pitchFamily="34" charset="-120"/>
              </a:rPr>
              <a:t>80% of teams score 3/4+ on the capstone</a:t>
            </a:r>
            <a:endParaRPr lang="en-US" sz="1100" dirty="0"/>
          </a:p>
          <a:p>
            <a:pPr marL="152400" indent="-152400">
              <a:spcAft>
                <a:spcPts val="500"/>
              </a:spcAft>
              <a:buSzPct val="100000"/>
              <a:buChar char="•"/>
            </a:pPr>
            <a:r>
              <a:rPr lang="en-US" sz="1100" dirty="0">
                <a:solidFill>
                  <a:srgbClr val="2B3A4A"/>
                </a:solidFill>
                <a:latin typeface="Calibri" pitchFamily="34" charset="0"/>
                <a:ea typeface="Calibri" pitchFamily="34" charset="-122"/>
                <a:cs typeface="Calibri" pitchFamily="34" charset="-120"/>
              </a:rPr>
              <a:t>80% publish a portfolio</a:t>
            </a:r>
            <a:endParaRPr lang="en-US" sz="1100" dirty="0"/>
          </a:p>
          <a:p>
            <a:pPr marL="152400" indent="-152400">
              <a:spcAft>
                <a:spcPts val="500"/>
              </a:spcAft>
              <a:buSzPct val="100000"/>
              <a:buChar char="•"/>
            </a:pPr>
            <a:r>
              <a:rPr lang="en-US" sz="1100" dirty="0">
                <a:solidFill>
                  <a:srgbClr val="2B3A4A"/>
                </a:solidFill>
                <a:latin typeface="Calibri" pitchFamily="34" charset="0"/>
                <a:ea typeface="Calibri" pitchFamily="34" charset="-122"/>
                <a:cs typeface="Calibri" pitchFamily="34" charset="-120"/>
              </a:rPr>
              <a:t>75% meet the readiness checklist</a:t>
            </a:r>
            <a:endParaRPr lang="en-US" sz="1100" dirty="0"/>
          </a:p>
        </p:txBody>
      </p:sp>
      <p:sp>
        <p:nvSpPr>
          <p:cNvPr id="33" name="Text 31"/>
          <p:cNvSpPr txBox="1"/>
          <p:nvPr/>
        </p:nvSpPr>
        <p:spPr>
          <a:xfrm>
            <a:off x="5733288" y="4160520"/>
            <a:ext cx="2834640" cy="365760"/>
          </a:xfrm>
          <a:prstGeom prst="rect">
            <a:avLst/>
          </a:prstGeom>
          <a:noFill/>
          <a:ln/>
        </p:spPr>
        <p:txBody>
          <a:bodyPr wrap="square" lIns="0" tIns="0" rIns="0" bIns="0" rtlCol="0" anchor="t"/>
          <a:lstStyle/>
          <a:p>
            <a:pPr indent="0" marL="0">
              <a:buNone/>
            </a:pPr>
            <a:r>
              <a:rPr lang="en-US" sz="1050" i="1" dirty="0">
                <a:solidFill>
                  <a:srgbClr val="586676"/>
                </a:solidFill>
                <a:latin typeface="Calibri" pitchFamily="34" charset="0"/>
                <a:ea typeface="Calibri" pitchFamily="34" charset="-122"/>
                <a:cs typeface="Calibri" pitchFamily="34" charset="-120"/>
              </a:rPr>
              <a:t>Income is not used as a headline indicator.</a:t>
            </a:r>
            <a:endParaRPr lang="en-US" sz="1050" dirty="0"/>
          </a:p>
        </p:txBody>
      </p:sp>
      <p:pic>
        <p:nvPicPr>
          <p:cNvPr id="34" name="Image 0" descr="preencoded.png">    </p:cNvPr>
          <p:cNvPicPr>
            <a:picLocks noChangeAspect="1"/>
          </p:cNvPicPr>
          <p:nvPr/>
        </p:nvPicPr>
        <p:blipFill>
          <a:blip r:embed="rId1"/>
          <a:stretch>
            <a:fillRect/>
          </a:stretch>
        </p:blipFill>
        <p:spPr>
          <a:xfrm>
            <a:off x="5811012" y="1495044"/>
            <a:ext cx="192024" cy="192024"/>
          </a:xfrm>
          <a:prstGeom prst="rect">
            <a:avLst/>
          </a:prstGeom>
        </p:spPr>
      </p:pic>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13  ·  RESPONSIBLE AI</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Responsible AI, built into every module</a:t>
            </a:r>
            <a:endParaRPr lang="en-US" sz="2500" dirty="0"/>
          </a:p>
        </p:txBody>
      </p:sp>
      <p:sp>
        <p:nvSpPr>
          <p:cNvPr id="5" name="Shape 3"/>
          <p:cNvSpPr/>
          <p:nvPr/>
        </p:nvSpPr>
        <p:spPr>
          <a:xfrm>
            <a:off x="457200" y="1298448"/>
            <a:ext cx="2651760" cy="1188720"/>
          </a:xfrm>
          <a:prstGeom prst="roundRect">
            <a:avLst>
              <a:gd name="adj" fmla="val 4615"/>
            </a:avLst>
          </a:prstGeom>
          <a:solidFill>
            <a:srgbClr val="F3F6F8"/>
          </a:solidFill>
          <a:ln w="12700">
            <a:solidFill>
              <a:srgbClr val="F3F6F8"/>
            </a:solidFill>
            <a:prstDash val="solid"/>
          </a:ln>
        </p:spPr>
      </p:sp>
      <p:sp>
        <p:nvSpPr>
          <p:cNvPr id="6" name="Shape 4"/>
          <p:cNvSpPr/>
          <p:nvPr/>
        </p:nvSpPr>
        <p:spPr>
          <a:xfrm>
            <a:off x="594360" y="1435608"/>
            <a:ext cx="402336" cy="402336"/>
          </a:xfrm>
          <a:prstGeom prst="ellipse">
            <a:avLst/>
          </a:prstGeom>
          <a:solidFill>
            <a:srgbClr val="0A8577"/>
          </a:solidFill>
          <a:ln w="12700">
            <a:solidFill>
              <a:srgbClr val="0A8577"/>
            </a:solidFill>
            <a:prstDash val="solid"/>
          </a:ln>
        </p:spPr>
      </p:sp>
      <p:sp>
        <p:nvSpPr>
          <p:cNvPr id="7" name="Text 5"/>
          <p:cNvSpPr txBox="1"/>
          <p:nvPr/>
        </p:nvSpPr>
        <p:spPr>
          <a:xfrm>
            <a:off x="1097280" y="1435608"/>
            <a:ext cx="1920240" cy="402336"/>
          </a:xfrm>
          <a:prstGeom prst="rect">
            <a:avLst/>
          </a:prstGeom>
          <a:noFill/>
          <a:ln/>
        </p:spPr>
        <p:txBody>
          <a:bodyPr wrap="square" lIns="0" tIns="0" rIns="0" bIns="0" rtlCol="0" anchor="ctr"/>
          <a:lstStyle/>
          <a:p>
            <a:pPr indent="0" marL="0">
              <a:buNone/>
            </a:pPr>
            <a:r>
              <a:rPr lang="en-US" sz="1300" b="1" dirty="0">
                <a:solidFill>
                  <a:srgbClr val="0A8577"/>
                </a:solidFill>
                <a:latin typeface="Calibri" pitchFamily="34" charset="0"/>
                <a:ea typeface="Calibri" pitchFamily="34" charset="-122"/>
                <a:cs typeface="Calibri" pitchFamily="34" charset="-120"/>
              </a:rPr>
              <a:t>Checked tools</a:t>
            </a:r>
            <a:endParaRPr lang="en-US" sz="1300" dirty="0"/>
          </a:p>
        </p:txBody>
      </p:sp>
      <p:sp>
        <p:nvSpPr>
          <p:cNvPr id="8" name="Text 6"/>
          <p:cNvSpPr txBox="1"/>
          <p:nvPr/>
        </p:nvSpPr>
        <p:spPr>
          <a:xfrm>
            <a:off x="594360" y="1938528"/>
            <a:ext cx="2395728" cy="502920"/>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Every tool is checked against its terms before each cohort</a:t>
            </a:r>
            <a:endParaRPr lang="en-US" sz="1100" dirty="0"/>
          </a:p>
        </p:txBody>
      </p:sp>
      <p:sp>
        <p:nvSpPr>
          <p:cNvPr id="9" name="Shape 7"/>
          <p:cNvSpPr/>
          <p:nvPr/>
        </p:nvSpPr>
        <p:spPr>
          <a:xfrm>
            <a:off x="3246120" y="1298448"/>
            <a:ext cx="2651760" cy="1188720"/>
          </a:xfrm>
          <a:prstGeom prst="roundRect">
            <a:avLst>
              <a:gd name="adj" fmla="val 4615"/>
            </a:avLst>
          </a:prstGeom>
          <a:solidFill>
            <a:srgbClr val="F3F6F8"/>
          </a:solidFill>
          <a:ln w="12700">
            <a:solidFill>
              <a:srgbClr val="F3F6F8"/>
            </a:solidFill>
            <a:prstDash val="solid"/>
          </a:ln>
        </p:spPr>
      </p:sp>
      <p:sp>
        <p:nvSpPr>
          <p:cNvPr id="10" name="Shape 8"/>
          <p:cNvSpPr/>
          <p:nvPr/>
        </p:nvSpPr>
        <p:spPr>
          <a:xfrm>
            <a:off x="3383280" y="1435608"/>
            <a:ext cx="402336" cy="402336"/>
          </a:xfrm>
          <a:prstGeom prst="ellipse">
            <a:avLst/>
          </a:prstGeom>
          <a:solidFill>
            <a:srgbClr val="0A8577"/>
          </a:solidFill>
          <a:ln w="12700">
            <a:solidFill>
              <a:srgbClr val="0A8577"/>
            </a:solidFill>
            <a:prstDash val="solid"/>
          </a:ln>
        </p:spPr>
      </p:sp>
      <p:sp>
        <p:nvSpPr>
          <p:cNvPr id="11" name="Text 9"/>
          <p:cNvSpPr txBox="1"/>
          <p:nvPr/>
        </p:nvSpPr>
        <p:spPr>
          <a:xfrm>
            <a:off x="3886200" y="1435608"/>
            <a:ext cx="1920240" cy="402336"/>
          </a:xfrm>
          <a:prstGeom prst="rect">
            <a:avLst/>
          </a:prstGeom>
          <a:noFill/>
          <a:ln/>
        </p:spPr>
        <p:txBody>
          <a:bodyPr wrap="square" lIns="0" tIns="0" rIns="0" bIns="0" rtlCol="0" anchor="ctr"/>
          <a:lstStyle/>
          <a:p>
            <a:pPr indent="0" marL="0">
              <a:buNone/>
            </a:pPr>
            <a:r>
              <a:rPr lang="en-US" sz="1300" b="1" dirty="0">
                <a:solidFill>
                  <a:srgbClr val="0A8577"/>
                </a:solidFill>
                <a:latin typeface="Calibri" pitchFamily="34" charset="0"/>
                <a:ea typeface="Calibri" pitchFamily="34" charset="-122"/>
                <a:cs typeface="Calibri" pitchFamily="34" charset="-120"/>
              </a:rPr>
              <a:t>No real likeness</a:t>
            </a:r>
            <a:endParaRPr lang="en-US" sz="1300" dirty="0"/>
          </a:p>
        </p:txBody>
      </p:sp>
      <p:sp>
        <p:nvSpPr>
          <p:cNvPr id="12" name="Text 10"/>
          <p:cNvSpPr txBox="1"/>
          <p:nvPr/>
        </p:nvSpPr>
        <p:spPr>
          <a:xfrm>
            <a:off x="3383280" y="1938528"/>
            <a:ext cx="2395728" cy="502920"/>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No real person's face or voice is generated without consent</a:t>
            </a:r>
            <a:endParaRPr lang="en-US" sz="1100" dirty="0"/>
          </a:p>
        </p:txBody>
      </p:sp>
      <p:sp>
        <p:nvSpPr>
          <p:cNvPr id="13" name="Shape 11"/>
          <p:cNvSpPr/>
          <p:nvPr/>
        </p:nvSpPr>
        <p:spPr>
          <a:xfrm>
            <a:off x="6035040" y="1298448"/>
            <a:ext cx="2651760" cy="1188720"/>
          </a:xfrm>
          <a:prstGeom prst="roundRect">
            <a:avLst>
              <a:gd name="adj" fmla="val 4615"/>
            </a:avLst>
          </a:prstGeom>
          <a:solidFill>
            <a:srgbClr val="F3F6F8"/>
          </a:solidFill>
          <a:ln w="12700">
            <a:solidFill>
              <a:srgbClr val="F3F6F8"/>
            </a:solidFill>
            <a:prstDash val="solid"/>
          </a:ln>
        </p:spPr>
      </p:sp>
      <p:sp>
        <p:nvSpPr>
          <p:cNvPr id="14" name="Shape 12"/>
          <p:cNvSpPr/>
          <p:nvPr/>
        </p:nvSpPr>
        <p:spPr>
          <a:xfrm>
            <a:off x="6172200" y="1435608"/>
            <a:ext cx="402336" cy="402336"/>
          </a:xfrm>
          <a:prstGeom prst="ellipse">
            <a:avLst/>
          </a:prstGeom>
          <a:solidFill>
            <a:srgbClr val="0A8577"/>
          </a:solidFill>
          <a:ln w="12700">
            <a:solidFill>
              <a:srgbClr val="0A8577"/>
            </a:solidFill>
            <a:prstDash val="solid"/>
          </a:ln>
        </p:spPr>
      </p:sp>
      <p:sp>
        <p:nvSpPr>
          <p:cNvPr id="15" name="Text 13"/>
          <p:cNvSpPr txBox="1"/>
          <p:nvPr/>
        </p:nvSpPr>
        <p:spPr>
          <a:xfrm>
            <a:off x="6675120" y="1435608"/>
            <a:ext cx="1920240" cy="402336"/>
          </a:xfrm>
          <a:prstGeom prst="rect">
            <a:avLst/>
          </a:prstGeom>
          <a:noFill/>
          <a:ln/>
        </p:spPr>
        <p:txBody>
          <a:bodyPr wrap="square" lIns="0" tIns="0" rIns="0" bIns="0" rtlCol="0" anchor="ctr"/>
          <a:lstStyle/>
          <a:p>
            <a:pPr indent="0" marL="0">
              <a:buNone/>
            </a:pPr>
            <a:r>
              <a:rPr lang="en-US" sz="1300" b="1" dirty="0">
                <a:solidFill>
                  <a:srgbClr val="0A8577"/>
                </a:solidFill>
                <a:latin typeface="Calibri" pitchFamily="34" charset="0"/>
                <a:ea typeface="Calibri" pitchFamily="34" charset="-122"/>
                <a:cs typeface="Calibri" pitchFamily="34" charset="-120"/>
              </a:rPr>
              <a:t>Protected credentials</a:t>
            </a:r>
            <a:endParaRPr lang="en-US" sz="1300" dirty="0"/>
          </a:p>
        </p:txBody>
      </p:sp>
      <p:sp>
        <p:nvSpPr>
          <p:cNvPr id="16" name="Text 14"/>
          <p:cNvSpPr txBox="1"/>
          <p:nvPr/>
        </p:nvSpPr>
        <p:spPr>
          <a:xfrm>
            <a:off x="6172200" y="1938528"/>
            <a:ext cx="2395728" cy="502920"/>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API keys and logins are owned and managed by the program</a:t>
            </a:r>
            <a:endParaRPr lang="en-US" sz="1100" dirty="0"/>
          </a:p>
        </p:txBody>
      </p:sp>
      <p:sp>
        <p:nvSpPr>
          <p:cNvPr id="17" name="Shape 15"/>
          <p:cNvSpPr/>
          <p:nvPr/>
        </p:nvSpPr>
        <p:spPr>
          <a:xfrm>
            <a:off x="457200" y="2624328"/>
            <a:ext cx="2651760" cy="1188720"/>
          </a:xfrm>
          <a:prstGeom prst="roundRect">
            <a:avLst>
              <a:gd name="adj" fmla="val 4615"/>
            </a:avLst>
          </a:prstGeom>
          <a:solidFill>
            <a:srgbClr val="F3F6F8"/>
          </a:solidFill>
          <a:ln w="12700">
            <a:solidFill>
              <a:srgbClr val="F3F6F8"/>
            </a:solidFill>
            <a:prstDash val="solid"/>
          </a:ln>
        </p:spPr>
      </p:sp>
      <p:sp>
        <p:nvSpPr>
          <p:cNvPr id="18" name="Shape 16"/>
          <p:cNvSpPr/>
          <p:nvPr/>
        </p:nvSpPr>
        <p:spPr>
          <a:xfrm>
            <a:off x="594360" y="2761488"/>
            <a:ext cx="402336" cy="402336"/>
          </a:xfrm>
          <a:prstGeom prst="ellipse">
            <a:avLst/>
          </a:prstGeom>
          <a:solidFill>
            <a:srgbClr val="0A8577"/>
          </a:solidFill>
          <a:ln w="12700">
            <a:solidFill>
              <a:srgbClr val="0A8577"/>
            </a:solidFill>
            <a:prstDash val="solid"/>
          </a:ln>
        </p:spPr>
      </p:sp>
      <p:sp>
        <p:nvSpPr>
          <p:cNvPr id="19" name="Text 17"/>
          <p:cNvSpPr txBox="1"/>
          <p:nvPr/>
        </p:nvSpPr>
        <p:spPr>
          <a:xfrm>
            <a:off x="1097280" y="2761488"/>
            <a:ext cx="1920240" cy="402336"/>
          </a:xfrm>
          <a:prstGeom prst="rect">
            <a:avLst/>
          </a:prstGeom>
          <a:noFill/>
          <a:ln/>
        </p:spPr>
        <p:txBody>
          <a:bodyPr wrap="square" lIns="0" tIns="0" rIns="0" bIns="0" rtlCol="0" anchor="ctr"/>
          <a:lstStyle/>
          <a:p>
            <a:pPr indent="0" marL="0">
              <a:buNone/>
            </a:pPr>
            <a:r>
              <a:rPr lang="en-US" sz="1300" b="1" dirty="0">
                <a:solidFill>
                  <a:srgbClr val="0A8577"/>
                </a:solidFill>
                <a:latin typeface="Calibri" pitchFamily="34" charset="0"/>
                <a:ea typeface="Calibri" pitchFamily="34" charset="-122"/>
                <a:cs typeface="Calibri" pitchFamily="34" charset="-120"/>
              </a:rPr>
              <a:t>Verify before publishing</a:t>
            </a:r>
            <a:endParaRPr lang="en-US" sz="1300" dirty="0"/>
          </a:p>
        </p:txBody>
      </p:sp>
      <p:sp>
        <p:nvSpPr>
          <p:cNvPr id="20" name="Text 18"/>
          <p:cNvSpPr txBox="1"/>
          <p:nvPr/>
        </p:nvSpPr>
        <p:spPr>
          <a:xfrm>
            <a:off x="594360" y="3264408"/>
            <a:ext cx="2395728" cy="502920"/>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Facts are checked against sources; AI content is labelled</a:t>
            </a:r>
            <a:endParaRPr lang="en-US" sz="1100" dirty="0"/>
          </a:p>
        </p:txBody>
      </p:sp>
      <p:sp>
        <p:nvSpPr>
          <p:cNvPr id="21" name="Shape 19"/>
          <p:cNvSpPr/>
          <p:nvPr/>
        </p:nvSpPr>
        <p:spPr>
          <a:xfrm>
            <a:off x="3246120" y="2624328"/>
            <a:ext cx="2651760" cy="1188720"/>
          </a:xfrm>
          <a:prstGeom prst="roundRect">
            <a:avLst>
              <a:gd name="adj" fmla="val 4615"/>
            </a:avLst>
          </a:prstGeom>
          <a:solidFill>
            <a:srgbClr val="F3F6F8"/>
          </a:solidFill>
          <a:ln w="12700">
            <a:solidFill>
              <a:srgbClr val="F3F6F8"/>
            </a:solidFill>
            <a:prstDash val="solid"/>
          </a:ln>
        </p:spPr>
      </p:sp>
      <p:sp>
        <p:nvSpPr>
          <p:cNvPr id="22" name="Shape 20"/>
          <p:cNvSpPr/>
          <p:nvPr/>
        </p:nvSpPr>
        <p:spPr>
          <a:xfrm>
            <a:off x="3383280" y="2761488"/>
            <a:ext cx="402336" cy="402336"/>
          </a:xfrm>
          <a:prstGeom prst="ellipse">
            <a:avLst/>
          </a:prstGeom>
          <a:solidFill>
            <a:srgbClr val="0A8577"/>
          </a:solidFill>
          <a:ln w="12700">
            <a:solidFill>
              <a:srgbClr val="0A8577"/>
            </a:solidFill>
            <a:prstDash val="solid"/>
          </a:ln>
        </p:spPr>
      </p:sp>
      <p:sp>
        <p:nvSpPr>
          <p:cNvPr id="23" name="Text 21"/>
          <p:cNvSpPr txBox="1"/>
          <p:nvPr/>
        </p:nvSpPr>
        <p:spPr>
          <a:xfrm>
            <a:off x="3886200" y="2761488"/>
            <a:ext cx="1920240" cy="402336"/>
          </a:xfrm>
          <a:prstGeom prst="rect">
            <a:avLst/>
          </a:prstGeom>
          <a:noFill/>
          <a:ln/>
        </p:spPr>
        <p:txBody>
          <a:bodyPr wrap="square" lIns="0" tIns="0" rIns="0" bIns="0" rtlCol="0" anchor="ctr"/>
          <a:lstStyle/>
          <a:p>
            <a:pPr indent="0" marL="0">
              <a:buNone/>
            </a:pPr>
            <a:r>
              <a:rPr lang="en-US" sz="1300" b="1" dirty="0">
                <a:solidFill>
                  <a:srgbClr val="0A8577"/>
                </a:solidFill>
                <a:latin typeface="Calibri" pitchFamily="34" charset="0"/>
                <a:ea typeface="Calibri" pitchFamily="34" charset="-122"/>
                <a:cs typeface="Calibri" pitchFamily="34" charset="-120"/>
              </a:rPr>
              <a:t>Privacy first</a:t>
            </a:r>
            <a:endParaRPr lang="en-US" sz="1300" dirty="0"/>
          </a:p>
        </p:txBody>
      </p:sp>
      <p:sp>
        <p:nvSpPr>
          <p:cNvPr id="24" name="Text 22"/>
          <p:cNvSpPr txBox="1"/>
          <p:nvPr/>
        </p:nvSpPr>
        <p:spPr>
          <a:xfrm>
            <a:off x="3383280" y="3264408"/>
            <a:ext cx="2395728" cy="502920"/>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No personal data of participants or clients goes into AI tools</a:t>
            </a:r>
            <a:endParaRPr lang="en-US" sz="1100" dirty="0"/>
          </a:p>
        </p:txBody>
      </p:sp>
      <p:sp>
        <p:nvSpPr>
          <p:cNvPr id="25" name="Shape 23"/>
          <p:cNvSpPr/>
          <p:nvPr/>
        </p:nvSpPr>
        <p:spPr>
          <a:xfrm>
            <a:off x="6035040" y="2624328"/>
            <a:ext cx="2651760" cy="1188720"/>
          </a:xfrm>
          <a:prstGeom prst="roundRect">
            <a:avLst>
              <a:gd name="adj" fmla="val 4615"/>
            </a:avLst>
          </a:prstGeom>
          <a:solidFill>
            <a:srgbClr val="F3F6F8"/>
          </a:solidFill>
          <a:ln w="12700">
            <a:solidFill>
              <a:srgbClr val="F3F6F8"/>
            </a:solidFill>
            <a:prstDash val="solid"/>
          </a:ln>
        </p:spPr>
      </p:sp>
      <p:sp>
        <p:nvSpPr>
          <p:cNvPr id="26" name="Shape 24"/>
          <p:cNvSpPr/>
          <p:nvPr/>
        </p:nvSpPr>
        <p:spPr>
          <a:xfrm>
            <a:off x="6172200" y="2761488"/>
            <a:ext cx="402336" cy="402336"/>
          </a:xfrm>
          <a:prstGeom prst="ellipse">
            <a:avLst/>
          </a:prstGeom>
          <a:solidFill>
            <a:srgbClr val="0A8577"/>
          </a:solidFill>
          <a:ln w="12700">
            <a:solidFill>
              <a:srgbClr val="0A8577"/>
            </a:solidFill>
            <a:prstDash val="solid"/>
          </a:ln>
        </p:spPr>
      </p:sp>
      <p:sp>
        <p:nvSpPr>
          <p:cNvPr id="27" name="Text 25"/>
          <p:cNvSpPr txBox="1"/>
          <p:nvPr/>
        </p:nvSpPr>
        <p:spPr>
          <a:xfrm>
            <a:off x="6675120" y="2761488"/>
            <a:ext cx="1920240" cy="402336"/>
          </a:xfrm>
          <a:prstGeom prst="rect">
            <a:avLst/>
          </a:prstGeom>
          <a:noFill/>
          <a:ln/>
        </p:spPr>
        <p:txBody>
          <a:bodyPr wrap="square" lIns="0" tIns="0" rIns="0" bIns="0" rtlCol="0" anchor="ctr"/>
          <a:lstStyle/>
          <a:p>
            <a:pPr indent="0" marL="0">
              <a:buNone/>
            </a:pPr>
            <a:r>
              <a:rPr lang="en-US" sz="1300" b="1" dirty="0">
                <a:solidFill>
                  <a:srgbClr val="0A8577"/>
                </a:solidFill>
                <a:latin typeface="Calibri" pitchFamily="34" charset="0"/>
                <a:ea typeface="Calibri" pitchFamily="34" charset="-122"/>
                <a:cs typeface="Calibri" pitchFamily="34" charset="-120"/>
              </a:rPr>
              <a:t>Respect copyright</a:t>
            </a:r>
            <a:endParaRPr lang="en-US" sz="1300" dirty="0"/>
          </a:p>
        </p:txBody>
      </p:sp>
      <p:sp>
        <p:nvSpPr>
          <p:cNvPr id="28" name="Text 26"/>
          <p:cNvSpPr txBox="1"/>
          <p:nvPr/>
        </p:nvSpPr>
        <p:spPr>
          <a:xfrm>
            <a:off x="6172200" y="3264408"/>
            <a:ext cx="2395728" cy="502920"/>
          </a:xfrm>
          <a:prstGeom prst="rect">
            <a:avLst/>
          </a:prstGeom>
          <a:noFill/>
          <a:ln/>
        </p:spPr>
        <p:txBody>
          <a:bodyPr wrap="square" lIns="0" tIns="0" rIns="0" bIns="0" rtlCol="0" anchor="t"/>
          <a:lstStyle/>
          <a:p>
            <a:pPr indent="0" marL="0">
              <a:buNone/>
            </a:pPr>
            <a:r>
              <a:rPr lang="en-US" sz="1100" dirty="0">
                <a:solidFill>
                  <a:srgbClr val="2B3A4A"/>
                </a:solidFill>
                <a:latin typeface="Calibri" pitchFamily="34" charset="0"/>
                <a:ea typeface="Calibri" pitchFamily="34" charset="-122"/>
                <a:cs typeface="Calibri" pitchFamily="34" charset="-120"/>
              </a:rPr>
              <a:t>Licensed or self-made assets only, with sources credited</a:t>
            </a:r>
            <a:endParaRPr lang="en-US" sz="1100" dirty="0"/>
          </a:p>
        </p:txBody>
      </p:sp>
      <p:sp>
        <p:nvSpPr>
          <p:cNvPr id="29" name="Shape 27"/>
          <p:cNvSpPr/>
          <p:nvPr/>
        </p:nvSpPr>
        <p:spPr>
          <a:xfrm>
            <a:off x="457200" y="4005072"/>
            <a:ext cx="8229600" cy="612648"/>
          </a:xfrm>
          <a:prstGeom prst="roundRect">
            <a:avLst>
              <a:gd name="adj" fmla="val 8955"/>
            </a:avLst>
          </a:prstGeom>
          <a:solidFill>
            <a:srgbClr val="10233A"/>
          </a:solidFill>
          <a:ln w="12700">
            <a:solidFill>
              <a:srgbClr val="10233A"/>
            </a:solidFill>
            <a:prstDash val="solid"/>
          </a:ln>
        </p:spPr>
      </p:sp>
      <p:sp>
        <p:nvSpPr>
          <p:cNvPr id="30" name="Text 28"/>
          <p:cNvSpPr txBox="1"/>
          <p:nvPr/>
        </p:nvSpPr>
        <p:spPr>
          <a:xfrm>
            <a:off x="621792" y="4005072"/>
            <a:ext cx="7955280" cy="612648"/>
          </a:xfrm>
          <a:prstGeom prst="rect">
            <a:avLst/>
          </a:prstGeom>
          <a:noFill/>
          <a:ln/>
        </p:spPr>
        <p:txBody>
          <a:bodyPr wrap="square" lIns="0" tIns="0" rIns="0" bIns="0" rtlCol="0" anchor="ctr"/>
          <a:lstStyle/>
          <a:p>
            <a:pPr indent="0" marL="0">
              <a:buNone/>
            </a:pPr>
            <a:r>
              <a:rPr lang="en-US" sz="1200" b="1" dirty="0">
                <a:solidFill>
                  <a:srgbClr val="F2A541"/>
                </a:solidFill>
                <a:latin typeface="Calibri" pitchFamily="34" charset="0"/>
                <a:ea typeface="Calibri" pitchFamily="34" charset="-122"/>
                <a:cs typeface="Calibri" pitchFamily="34" charset="-120"/>
              </a:rPr>
              <a:t>be aware..be secure  </a:t>
            </a:r>
            <a:pPr indent="0" marL="0">
              <a:buNone/>
            </a:pPr>
            <a:r>
              <a:rPr lang="en-US" sz="1200" dirty="0">
                <a:solidFill>
                  <a:srgbClr val="FFFFFF"/>
                </a:solidFill>
                <a:latin typeface="Calibri" pitchFamily="34" charset="0"/>
                <a:ea typeface="Calibri" pitchFamily="34" charset="-122"/>
                <a:cs typeface="Calibri" pitchFamily="34" charset="-120"/>
              </a:rPr>
              <a:t>Green Circle's principle becomes working rules: a code of conduct, a consent form and a checklist in every module.</a:t>
            </a:r>
            <a:endParaRPr lang="en-US" sz="1200" dirty="0"/>
          </a:p>
        </p:txBody>
      </p:sp>
      <p:pic>
        <p:nvPicPr>
          <p:cNvPr id="31" name="Image 0" descr="preencoded.png">    </p:cNvPr>
          <p:cNvPicPr>
            <a:picLocks noChangeAspect="1"/>
          </p:cNvPicPr>
          <p:nvPr/>
        </p:nvPicPr>
        <p:blipFill>
          <a:blip r:embed="rId1"/>
          <a:stretch>
            <a:fillRect/>
          </a:stretch>
        </p:blipFill>
        <p:spPr>
          <a:xfrm>
            <a:off x="694944" y="1536192"/>
            <a:ext cx="201168" cy="201168"/>
          </a:xfrm>
          <a:prstGeom prst="rect">
            <a:avLst/>
          </a:prstGeom>
        </p:spPr>
      </p:pic>
      <p:pic>
        <p:nvPicPr>
          <p:cNvPr id="32" name="Image 1" descr="preencoded.png">    </p:cNvPr>
          <p:cNvPicPr>
            <a:picLocks noChangeAspect="1"/>
          </p:cNvPicPr>
          <p:nvPr/>
        </p:nvPicPr>
        <p:blipFill>
          <a:blip r:embed="rId2"/>
          <a:stretch>
            <a:fillRect/>
          </a:stretch>
        </p:blipFill>
        <p:spPr>
          <a:xfrm>
            <a:off x="3483864" y="1536192"/>
            <a:ext cx="201168" cy="201168"/>
          </a:xfrm>
          <a:prstGeom prst="rect">
            <a:avLst/>
          </a:prstGeom>
        </p:spPr>
      </p:pic>
      <p:pic>
        <p:nvPicPr>
          <p:cNvPr id="33" name="Image 2" descr="preencoded.png">    </p:cNvPr>
          <p:cNvPicPr>
            <a:picLocks noChangeAspect="1"/>
          </p:cNvPicPr>
          <p:nvPr/>
        </p:nvPicPr>
        <p:blipFill>
          <a:blip r:embed="rId3"/>
          <a:stretch>
            <a:fillRect/>
          </a:stretch>
        </p:blipFill>
        <p:spPr>
          <a:xfrm>
            <a:off x="694944" y="2862072"/>
            <a:ext cx="201168" cy="201168"/>
          </a:xfrm>
          <a:prstGeom prst="rect">
            <a:avLst/>
          </a:prstGeom>
        </p:spPr>
      </p:pic>
      <p:pic>
        <p:nvPicPr>
          <p:cNvPr id="34" name="Image 3" descr="preencoded.png">    </p:cNvPr>
          <p:cNvPicPr>
            <a:picLocks noChangeAspect="1"/>
          </p:cNvPicPr>
          <p:nvPr/>
        </p:nvPicPr>
        <p:blipFill>
          <a:blip r:embed="rId4"/>
          <a:stretch>
            <a:fillRect/>
          </a:stretch>
        </p:blipFill>
        <p:spPr>
          <a:xfrm>
            <a:off x="6272784" y="1536192"/>
            <a:ext cx="201168" cy="201168"/>
          </a:xfrm>
          <a:prstGeom prst="rect">
            <a:avLst/>
          </a:prstGeom>
        </p:spPr>
      </p:pic>
      <p:pic>
        <p:nvPicPr>
          <p:cNvPr id="35" name="Image 4" descr="preencoded.png">    </p:cNvPr>
          <p:cNvPicPr>
            <a:picLocks noChangeAspect="1"/>
          </p:cNvPicPr>
          <p:nvPr/>
        </p:nvPicPr>
        <p:blipFill>
          <a:blip r:embed="rId5"/>
          <a:stretch>
            <a:fillRect/>
          </a:stretch>
        </p:blipFill>
        <p:spPr>
          <a:xfrm>
            <a:off x="3483864" y="2862072"/>
            <a:ext cx="201168" cy="201168"/>
          </a:xfrm>
          <a:prstGeom prst="rect">
            <a:avLst/>
          </a:prstGeom>
        </p:spPr>
      </p:pic>
      <p:pic>
        <p:nvPicPr>
          <p:cNvPr id="36" name="Image 5" descr="preencoded.png">    </p:cNvPr>
          <p:cNvPicPr>
            <a:picLocks noChangeAspect="1"/>
          </p:cNvPicPr>
          <p:nvPr/>
        </p:nvPicPr>
        <p:blipFill>
          <a:blip r:embed="rId6"/>
          <a:stretch>
            <a:fillRect/>
          </a:stretch>
        </p:blipFill>
        <p:spPr>
          <a:xfrm>
            <a:off x="6272784" y="2862072"/>
            <a:ext cx="201168" cy="201168"/>
          </a:xfrm>
          <a:prstGeom prst="rect">
            <a:avLst/>
          </a:prstGeom>
        </p:spPr>
      </p:pic>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457200" y="246888"/>
            <a:ext cx="2103120" cy="274320"/>
          </a:xfrm>
          <a:prstGeom prst="roundRect">
            <a:avLst>
              <a:gd name="adj" fmla="val 50000"/>
            </a:avLst>
          </a:prstGeom>
          <a:solidFill>
            <a:srgbClr val="10233A"/>
          </a:solidFill>
          <a:ln w="12700">
            <a:solidFill>
              <a:srgbClr val="10233A"/>
            </a:solidFill>
            <a:prstDash val="solid"/>
          </a:ln>
        </p:spPr>
      </p:sp>
      <p:sp>
        <p:nvSpPr>
          <p:cNvPr id="3" name="Text 1"/>
          <p:cNvSpPr txBox="1"/>
          <p:nvPr/>
        </p:nvSpPr>
        <p:spPr>
          <a:xfrm>
            <a:off x="457200" y="246888"/>
            <a:ext cx="2103120" cy="274320"/>
          </a:xfrm>
          <a:prstGeom prst="rect">
            <a:avLst/>
          </a:prstGeom>
          <a:noFill/>
          <a:ln/>
        </p:spPr>
        <p:txBody>
          <a:bodyPr wrap="square" lIns="0" tIns="0" rIns="0" bIns="0" rtlCol="0" anchor="ctr"/>
          <a:lstStyle/>
          <a:p>
            <a:pPr algn="ctr" indent="0" marL="0">
              <a:buNone/>
            </a:pPr>
            <a:r>
              <a:rPr lang="en-US" sz="1050" b="1" dirty="0">
                <a:solidFill>
                  <a:srgbClr val="F2A541"/>
                </a:solidFill>
                <a:latin typeface="Calibri" pitchFamily="34" charset="0"/>
                <a:ea typeface="Calibri" pitchFamily="34" charset="-122"/>
                <a:cs typeface="Calibri" pitchFamily="34" charset="-120"/>
              </a:rPr>
              <a:t>CH 14  ·  DELIVERY</a:t>
            </a:r>
            <a:endParaRPr lang="en-US" sz="1050" dirty="0"/>
          </a:p>
        </p:txBody>
      </p:sp>
      <p:sp>
        <p:nvSpPr>
          <p:cNvPr id="4" name="Text 2"/>
          <p:cNvSpPr txBox="1"/>
          <p:nvPr/>
        </p:nvSpPr>
        <p:spPr>
          <a:xfrm>
            <a:off x="457200" y="603504"/>
            <a:ext cx="6492240" cy="56692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Delivery and what participants keep</a:t>
            </a:r>
            <a:endParaRPr lang="en-US" sz="2500" dirty="0"/>
          </a:p>
        </p:txBody>
      </p:sp>
      <p:sp>
        <p:nvSpPr>
          <p:cNvPr id="5" name="Shape 3"/>
          <p:cNvSpPr/>
          <p:nvPr/>
        </p:nvSpPr>
        <p:spPr>
          <a:xfrm>
            <a:off x="457200" y="1298448"/>
            <a:ext cx="4206240" cy="585216"/>
          </a:xfrm>
          <a:prstGeom prst="roundRect">
            <a:avLst>
              <a:gd name="adj" fmla="val 9375"/>
            </a:avLst>
          </a:prstGeom>
          <a:solidFill>
            <a:srgbClr val="F3F6F8"/>
          </a:solidFill>
          <a:ln w="12700">
            <a:solidFill>
              <a:srgbClr val="F3F6F8"/>
            </a:solidFill>
            <a:prstDash val="solid"/>
          </a:ln>
        </p:spPr>
      </p:sp>
      <p:sp>
        <p:nvSpPr>
          <p:cNvPr id="6" name="Shape 4"/>
          <p:cNvSpPr/>
          <p:nvPr/>
        </p:nvSpPr>
        <p:spPr>
          <a:xfrm>
            <a:off x="566928" y="1399032"/>
            <a:ext cx="384048" cy="384048"/>
          </a:xfrm>
          <a:prstGeom prst="ellipse">
            <a:avLst/>
          </a:prstGeom>
          <a:solidFill>
            <a:srgbClr val="0A8577"/>
          </a:solidFill>
          <a:ln w="12700">
            <a:solidFill>
              <a:srgbClr val="0A8577"/>
            </a:solidFill>
            <a:prstDash val="solid"/>
          </a:ln>
        </p:spPr>
      </p:sp>
      <p:sp>
        <p:nvSpPr>
          <p:cNvPr id="7" name="Text 5"/>
          <p:cNvSpPr txBox="1"/>
          <p:nvPr/>
        </p:nvSpPr>
        <p:spPr>
          <a:xfrm>
            <a:off x="1051560" y="1298448"/>
            <a:ext cx="868680" cy="585216"/>
          </a:xfrm>
          <a:prstGeom prst="rect">
            <a:avLst/>
          </a:prstGeom>
          <a:noFill/>
          <a:ln/>
        </p:spPr>
        <p:txBody>
          <a:bodyPr wrap="square" lIns="0" tIns="0" rIns="0" bIns="0" rtlCol="0" anchor="ctr"/>
          <a:lstStyle/>
          <a:p>
            <a:pPr indent="0" marL="0">
              <a:buNone/>
            </a:pPr>
            <a:r>
              <a:rPr lang="en-US" sz="1250" b="1" dirty="0">
                <a:solidFill>
                  <a:srgbClr val="0A8577"/>
                </a:solidFill>
                <a:latin typeface="Calibri" pitchFamily="34" charset="0"/>
                <a:ea typeface="Calibri" pitchFamily="34" charset="-122"/>
                <a:cs typeface="Calibri" pitchFamily="34" charset="-120"/>
              </a:rPr>
              <a:t>Venue</a:t>
            </a:r>
            <a:endParaRPr lang="en-US" sz="1250" dirty="0"/>
          </a:p>
        </p:txBody>
      </p:sp>
      <p:sp>
        <p:nvSpPr>
          <p:cNvPr id="8" name="Text 6"/>
          <p:cNvSpPr txBox="1"/>
          <p:nvPr/>
        </p:nvSpPr>
        <p:spPr>
          <a:xfrm>
            <a:off x="1920240" y="1298448"/>
            <a:ext cx="2651760" cy="585216"/>
          </a:xfrm>
          <a:prstGeom prst="rect">
            <a:avLst/>
          </a:prstGeom>
          <a:noFill/>
          <a:ln/>
        </p:spPr>
        <p:txBody>
          <a:bodyPr wrap="square" lIns="0" tIns="0" rIns="0" bIns="0" rtlCol="0" anchor="ctr"/>
          <a:lstStyle/>
          <a:p>
            <a:pPr indent="0" marL="0">
              <a:buNone/>
            </a:pPr>
            <a:r>
              <a:rPr lang="en-US" sz="1100" dirty="0">
                <a:solidFill>
                  <a:srgbClr val="2B3A4A"/>
                </a:solidFill>
                <a:latin typeface="Calibri" pitchFamily="34" charset="0"/>
                <a:ea typeface="Calibri" pitchFamily="34" charset="-122"/>
                <a:cs typeface="Calibri" pitchFamily="34" charset="-120"/>
              </a:rPr>
              <a:t>In person, computer lab at Jubilee Institute*</a:t>
            </a:r>
            <a:endParaRPr lang="en-US" sz="1100" dirty="0"/>
          </a:p>
        </p:txBody>
      </p:sp>
      <p:sp>
        <p:nvSpPr>
          <p:cNvPr id="9" name="Shape 7"/>
          <p:cNvSpPr/>
          <p:nvPr/>
        </p:nvSpPr>
        <p:spPr>
          <a:xfrm>
            <a:off x="457200" y="1965960"/>
            <a:ext cx="4206240" cy="585216"/>
          </a:xfrm>
          <a:prstGeom prst="roundRect">
            <a:avLst>
              <a:gd name="adj" fmla="val 9375"/>
            </a:avLst>
          </a:prstGeom>
          <a:solidFill>
            <a:srgbClr val="F3F6F8"/>
          </a:solidFill>
          <a:ln w="12700">
            <a:solidFill>
              <a:srgbClr val="F3F6F8"/>
            </a:solidFill>
            <a:prstDash val="solid"/>
          </a:ln>
        </p:spPr>
      </p:sp>
      <p:sp>
        <p:nvSpPr>
          <p:cNvPr id="10" name="Shape 8"/>
          <p:cNvSpPr/>
          <p:nvPr/>
        </p:nvSpPr>
        <p:spPr>
          <a:xfrm>
            <a:off x="566928" y="2066544"/>
            <a:ext cx="384048" cy="384048"/>
          </a:xfrm>
          <a:prstGeom prst="ellipse">
            <a:avLst/>
          </a:prstGeom>
          <a:solidFill>
            <a:srgbClr val="0A8577"/>
          </a:solidFill>
          <a:ln w="12700">
            <a:solidFill>
              <a:srgbClr val="0A8577"/>
            </a:solidFill>
            <a:prstDash val="solid"/>
          </a:ln>
        </p:spPr>
      </p:sp>
      <p:sp>
        <p:nvSpPr>
          <p:cNvPr id="11" name="Text 9"/>
          <p:cNvSpPr txBox="1"/>
          <p:nvPr/>
        </p:nvSpPr>
        <p:spPr>
          <a:xfrm>
            <a:off x="1051560" y="1965960"/>
            <a:ext cx="868680" cy="585216"/>
          </a:xfrm>
          <a:prstGeom prst="rect">
            <a:avLst/>
          </a:prstGeom>
          <a:noFill/>
          <a:ln/>
        </p:spPr>
        <p:txBody>
          <a:bodyPr wrap="square" lIns="0" tIns="0" rIns="0" bIns="0" rtlCol="0" anchor="ctr"/>
          <a:lstStyle/>
          <a:p>
            <a:pPr indent="0" marL="0">
              <a:buNone/>
            </a:pPr>
            <a:r>
              <a:rPr lang="en-US" sz="1250" b="1" dirty="0">
                <a:solidFill>
                  <a:srgbClr val="0A8577"/>
                </a:solidFill>
                <a:latin typeface="Calibri" pitchFamily="34" charset="0"/>
                <a:ea typeface="Calibri" pitchFamily="34" charset="-122"/>
                <a:cs typeface="Calibri" pitchFamily="34" charset="-120"/>
              </a:rPr>
              <a:t>Rhythm</a:t>
            </a:r>
            <a:endParaRPr lang="en-US" sz="1250" dirty="0"/>
          </a:p>
        </p:txBody>
      </p:sp>
      <p:sp>
        <p:nvSpPr>
          <p:cNvPr id="12" name="Text 10"/>
          <p:cNvSpPr txBox="1"/>
          <p:nvPr/>
        </p:nvSpPr>
        <p:spPr>
          <a:xfrm>
            <a:off x="1920240" y="1965960"/>
            <a:ext cx="2651760" cy="585216"/>
          </a:xfrm>
          <a:prstGeom prst="rect">
            <a:avLst/>
          </a:prstGeom>
          <a:noFill/>
          <a:ln/>
        </p:spPr>
        <p:txBody>
          <a:bodyPr wrap="square" lIns="0" tIns="0" rIns="0" bIns="0" rtlCol="0" anchor="ctr"/>
          <a:lstStyle/>
          <a:p>
            <a:pPr indent="0" marL="0">
              <a:buNone/>
            </a:pPr>
            <a:r>
              <a:rPr lang="en-US" sz="1100" dirty="0">
                <a:solidFill>
                  <a:srgbClr val="2B3A4A"/>
                </a:solidFill>
                <a:latin typeface="Calibri" pitchFamily="34" charset="0"/>
                <a:ea typeface="Calibri" pitchFamily="34" charset="-122"/>
                <a:cs typeface="Calibri" pitchFamily="34" charset="-120"/>
              </a:rPr>
              <a:t>3 sessions × 3 hours per week, 12 weeks</a:t>
            </a:r>
            <a:endParaRPr lang="en-US" sz="1100" dirty="0"/>
          </a:p>
        </p:txBody>
      </p:sp>
      <p:sp>
        <p:nvSpPr>
          <p:cNvPr id="13" name="Shape 11"/>
          <p:cNvSpPr/>
          <p:nvPr/>
        </p:nvSpPr>
        <p:spPr>
          <a:xfrm>
            <a:off x="457200" y="2633472"/>
            <a:ext cx="4206240" cy="585216"/>
          </a:xfrm>
          <a:prstGeom prst="roundRect">
            <a:avLst>
              <a:gd name="adj" fmla="val 9375"/>
            </a:avLst>
          </a:prstGeom>
          <a:solidFill>
            <a:srgbClr val="F3F6F8"/>
          </a:solidFill>
          <a:ln w="12700">
            <a:solidFill>
              <a:srgbClr val="F3F6F8"/>
            </a:solidFill>
            <a:prstDash val="solid"/>
          </a:ln>
        </p:spPr>
      </p:sp>
      <p:sp>
        <p:nvSpPr>
          <p:cNvPr id="14" name="Shape 12"/>
          <p:cNvSpPr/>
          <p:nvPr/>
        </p:nvSpPr>
        <p:spPr>
          <a:xfrm>
            <a:off x="566928" y="2734056"/>
            <a:ext cx="384048" cy="384048"/>
          </a:xfrm>
          <a:prstGeom prst="ellipse">
            <a:avLst/>
          </a:prstGeom>
          <a:solidFill>
            <a:srgbClr val="0A8577"/>
          </a:solidFill>
          <a:ln w="12700">
            <a:solidFill>
              <a:srgbClr val="0A8577"/>
            </a:solidFill>
            <a:prstDash val="solid"/>
          </a:ln>
        </p:spPr>
      </p:sp>
      <p:sp>
        <p:nvSpPr>
          <p:cNvPr id="15" name="Text 13"/>
          <p:cNvSpPr txBox="1"/>
          <p:nvPr/>
        </p:nvSpPr>
        <p:spPr>
          <a:xfrm>
            <a:off x="1051560" y="2633472"/>
            <a:ext cx="868680" cy="585216"/>
          </a:xfrm>
          <a:prstGeom prst="rect">
            <a:avLst/>
          </a:prstGeom>
          <a:noFill/>
          <a:ln/>
        </p:spPr>
        <p:txBody>
          <a:bodyPr wrap="square" lIns="0" tIns="0" rIns="0" bIns="0" rtlCol="0" anchor="ctr"/>
          <a:lstStyle/>
          <a:p>
            <a:pPr indent="0" marL="0">
              <a:buNone/>
            </a:pPr>
            <a:r>
              <a:rPr lang="en-US" sz="1250" b="1" dirty="0">
                <a:solidFill>
                  <a:srgbClr val="0A8577"/>
                </a:solidFill>
                <a:latin typeface="Calibri" pitchFamily="34" charset="0"/>
                <a:ea typeface="Calibri" pitchFamily="34" charset="-122"/>
                <a:cs typeface="Calibri" pitchFamily="34" charset="-120"/>
              </a:rPr>
              <a:t>Team</a:t>
            </a:r>
            <a:endParaRPr lang="en-US" sz="1250" dirty="0"/>
          </a:p>
        </p:txBody>
      </p:sp>
      <p:sp>
        <p:nvSpPr>
          <p:cNvPr id="16" name="Text 14"/>
          <p:cNvSpPr txBox="1"/>
          <p:nvPr/>
        </p:nvSpPr>
        <p:spPr>
          <a:xfrm>
            <a:off x="1920240" y="2633472"/>
            <a:ext cx="2651760" cy="585216"/>
          </a:xfrm>
          <a:prstGeom prst="rect">
            <a:avLst/>
          </a:prstGeom>
          <a:noFill/>
          <a:ln/>
        </p:spPr>
        <p:txBody>
          <a:bodyPr wrap="square" lIns="0" tIns="0" rIns="0" bIns="0" rtlCol="0" anchor="ctr"/>
          <a:lstStyle/>
          <a:p>
            <a:pPr indent="0" marL="0">
              <a:buNone/>
            </a:pPr>
            <a:r>
              <a:rPr lang="en-US" sz="1100" dirty="0">
                <a:solidFill>
                  <a:srgbClr val="2B3A4A"/>
                </a:solidFill>
                <a:latin typeface="Calibri" pitchFamily="34" charset="0"/>
                <a:ea typeface="Calibri" pitchFamily="34" charset="-122"/>
                <a:cs typeface="Calibri" pitchFamily="34" charset="-120"/>
              </a:rPr>
              <a:t>Lead trainer and assistant trainer per cohort</a:t>
            </a:r>
            <a:endParaRPr lang="en-US" sz="1100" dirty="0"/>
          </a:p>
        </p:txBody>
      </p:sp>
      <p:sp>
        <p:nvSpPr>
          <p:cNvPr id="17" name="Shape 15"/>
          <p:cNvSpPr/>
          <p:nvPr/>
        </p:nvSpPr>
        <p:spPr>
          <a:xfrm>
            <a:off x="457200" y="3300984"/>
            <a:ext cx="4206240" cy="585216"/>
          </a:xfrm>
          <a:prstGeom prst="roundRect">
            <a:avLst>
              <a:gd name="adj" fmla="val 9375"/>
            </a:avLst>
          </a:prstGeom>
          <a:solidFill>
            <a:srgbClr val="F3F6F8"/>
          </a:solidFill>
          <a:ln w="12700">
            <a:solidFill>
              <a:srgbClr val="F3F6F8"/>
            </a:solidFill>
            <a:prstDash val="solid"/>
          </a:ln>
        </p:spPr>
      </p:sp>
      <p:sp>
        <p:nvSpPr>
          <p:cNvPr id="18" name="Shape 16"/>
          <p:cNvSpPr/>
          <p:nvPr/>
        </p:nvSpPr>
        <p:spPr>
          <a:xfrm>
            <a:off x="566928" y="3401568"/>
            <a:ext cx="384048" cy="384048"/>
          </a:xfrm>
          <a:prstGeom prst="ellipse">
            <a:avLst/>
          </a:prstGeom>
          <a:solidFill>
            <a:srgbClr val="0A8577"/>
          </a:solidFill>
          <a:ln w="12700">
            <a:solidFill>
              <a:srgbClr val="0A8577"/>
            </a:solidFill>
            <a:prstDash val="solid"/>
          </a:ln>
        </p:spPr>
      </p:sp>
      <p:sp>
        <p:nvSpPr>
          <p:cNvPr id="19" name="Text 17"/>
          <p:cNvSpPr txBox="1"/>
          <p:nvPr/>
        </p:nvSpPr>
        <p:spPr>
          <a:xfrm>
            <a:off x="1051560" y="3300984"/>
            <a:ext cx="868680" cy="585216"/>
          </a:xfrm>
          <a:prstGeom prst="rect">
            <a:avLst/>
          </a:prstGeom>
          <a:noFill/>
          <a:ln/>
        </p:spPr>
        <p:txBody>
          <a:bodyPr wrap="square" lIns="0" tIns="0" rIns="0" bIns="0" rtlCol="0" anchor="ctr"/>
          <a:lstStyle/>
          <a:p>
            <a:pPr indent="0" marL="0">
              <a:buNone/>
            </a:pPr>
            <a:r>
              <a:rPr lang="en-US" sz="1250" b="1" dirty="0">
                <a:solidFill>
                  <a:srgbClr val="0A8577"/>
                </a:solidFill>
                <a:latin typeface="Calibri" pitchFamily="34" charset="0"/>
                <a:ea typeface="Calibri" pitchFamily="34" charset="-122"/>
                <a:cs typeface="Calibri" pitchFamily="34" charset="-120"/>
              </a:rPr>
              <a:t>Cohort</a:t>
            </a:r>
            <a:endParaRPr lang="en-US" sz="1250" dirty="0"/>
          </a:p>
        </p:txBody>
      </p:sp>
      <p:sp>
        <p:nvSpPr>
          <p:cNvPr id="20" name="Text 18"/>
          <p:cNvSpPr txBox="1"/>
          <p:nvPr/>
        </p:nvSpPr>
        <p:spPr>
          <a:xfrm>
            <a:off x="1920240" y="3300984"/>
            <a:ext cx="2651760" cy="585216"/>
          </a:xfrm>
          <a:prstGeom prst="rect">
            <a:avLst/>
          </a:prstGeom>
          <a:noFill/>
          <a:ln/>
        </p:spPr>
        <p:txBody>
          <a:bodyPr wrap="square" lIns="0" tIns="0" rIns="0" bIns="0" rtlCol="0" anchor="ctr"/>
          <a:lstStyle/>
          <a:p>
            <a:pPr indent="0" marL="0">
              <a:buNone/>
            </a:pPr>
            <a:r>
              <a:rPr lang="en-US" sz="1100" dirty="0">
                <a:solidFill>
                  <a:srgbClr val="2B3A4A"/>
                </a:solidFill>
                <a:latin typeface="Calibri" pitchFamily="34" charset="0"/>
                <a:ea typeface="Calibri" pitchFamily="34" charset="-122"/>
                <a:cs typeface="Calibri" pitchFamily="34" charset="-120"/>
              </a:rPr>
              <a:t>20 participants (proposed)</a:t>
            </a:r>
            <a:endParaRPr lang="en-US" sz="1100" dirty="0"/>
          </a:p>
        </p:txBody>
      </p:sp>
      <p:sp>
        <p:nvSpPr>
          <p:cNvPr id="21" name="Shape 19"/>
          <p:cNvSpPr/>
          <p:nvPr/>
        </p:nvSpPr>
        <p:spPr>
          <a:xfrm>
            <a:off x="457200" y="3968496"/>
            <a:ext cx="4206240" cy="585216"/>
          </a:xfrm>
          <a:prstGeom prst="roundRect">
            <a:avLst>
              <a:gd name="adj" fmla="val 9375"/>
            </a:avLst>
          </a:prstGeom>
          <a:solidFill>
            <a:srgbClr val="F3F6F8"/>
          </a:solidFill>
          <a:ln w="12700">
            <a:solidFill>
              <a:srgbClr val="F3F6F8"/>
            </a:solidFill>
            <a:prstDash val="solid"/>
          </a:ln>
        </p:spPr>
      </p:sp>
      <p:sp>
        <p:nvSpPr>
          <p:cNvPr id="22" name="Shape 20"/>
          <p:cNvSpPr/>
          <p:nvPr/>
        </p:nvSpPr>
        <p:spPr>
          <a:xfrm>
            <a:off x="566928" y="4069080"/>
            <a:ext cx="384048" cy="384048"/>
          </a:xfrm>
          <a:prstGeom prst="ellipse">
            <a:avLst/>
          </a:prstGeom>
          <a:solidFill>
            <a:srgbClr val="0A8577"/>
          </a:solidFill>
          <a:ln w="12700">
            <a:solidFill>
              <a:srgbClr val="0A8577"/>
            </a:solidFill>
            <a:prstDash val="solid"/>
          </a:ln>
        </p:spPr>
      </p:sp>
      <p:sp>
        <p:nvSpPr>
          <p:cNvPr id="23" name="Text 21"/>
          <p:cNvSpPr txBox="1"/>
          <p:nvPr/>
        </p:nvSpPr>
        <p:spPr>
          <a:xfrm>
            <a:off x="1051560" y="3968496"/>
            <a:ext cx="868680" cy="585216"/>
          </a:xfrm>
          <a:prstGeom prst="rect">
            <a:avLst/>
          </a:prstGeom>
          <a:noFill/>
          <a:ln/>
        </p:spPr>
        <p:txBody>
          <a:bodyPr wrap="square" lIns="0" tIns="0" rIns="0" bIns="0" rtlCol="0" anchor="ctr"/>
          <a:lstStyle/>
          <a:p>
            <a:pPr indent="0" marL="0">
              <a:buNone/>
            </a:pPr>
            <a:r>
              <a:rPr lang="en-US" sz="1250" b="1" dirty="0">
                <a:solidFill>
                  <a:srgbClr val="0A8577"/>
                </a:solidFill>
                <a:latin typeface="Calibri" pitchFamily="34" charset="0"/>
                <a:ea typeface="Calibri" pitchFamily="34" charset="-122"/>
                <a:cs typeface="Calibri" pitchFamily="34" charset="-120"/>
              </a:rPr>
              <a:t>Set-up</a:t>
            </a:r>
            <a:endParaRPr lang="en-US" sz="1250" dirty="0"/>
          </a:p>
        </p:txBody>
      </p:sp>
      <p:sp>
        <p:nvSpPr>
          <p:cNvPr id="24" name="Text 22"/>
          <p:cNvSpPr txBox="1"/>
          <p:nvPr/>
        </p:nvSpPr>
        <p:spPr>
          <a:xfrm>
            <a:off x="1920240" y="3968496"/>
            <a:ext cx="2651760" cy="585216"/>
          </a:xfrm>
          <a:prstGeom prst="rect">
            <a:avLst/>
          </a:prstGeom>
          <a:noFill/>
          <a:ln/>
        </p:spPr>
        <p:txBody>
          <a:bodyPr wrap="square" lIns="0" tIns="0" rIns="0" bIns="0" rtlCol="0" anchor="ctr"/>
          <a:lstStyle/>
          <a:p>
            <a:pPr indent="0" marL="0">
              <a:buNone/>
            </a:pPr>
            <a:r>
              <a:rPr lang="en-US" sz="1100" dirty="0">
                <a:solidFill>
                  <a:srgbClr val="2B3A4A"/>
                </a:solidFill>
                <a:latin typeface="Calibri" pitchFamily="34" charset="0"/>
                <a:ea typeface="Calibri" pitchFamily="34" charset="-122"/>
                <a:cs typeface="Calibri" pitchFamily="34" charset="-120"/>
              </a:rPr>
              <a:t>Laptop per participant, stable internet, headsets, recording corner</a:t>
            </a:r>
            <a:endParaRPr lang="en-US" sz="1100" dirty="0"/>
          </a:p>
        </p:txBody>
      </p:sp>
      <p:sp>
        <p:nvSpPr>
          <p:cNvPr id="25" name="Shape 23"/>
          <p:cNvSpPr/>
          <p:nvPr/>
        </p:nvSpPr>
        <p:spPr>
          <a:xfrm>
            <a:off x="4846320" y="1298448"/>
            <a:ext cx="3840480" cy="3264408"/>
          </a:xfrm>
          <a:prstGeom prst="roundRect">
            <a:avLst>
              <a:gd name="adj" fmla="val 1681"/>
            </a:avLst>
          </a:prstGeom>
          <a:solidFill>
            <a:srgbClr val="10233A"/>
          </a:solidFill>
          <a:ln w="12700">
            <a:solidFill>
              <a:srgbClr val="10233A"/>
            </a:solidFill>
            <a:prstDash val="solid"/>
          </a:ln>
        </p:spPr>
      </p:sp>
      <p:sp>
        <p:nvSpPr>
          <p:cNvPr id="26" name="Shape 24"/>
          <p:cNvSpPr/>
          <p:nvPr/>
        </p:nvSpPr>
        <p:spPr>
          <a:xfrm>
            <a:off x="4983480" y="1435608"/>
            <a:ext cx="384048" cy="384048"/>
          </a:xfrm>
          <a:prstGeom prst="ellipse">
            <a:avLst/>
          </a:prstGeom>
          <a:solidFill>
            <a:srgbClr val="F2A541"/>
          </a:solidFill>
          <a:ln w="12700">
            <a:solidFill>
              <a:srgbClr val="F2A541"/>
            </a:solidFill>
            <a:prstDash val="solid"/>
          </a:ln>
        </p:spPr>
      </p:sp>
      <p:sp>
        <p:nvSpPr>
          <p:cNvPr id="27" name="Text 25"/>
          <p:cNvSpPr txBox="1"/>
          <p:nvPr/>
        </p:nvSpPr>
        <p:spPr>
          <a:xfrm>
            <a:off x="5458968" y="1435608"/>
            <a:ext cx="3108960" cy="384048"/>
          </a:xfrm>
          <a:prstGeom prst="rect">
            <a:avLst/>
          </a:prstGeom>
          <a:noFill/>
          <a:ln/>
        </p:spPr>
        <p:txBody>
          <a:bodyPr wrap="square" lIns="0" tIns="0" rIns="0" bIns="0" rtlCol="0" anchor="ctr"/>
          <a:lstStyle/>
          <a:p>
            <a:pPr indent="0" marL="0">
              <a:buNone/>
            </a:pPr>
            <a:r>
              <a:rPr lang="en-US" sz="1400" b="1" dirty="0">
                <a:solidFill>
                  <a:srgbClr val="F2A541"/>
                </a:solidFill>
                <a:latin typeface="Calibri" pitchFamily="34" charset="0"/>
                <a:ea typeface="Calibri" pitchFamily="34" charset="-122"/>
                <a:cs typeface="Calibri" pitchFamily="34" charset="-120"/>
              </a:rPr>
              <a:t>Each participant leaves with</a:t>
            </a:r>
            <a:endParaRPr lang="en-US" sz="1400" dirty="0"/>
          </a:p>
        </p:txBody>
      </p:sp>
      <p:sp>
        <p:nvSpPr>
          <p:cNvPr id="28" name="Text 26"/>
          <p:cNvSpPr txBox="1"/>
          <p:nvPr/>
        </p:nvSpPr>
        <p:spPr>
          <a:xfrm>
            <a:off x="5001768" y="1938528"/>
            <a:ext cx="3611880" cy="2560320"/>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A prompt library and context pack</a:t>
            </a:r>
            <a:endParaRPr lang="en-US" sz="1150" dirty="0"/>
          </a:p>
          <a:p>
            <a:pPr marL="152400" indent="-1524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A one-page creative brief</a:t>
            </a:r>
            <a:endParaRPr lang="en-US" sz="1150" dirty="0"/>
          </a:p>
          <a:p>
            <a:pPr marL="152400" indent="-1524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A carousel and five captions with CTAs</a:t>
            </a:r>
            <a:endParaRPr lang="en-US" sz="1150" dirty="0"/>
          </a:p>
          <a:p>
            <a:pPr marL="152400" indent="-1524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A character sheet and six-image set</a:t>
            </a:r>
            <a:endParaRPr lang="en-US" sz="1150" dirty="0"/>
          </a:p>
          <a:p>
            <a:pPr marL="152400" indent="-1524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An edited 30–45 second video</a:t>
            </a:r>
            <a:endParaRPr lang="en-US" sz="1150" dirty="0"/>
          </a:p>
          <a:p>
            <a:pPr marL="152400" indent="-1524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A persona, calendar and campaign</a:t>
            </a:r>
            <a:endParaRPr lang="en-US" sz="1150" dirty="0"/>
          </a:p>
          <a:p>
            <a:pPr marL="152400" indent="-1524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A working n8n content workflow</a:t>
            </a:r>
            <a:endParaRPr lang="en-US" sz="1150" dirty="0"/>
          </a:p>
          <a:p>
            <a:pPr marL="152400" indent="-1524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A published portfolio page and case study</a:t>
            </a:r>
            <a:endParaRPr lang="en-US" sz="1150" dirty="0"/>
          </a:p>
        </p:txBody>
      </p:sp>
      <p:sp>
        <p:nvSpPr>
          <p:cNvPr id="29" name="Text 27"/>
          <p:cNvSpPr txBox="1"/>
          <p:nvPr/>
        </p:nvSpPr>
        <p:spPr>
          <a:xfrm>
            <a:off x="457200" y="4553712"/>
            <a:ext cx="4206240" cy="182880"/>
          </a:xfrm>
          <a:prstGeom prst="rect">
            <a:avLst/>
          </a:prstGeom>
          <a:noFill/>
          <a:ln/>
        </p:spPr>
        <p:txBody>
          <a:bodyPr wrap="square" lIns="0" tIns="0" rIns="0" bIns="0" rtlCol="0" anchor="t"/>
          <a:lstStyle/>
          <a:p>
            <a:pPr indent="0" marL="0">
              <a:buNone/>
            </a:pPr>
            <a:r>
              <a:rPr lang="en-US" sz="900" i="1" dirty="0">
                <a:solidFill>
                  <a:srgbClr val="586676"/>
                </a:solidFill>
                <a:latin typeface="Calibri" pitchFamily="34" charset="0"/>
                <a:ea typeface="Calibri" pitchFamily="34" charset="-122"/>
                <a:cs typeface="Calibri" pitchFamily="34" charset="-120"/>
              </a:rPr>
              <a:t>*Proposed host, subject to mutual agreement.</a:t>
            </a:r>
            <a:endParaRPr lang="en-US" sz="900" dirty="0"/>
          </a:p>
        </p:txBody>
      </p:sp>
      <p:pic>
        <p:nvPicPr>
          <p:cNvPr id="30" name="Image 0" descr="preencoded.png">    </p:cNvPr>
          <p:cNvPicPr>
            <a:picLocks noChangeAspect="1"/>
          </p:cNvPicPr>
          <p:nvPr/>
        </p:nvPicPr>
        <p:blipFill>
          <a:blip r:embed="rId1"/>
          <a:stretch>
            <a:fillRect/>
          </a:stretch>
        </p:blipFill>
        <p:spPr>
          <a:xfrm>
            <a:off x="662940" y="1495044"/>
            <a:ext cx="192024" cy="192024"/>
          </a:xfrm>
          <a:prstGeom prst="rect">
            <a:avLst/>
          </a:prstGeom>
        </p:spPr>
      </p:pic>
      <p:pic>
        <p:nvPicPr>
          <p:cNvPr id="31" name="Image 1" descr="preencoded.png">    </p:cNvPr>
          <p:cNvPicPr>
            <a:picLocks noChangeAspect="1"/>
          </p:cNvPicPr>
          <p:nvPr/>
        </p:nvPicPr>
        <p:blipFill>
          <a:blip r:embed="rId2"/>
          <a:stretch>
            <a:fillRect/>
          </a:stretch>
        </p:blipFill>
        <p:spPr>
          <a:xfrm>
            <a:off x="662940" y="2162556"/>
            <a:ext cx="192024" cy="192024"/>
          </a:xfrm>
          <a:prstGeom prst="rect">
            <a:avLst/>
          </a:prstGeom>
        </p:spPr>
      </p:pic>
      <p:pic>
        <p:nvPicPr>
          <p:cNvPr id="32" name="Image 2" descr="preencoded.png">    </p:cNvPr>
          <p:cNvPicPr>
            <a:picLocks noChangeAspect="1"/>
          </p:cNvPicPr>
          <p:nvPr/>
        </p:nvPicPr>
        <p:blipFill>
          <a:blip r:embed="rId3"/>
          <a:stretch>
            <a:fillRect/>
          </a:stretch>
        </p:blipFill>
        <p:spPr>
          <a:xfrm>
            <a:off x="662940" y="3497580"/>
            <a:ext cx="192024" cy="192024"/>
          </a:xfrm>
          <a:prstGeom prst="rect">
            <a:avLst/>
          </a:prstGeom>
        </p:spPr>
      </p:pic>
      <p:pic>
        <p:nvPicPr>
          <p:cNvPr id="33" name="Image 3" descr="preencoded.png">    </p:cNvPr>
          <p:cNvPicPr>
            <a:picLocks noChangeAspect="1"/>
          </p:cNvPicPr>
          <p:nvPr/>
        </p:nvPicPr>
        <p:blipFill>
          <a:blip r:embed="rId4"/>
          <a:stretch>
            <a:fillRect/>
          </a:stretch>
        </p:blipFill>
        <p:spPr>
          <a:xfrm>
            <a:off x="662940" y="4165092"/>
            <a:ext cx="192024" cy="192024"/>
          </a:xfrm>
          <a:prstGeom prst="rect">
            <a:avLst/>
          </a:prstGeom>
        </p:spPr>
      </p:pic>
      <p:pic>
        <p:nvPicPr>
          <p:cNvPr id="34" name="Image 4" descr="preencoded.png">    </p:cNvPr>
          <p:cNvPicPr>
            <a:picLocks noChangeAspect="1"/>
          </p:cNvPicPr>
          <p:nvPr/>
        </p:nvPicPr>
        <p:blipFill>
          <a:blip r:embed="rId5"/>
          <a:stretch>
            <a:fillRect/>
          </a:stretch>
        </p:blipFill>
        <p:spPr>
          <a:xfrm>
            <a:off x="662940" y="2830068"/>
            <a:ext cx="192024" cy="192024"/>
          </a:xfrm>
          <a:prstGeom prst="rect">
            <a:avLst/>
          </a:prstGeom>
        </p:spPr>
      </p:pic>
      <p:pic>
        <p:nvPicPr>
          <p:cNvPr id="35" name="Image 5" descr="preencoded.png">    </p:cNvPr>
          <p:cNvPicPr>
            <a:picLocks noChangeAspect="1"/>
          </p:cNvPicPr>
          <p:nvPr/>
        </p:nvPicPr>
        <p:blipFill>
          <a:blip r:embed="rId6"/>
          <a:stretch>
            <a:fillRect/>
          </a:stretch>
        </p:blipFill>
        <p:spPr>
          <a:xfrm>
            <a:off x="5079492" y="1531620"/>
            <a:ext cx="192024" cy="192024"/>
          </a:xfrm>
          <a:prstGeom prst="rect">
            <a:avLst/>
          </a:prstGeom>
        </p:spPr>
      </p:pic>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86676"/>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I Creators">
  <a:themeElements>
    <a:clrScheme name="AI Creators">
      <a:dk1>
        <a:srgbClr val="10233A"/>
      </a:dk1>
      <a:lt1>
        <a:srgbClr val="FFFFFF"/>
      </a:lt1>
      <a:dk2>
        <a:srgbClr val="0A8577"/>
      </a:dk2>
      <a:lt2>
        <a:srgbClr val="F3F6F8"/>
      </a:lt2>
      <a:accent1>
        <a:srgbClr val="0A8577"/>
      </a:accent1>
      <a:accent2>
        <a:srgbClr val="F2A541"/>
      </a:accent2>
      <a:accent3>
        <a:srgbClr val="10233A"/>
      </a:accent3>
      <a:accent4>
        <a:srgbClr val="E4572E"/>
      </a:accent4>
      <a:accent5>
        <a:srgbClr val="586676"/>
      </a:accent5>
      <a:accent6>
        <a:srgbClr val="E0EFED"/>
      </a:accent6>
      <a:hlink>
        <a:srgbClr val="0A8577"/>
      </a:hlink>
      <a:folHlink>
        <a:srgbClr val="586676"/>
      </a:folHlink>
    </a:clrScheme>
    <a:fontScheme name="AI Creato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Green Circle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Creators: Training Proposal</dc:title>
  <dc:subject>PptxGenJS Presentation</dc:subject>
  <dc:creator>Green Circle</dc:creator>
  <cp:lastModifiedBy>Green Circle</cp:lastModifiedBy>
  <cp:revision>1</cp:revision>
  <dcterms:created xsi:type="dcterms:W3CDTF">2026-10-20T13:11:02Z</dcterms:created>
  <dcterms:modified xsi:type="dcterms:W3CDTF">2026-10-20T13:11:02Z</dcterms:modified>
</cp:coreProperties>
</file>