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c:v>
                </c:pt>
              </c:strCache>
            </c:strRef>
          </c:tx>
          <c:spPr>
            <a:solidFill>
              <a:srgbClr val="0A8577"/>
            </a:solidFill>
            <a:effectLst/>
          </c:spPr>
          <c:invertIfNegative val="0"/>
          <c:dLbls>
            <c:numFmt formatCode="#,##0" sourceLinked="0"/>
            <c:txPr>
              <a:bodyPr/>
              <a:lstStyle/>
              <a:p>
                <a:pPr>
                  <a:defRPr b="0" i="0" strike="noStrike" sz="1000" u="none">
                    <a:solidFill>
                      <a:srgbClr val="10233A"/>
                    </a:solidFill>
                    <a:latin typeface="Calibri"/>
                  </a:defRPr>
                </a:pPr>
              </a:p>
            </c:txPr>
            <c:showLegendKey val="0"/>
            <c:showVal val="1"/>
            <c:showCatName val="0"/>
            <c:showSerName val="0"/>
            <c:showPercent val="0"/>
            <c:showBubbleSize val="0"/>
            <c:showLeaderLines val="0"/>
          </c:dLbls>
          <c:cat>
            <c:multiLvlStrRef>
              <c:f>Sheet1!$A$2:$A$12</c:f>
              <c:multiLvlStrCache>
                <c:ptCount val="11"/>
                <c:lvl>
                  <c:pt idx="0">
                    <c:v>M1 Orientation &amp; AI Literacy</c:v>
                  </c:pt>
                  <c:pt idx="1">
                    <c:v>M2 Prompt &amp; Context</c:v>
                  </c:pt>
                  <c:pt idx="2">
                    <c:v>M3 Research &amp; Briefs</c:v>
                  </c:pt>
                  <c:pt idx="3">
                    <c:v>M4 Content &amp; Copywriting</c:v>
                  </c:pt>
                  <c:pt idx="4">
                    <c:v>M5 Character, Voice &amp; Visuals</c:v>
                  </c:pt>
                  <c:pt idx="5">
                    <c:v>M6 Script &amp; Storyboard</c:v>
                  </c:pt>
                  <c:pt idx="6">
                    <c:v>M7 AI Video &amp; Editing</c:v>
                  </c:pt>
                  <c:pt idx="7">
                    <c:v>M8 Digital Marketing</c:v>
                  </c:pt>
                  <c:pt idx="8">
                    <c:v>M9 n8n Automation</c:v>
                  </c:pt>
                  <c:pt idx="9">
                    <c:v>M10 Portfolio &amp; Freelancing</c:v>
                  </c:pt>
                  <c:pt idx="10">
                    <c:v>M11 Capstone &amp; Demo Day</c:v>
                  </c:pt>
                </c:lvl>
              </c:multiLvlStrCache>
            </c:multiLvlStrRef>
          </c:cat>
          <c:val>
            <c:numRef>
              <c:f>Sheet1!$B$2:$B$12</c:f>
              <c:numCache>
                <c:formatCode>General</c:formatCode>
                <c:ptCount val="11"/>
                <c:pt idx="0">
                  <c:v>6</c:v>
                </c:pt>
                <c:pt idx="1">
                  <c:v>6</c:v>
                </c:pt>
                <c:pt idx="2">
                  <c:v>6</c:v>
                </c:pt>
                <c:pt idx="3">
                  <c:v>9</c:v>
                </c:pt>
                <c:pt idx="4">
                  <c:v>12</c:v>
                </c:pt>
                <c:pt idx="5">
                  <c:v>9</c:v>
                </c:pt>
                <c:pt idx="6">
                  <c:v>12</c:v>
                </c:pt>
                <c:pt idx="7">
                  <c:v>9</c:v>
                </c:pt>
                <c:pt idx="8">
                  <c:v>12</c:v>
                </c:pt>
                <c:pt idx="9">
                  <c:v>6</c:v>
                </c:pt>
                <c:pt idx="10">
                  <c:v>9</c:v>
                </c:pt>
              </c:numCache>
            </c:numRef>
          </c:val>
        </c:ser>
        <c:dLbls>
          <c:numFmt formatCode="#,##0" sourceLinked="0"/>
          <c:txPr>
            <a:bodyPr/>
            <a:lstStyle/>
            <a:p>
              <a:pPr>
                <a:defRPr b="0" i="0" strike="noStrike" sz="1000" u="none">
                  <a:solidFill>
                    <a:srgbClr val="10233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0233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are design parameters. Cohort size and hosting are proposals, subject to mutual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Flow and AI voice tools are used where account access allows; otherwise the trainer demonstrates them and participants use recorded narration and their own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VER-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Green Circle logo">    </p:cNvPr>
          <p:cNvPicPr>
            <a:picLocks noChangeAspect="1"/>
          </p:cNvPicPr>
          <p:nvPr/>
        </p:nvPicPr>
        <p:blipFill>
          <a:blip r:embed="rId1"/>
          <a:stretch>
            <a:fillRect/>
          </a:stretch>
        </p:blipFill>
        <p:spPr>
          <a:xfrm>
            <a:off x="6967728" y="201168"/>
            <a:ext cx="1143000" cy="406202"/>
          </a:xfrm>
          <a:prstGeom prst="rect">
            <a:avLst/>
          </a:prstGeom>
        </p:spPr>
      </p:pic>
      <p:pic>
        <p:nvPicPr>
          <p:cNvPr id="3" name="Image 1" descr="Jubilee Institute logo">    </p:cNvPr>
          <p:cNvPicPr>
            <a:picLocks noChangeAspect="1"/>
          </p:cNvPicPr>
          <p:nvPr/>
        </p:nvPicPr>
        <p:blipFill>
          <a:blip r:embed="rId2"/>
          <a:stretch>
            <a:fillRect/>
          </a:stretch>
        </p:blipFill>
        <p:spPr>
          <a:xfrm>
            <a:off x="8211312" y="118872"/>
            <a:ext cx="512064" cy="502920"/>
          </a:xfrm>
          <a:prstGeom prst="rect">
            <a:avLst/>
          </a:prstGeom>
        </p:spPr>
      </p:pic>
      <p:sp>
        <p:nvSpPr>
          <p:cNvPr id="4"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rgbClr val="586676"/>
                </a:solidFill>
                <a:latin typeface="Calibri" pitchFamily="34" charset="0"/>
                <a:ea typeface="Calibri" pitchFamily="34" charset="-122"/>
                <a:cs typeface="Calibri" pitchFamily="34" charset="-120"/>
              </a:rPr>
              <a:t>AI CREATORS  ·  AI skills for content, marketing and automation</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slideLayout" Target="../slideLayouts/slideLayout2.xml"/><Relationship Id="rId2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868680"/>
            <a:ext cx="5486400" cy="274320"/>
          </a:xfrm>
          <a:prstGeom prst="rect">
            <a:avLst/>
          </a:prstGeom>
          <a:noFill/>
          <a:ln/>
        </p:spPr>
        <p:txBody>
          <a:bodyPr wrap="square" lIns="0" tIns="0" rIns="0" bIns="0" rtlCol="0" anchor="t"/>
          <a:lstStyle/>
          <a:p>
            <a:pPr indent="0" marL="0">
              <a:buNone/>
            </a:pPr>
            <a:r>
              <a:rPr lang="en-US" sz="1200" b="1" dirty="0">
                <a:solidFill>
                  <a:srgbClr val="F2A541"/>
                </a:solidFill>
                <a:latin typeface="Calibri" pitchFamily="34" charset="0"/>
                <a:ea typeface="Calibri" pitchFamily="34" charset="-122"/>
                <a:cs typeface="Calibri" pitchFamily="34" charset="-120"/>
              </a:rPr>
              <a:t>TRAINING PROPOSAL  ·  96 HOURS  ·  12 WEEKS</a:t>
            </a:r>
            <a:endParaRPr lang="en-US" sz="1200" dirty="0"/>
          </a:p>
        </p:txBody>
      </p:sp>
      <p:sp>
        <p:nvSpPr>
          <p:cNvPr id="3" name="Text 1"/>
          <p:cNvSpPr txBox="1"/>
          <p:nvPr/>
        </p:nvSpPr>
        <p:spPr>
          <a:xfrm>
            <a:off x="548640" y="1188720"/>
            <a:ext cx="5669280" cy="86868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AI CREATORS</a:t>
            </a:r>
            <a:endParaRPr lang="en-US" sz="5000" dirty="0"/>
          </a:p>
        </p:txBody>
      </p:sp>
      <p:sp>
        <p:nvSpPr>
          <p:cNvPr id="4" name="Text 2"/>
          <p:cNvSpPr txBox="1"/>
          <p:nvPr/>
        </p:nvSpPr>
        <p:spPr>
          <a:xfrm>
            <a:off x="548640" y="2011680"/>
            <a:ext cx="3657600" cy="457200"/>
          </a:xfrm>
          <a:prstGeom prst="rect">
            <a:avLst/>
          </a:prstGeom>
          <a:noFill/>
          <a:ln/>
        </p:spPr>
        <p:txBody>
          <a:bodyPr wrap="square" lIns="0" tIns="0" rIns="0" bIns="0" rtlCol="0" anchor="t"/>
          <a:lstStyle/>
          <a:p>
            <a:pPr rtl="1" algn="l" indent="0" marL="0">
              <a:buNone/>
            </a:pPr>
            <a:r>
              <a:rPr lang="ar-SA" altLang="en-US" sz="2400" b="1" dirty="0">
                <a:solidFill>
                  <a:srgbClr val="F2A541"/>
                </a:solidFill>
                <a:latin typeface="Arial" pitchFamily="34" charset="0"/>
                <a:ea typeface="Arial" pitchFamily="34" charset="-122"/>
                <a:cs typeface="Arial" pitchFamily="34" charset="-120"/>
              </a:rPr>
              <a:t>صُنّاع المحتوى</a:t>
            </a:r>
            <a:endParaRPr lang="ar-SA" sz="2400" dirty="0"/>
          </a:p>
        </p:txBody>
      </p:sp>
      <p:sp>
        <p:nvSpPr>
          <p:cNvPr id="5" name="Text 3"/>
          <p:cNvSpPr txBox="1"/>
          <p:nvPr/>
        </p:nvSpPr>
        <p:spPr>
          <a:xfrm>
            <a:off x="548640" y="2606040"/>
            <a:ext cx="5120640" cy="822960"/>
          </a:xfrm>
          <a:prstGeom prst="rect">
            <a:avLst/>
          </a:prstGeom>
          <a:noFill/>
          <a:ln/>
        </p:spPr>
        <p:txBody>
          <a:bodyPr wrap="square" lIns="0" tIns="0" rIns="0" bIns="0" rtlCol="0" anchor="t"/>
          <a:lstStyle/>
          <a:p>
            <a:pPr indent="0" marL="0">
              <a:buNone/>
            </a:pPr>
            <a:r>
              <a:rPr lang="en-US" sz="1600" dirty="0">
                <a:solidFill>
                  <a:srgbClr val="D9E1EA"/>
                </a:solidFill>
                <a:latin typeface="Calibri" pitchFamily="34" charset="0"/>
                <a:ea typeface="Calibri" pitchFamily="34" charset="-122"/>
                <a:cs typeface="Calibri" pitchFamily="34" charset="-120"/>
              </a:rPr>
              <a:t>AI-powered content creation, digital marketing, automation and freelancing: from a client's idea to a finished, published campaign</a:t>
            </a:r>
            <a:endParaRPr lang="en-US" sz="1600" dirty="0"/>
          </a:p>
        </p:txBody>
      </p:sp>
      <p:pic>
        <p:nvPicPr>
          <p:cNvPr id="6" name="Image 0" descr="Green Circle logo">    </p:cNvPr>
          <p:cNvPicPr>
            <a:picLocks noChangeAspect="1"/>
          </p:cNvPicPr>
          <p:nvPr/>
        </p:nvPicPr>
        <p:blipFill>
          <a:blip r:embed="rId1"/>
          <a:stretch>
            <a:fillRect/>
          </a:stretch>
        </p:blipFill>
        <p:spPr>
          <a:xfrm>
            <a:off x="566928" y="3703320"/>
            <a:ext cx="1600200" cy="568683"/>
          </a:xfrm>
          <a:prstGeom prst="rect">
            <a:avLst/>
          </a:prstGeom>
        </p:spPr>
      </p:pic>
      <p:sp>
        <p:nvSpPr>
          <p:cNvPr id="7" name="Shape 4"/>
          <p:cNvSpPr/>
          <p:nvPr/>
        </p:nvSpPr>
        <p:spPr>
          <a:xfrm>
            <a:off x="2514600" y="3611880"/>
            <a:ext cx="0" cy="777240"/>
          </a:xfrm>
          <a:prstGeom prst="line">
            <a:avLst/>
          </a:prstGeom>
          <a:noFill/>
          <a:ln w="12700">
            <a:solidFill>
              <a:srgbClr val="AAB1B9"/>
            </a:solidFill>
            <a:prstDash val="solid"/>
          </a:ln>
        </p:spPr>
      </p:sp>
      <p:pic>
        <p:nvPicPr>
          <p:cNvPr id="8" name="Image 1" descr="Jubilee Institute logo">    </p:cNvPr>
          <p:cNvPicPr>
            <a:picLocks noChangeAspect="1"/>
          </p:cNvPicPr>
          <p:nvPr/>
        </p:nvPicPr>
        <p:blipFill>
          <a:blip r:embed="rId2"/>
          <a:stretch>
            <a:fillRect/>
          </a:stretch>
        </p:blipFill>
        <p:spPr>
          <a:xfrm>
            <a:off x="2788920" y="3593592"/>
            <a:ext cx="896112" cy="714876"/>
          </a:xfrm>
          <a:prstGeom prst="rect">
            <a:avLst/>
          </a:prstGeom>
        </p:spPr>
      </p:pic>
      <p:sp>
        <p:nvSpPr>
          <p:cNvPr id="9" name="Text 5"/>
          <p:cNvSpPr txBox="1"/>
          <p:nvPr/>
        </p:nvSpPr>
        <p:spPr>
          <a:xfrm>
            <a:off x="548640" y="4736592"/>
            <a:ext cx="5486400" cy="228600"/>
          </a:xfrm>
          <a:prstGeom prst="rect">
            <a:avLst/>
          </a:prstGeom>
          <a:noFill/>
          <a:ln/>
        </p:spPr>
        <p:txBody>
          <a:bodyPr wrap="square" lIns="0" tIns="0" rIns="0" bIns="0" rtlCol="0" anchor="t"/>
          <a:lstStyle/>
          <a:p>
            <a:pPr indent="0" marL="0">
              <a:buNone/>
            </a:pPr>
            <a:r>
              <a:rPr lang="en-US" sz="900" dirty="0">
                <a:solidFill>
                  <a:srgbClr val="C9D1DA"/>
                </a:solidFill>
                <a:latin typeface="Calibri" pitchFamily="34" charset="0"/>
                <a:ea typeface="Calibri" pitchFamily="34" charset="-122"/>
                <a:cs typeface="Calibri" pitchFamily="34" charset="-120"/>
              </a:rPr>
              <a:t>*Proposed host, subject to mutual agreement. AI Creators is a working title.</a:t>
            </a:r>
            <a:endParaRPr lang="en-US" sz="900" dirty="0"/>
          </a:p>
        </p:txBody>
      </p:sp>
      <p:sp>
        <p:nvSpPr>
          <p:cNvPr id="10" name="Shape 6"/>
          <p:cNvSpPr/>
          <p:nvPr/>
        </p:nvSpPr>
        <p:spPr>
          <a:xfrm>
            <a:off x="6400800" y="1810512"/>
            <a:ext cx="1508760" cy="1508760"/>
          </a:xfrm>
          <a:prstGeom prst="ellipse">
            <a:avLst/>
          </a:prstGeom>
          <a:solidFill>
            <a:srgbClr val="0A8577"/>
          </a:solidFill>
          <a:ln w="38100">
            <a:solidFill>
              <a:srgbClr val="F2A541"/>
            </a:solidFill>
            <a:prstDash val="solid"/>
          </a:ln>
        </p:spPr>
      </p:sp>
      <p:pic>
        <p:nvPicPr>
          <p:cNvPr id="11" name="Image 2" descr="preencoded.png">    </p:cNvPr>
          <p:cNvPicPr>
            <a:picLocks noChangeAspect="1"/>
          </p:cNvPicPr>
          <p:nvPr/>
        </p:nvPicPr>
        <p:blipFill>
          <a:blip r:embed="rId3"/>
          <a:stretch>
            <a:fillRect/>
          </a:stretch>
        </p:blipFill>
        <p:spPr>
          <a:xfrm>
            <a:off x="6812280" y="2221992"/>
            <a:ext cx="685800"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  ·  THE PROGRAM</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The program at a glance</a:t>
            </a:r>
            <a:endParaRPr lang="en-US" sz="2500" dirty="0"/>
          </a:p>
        </p:txBody>
      </p:sp>
      <p:sp>
        <p:nvSpPr>
          <p:cNvPr id="5" name="Shape 3"/>
          <p:cNvSpPr/>
          <p:nvPr/>
        </p:nvSpPr>
        <p:spPr>
          <a:xfrm>
            <a:off x="457200" y="1325880"/>
            <a:ext cx="1929384" cy="1828800"/>
          </a:xfrm>
          <a:prstGeom prst="roundRect">
            <a:avLst>
              <a:gd name="adj" fmla="val 3000"/>
            </a:avLst>
          </a:prstGeom>
          <a:solidFill>
            <a:srgbClr val="10233A"/>
          </a:solidFill>
          <a:ln w="12700">
            <a:solidFill>
              <a:srgbClr val="10233A"/>
            </a:solidFill>
            <a:prstDash val="solid"/>
          </a:ln>
        </p:spPr>
      </p:sp>
      <p:sp>
        <p:nvSpPr>
          <p:cNvPr id="6" name="Shape 4"/>
          <p:cNvSpPr/>
          <p:nvPr/>
        </p:nvSpPr>
        <p:spPr>
          <a:xfrm>
            <a:off x="1243584" y="1463040"/>
            <a:ext cx="365760" cy="365760"/>
          </a:xfrm>
          <a:prstGeom prst="ellipse">
            <a:avLst/>
          </a:prstGeom>
          <a:solidFill>
            <a:srgbClr val="F2A541"/>
          </a:solidFill>
          <a:ln w="12700">
            <a:solidFill>
              <a:srgbClr val="F2A541"/>
            </a:solidFill>
            <a:prstDash val="solid"/>
          </a:ln>
        </p:spPr>
      </p:sp>
      <p:sp>
        <p:nvSpPr>
          <p:cNvPr id="7" name="Text 5"/>
          <p:cNvSpPr txBox="1"/>
          <p:nvPr/>
        </p:nvSpPr>
        <p:spPr>
          <a:xfrm>
            <a:off x="457200" y="1901952"/>
            <a:ext cx="1929384" cy="566928"/>
          </a:xfrm>
          <a:prstGeom prst="rect">
            <a:avLst/>
          </a:prstGeom>
          <a:noFill/>
          <a:ln/>
        </p:spPr>
        <p:txBody>
          <a:bodyPr wrap="square" lIns="0" tIns="0" rIns="0" bIns="0" rtlCol="0" anchor="ctr"/>
          <a:lstStyle/>
          <a:p>
            <a:pPr algn="ctr" indent="0" marL="0">
              <a:buNone/>
            </a:pPr>
            <a:r>
              <a:rPr lang="en-US" sz="3200" b="1" dirty="0">
                <a:solidFill>
                  <a:srgbClr val="F2A541"/>
                </a:solidFill>
                <a:latin typeface="Cambria" pitchFamily="34" charset="0"/>
                <a:ea typeface="Cambria" pitchFamily="34" charset="-122"/>
                <a:cs typeface="Cambria" pitchFamily="34" charset="-120"/>
              </a:rPr>
              <a:t>96</a:t>
            </a:r>
            <a:endParaRPr lang="en-US" sz="3200" dirty="0"/>
          </a:p>
        </p:txBody>
      </p:sp>
      <p:sp>
        <p:nvSpPr>
          <p:cNvPr id="8" name="Text 6"/>
          <p:cNvSpPr txBox="1"/>
          <p:nvPr/>
        </p:nvSpPr>
        <p:spPr>
          <a:xfrm>
            <a:off x="566928" y="2487168"/>
            <a:ext cx="1709928" cy="5486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training hours</a:t>
            </a:r>
            <a:endParaRPr lang="en-US" sz="1300" dirty="0"/>
          </a:p>
        </p:txBody>
      </p:sp>
      <p:sp>
        <p:nvSpPr>
          <p:cNvPr id="9" name="Shape 7"/>
          <p:cNvSpPr/>
          <p:nvPr/>
        </p:nvSpPr>
        <p:spPr>
          <a:xfrm>
            <a:off x="2551176" y="1325880"/>
            <a:ext cx="1929384" cy="1828800"/>
          </a:xfrm>
          <a:prstGeom prst="roundRect">
            <a:avLst>
              <a:gd name="adj" fmla="val 3000"/>
            </a:avLst>
          </a:prstGeom>
          <a:solidFill>
            <a:srgbClr val="0A8577"/>
          </a:solidFill>
          <a:ln w="12700">
            <a:solidFill>
              <a:srgbClr val="0A8577"/>
            </a:solidFill>
            <a:prstDash val="solid"/>
          </a:ln>
        </p:spPr>
      </p:sp>
      <p:sp>
        <p:nvSpPr>
          <p:cNvPr id="10" name="Shape 8"/>
          <p:cNvSpPr/>
          <p:nvPr/>
        </p:nvSpPr>
        <p:spPr>
          <a:xfrm>
            <a:off x="3337560" y="1463040"/>
            <a:ext cx="365760" cy="365760"/>
          </a:xfrm>
          <a:prstGeom prst="ellipse">
            <a:avLst/>
          </a:prstGeom>
          <a:solidFill>
            <a:srgbClr val="F2A541"/>
          </a:solidFill>
          <a:ln w="12700">
            <a:solidFill>
              <a:srgbClr val="F2A541"/>
            </a:solidFill>
            <a:prstDash val="solid"/>
          </a:ln>
        </p:spPr>
      </p:sp>
      <p:sp>
        <p:nvSpPr>
          <p:cNvPr id="11" name="Text 9"/>
          <p:cNvSpPr txBox="1"/>
          <p:nvPr/>
        </p:nvSpPr>
        <p:spPr>
          <a:xfrm>
            <a:off x="2551176" y="1901952"/>
            <a:ext cx="1929384" cy="566928"/>
          </a:xfrm>
          <a:prstGeom prst="rect">
            <a:avLst/>
          </a:prstGeom>
          <a:noFill/>
          <a:ln/>
        </p:spPr>
        <p:txBody>
          <a:bodyPr wrap="square" lIns="0" tIns="0" rIns="0" bIns="0" rtlCol="0" anchor="ctr"/>
          <a:lstStyle/>
          <a:p>
            <a:pPr algn="ctr" indent="0" marL="0">
              <a:buNone/>
            </a:pPr>
            <a:r>
              <a:rPr lang="en-US" sz="3200" b="1" dirty="0">
                <a:solidFill>
                  <a:srgbClr val="F2A541"/>
                </a:solidFill>
                <a:latin typeface="Cambria" pitchFamily="34" charset="0"/>
                <a:ea typeface="Cambria" pitchFamily="34" charset="-122"/>
                <a:cs typeface="Cambria" pitchFamily="34" charset="-120"/>
              </a:rPr>
              <a:t>32</a:t>
            </a:r>
            <a:endParaRPr lang="en-US" sz="3200" dirty="0"/>
          </a:p>
        </p:txBody>
      </p:sp>
      <p:sp>
        <p:nvSpPr>
          <p:cNvPr id="12" name="Text 10"/>
          <p:cNvSpPr txBox="1"/>
          <p:nvPr/>
        </p:nvSpPr>
        <p:spPr>
          <a:xfrm>
            <a:off x="2660904" y="2487168"/>
            <a:ext cx="1709928" cy="5486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sessions of 3 hours</a:t>
            </a:r>
            <a:endParaRPr lang="en-US" sz="1300" dirty="0"/>
          </a:p>
        </p:txBody>
      </p:sp>
      <p:sp>
        <p:nvSpPr>
          <p:cNvPr id="13" name="Shape 11"/>
          <p:cNvSpPr/>
          <p:nvPr/>
        </p:nvSpPr>
        <p:spPr>
          <a:xfrm>
            <a:off x="4645152" y="1325880"/>
            <a:ext cx="1929384" cy="1828800"/>
          </a:xfrm>
          <a:prstGeom prst="roundRect">
            <a:avLst>
              <a:gd name="adj" fmla="val 3000"/>
            </a:avLst>
          </a:prstGeom>
          <a:solidFill>
            <a:srgbClr val="10233A"/>
          </a:solidFill>
          <a:ln w="12700">
            <a:solidFill>
              <a:srgbClr val="10233A"/>
            </a:solidFill>
            <a:prstDash val="solid"/>
          </a:ln>
        </p:spPr>
      </p:sp>
      <p:sp>
        <p:nvSpPr>
          <p:cNvPr id="14" name="Shape 12"/>
          <p:cNvSpPr/>
          <p:nvPr/>
        </p:nvSpPr>
        <p:spPr>
          <a:xfrm>
            <a:off x="5431536" y="1463040"/>
            <a:ext cx="365760" cy="365760"/>
          </a:xfrm>
          <a:prstGeom prst="ellipse">
            <a:avLst/>
          </a:prstGeom>
          <a:solidFill>
            <a:srgbClr val="F2A541"/>
          </a:solidFill>
          <a:ln w="12700">
            <a:solidFill>
              <a:srgbClr val="F2A541"/>
            </a:solidFill>
            <a:prstDash val="solid"/>
          </a:ln>
        </p:spPr>
      </p:sp>
      <p:sp>
        <p:nvSpPr>
          <p:cNvPr id="15" name="Text 13"/>
          <p:cNvSpPr txBox="1"/>
          <p:nvPr/>
        </p:nvSpPr>
        <p:spPr>
          <a:xfrm>
            <a:off x="4645152" y="1901952"/>
            <a:ext cx="1929384" cy="566928"/>
          </a:xfrm>
          <a:prstGeom prst="rect">
            <a:avLst/>
          </a:prstGeom>
          <a:noFill/>
          <a:ln/>
        </p:spPr>
        <p:txBody>
          <a:bodyPr wrap="square" lIns="0" tIns="0" rIns="0" bIns="0" rtlCol="0" anchor="ctr"/>
          <a:lstStyle/>
          <a:p>
            <a:pPr algn="ctr" indent="0" marL="0">
              <a:buNone/>
            </a:pPr>
            <a:r>
              <a:rPr lang="en-US" sz="3200" b="1" dirty="0">
                <a:solidFill>
                  <a:srgbClr val="F2A541"/>
                </a:solidFill>
                <a:latin typeface="Cambria" pitchFamily="34" charset="0"/>
                <a:ea typeface="Cambria" pitchFamily="34" charset="-122"/>
                <a:cs typeface="Cambria" pitchFamily="34" charset="-120"/>
              </a:rPr>
              <a:t>70%</a:t>
            </a:r>
            <a:endParaRPr lang="en-US" sz="3200" dirty="0"/>
          </a:p>
        </p:txBody>
      </p:sp>
      <p:sp>
        <p:nvSpPr>
          <p:cNvPr id="16" name="Text 14"/>
          <p:cNvSpPr txBox="1"/>
          <p:nvPr/>
        </p:nvSpPr>
        <p:spPr>
          <a:xfrm>
            <a:off x="4754880" y="2487168"/>
            <a:ext cx="1709928" cy="5486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hands-on practice</a:t>
            </a:r>
            <a:endParaRPr lang="en-US" sz="1300" dirty="0"/>
          </a:p>
        </p:txBody>
      </p:sp>
      <p:sp>
        <p:nvSpPr>
          <p:cNvPr id="17" name="Shape 15"/>
          <p:cNvSpPr/>
          <p:nvPr/>
        </p:nvSpPr>
        <p:spPr>
          <a:xfrm>
            <a:off x="6739128" y="1325880"/>
            <a:ext cx="1929384" cy="1828800"/>
          </a:xfrm>
          <a:prstGeom prst="roundRect">
            <a:avLst>
              <a:gd name="adj" fmla="val 3000"/>
            </a:avLst>
          </a:prstGeom>
          <a:solidFill>
            <a:srgbClr val="0A8577"/>
          </a:solidFill>
          <a:ln w="12700">
            <a:solidFill>
              <a:srgbClr val="0A8577"/>
            </a:solidFill>
            <a:prstDash val="solid"/>
          </a:ln>
        </p:spPr>
      </p:sp>
      <p:sp>
        <p:nvSpPr>
          <p:cNvPr id="18" name="Shape 16"/>
          <p:cNvSpPr/>
          <p:nvPr/>
        </p:nvSpPr>
        <p:spPr>
          <a:xfrm>
            <a:off x="7525512" y="1463040"/>
            <a:ext cx="365760" cy="365760"/>
          </a:xfrm>
          <a:prstGeom prst="ellipse">
            <a:avLst/>
          </a:prstGeom>
          <a:solidFill>
            <a:srgbClr val="F2A541"/>
          </a:solidFill>
          <a:ln w="12700">
            <a:solidFill>
              <a:srgbClr val="F2A541"/>
            </a:solidFill>
            <a:prstDash val="solid"/>
          </a:ln>
        </p:spPr>
      </p:sp>
      <p:sp>
        <p:nvSpPr>
          <p:cNvPr id="19" name="Text 17"/>
          <p:cNvSpPr txBox="1"/>
          <p:nvPr/>
        </p:nvSpPr>
        <p:spPr>
          <a:xfrm>
            <a:off x="6739128" y="1901952"/>
            <a:ext cx="1929384" cy="566928"/>
          </a:xfrm>
          <a:prstGeom prst="rect">
            <a:avLst/>
          </a:prstGeom>
          <a:noFill/>
          <a:ln/>
        </p:spPr>
        <p:txBody>
          <a:bodyPr wrap="square" lIns="0" tIns="0" rIns="0" bIns="0" rtlCol="0" anchor="ctr"/>
          <a:lstStyle/>
          <a:p>
            <a:pPr algn="ctr" indent="0" marL="0">
              <a:buNone/>
            </a:pPr>
            <a:r>
              <a:rPr lang="en-US" sz="3200" b="1" dirty="0">
                <a:solidFill>
                  <a:srgbClr val="F2A541"/>
                </a:solidFill>
                <a:latin typeface="Cambria" pitchFamily="34" charset="0"/>
                <a:ea typeface="Cambria" pitchFamily="34" charset="-122"/>
                <a:cs typeface="Cambria" pitchFamily="34" charset="-120"/>
              </a:rPr>
              <a:t>12</a:t>
            </a:r>
            <a:endParaRPr lang="en-US" sz="3200" dirty="0"/>
          </a:p>
        </p:txBody>
      </p:sp>
      <p:sp>
        <p:nvSpPr>
          <p:cNvPr id="20" name="Text 18"/>
          <p:cNvSpPr txBox="1"/>
          <p:nvPr/>
        </p:nvSpPr>
        <p:spPr>
          <a:xfrm>
            <a:off x="6848856" y="2487168"/>
            <a:ext cx="1709928" cy="5486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weeks, including 1 buffer week</a:t>
            </a:r>
            <a:endParaRPr lang="en-US" sz="1300" dirty="0"/>
          </a:p>
        </p:txBody>
      </p:sp>
      <p:sp>
        <p:nvSpPr>
          <p:cNvPr id="21" name="Shape 19"/>
          <p:cNvSpPr/>
          <p:nvPr/>
        </p:nvSpPr>
        <p:spPr>
          <a:xfrm>
            <a:off x="457200" y="3383280"/>
            <a:ext cx="4023360" cy="1234440"/>
          </a:xfrm>
          <a:prstGeom prst="roundRect">
            <a:avLst>
              <a:gd name="adj" fmla="val 4444"/>
            </a:avLst>
          </a:prstGeom>
          <a:solidFill>
            <a:srgbClr val="F3F6F8"/>
          </a:solidFill>
          <a:ln w="12700">
            <a:solidFill>
              <a:srgbClr val="F3F6F8"/>
            </a:solidFill>
            <a:prstDash val="solid"/>
          </a:ln>
        </p:spPr>
      </p:sp>
      <p:sp>
        <p:nvSpPr>
          <p:cNvPr id="22" name="Shape 20"/>
          <p:cNvSpPr/>
          <p:nvPr/>
        </p:nvSpPr>
        <p:spPr>
          <a:xfrm>
            <a:off x="594360" y="3502152"/>
            <a:ext cx="365760" cy="365760"/>
          </a:xfrm>
          <a:prstGeom prst="ellipse">
            <a:avLst/>
          </a:prstGeom>
          <a:solidFill>
            <a:srgbClr val="0A8577"/>
          </a:solidFill>
          <a:ln w="12700">
            <a:solidFill>
              <a:srgbClr val="0A8577"/>
            </a:solidFill>
            <a:prstDash val="solid"/>
          </a:ln>
        </p:spPr>
      </p:sp>
      <p:sp>
        <p:nvSpPr>
          <p:cNvPr id="23" name="Text 21"/>
          <p:cNvSpPr txBox="1"/>
          <p:nvPr/>
        </p:nvSpPr>
        <p:spPr>
          <a:xfrm>
            <a:off x="1051560" y="3502152"/>
            <a:ext cx="3291840" cy="365760"/>
          </a:xfrm>
          <a:prstGeom prst="rect">
            <a:avLst/>
          </a:prstGeom>
          <a:noFill/>
          <a:ln/>
        </p:spPr>
        <p:txBody>
          <a:bodyPr wrap="square" lIns="0" tIns="0" rIns="0" bIns="0" rtlCol="0" anchor="ctr"/>
          <a:lstStyle/>
          <a:p>
            <a:pPr indent="0" marL="0">
              <a:buNone/>
            </a:pPr>
            <a:r>
              <a:rPr lang="en-US" sz="1500" b="1" dirty="0">
                <a:solidFill>
                  <a:srgbClr val="0A8577"/>
                </a:solidFill>
                <a:latin typeface="Calibri" pitchFamily="34" charset="0"/>
                <a:ea typeface="Calibri" pitchFamily="34" charset="-122"/>
                <a:cs typeface="Calibri" pitchFamily="34" charset="-120"/>
              </a:rPr>
              <a:t>What success looks like</a:t>
            </a:r>
            <a:endParaRPr lang="en-US" sz="1500" dirty="0"/>
          </a:p>
        </p:txBody>
      </p:sp>
      <p:sp>
        <p:nvSpPr>
          <p:cNvPr id="24" name="Text 22"/>
          <p:cNvSpPr txBox="1"/>
          <p:nvPr/>
        </p:nvSpPr>
        <p:spPr>
          <a:xfrm>
            <a:off x="594360" y="3931920"/>
            <a:ext cx="3794760" cy="640080"/>
          </a:xfrm>
          <a:prstGeom prst="rect">
            <a:avLst/>
          </a:prstGeom>
          <a:noFill/>
          <a:ln/>
        </p:spPr>
        <p:txBody>
          <a:bodyPr wrap="square" lIns="0" tIns="0" rIns="0" bIns="0" rtlCol="0" anchor="t"/>
          <a:lstStyle/>
          <a:p>
            <a:pPr indent="0" marL="0">
              <a:buNone/>
            </a:pPr>
            <a:r>
              <a:rPr lang="en-US" sz="1250" dirty="0">
                <a:solidFill>
                  <a:srgbClr val="2B3A4A"/>
                </a:solidFill>
                <a:latin typeface="Calibri" pitchFamily="34" charset="0"/>
                <a:ea typeface="Calibri" pitchFamily="34" charset="-122"/>
                <a:cs typeface="Calibri" pitchFamily="34" charset="-120"/>
              </a:rPr>
              <a:t>85% complete · +25-point average skills gain · every participant leaves with a portfolio of 8 pieces of work (proposed targets)</a:t>
            </a:r>
            <a:endParaRPr lang="en-US" sz="1250" dirty="0"/>
          </a:p>
        </p:txBody>
      </p:sp>
      <p:sp>
        <p:nvSpPr>
          <p:cNvPr id="25" name="Shape 23"/>
          <p:cNvSpPr/>
          <p:nvPr/>
        </p:nvSpPr>
        <p:spPr>
          <a:xfrm>
            <a:off x="4663440" y="3383280"/>
            <a:ext cx="4023360" cy="1234440"/>
          </a:xfrm>
          <a:prstGeom prst="roundRect">
            <a:avLst>
              <a:gd name="adj" fmla="val 4444"/>
            </a:avLst>
          </a:prstGeom>
          <a:solidFill>
            <a:srgbClr val="F3F6F8"/>
          </a:solidFill>
          <a:ln w="12700">
            <a:solidFill>
              <a:srgbClr val="F3F6F8"/>
            </a:solidFill>
            <a:prstDash val="solid"/>
          </a:ln>
        </p:spPr>
      </p:sp>
      <p:sp>
        <p:nvSpPr>
          <p:cNvPr id="26" name="Text 24"/>
          <p:cNvSpPr txBox="1"/>
          <p:nvPr/>
        </p:nvSpPr>
        <p:spPr>
          <a:xfrm>
            <a:off x="4800600" y="3474720"/>
            <a:ext cx="3657600" cy="320040"/>
          </a:xfrm>
          <a:prstGeom prst="rect">
            <a:avLst/>
          </a:prstGeom>
          <a:noFill/>
          <a:ln/>
        </p:spPr>
        <p:txBody>
          <a:bodyPr wrap="square" lIns="0" tIns="0" rIns="0" bIns="0" rtlCol="0" anchor="t"/>
          <a:lstStyle/>
          <a:p>
            <a:pPr indent="0" marL="0">
              <a:buNone/>
            </a:pPr>
            <a:r>
              <a:rPr lang="en-US" sz="1500" b="1" dirty="0">
                <a:solidFill>
                  <a:srgbClr val="0A8577"/>
                </a:solidFill>
                <a:latin typeface="Calibri" pitchFamily="34" charset="0"/>
                <a:ea typeface="Calibri" pitchFamily="34" charset="-122"/>
                <a:cs typeface="Calibri" pitchFamily="34" charset="-120"/>
              </a:rPr>
              <a:t>The partnership</a:t>
            </a:r>
            <a:endParaRPr lang="en-US" sz="1500" dirty="0"/>
          </a:p>
        </p:txBody>
      </p:sp>
      <p:sp>
        <p:nvSpPr>
          <p:cNvPr id="27" name="Shape 25"/>
          <p:cNvSpPr/>
          <p:nvPr/>
        </p:nvSpPr>
        <p:spPr>
          <a:xfrm>
            <a:off x="4800600" y="3858768"/>
            <a:ext cx="1188720" cy="658368"/>
          </a:xfrm>
          <a:prstGeom prst="roundRect">
            <a:avLst>
              <a:gd name="adj" fmla="val 8333"/>
            </a:avLst>
          </a:prstGeom>
          <a:solidFill>
            <a:srgbClr val="10233A"/>
          </a:solidFill>
          <a:ln w="12700">
            <a:solidFill>
              <a:srgbClr val="10233A"/>
            </a:solidFill>
            <a:prstDash val="solid"/>
          </a:ln>
        </p:spPr>
      </p:sp>
      <p:sp>
        <p:nvSpPr>
          <p:cNvPr id="28" name="Text 26"/>
          <p:cNvSpPr txBox="1"/>
          <p:nvPr/>
        </p:nvSpPr>
        <p:spPr>
          <a:xfrm>
            <a:off x="4800600" y="3904488"/>
            <a:ext cx="1188720" cy="228600"/>
          </a:xfrm>
          <a:prstGeom prst="rect">
            <a:avLst/>
          </a:prstGeom>
          <a:noFill/>
          <a:ln/>
        </p:spPr>
        <p:txBody>
          <a:bodyPr wrap="square" lIns="0" tIns="0" rIns="0" bIns="0" rtlCol="0" anchor="t"/>
          <a:lstStyle/>
          <a:p>
            <a:pPr algn="ctr" indent="0" marL="0">
              <a:buNone/>
            </a:pPr>
            <a:r>
              <a:rPr lang="en-US" sz="850" b="1" dirty="0">
                <a:solidFill>
                  <a:srgbClr val="F2A541"/>
                </a:solidFill>
                <a:latin typeface="Calibri" pitchFamily="34" charset="0"/>
                <a:ea typeface="Calibri" pitchFamily="34" charset="-122"/>
                <a:cs typeface="Calibri" pitchFamily="34" charset="-120"/>
              </a:rPr>
              <a:t>LEAD</a:t>
            </a:r>
            <a:endParaRPr lang="en-US" sz="850" dirty="0"/>
          </a:p>
        </p:txBody>
      </p:sp>
      <p:sp>
        <p:nvSpPr>
          <p:cNvPr id="29" name="Text 27"/>
          <p:cNvSpPr txBox="1"/>
          <p:nvPr/>
        </p:nvSpPr>
        <p:spPr>
          <a:xfrm>
            <a:off x="4800600" y="4133088"/>
            <a:ext cx="11887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Green Circle</a:t>
            </a:r>
            <a:endParaRPr lang="en-US" sz="1150" dirty="0"/>
          </a:p>
        </p:txBody>
      </p:sp>
      <p:sp>
        <p:nvSpPr>
          <p:cNvPr id="30" name="Shape 28"/>
          <p:cNvSpPr/>
          <p:nvPr/>
        </p:nvSpPr>
        <p:spPr>
          <a:xfrm>
            <a:off x="6080760" y="3858768"/>
            <a:ext cx="1188720" cy="658368"/>
          </a:xfrm>
          <a:prstGeom prst="roundRect">
            <a:avLst>
              <a:gd name="adj" fmla="val 8333"/>
            </a:avLst>
          </a:prstGeom>
          <a:solidFill>
            <a:srgbClr val="10233A"/>
          </a:solidFill>
          <a:ln w="12700">
            <a:solidFill>
              <a:srgbClr val="10233A"/>
            </a:solidFill>
            <a:prstDash val="solid"/>
          </a:ln>
        </p:spPr>
      </p:sp>
      <p:sp>
        <p:nvSpPr>
          <p:cNvPr id="31" name="Text 29"/>
          <p:cNvSpPr txBox="1"/>
          <p:nvPr/>
        </p:nvSpPr>
        <p:spPr>
          <a:xfrm>
            <a:off x="6080760" y="3904488"/>
            <a:ext cx="1188720" cy="228600"/>
          </a:xfrm>
          <a:prstGeom prst="rect">
            <a:avLst/>
          </a:prstGeom>
          <a:noFill/>
          <a:ln/>
        </p:spPr>
        <p:txBody>
          <a:bodyPr wrap="square" lIns="0" tIns="0" rIns="0" bIns="0" rtlCol="0" anchor="t"/>
          <a:lstStyle/>
          <a:p>
            <a:pPr algn="ctr" indent="0" marL="0">
              <a:buNone/>
            </a:pPr>
            <a:r>
              <a:rPr lang="en-US" sz="850" b="1" dirty="0">
                <a:solidFill>
                  <a:srgbClr val="F2A541"/>
                </a:solidFill>
                <a:latin typeface="Calibri" pitchFamily="34" charset="0"/>
                <a:ea typeface="Calibri" pitchFamily="34" charset="-122"/>
                <a:cs typeface="Calibri" pitchFamily="34" charset="-120"/>
              </a:rPr>
              <a:t>PROPOSED HOST*</a:t>
            </a:r>
            <a:endParaRPr lang="en-US" sz="850" dirty="0"/>
          </a:p>
        </p:txBody>
      </p:sp>
      <p:sp>
        <p:nvSpPr>
          <p:cNvPr id="32" name="Text 30"/>
          <p:cNvSpPr txBox="1"/>
          <p:nvPr/>
        </p:nvSpPr>
        <p:spPr>
          <a:xfrm>
            <a:off x="6080760" y="4133088"/>
            <a:ext cx="11887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Jubilee Institute</a:t>
            </a:r>
            <a:endParaRPr lang="en-US" sz="1150" dirty="0"/>
          </a:p>
        </p:txBody>
      </p:sp>
      <p:sp>
        <p:nvSpPr>
          <p:cNvPr id="33" name="Shape 31"/>
          <p:cNvSpPr/>
          <p:nvPr/>
        </p:nvSpPr>
        <p:spPr>
          <a:xfrm>
            <a:off x="7360920" y="3858768"/>
            <a:ext cx="1188720" cy="658368"/>
          </a:xfrm>
          <a:prstGeom prst="roundRect">
            <a:avLst>
              <a:gd name="adj" fmla="val 8333"/>
            </a:avLst>
          </a:prstGeom>
          <a:solidFill>
            <a:srgbClr val="10233A"/>
          </a:solidFill>
          <a:ln w="12700">
            <a:solidFill>
              <a:srgbClr val="10233A"/>
            </a:solidFill>
            <a:prstDash val="solid"/>
          </a:ln>
        </p:spPr>
      </p:sp>
      <p:sp>
        <p:nvSpPr>
          <p:cNvPr id="34" name="Text 32"/>
          <p:cNvSpPr txBox="1"/>
          <p:nvPr/>
        </p:nvSpPr>
        <p:spPr>
          <a:xfrm>
            <a:off x="7360920" y="3904488"/>
            <a:ext cx="1188720" cy="228600"/>
          </a:xfrm>
          <a:prstGeom prst="rect">
            <a:avLst/>
          </a:prstGeom>
          <a:noFill/>
          <a:ln/>
        </p:spPr>
        <p:txBody>
          <a:bodyPr wrap="square" lIns="0" tIns="0" rIns="0" bIns="0" rtlCol="0" anchor="t"/>
          <a:lstStyle/>
          <a:p>
            <a:pPr algn="ctr" indent="0" marL="0">
              <a:buNone/>
            </a:pPr>
            <a:r>
              <a:rPr lang="en-US" sz="850" b="1" dirty="0">
                <a:solidFill>
                  <a:srgbClr val="F2A541"/>
                </a:solidFill>
                <a:latin typeface="Calibri" pitchFamily="34" charset="0"/>
                <a:ea typeface="Calibri" pitchFamily="34" charset="-122"/>
                <a:cs typeface="Calibri" pitchFamily="34" charset="-120"/>
              </a:rPr>
              <a:t>PARTICIPANTS</a:t>
            </a:r>
            <a:endParaRPr lang="en-US" sz="850" dirty="0"/>
          </a:p>
        </p:txBody>
      </p:sp>
      <p:sp>
        <p:nvSpPr>
          <p:cNvPr id="35" name="Text 33"/>
          <p:cNvSpPr txBox="1"/>
          <p:nvPr/>
        </p:nvSpPr>
        <p:spPr>
          <a:xfrm>
            <a:off x="7360920" y="4133088"/>
            <a:ext cx="11887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20 per cohort</a:t>
            </a:r>
            <a:endParaRPr lang="en-US" sz="1150" dirty="0"/>
          </a:p>
        </p:txBody>
      </p:sp>
      <p:pic>
        <p:nvPicPr>
          <p:cNvPr id="37" name="Image 0" descr="preencoded.png">    </p:cNvPr>
          <p:cNvPicPr>
            <a:picLocks noChangeAspect="1"/>
          </p:cNvPicPr>
          <p:nvPr/>
        </p:nvPicPr>
        <p:blipFill>
          <a:blip r:embed="rId1"/>
          <a:stretch>
            <a:fillRect/>
          </a:stretch>
        </p:blipFill>
        <p:spPr>
          <a:xfrm>
            <a:off x="1335024" y="1554480"/>
            <a:ext cx="182880" cy="182880"/>
          </a:xfrm>
          <a:prstGeom prst="rect">
            <a:avLst/>
          </a:prstGeom>
        </p:spPr>
      </p:pic>
      <p:pic>
        <p:nvPicPr>
          <p:cNvPr id="38" name="Image 1" descr="preencoded.png">    </p:cNvPr>
          <p:cNvPicPr>
            <a:picLocks noChangeAspect="1"/>
          </p:cNvPicPr>
          <p:nvPr/>
        </p:nvPicPr>
        <p:blipFill>
          <a:blip r:embed="rId2"/>
          <a:stretch>
            <a:fillRect/>
          </a:stretch>
        </p:blipFill>
        <p:spPr>
          <a:xfrm>
            <a:off x="3429000" y="1554480"/>
            <a:ext cx="182880" cy="182880"/>
          </a:xfrm>
          <a:prstGeom prst="rect">
            <a:avLst/>
          </a:prstGeom>
        </p:spPr>
      </p:pic>
      <p:pic>
        <p:nvPicPr>
          <p:cNvPr id="39" name="Image 2" descr="preencoded.png">    </p:cNvPr>
          <p:cNvPicPr>
            <a:picLocks noChangeAspect="1"/>
          </p:cNvPicPr>
          <p:nvPr/>
        </p:nvPicPr>
        <p:blipFill>
          <a:blip r:embed="rId3"/>
          <a:stretch>
            <a:fillRect/>
          </a:stretch>
        </p:blipFill>
        <p:spPr>
          <a:xfrm>
            <a:off x="7616952" y="1554480"/>
            <a:ext cx="182880" cy="182880"/>
          </a:xfrm>
          <a:prstGeom prst="rect">
            <a:avLst/>
          </a:prstGeom>
        </p:spPr>
      </p:pic>
      <p:pic>
        <p:nvPicPr>
          <p:cNvPr id="40" name="Image 3" descr="preencoded.png">    </p:cNvPr>
          <p:cNvPicPr>
            <a:picLocks noChangeAspect="1"/>
          </p:cNvPicPr>
          <p:nvPr/>
        </p:nvPicPr>
        <p:blipFill>
          <a:blip r:embed="rId4"/>
          <a:stretch>
            <a:fillRect/>
          </a:stretch>
        </p:blipFill>
        <p:spPr>
          <a:xfrm>
            <a:off x="5522976" y="1554480"/>
            <a:ext cx="182880" cy="182880"/>
          </a:xfrm>
          <a:prstGeom prst="rect">
            <a:avLst/>
          </a:prstGeom>
        </p:spPr>
      </p:pic>
      <p:pic>
        <p:nvPicPr>
          <p:cNvPr id="41" name="Image 4" descr="preencoded.png">    </p:cNvPr>
          <p:cNvPicPr>
            <a:picLocks noChangeAspect="1"/>
          </p:cNvPicPr>
          <p:nvPr/>
        </p:nvPicPr>
        <p:blipFill>
          <a:blip r:embed="rId5"/>
          <a:stretch>
            <a:fillRect/>
          </a:stretch>
        </p:blipFill>
        <p:spPr>
          <a:xfrm>
            <a:off x="685800" y="3593592"/>
            <a:ext cx="182880" cy="182880"/>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2  ·  WHY GREEN CIRCLE</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What Green Circle adds to the partnership</a:t>
            </a:r>
            <a:endParaRPr lang="en-US" sz="2500" dirty="0"/>
          </a:p>
        </p:txBody>
      </p:sp>
      <p:sp>
        <p:nvSpPr>
          <p:cNvPr id="5" name="Shape 3"/>
          <p:cNvSpPr/>
          <p:nvPr/>
        </p:nvSpPr>
        <p:spPr>
          <a:xfrm>
            <a:off x="457200" y="1298448"/>
            <a:ext cx="4892040" cy="585216"/>
          </a:xfrm>
          <a:prstGeom prst="roundRect">
            <a:avLst>
              <a:gd name="adj" fmla="val 9375"/>
            </a:avLst>
          </a:prstGeom>
          <a:solidFill>
            <a:srgbClr val="F3F6F8"/>
          </a:solidFill>
          <a:ln w="12700">
            <a:solidFill>
              <a:srgbClr val="F3F6F8"/>
            </a:solidFill>
            <a:prstDash val="solid"/>
          </a:ln>
        </p:spPr>
      </p:sp>
      <p:sp>
        <p:nvSpPr>
          <p:cNvPr id="6" name="Shape 4"/>
          <p:cNvSpPr/>
          <p:nvPr/>
        </p:nvSpPr>
        <p:spPr>
          <a:xfrm>
            <a:off x="566928" y="1399032"/>
            <a:ext cx="384048" cy="384048"/>
          </a:xfrm>
          <a:prstGeom prst="ellipse">
            <a:avLst/>
          </a:prstGeom>
          <a:solidFill>
            <a:srgbClr val="0A8577"/>
          </a:solidFill>
          <a:ln w="12700">
            <a:solidFill>
              <a:srgbClr val="0A8577"/>
            </a:solidFill>
            <a:prstDash val="solid"/>
          </a:ln>
        </p:spPr>
      </p:sp>
      <p:sp>
        <p:nvSpPr>
          <p:cNvPr id="7" name="Text 5"/>
          <p:cNvSpPr txBox="1"/>
          <p:nvPr/>
        </p:nvSpPr>
        <p:spPr>
          <a:xfrm>
            <a:off x="1051560" y="1298448"/>
            <a:ext cx="1508760" cy="58521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AI expertise</a:t>
            </a:r>
            <a:endParaRPr lang="en-US" sz="1300" dirty="0"/>
          </a:p>
        </p:txBody>
      </p:sp>
      <p:sp>
        <p:nvSpPr>
          <p:cNvPr id="8" name="Text 6"/>
          <p:cNvSpPr txBox="1"/>
          <p:nvPr/>
        </p:nvSpPr>
        <p:spPr>
          <a:xfrm>
            <a:off x="2606040" y="1298448"/>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Designs and leads all AI content, labs and coaching</a:t>
            </a:r>
            <a:endParaRPr lang="en-US" sz="1100" dirty="0"/>
          </a:p>
        </p:txBody>
      </p:sp>
      <p:sp>
        <p:nvSpPr>
          <p:cNvPr id="9" name="Shape 7"/>
          <p:cNvSpPr/>
          <p:nvPr/>
        </p:nvSpPr>
        <p:spPr>
          <a:xfrm>
            <a:off x="457200" y="1965960"/>
            <a:ext cx="4892040" cy="585216"/>
          </a:xfrm>
          <a:prstGeom prst="roundRect">
            <a:avLst>
              <a:gd name="adj" fmla="val 9375"/>
            </a:avLst>
          </a:prstGeom>
          <a:solidFill>
            <a:srgbClr val="F3F6F8"/>
          </a:solidFill>
          <a:ln w="12700">
            <a:solidFill>
              <a:srgbClr val="F3F6F8"/>
            </a:solidFill>
            <a:prstDash val="solid"/>
          </a:ln>
        </p:spPr>
      </p:sp>
      <p:sp>
        <p:nvSpPr>
          <p:cNvPr id="10" name="Shape 8"/>
          <p:cNvSpPr/>
          <p:nvPr/>
        </p:nvSpPr>
        <p:spPr>
          <a:xfrm>
            <a:off x="566928" y="2066544"/>
            <a:ext cx="384048" cy="384048"/>
          </a:xfrm>
          <a:prstGeom prst="ellipse">
            <a:avLst/>
          </a:prstGeom>
          <a:solidFill>
            <a:srgbClr val="0A8577"/>
          </a:solidFill>
          <a:ln w="12700">
            <a:solidFill>
              <a:srgbClr val="0A8577"/>
            </a:solidFill>
            <a:prstDash val="solid"/>
          </a:ln>
        </p:spPr>
      </p:sp>
      <p:sp>
        <p:nvSpPr>
          <p:cNvPr id="11" name="Text 9"/>
          <p:cNvSpPr txBox="1"/>
          <p:nvPr/>
        </p:nvSpPr>
        <p:spPr>
          <a:xfrm>
            <a:off x="1051560" y="1965960"/>
            <a:ext cx="1508760" cy="58521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A ready program</a:t>
            </a:r>
            <a:endParaRPr lang="en-US" sz="1300" dirty="0"/>
          </a:p>
        </p:txBody>
      </p:sp>
      <p:sp>
        <p:nvSpPr>
          <p:cNvPr id="12" name="Text 10"/>
          <p:cNvSpPr txBox="1"/>
          <p:nvPr/>
        </p:nvSpPr>
        <p:spPr>
          <a:xfrm>
            <a:off x="2606040" y="1965960"/>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11 modules, 96 hours, sessions, tools and a capstone, already designed</a:t>
            </a:r>
            <a:endParaRPr lang="en-US" sz="1100" dirty="0"/>
          </a:p>
        </p:txBody>
      </p:sp>
      <p:sp>
        <p:nvSpPr>
          <p:cNvPr id="13" name="Shape 11"/>
          <p:cNvSpPr/>
          <p:nvPr/>
        </p:nvSpPr>
        <p:spPr>
          <a:xfrm>
            <a:off x="457200" y="2633472"/>
            <a:ext cx="4892040" cy="585216"/>
          </a:xfrm>
          <a:prstGeom prst="roundRect">
            <a:avLst>
              <a:gd name="adj" fmla="val 9375"/>
            </a:avLst>
          </a:prstGeom>
          <a:solidFill>
            <a:srgbClr val="F3F6F8"/>
          </a:solidFill>
          <a:ln w="12700">
            <a:solidFill>
              <a:srgbClr val="F3F6F8"/>
            </a:solidFill>
            <a:prstDash val="solid"/>
          </a:ln>
        </p:spPr>
      </p:sp>
      <p:sp>
        <p:nvSpPr>
          <p:cNvPr id="14" name="Shape 12"/>
          <p:cNvSpPr/>
          <p:nvPr/>
        </p:nvSpPr>
        <p:spPr>
          <a:xfrm>
            <a:off x="566928" y="2734056"/>
            <a:ext cx="384048" cy="384048"/>
          </a:xfrm>
          <a:prstGeom prst="ellipse">
            <a:avLst/>
          </a:prstGeom>
          <a:solidFill>
            <a:srgbClr val="0A8577"/>
          </a:solidFill>
          <a:ln w="12700">
            <a:solidFill>
              <a:srgbClr val="0A8577"/>
            </a:solidFill>
            <a:prstDash val="solid"/>
          </a:ln>
        </p:spPr>
      </p:sp>
      <p:sp>
        <p:nvSpPr>
          <p:cNvPr id="15" name="Text 13"/>
          <p:cNvSpPr txBox="1"/>
          <p:nvPr/>
        </p:nvSpPr>
        <p:spPr>
          <a:xfrm>
            <a:off x="1051560" y="2633472"/>
            <a:ext cx="1508760" cy="58521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Program leadership</a:t>
            </a:r>
            <a:endParaRPr lang="en-US" sz="1300" dirty="0"/>
          </a:p>
        </p:txBody>
      </p:sp>
      <p:sp>
        <p:nvSpPr>
          <p:cNvPr id="16" name="Text 14"/>
          <p:cNvSpPr txBox="1"/>
          <p:nvPr/>
        </p:nvSpPr>
        <p:spPr>
          <a:xfrm>
            <a:off x="2606040" y="2633472"/>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One accountable lead for delivery, quality and reporting</a:t>
            </a:r>
            <a:endParaRPr lang="en-US" sz="1100" dirty="0"/>
          </a:p>
        </p:txBody>
      </p:sp>
      <p:sp>
        <p:nvSpPr>
          <p:cNvPr id="17" name="Shape 15"/>
          <p:cNvSpPr/>
          <p:nvPr/>
        </p:nvSpPr>
        <p:spPr>
          <a:xfrm>
            <a:off x="457200" y="3300984"/>
            <a:ext cx="4892040" cy="585216"/>
          </a:xfrm>
          <a:prstGeom prst="roundRect">
            <a:avLst>
              <a:gd name="adj" fmla="val 9375"/>
            </a:avLst>
          </a:prstGeom>
          <a:solidFill>
            <a:srgbClr val="F3F6F8"/>
          </a:solidFill>
          <a:ln w="12700">
            <a:solidFill>
              <a:srgbClr val="F3F6F8"/>
            </a:solidFill>
            <a:prstDash val="solid"/>
          </a:ln>
        </p:spPr>
      </p:sp>
      <p:sp>
        <p:nvSpPr>
          <p:cNvPr id="18" name="Shape 16"/>
          <p:cNvSpPr/>
          <p:nvPr/>
        </p:nvSpPr>
        <p:spPr>
          <a:xfrm>
            <a:off x="566928" y="3401568"/>
            <a:ext cx="384048" cy="384048"/>
          </a:xfrm>
          <a:prstGeom prst="ellipse">
            <a:avLst/>
          </a:prstGeom>
          <a:solidFill>
            <a:srgbClr val="0A8577"/>
          </a:solidFill>
          <a:ln w="12700">
            <a:solidFill>
              <a:srgbClr val="0A8577"/>
            </a:solidFill>
            <a:prstDash val="solid"/>
          </a:ln>
        </p:spPr>
      </p:sp>
      <p:sp>
        <p:nvSpPr>
          <p:cNvPr id="19" name="Text 17"/>
          <p:cNvSpPr txBox="1"/>
          <p:nvPr/>
        </p:nvSpPr>
        <p:spPr>
          <a:xfrm>
            <a:off x="1051560" y="3300984"/>
            <a:ext cx="1508760" cy="58521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Delivery record</a:t>
            </a:r>
            <a:endParaRPr lang="en-US" sz="1300" dirty="0"/>
          </a:p>
        </p:txBody>
      </p:sp>
      <p:sp>
        <p:nvSpPr>
          <p:cNvPr id="20" name="Text 18"/>
          <p:cNvSpPr txBox="1"/>
          <p:nvPr/>
        </p:nvSpPr>
        <p:spPr>
          <a:xfrm>
            <a:off x="2606040" y="3300984"/>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References: USAID, CFYE, MoDEE, Q2 Impact</a:t>
            </a:r>
            <a:endParaRPr lang="en-US" sz="1100" dirty="0"/>
          </a:p>
        </p:txBody>
      </p:sp>
      <p:sp>
        <p:nvSpPr>
          <p:cNvPr id="21" name="Shape 19"/>
          <p:cNvSpPr/>
          <p:nvPr/>
        </p:nvSpPr>
        <p:spPr>
          <a:xfrm>
            <a:off x="457200" y="3968496"/>
            <a:ext cx="4892040" cy="585216"/>
          </a:xfrm>
          <a:prstGeom prst="roundRect">
            <a:avLst>
              <a:gd name="adj" fmla="val 9375"/>
            </a:avLst>
          </a:prstGeom>
          <a:solidFill>
            <a:srgbClr val="F3F6F8"/>
          </a:solidFill>
          <a:ln w="12700">
            <a:solidFill>
              <a:srgbClr val="F3F6F8"/>
            </a:solidFill>
            <a:prstDash val="solid"/>
          </a:ln>
        </p:spPr>
      </p:sp>
      <p:sp>
        <p:nvSpPr>
          <p:cNvPr id="22" name="Shape 20"/>
          <p:cNvSpPr/>
          <p:nvPr/>
        </p:nvSpPr>
        <p:spPr>
          <a:xfrm>
            <a:off x="566928" y="4069080"/>
            <a:ext cx="384048" cy="384048"/>
          </a:xfrm>
          <a:prstGeom prst="ellipse">
            <a:avLst/>
          </a:prstGeom>
          <a:solidFill>
            <a:srgbClr val="0A8577"/>
          </a:solidFill>
          <a:ln w="12700">
            <a:solidFill>
              <a:srgbClr val="0A8577"/>
            </a:solidFill>
            <a:prstDash val="solid"/>
          </a:ln>
        </p:spPr>
      </p:sp>
      <p:sp>
        <p:nvSpPr>
          <p:cNvPr id="23" name="Text 21"/>
          <p:cNvSpPr txBox="1"/>
          <p:nvPr/>
        </p:nvSpPr>
        <p:spPr>
          <a:xfrm>
            <a:off x="1051560" y="3968496"/>
            <a:ext cx="1508760" cy="58521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Secure by default</a:t>
            </a:r>
            <a:endParaRPr lang="en-US" sz="1300" dirty="0"/>
          </a:p>
        </p:txBody>
      </p:sp>
      <p:sp>
        <p:nvSpPr>
          <p:cNvPr id="24" name="Text 22"/>
          <p:cNvSpPr txBox="1"/>
          <p:nvPr/>
        </p:nvSpPr>
        <p:spPr>
          <a:xfrm>
            <a:off x="2606040" y="3968496"/>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“be aware..be secure”: privacy, credential safety and honest AI labelling in every module</a:t>
            </a:r>
            <a:endParaRPr lang="en-US" sz="1100" dirty="0"/>
          </a:p>
        </p:txBody>
      </p:sp>
      <p:sp>
        <p:nvSpPr>
          <p:cNvPr id="25" name="Shape 23"/>
          <p:cNvSpPr/>
          <p:nvPr/>
        </p:nvSpPr>
        <p:spPr>
          <a:xfrm>
            <a:off x="5532120" y="1298448"/>
            <a:ext cx="3154680" cy="3264408"/>
          </a:xfrm>
          <a:prstGeom prst="roundRect">
            <a:avLst>
              <a:gd name="adj" fmla="val 1739"/>
            </a:avLst>
          </a:prstGeom>
          <a:solidFill>
            <a:srgbClr val="10233A"/>
          </a:solidFill>
          <a:ln w="12700">
            <a:solidFill>
              <a:srgbClr val="10233A"/>
            </a:solidFill>
            <a:prstDash val="solid"/>
          </a:ln>
        </p:spPr>
      </p:sp>
      <p:sp>
        <p:nvSpPr>
          <p:cNvPr id="26" name="Shape 24"/>
          <p:cNvSpPr/>
          <p:nvPr/>
        </p:nvSpPr>
        <p:spPr>
          <a:xfrm>
            <a:off x="5669280" y="1435608"/>
            <a:ext cx="384048" cy="384048"/>
          </a:xfrm>
          <a:prstGeom prst="ellipse">
            <a:avLst/>
          </a:prstGeom>
          <a:solidFill>
            <a:srgbClr val="F2A541"/>
          </a:solidFill>
          <a:ln w="12700">
            <a:solidFill>
              <a:srgbClr val="F2A541"/>
            </a:solidFill>
            <a:prstDash val="solid"/>
          </a:ln>
        </p:spPr>
      </p:sp>
      <p:sp>
        <p:nvSpPr>
          <p:cNvPr id="27" name="Text 25"/>
          <p:cNvSpPr txBox="1"/>
          <p:nvPr/>
        </p:nvSpPr>
        <p:spPr>
          <a:xfrm>
            <a:off x="6144768" y="1435608"/>
            <a:ext cx="2468880" cy="384048"/>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Value for Jubilee Institute</a:t>
            </a:r>
            <a:endParaRPr lang="en-US" sz="1400" dirty="0"/>
          </a:p>
        </p:txBody>
      </p:sp>
      <p:sp>
        <p:nvSpPr>
          <p:cNvPr id="28" name="Text 26"/>
          <p:cNvSpPr txBox="1"/>
          <p:nvPr/>
        </p:nvSpPr>
        <p:spPr>
          <a:xfrm>
            <a:off x="5687568" y="1965960"/>
            <a:ext cx="2880360" cy="251460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complete, hands-on AI content program on its site, with no design burden</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Participants who leave with finished work and portfolios</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Demo Day the Institute can host and showcase</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Measured, reported results it can cite</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curriculum that can run again with new cohorts, if agreed</a:t>
            </a:r>
            <a:endParaRPr lang="en-US" sz="1150" dirty="0"/>
          </a:p>
        </p:txBody>
      </p:sp>
      <p:pic>
        <p:nvPicPr>
          <p:cNvPr id="29" name="Image 0" descr="preencoded.png">    </p:cNvPr>
          <p:cNvPicPr>
            <a:picLocks noChangeAspect="1"/>
          </p:cNvPicPr>
          <p:nvPr/>
        </p:nvPicPr>
        <p:blipFill>
          <a:blip r:embed="rId1"/>
          <a:stretch>
            <a:fillRect/>
          </a:stretch>
        </p:blipFill>
        <p:spPr>
          <a:xfrm>
            <a:off x="662940" y="2162556"/>
            <a:ext cx="192024" cy="192024"/>
          </a:xfrm>
          <a:prstGeom prst="rect">
            <a:avLst/>
          </a:prstGeom>
        </p:spPr>
      </p:pic>
      <p:pic>
        <p:nvPicPr>
          <p:cNvPr id="30" name="Image 1" descr="preencoded.png">    </p:cNvPr>
          <p:cNvPicPr>
            <a:picLocks noChangeAspect="1"/>
          </p:cNvPicPr>
          <p:nvPr/>
        </p:nvPicPr>
        <p:blipFill>
          <a:blip r:embed="rId2"/>
          <a:stretch>
            <a:fillRect/>
          </a:stretch>
        </p:blipFill>
        <p:spPr>
          <a:xfrm>
            <a:off x="662940" y="4165092"/>
            <a:ext cx="192024" cy="192024"/>
          </a:xfrm>
          <a:prstGeom prst="rect">
            <a:avLst/>
          </a:prstGeom>
        </p:spPr>
      </p:pic>
      <p:pic>
        <p:nvPicPr>
          <p:cNvPr id="31" name="Image 2" descr="preencoded.png">    </p:cNvPr>
          <p:cNvPicPr>
            <a:picLocks noChangeAspect="1"/>
          </p:cNvPicPr>
          <p:nvPr/>
        </p:nvPicPr>
        <p:blipFill>
          <a:blip r:embed="rId3"/>
          <a:stretch>
            <a:fillRect/>
          </a:stretch>
        </p:blipFill>
        <p:spPr>
          <a:xfrm>
            <a:off x="662940" y="2830068"/>
            <a:ext cx="192024" cy="192024"/>
          </a:xfrm>
          <a:prstGeom prst="rect">
            <a:avLst/>
          </a:prstGeom>
        </p:spPr>
      </p:pic>
      <p:pic>
        <p:nvPicPr>
          <p:cNvPr id="32" name="Image 3" descr="preencoded.png">    </p:cNvPr>
          <p:cNvPicPr>
            <a:picLocks noChangeAspect="1"/>
          </p:cNvPicPr>
          <p:nvPr/>
        </p:nvPicPr>
        <p:blipFill>
          <a:blip r:embed="rId4"/>
          <a:stretch>
            <a:fillRect/>
          </a:stretch>
        </p:blipFill>
        <p:spPr>
          <a:xfrm>
            <a:off x="662940" y="1495044"/>
            <a:ext cx="192024" cy="192024"/>
          </a:xfrm>
          <a:prstGeom prst="rect">
            <a:avLst/>
          </a:prstGeom>
        </p:spPr>
      </p:pic>
      <p:pic>
        <p:nvPicPr>
          <p:cNvPr id="33" name="Image 4" descr="preencoded.png">    </p:cNvPr>
          <p:cNvPicPr>
            <a:picLocks noChangeAspect="1"/>
          </p:cNvPicPr>
          <p:nvPr/>
        </p:nvPicPr>
        <p:blipFill>
          <a:blip r:embed="rId5"/>
          <a:stretch>
            <a:fillRect/>
          </a:stretch>
        </p:blipFill>
        <p:spPr>
          <a:xfrm>
            <a:off x="662940" y="3497580"/>
            <a:ext cx="192024" cy="192024"/>
          </a:xfrm>
          <a:prstGeom prst="rect">
            <a:avLst/>
          </a:prstGeom>
        </p:spPr>
      </p:pic>
      <p:pic>
        <p:nvPicPr>
          <p:cNvPr id="34" name="Image 5" descr="preencoded.png">    </p:cNvPr>
          <p:cNvPicPr>
            <a:picLocks noChangeAspect="1"/>
          </p:cNvPicPr>
          <p:nvPr/>
        </p:nvPicPr>
        <p:blipFill>
          <a:blip r:embed="rId6"/>
          <a:stretch>
            <a:fillRect/>
          </a:stretch>
        </p:blipFill>
        <p:spPr>
          <a:xfrm>
            <a:off x="5765292" y="1531620"/>
            <a:ext cx="192024" cy="192024"/>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3  ·  OUTCOMES</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What participants will be able to do</a:t>
            </a:r>
            <a:endParaRPr lang="en-US" sz="2500" dirty="0"/>
          </a:p>
        </p:txBody>
      </p:sp>
      <p:sp>
        <p:nvSpPr>
          <p:cNvPr id="5" name="Shape 3"/>
          <p:cNvSpPr/>
          <p:nvPr/>
        </p:nvSpPr>
        <p:spPr>
          <a:xfrm>
            <a:off x="457200" y="1280160"/>
            <a:ext cx="3246120" cy="3337560"/>
          </a:xfrm>
          <a:prstGeom prst="roundRect">
            <a:avLst>
              <a:gd name="adj" fmla="val 1690"/>
            </a:avLst>
          </a:prstGeom>
          <a:solidFill>
            <a:srgbClr val="10233A"/>
          </a:solidFill>
          <a:ln w="12700">
            <a:solidFill>
              <a:srgbClr val="10233A"/>
            </a:solidFill>
            <a:prstDash val="solid"/>
          </a:ln>
        </p:spPr>
      </p:sp>
      <p:sp>
        <p:nvSpPr>
          <p:cNvPr id="6" name="Shape 4"/>
          <p:cNvSpPr/>
          <p:nvPr/>
        </p:nvSpPr>
        <p:spPr>
          <a:xfrm>
            <a:off x="594360" y="1399032"/>
            <a:ext cx="384048" cy="384048"/>
          </a:xfrm>
          <a:prstGeom prst="ellipse">
            <a:avLst/>
          </a:prstGeom>
          <a:solidFill>
            <a:srgbClr val="F2A541"/>
          </a:solidFill>
          <a:ln w="12700">
            <a:solidFill>
              <a:srgbClr val="F2A541"/>
            </a:solidFill>
            <a:prstDash val="solid"/>
          </a:ln>
        </p:spPr>
      </p:sp>
      <p:sp>
        <p:nvSpPr>
          <p:cNvPr id="7" name="Text 5"/>
          <p:cNvSpPr txBox="1"/>
          <p:nvPr/>
        </p:nvSpPr>
        <p:spPr>
          <a:xfrm>
            <a:off x="1069848" y="1399032"/>
            <a:ext cx="2560320" cy="384048"/>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Program objectives</a:t>
            </a:r>
            <a:endParaRPr lang="en-US" sz="1400" dirty="0"/>
          </a:p>
        </p:txBody>
      </p:sp>
      <p:sp>
        <p:nvSpPr>
          <p:cNvPr id="8" name="Text 6"/>
          <p:cNvSpPr txBox="1"/>
          <p:nvPr/>
        </p:nvSpPr>
        <p:spPr>
          <a:xfrm>
            <a:off x="612648" y="1874520"/>
            <a:ext cx="2999232" cy="269748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Practical AI literacy: how AI tools work, where they fail, how to use them safely and honestly</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A repeatable process from client request to published content</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Core content skills: copy, hooks and CTAs, characters, voice, visuals, scripts, storyboards, video</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Digital marketing planning: personas, objectives, calendars, campaigns</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Hands-on automation with n8n</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Presenting work and approaching freelance opportunities responsibly</a:t>
            </a:r>
            <a:endParaRPr lang="en-US" sz="1050" dirty="0"/>
          </a:p>
        </p:txBody>
      </p:sp>
      <p:sp>
        <p:nvSpPr>
          <p:cNvPr id="9" name="Shape 7"/>
          <p:cNvSpPr/>
          <p:nvPr/>
        </p:nvSpPr>
        <p:spPr>
          <a:xfrm>
            <a:off x="3886200" y="1280160"/>
            <a:ext cx="4800600" cy="3337560"/>
          </a:xfrm>
          <a:prstGeom prst="roundRect">
            <a:avLst>
              <a:gd name="adj" fmla="val 1644"/>
            </a:avLst>
          </a:prstGeom>
          <a:solidFill>
            <a:srgbClr val="F3F6F8"/>
          </a:solidFill>
          <a:ln w="12700">
            <a:solidFill>
              <a:srgbClr val="F3F6F8"/>
            </a:solidFill>
            <a:prstDash val="solid"/>
          </a:ln>
        </p:spPr>
      </p:sp>
      <p:sp>
        <p:nvSpPr>
          <p:cNvPr id="10" name="Shape 8"/>
          <p:cNvSpPr/>
          <p:nvPr/>
        </p:nvSpPr>
        <p:spPr>
          <a:xfrm>
            <a:off x="4023360" y="1399032"/>
            <a:ext cx="384048" cy="384048"/>
          </a:xfrm>
          <a:prstGeom prst="ellipse">
            <a:avLst/>
          </a:prstGeom>
          <a:solidFill>
            <a:srgbClr val="0A8577"/>
          </a:solidFill>
          <a:ln w="12700">
            <a:solidFill>
              <a:srgbClr val="0A8577"/>
            </a:solidFill>
            <a:prstDash val="solid"/>
          </a:ln>
        </p:spPr>
      </p:sp>
      <p:sp>
        <p:nvSpPr>
          <p:cNvPr id="11" name="Text 9"/>
          <p:cNvSpPr txBox="1"/>
          <p:nvPr/>
        </p:nvSpPr>
        <p:spPr>
          <a:xfrm>
            <a:off x="4498848" y="1399032"/>
            <a:ext cx="4114800" cy="384048"/>
          </a:xfrm>
          <a:prstGeom prst="rect">
            <a:avLst/>
          </a:prstGeom>
          <a:noFill/>
          <a:ln/>
        </p:spPr>
        <p:txBody>
          <a:bodyPr wrap="square" lIns="0" tIns="0" rIns="0" bIns="0" rtlCol="0" anchor="ctr"/>
          <a:lstStyle/>
          <a:p>
            <a:pPr indent="0" marL="0">
              <a:buNone/>
            </a:pPr>
            <a:r>
              <a:rPr lang="en-US" sz="1400" b="1" dirty="0">
                <a:solidFill>
                  <a:srgbClr val="0A8577"/>
                </a:solidFill>
                <a:latin typeface="Calibri" pitchFamily="34" charset="0"/>
                <a:ea typeface="Calibri" pitchFamily="34" charset="-122"/>
                <a:cs typeface="Calibri" pitchFamily="34" charset="-120"/>
              </a:rPr>
              <a:t>Learning outcomes: by the end, each participant can</a:t>
            </a:r>
            <a:endParaRPr lang="en-US" sz="1400" dirty="0"/>
          </a:p>
        </p:txBody>
      </p:sp>
      <p:sp>
        <p:nvSpPr>
          <p:cNvPr id="12" name="Shape 10"/>
          <p:cNvSpPr/>
          <p:nvPr/>
        </p:nvSpPr>
        <p:spPr>
          <a:xfrm>
            <a:off x="4041648" y="1911096"/>
            <a:ext cx="219456" cy="219456"/>
          </a:xfrm>
          <a:prstGeom prst="ellipse">
            <a:avLst/>
          </a:prstGeom>
          <a:solidFill>
            <a:srgbClr val="0A8577"/>
          </a:solidFill>
          <a:ln w="12700">
            <a:solidFill>
              <a:srgbClr val="0A8577"/>
            </a:solidFill>
            <a:prstDash val="solid"/>
          </a:ln>
        </p:spPr>
      </p:sp>
      <p:sp>
        <p:nvSpPr>
          <p:cNvPr id="13" name="Text 11"/>
          <p:cNvSpPr txBox="1"/>
          <p:nvPr/>
        </p:nvSpPr>
        <p:spPr>
          <a:xfrm>
            <a:off x="4041648" y="191109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Text 12"/>
          <p:cNvSpPr txBox="1"/>
          <p:nvPr/>
        </p:nvSpPr>
        <p:spPr>
          <a:xfrm>
            <a:off x="4370832" y="1883664"/>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Turn a vague request into a one-page brief backed by verified research</a:t>
            </a:r>
            <a:endParaRPr lang="en-US" sz="1050" dirty="0"/>
          </a:p>
        </p:txBody>
      </p:sp>
      <p:sp>
        <p:nvSpPr>
          <p:cNvPr id="15" name="Shape 13"/>
          <p:cNvSpPr/>
          <p:nvPr/>
        </p:nvSpPr>
        <p:spPr>
          <a:xfrm>
            <a:off x="4041648" y="2212848"/>
            <a:ext cx="219456" cy="219456"/>
          </a:xfrm>
          <a:prstGeom prst="ellipse">
            <a:avLst/>
          </a:prstGeom>
          <a:solidFill>
            <a:srgbClr val="0A8577"/>
          </a:solidFill>
          <a:ln w="12700">
            <a:solidFill>
              <a:srgbClr val="0A8577"/>
            </a:solidFill>
            <a:prstDash val="solid"/>
          </a:ln>
        </p:spPr>
      </p:sp>
      <p:sp>
        <p:nvSpPr>
          <p:cNvPr id="16" name="Text 14"/>
          <p:cNvSpPr txBox="1"/>
          <p:nvPr/>
        </p:nvSpPr>
        <p:spPr>
          <a:xfrm>
            <a:off x="4041648" y="221284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txBox="1"/>
          <p:nvPr/>
        </p:nvSpPr>
        <p:spPr>
          <a:xfrm>
            <a:off x="4370832" y="2185416"/>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Write structured prompts and reusable context packs</a:t>
            </a:r>
            <a:endParaRPr lang="en-US" sz="1050" dirty="0"/>
          </a:p>
        </p:txBody>
      </p:sp>
      <p:sp>
        <p:nvSpPr>
          <p:cNvPr id="18" name="Shape 16"/>
          <p:cNvSpPr/>
          <p:nvPr/>
        </p:nvSpPr>
        <p:spPr>
          <a:xfrm>
            <a:off x="4041648" y="2514600"/>
            <a:ext cx="219456" cy="219456"/>
          </a:xfrm>
          <a:prstGeom prst="ellipse">
            <a:avLst/>
          </a:prstGeom>
          <a:solidFill>
            <a:srgbClr val="0A8577"/>
          </a:solidFill>
          <a:ln w="12700">
            <a:solidFill>
              <a:srgbClr val="0A8577"/>
            </a:solidFill>
            <a:prstDash val="solid"/>
          </a:ln>
        </p:spPr>
      </p:sp>
      <p:sp>
        <p:nvSpPr>
          <p:cNvPr id="19" name="Text 17"/>
          <p:cNvSpPr txBox="1"/>
          <p:nvPr/>
        </p:nvSpPr>
        <p:spPr>
          <a:xfrm>
            <a:off x="4041648" y="25146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txBox="1"/>
          <p:nvPr/>
        </p:nvSpPr>
        <p:spPr>
          <a:xfrm>
            <a:off x="4370832" y="2487168"/>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Produce a carousel, captions with CTAs and consistent brand visuals</a:t>
            </a:r>
            <a:endParaRPr lang="en-US" sz="1050" dirty="0"/>
          </a:p>
        </p:txBody>
      </p:sp>
      <p:sp>
        <p:nvSpPr>
          <p:cNvPr id="21" name="Shape 19"/>
          <p:cNvSpPr/>
          <p:nvPr/>
        </p:nvSpPr>
        <p:spPr>
          <a:xfrm>
            <a:off x="4041648" y="2816352"/>
            <a:ext cx="219456" cy="219456"/>
          </a:xfrm>
          <a:prstGeom prst="ellipse">
            <a:avLst/>
          </a:prstGeom>
          <a:solidFill>
            <a:srgbClr val="0A8577"/>
          </a:solidFill>
          <a:ln w="12700">
            <a:solidFill>
              <a:srgbClr val="0A8577"/>
            </a:solidFill>
            <a:prstDash val="solid"/>
          </a:ln>
        </p:spPr>
      </p:sp>
      <p:sp>
        <p:nvSpPr>
          <p:cNvPr id="22" name="Text 20"/>
          <p:cNvSpPr txBox="1"/>
          <p:nvPr/>
        </p:nvSpPr>
        <p:spPr>
          <a:xfrm>
            <a:off x="4041648" y="281635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3" name="Text 21"/>
          <p:cNvSpPr txBox="1"/>
          <p:nvPr/>
        </p:nvSpPr>
        <p:spPr>
          <a:xfrm>
            <a:off x="4370832" y="2788920"/>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Design an AI character with a character sheet and voice profile</a:t>
            </a:r>
            <a:endParaRPr lang="en-US" sz="1050" dirty="0"/>
          </a:p>
        </p:txBody>
      </p:sp>
      <p:sp>
        <p:nvSpPr>
          <p:cNvPr id="24" name="Shape 22"/>
          <p:cNvSpPr/>
          <p:nvPr/>
        </p:nvSpPr>
        <p:spPr>
          <a:xfrm>
            <a:off x="4041648" y="3118104"/>
            <a:ext cx="219456" cy="219456"/>
          </a:xfrm>
          <a:prstGeom prst="ellipse">
            <a:avLst/>
          </a:prstGeom>
          <a:solidFill>
            <a:srgbClr val="0A8577"/>
          </a:solidFill>
          <a:ln w="12700">
            <a:solidFill>
              <a:srgbClr val="0A8577"/>
            </a:solidFill>
            <a:prstDash val="solid"/>
          </a:ln>
        </p:spPr>
      </p:sp>
      <p:sp>
        <p:nvSpPr>
          <p:cNvPr id="25" name="Text 23"/>
          <p:cNvSpPr txBox="1"/>
          <p:nvPr/>
        </p:nvSpPr>
        <p:spPr>
          <a:xfrm>
            <a:off x="4041648" y="311810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6" name="Text 24"/>
          <p:cNvSpPr txBox="1"/>
          <p:nvPr/>
        </p:nvSpPr>
        <p:spPr>
          <a:xfrm>
            <a:off x="4370832" y="3090672"/>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Script, storyboard, produce and edit a 30–45 second captioned video</a:t>
            </a:r>
            <a:endParaRPr lang="en-US" sz="1050" dirty="0"/>
          </a:p>
        </p:txBody>
      </p:sp>
      <p:sp>
        <p:nvSpPr>
          <p:cNvPr id="27" name="Shape 25"/>
          <p:cNvSpPr/>
          <p:nvPr/>
        </p:nvSpPr>
        <p:spPr>
          <a:xfrm>
            <a:off x="4041648" y="3419856"/>
            <a:ext cx="219456" cy="219456"/>
          </a:xfrm>
          <a:prstGeom prst="ellipse">
            <a:avLst/>
          </a:prstGeom>
          <a:solidFill>
            <a:srgbClr val="0A8577"/>
          </a:solidFill>
          <a:ln w="12700">
            <a:solidFill>
              <a:srgbClr val="0A8577"/>
            </a:solidFill>
            <a:prstDash val="solid"/>
          </a:ln>
        </p:spPr>
      </p:sp>
      <p:sp>
        <p:nvSpPr>
          <p:cNvPr id="28" name="Text 26"/>
          <p:cNvSpPr txBox="1"/>
          <p:nvPr/>
        </p:nvSpPr>
        <p:spPr>
          <a:xfrm>
            <a:off x="4041648" y="341985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9" name="Text 27"/>
          <p:cNvSpPr txBox="1"/>
          <p:nvPr/>
        </p:nvSpPr>
        <p:spPr>
          <a:xfrm>
            <a:off x="4370832" y="3392424"/>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Build a persona, a four-week content calendar and a campaign plan</a:t>
            </a:r>
            <a:endParaRPr lang="en-US" sz="1050" dirty="0"/>
          </a:p>
        </p:txBody>
      </p:sp>
      <p:sp>
        <p:nvSpPr>
          <p:cNvPr id="30" name="Shape 28"/>
          <p:cNvSpPr/>
          <p:nvPr/>
        </p:nvSpPr>
        <p:spPr>
          <a:xfrm>
            <a:off x="4041648" y="3721608"/>
            <a:ext cx="219456" cy="219456"/>
          </a:xfrm>
          <a:prstGeom prst="ellipse">
            <a:avLst/>
          </a:prstGeom>
          <a:solidFill>
            <a:srgbClr val="0A8577"/>
          </a:solidFill>
          <a:ln w="12700">
            <a:solidFill>
              <a:srgbClr val="0A8577"/>
            </a:solidFill>
            <a:prstDash val="solid"/>
          </a:ln>
        </p:spPr>
      </p:sp>
      <p:sp>
        <p:nvSpPr>
          <p:cNvPr id="31" name="Text 29"/>
          <p:cNvSpPr txBox="1"/>
          <p:nvPr/>
        </p:nvSpPr>
        <p:spPr>
          <a:xfrm>
            <a:off x="4041648" y="372160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32" name="Text 30"/>
          <p:cNvSpPr txBox="1"/>
          <p:nvPr/>
        </p:nvSpPr>
        <p:spPr>
          <a:xfrm>
            <a:off x="4370832" y="3694176"/>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Build an n8n workflow (form → AI → Google Sheets) and explain each step</a:t>
            </a:r>
            <a:endParaRPr lang="en-US" sz="1050" dirty="0"/>
          </a:p>
        </p:txBody>
      </p:sp>
      <p:sp>
        <p:nvSpPr>
          <p:cNvPr id="33" name="Shape 31"/>
          <p:cNvSpPr/>
          <p:nvPr/>
        </p:nvSpPr>
        <p:spPr>
          <a:xfrm>
            <a:off x="4041648" y="4023360"/>
            <a:ext cx="219456" cy="219456"/>
          </a:xfrm>
          <a:prstGeom prst="ellipse">
            <a:avLst/>
          </a:prstGeom>
          <a:solidFill>
            <a:srgbClr val="0A8577"/>
          </a:solidFill>
          <a:ln w="12700">
            <a:solidFill>
              <a:srgbClr val="0A8577"/>
            </a:solidFill>
            <a:prstDash val="solid"/>
          </a:ln>
        </p:spPr>
      </p:sp>
      <p:sp>
        <p:nvSpPr>
          <p:cNvPr id="34" name="Text 32"/>
          <p:cNvSpPr txBox="1"/>
          <p:nvPr/>
        </p:nvSpPr>
        <p:spPr>
          <a:xfrm>
            <a:off x="4041648" y="402336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5" name="Text 33"/>
          <p:cNvSpPr txBox="1"/>
          <p:nvPr/>
        </p:nvSpPr>
        <p:spPr>
          <a:xfrm>
            <a:off x="4370832" y="3995928"/>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Publish a one-page portfolio and describe three service offers</a:t>
            </a:r>
            <a:endParaRPr lang="en-US" sz="1050" dirty="0"/>
          </a:p>
        </p:txBody>
      </p:sp>
      <p:sp>
        <p:nvSpPr>
          <p:cNvPr id="36" name="Shape 34"/>
          <p:cNvSpPr/>
          <p:nvPr/>
        </p:nvSpPr>
        <p:spPr>
          <a:xfrm>
            <a:off x="4041648" y="4325112"/>
            <a:ext cx="219456" cy="219456"/>
          </a:xfrm>
          <a:prstGeom prst="ellipse">
            <a:avLst/>
          </a:prstGeom>
          <a:solidFill>
            <a:srgbClr val="0A8577"/>
          </a:solidFill>
          <a:ln w="12700">
            <a:solidFill>
              <a:srgbClr val="0A8577"/>
            </a:solidFill>
            <a:prstDash val="solid"/>
          </a:ln>
        </p:spPr>
      </p:sp>
      <p:sp>
        <p:nvSpPr>
          <p:cNvPr id="37" name="Text 35"/>
          <p:cNvSpPr txBox="1"/>
          <p:nvPr/>
        </p:nvSpPr>
        <p:spPr>
          <a:xfrm>
            <a:off x="4041648" y="432511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38" name="Text 36"/>
          <p:cNvSpPr txBox="1"/>
          <p:nvPr/>
        </p:nvSpPr>
        <p:spPr>
          <a:xfrm>
            <a:off x="4370832" y="4297680"/>
            <a:ext cx="4206240" cy="274320"/>
          </a:xfrm>
          <a:prstGeom prst="rect">
            <a:avLst/>
          </a:prstGeom>
          <a:noFill/>
          <a:ln/>
        </p:spPr>
        <p:txBody>
          <a:bodyPr wrap="square" lIns="0" tIns="0" rIns="0" bIns="0" rtlCol="0" anchor="ctr"/>
          <a:lstStyle/>
          <a:p>
            <a:pPr indent="0" marL="0">
              <a:buNone/>
            </a:pPr>
            <a:r>
              <a:rPr lang="en-US" sz="1050" dirty="0">
                <a:solidFill>
                  <a:srgbClr val="2B3A4A"/>
                </a:solidFill>
                <a:latin typeface="Calibri" pitchFamily="34" charset="0"/>
                <a:ea typeface="Calibri" pitchFamily="34" charset="-122"/>
                <a:cs typeface="Calibri" pitchFamily="34" charset="-120"/>
              </a:rPr>
              <a:t>Present a team capstone and the decisions behind it</a:t>
            </a:r>
            <a:endParaRPr lang="en-US" sz="1050" dirty="0"/>
          </a:p>
        </p:txBody>
      </p:sp>
      <p:pic>
        <p:nvPicPr>
          <p:cNvPr id="39" name="Image 0" descr="preencoded.png">    </p:cNvPr>
          <p:cNvPicPr>
            <a:picLocks noChangeAspect="1"/>
          </p:cNvPicPr>
          <p:nvPr/>
        </p:nvPicPr>
        <p:blipFill>
          <a:blip r:embed="rId1"/>
          <a:stretch>
            <a:fillRect/>
          </a:stretch>
        </p:blipFill>
        <p:spPr>
          <a:xfrm>
            <a:off x="690372" y="1495044"/>
            <a:ext cx="192024" cy="192024"/>
          </a:xfrm>
          <a:prstGeom prst="rect">
            <a:avLst/>
          </a:prstGeom>
        </p:spPr>
      </p:pic>
      <p:pic>
        <p:nvPicPr>
          <p:cNvPr id="40" name="Image 1" descr="preencoded.png">    </p:cNvPr>
          <p:cNvPicPr>
            <a:picLocks noChangeAspect="1"/>
          </p:cNvPicPr>
          <p:nvPr/>
        </p:nvPicPr>
        <p:blipFill>
          <a:blip r:embed="rId2"/>
          <a:stretch>
            <a:fillRect/>
          </a:stretch>
        </p:blipFill>
        <p:spPr>
          <a:xfrm>
            <a:off x="4119372" y="1495044"/>
            <a:ext cx="192024" cy="192024"/>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4  ·  THE JOURNEY</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From a client's idea to a published campaign</a:t>
            </a:r>
            <a:endParaRPr lang="en-US" sz="2500" dirty="0"/>
          </a:p>
        </p:txBody>
      </p:sp>
      <p:sp>
        <p:nvSpPr>
          <p:cNvPr id="5" name="Shape 3"/>
          <p:cNvSpPr/>
          <p:nvPr/>
        </p:nvSpPr>
        <p:spPr>
          <a:xfrm>
            <a:off x="457200" y="1261872"/>
            <a:ext cx="1929384" cy="1133856"/>
          </a:xfrm>
          <a:prstGeom prst="roundRect">
            <a:avLst>
              <a:gd name="adj" fmla="val 4839"/>
            </a:avLst>
          </a:prstGeom>
          <a:solidFill>
            <a:srgbClr val="F3F6F8"/>
          </a:solidFill>
          <a:ln w="12700">
            <a:solidFill>
              <a:srgbClr val="F3F6F8"/>
            </a:solidFill>
            <a:prstDash val="solid"/>
          </a:ln>
        </p:spPr>
      </p:sp>
      <p:sp>
        <p:nvSpPr>
          <p:cNvPr id="6" name="Shape 4"/>
          <p:cNvSpPr/>
          <p:nvPr/>
        </p:nvSpPr>
        <p:spPr>
          <a:xfrm>
            <a:off x="576072" y="1371600"/>
            <a:ext cx="438912" cy="438912"/>
          </a:xfrm>
          <a:prstGeom prst="ellipse">
            <a:avLst/>
          </a:prstGeom>
          <a:solidFill>
            <a:srgbClr val="0A8577"/>
          </a:solidFill>
          <a:ln w="12700">
            <a:solidFill>
              <a:srgbClr val="0A8577"/>
            </a:solidFill>
            <a:prstDash val="solid"/>
          </a:ln>
        </p:spPr>
      </p:sp>
      <p:sp>
        <p:nvSpPr>
          <p:cNvPr id="7" name="Text 5"/>
          <p:cNvSpPr txBox="1"/>
          <p:nvPr/>
        </p:nvSpPr>
        <p:spPr>
          <a:xfrm>
            <a:off x="576072" y="1865376"/>
            <a:ext cx="1737360" cy="475488"/>
          </a:xfrm>
          <a:prstGeom prst="rect">
            <a:avLst/>
          </a:prstGeom>
          <a:noFill/>
          <a:ln/>
        </p:spPr>
        <p:txBody>
          <a:bodyPr wrap="square" lIns="0" tIns="0" rIns="0" bIns="0" rtlCol="0" anchor="ctr"/>
          <a:lstStyle/>
          <a:p>
            <a:pPr indent="0" marL="0">
              <a:buNone/>
            </a:pPr>
            <a:r>
              <a:rPr lang="en-US" sz="1300" b="1" dirty="0">
                <a:solidFill>
                  <a:srgbClr val="10233A"/>
                </a:solidFill>
                <a:latin typeface="Calibri" pitchFamily="34" charset="0"/>
                <a:ea typeface="Calibri" pitchFamily="34" charset="-122"/>
                <a:cs typeface="Calibri" pitchFamily="34" charset="-120"/>
              </a:rPr>
              <a:t>Research &amp; Client Brief</a:t>
            </a:r>
            <a:endParaRPr lang="en-US" sz="1300" dirty="0"/>
          </a:p>
        </p:txBody>
      </p:sp>
      <p:sp>
        <p:nvSpPr>
          <p:cNvPr id="8" name="Text 6"/>
          <p:cNvSpPr txBox="1"/>
          <p:nvPr/>
        </p:nvSpPr>
        <p:spPr>
          <a:xfrm>
            <a:off x="1828800" y="1371600"/>
            <a:ext cx="457200" cy="274320"/>
          </a:xfrm>
          <a:prstGeom prst="rect">
            <a:avLst/>
          </a:prstGeom>
          <a:noFill/>
          <a:ln/>
        </p:spPr>
        <p:txBody>
          <a:bodyPr wrap="square" lIns="0" tIns="0" rIns="0" bIns="0" rtlCol="0" anchor="t"/>
          <a:lstStyle/>
          <a:p>
            <a:pPr algn="r" indent="0" marL="0">
              <a:buNone/>
            </a:pPr>
            <a:r>
              <a:rPr lang="en-US" sz="1100" b="1" dirty="0">
                <a:solidFill>
                  <a:srgbClr val="0A8577"/>
                </a:solidFill>
                <a:latin typeface="Calibri" pitchFamily="34" charset="0"/>
                <a:ea typeface="Calibri" pitchFamily="34" charset="-122"/>
                <a:cs typeface="Calibri" pitchFamily="34" charset="-120"/>
              </a:rPr>
              <a:t>01</a:t>
            </a:r>
            <a:endParaRPr lang="en-US" sz="1100" dirty="0"/>
          </a:p>
        </p:txBody>
      </p:sp>
      <p:sp>
        <p:nvSpPr>
          <p:cNvPr id="9" name="Shape 7"/>
          <p:cNvSpPr/>
          <p:nvPr/>
        </p:nvSpPr>
        <p:spPr>
          <a:xfrm>
            <a:off x="2551176" y="1261872"/>
            <a:ext cx="1929384" cy="1133856"/>
          </a:xfrm>
          <a:prstGeom prst="roundRect">
            <a:avLst>
              <a:gd name="adj" fmla="val 4839"/>
            </a:avLst>
          </a:prstGeom>
          <a:solidFill>
            <a:srgbClr val="F3F6F8"/>
          </a:solidFill>
          <a:ln w="12700">
            <a:solidFill>
              <a:srgbClr val="F3F6F8"/>
            </a:solidFill>
            <a:prstDash val="solid"/>
          </a:ln>
        </p:spPr>
      </p:sp>
      <p:sp>
        <p:nvSpPr>
          <p:cNvPr id="10" name="Shape 8"/>
          <p:cNvSpPr/>
          <p:nvPr/>
        </p:nvSpPr>
        <p:spPr>
          <a:xfrm>
            <a:off x="2670048" y="1371600"/>
            <a:ext cx="438912" cy="438912"/>
          </a:xfrm>
          <a:prstGeom prst="ellipse">
            <a:avLst/>
          </a:prstGeom>
          <a:solidFill>
            <a:srgbClr val="0A8577"/>
          </a:solidFill>
          <a:ln w="12700">
            <a:solidFill>
              <a:srgbClr val="0A8577"/>
            </a:solidFill>
            <a:prstDash val="solid"/>
          </a:ln>
        </p:spPr>
      </p:sp>
      <p:sp>
        <p:nvSpPr>
          <p:cNvPr id="11" name="Text 9"/>
          <p:cNvSpPr txBox="1"/>
          <p:nvPr/>
        </p:nvSpPr>
        <p:spPr>
          <a:xfrm>
            <a:off x="2670048" y="1865376"/>
            <a:ext cx="1737360" cy="475488"/>
          </a:xfrm>
          <a:prstGeom prst="rect">
            <a:avLst/>
          </a:prstGeom>
          <a:noFill/>
          <a:ln/>
        </p:spPr>
        <p:txBody>
          <a:bodyPr wrap="square" lIns="0" tIns="0" rIns="0" bIns="0" rtlCol="0" anchor="ctr"/>
          <a:lstStyle/>
          <a:p>
            <a:pPr indent="0" marL="0">
              <a:buNone/>
            </a:pPr>
            <a:r>
              <a:rPr lang="en-US" sz="1300" b="1" dirty="0">
                <a:solidFill>
                  <a:srgbClr val="10233A"/>
                </a:solidFill>
                <a:latin typeface="Calibri" pitchFamily="34" charset="0"/>
                <a:ea typeface="Calibri" pitchFamily="34" charset="-122"/>
                <a:cs typeface="Calibri" pitchFamily="34" charset="-120"/>
              </a:rPr>
              <a:t>Prompting &amp; Content</a:t>
            </a:r>
            <a:endParaRPr lang="en-US" sz="1300" dirty="0"/>
          </a:p>
        </p:txBody>
      </p:sp>
      <p:sp>
        <p:nvSpPr>
          <p:cNvPr id="12" name="Text 10"/>
          <p:cNvSpPr txBox="1"/>
          <p:nvPr/>
        </p:nvSpPr>
        <p:spPr>
          <a:xfrm>
            <a:off x="3922776" y="1371600"/>
            <a:ext cx="457200" cy="274320"/>
          </a:xfrm>
          <a:prstGeom prst="rect">
            <a:avLst/>
          </a:prstGeom>
          <a:noFill/>
          <a:ln/>
        </p:spPr>
        <p:txBody>
          <a:bodyPr wrap="square" lIns="0" tIns="0" rIns="0" bIns="0" rtlCol="0" anchor="t"/>
          <a:lstStyle/>
          <a:p>
            <a:pPr algn="r" indent="0" marL="0">
              <a:buNone/>
            </a:pPr>
            <a:r>
              <a:rPr lang="en-US" sz="1100" b="1" dirty="0">
                <a:solidFill>
                  <a:srgbClr val="0A8577"/>
                </a:solidFill>
                <a:latin typeface="Calibri" pitchFamily="34" charset="0"/>
                <a:ea typeface="Calibri" pitchFamily="34" charset="-122"/>
                <a:cs typeface="Calibri" pitchFamily="34" charset="-120"/>
              </a:rPr>
              <a:t>02</a:t>
            </a:r>
            <a:endParaRPr lang="en-US" sz="1100" dirty="0"/>
          </a:p>
        </p:txBody>
      </p:sp>
      <p:sp>
        <p:nvSpPr>
          <p:cNvPr id="13" name="Shape 11"/>
          <p:cNvSpPr/>
          <p:nvPr/>
        </p:nvSpPr>
        <p:spPr>
          <a:xfrm>
            <a:off x="4645152" y="1261872"/>
            <a:ext cx="1929384" cy="1133856"/>
          </a:xfrm>
          <a:prstGeom prst="roundRect">
            <a:avLst>
              <a:gd name="adj" fmla="val 4839"/>
            </a:avLst>
          </a:prstGeom>
          <a:solidFill>
            <a:srgbClr val="F3F6F8"/>
          </a:solidFill>
          <a:ln w="12700">
            <a:solidFill>
              <a:srgbClr val="F3F6F8"/>
            </a:solidFill>
            <a:prstDash val="solid"/>
          </a:ln>
        </p:spPr>
      </p:sp>
      <p:sp>
        <p:nvSpPr>
          <p:cNvPr id="14" name="Shape 12"/>
          <p:cNvSpPr/>
          <p:nvPr/>
        </p:nvSpPr>
        <p:spPr>
          <a:xfrm>
            <a:off x="4764024" y="1371600"/>
            <a:ext cx="438912" cy="438912"/>
          </a:xfrm>
          <a:prstGeom prst="ellipse">
            <a:avLst/>
          </a:prstGeom>
          <a:solidFill>
            <a:srgbClr val="0A8577"/>
          </a:solidFill>
          <a:ln w="12700">
            <a:solidFill>
              <a:srgbClr val="0A8577"/>
            </a:solidFill>
            <a:prstDash val="solid"/>
          </a:ln>
        </p:spPr>
      </p:sp>
      <p:sp>
        <p:nvSpPr>
          <p:cNvPr id="15" name="Text 13"/>
          <p:cNvSpPr txBox="1"/>
          <p:nvPr/>
        </p:nvSpPr>
        <p:spPr>
          <a:xfrm>
            <a:off x="4764024" y="1865376"/>
            <a:ext cx="1737360" cy="475488"/>
          </a:xfrm>
          <a:prstGeom prst="rect">
            <a:avLst/>
          </a:prstGeom>
          <a:noFill/>
          <a:ln/>
        </p:spPr>
        <p:txBody>
          <a:bodyPr wrap="square" lIns="0" tIns="0" rIns="0" bIns="0" rtlCol="0" anchor="ctr"/>
          <a:lstStyle/>
          <a:p>
            <a:pPr indent="0" marL="0">
              <a:buNone/>
            </a:pPr>
            <a:r>
              <a:rPr lang="en-US" sz="1300" b="1" dirty="0">
                <a:solidFill>
                  <a:srgbClr val="10233A"/>
                </a:solidFill>
                <a:latin typeface="Calibri" pitchFamily="34" charset="0"/>
                <a:ea typeface="Calibri" pitchFamily="34" charset="-122"/>
                <a:cs typeface="Calibri" pitchFamily="34" charset="-120"/>
              </a:rPr>
              <a:t>Characters, Voice &amp; Visuals</a:t>
            </a:r>
            <a:endParaRPr lang="en-US" sz="1300" dirty="0"/>
          </a:p>
        </p:txBody>
      </p:sp>
      <p:sp>
        <p:nvSpPr>
          <p:cNvPr id="16" name="Text 14"/>
          <p:cNvSpPr txBox="1"/>
          <p:nvPr/>
        </p:nvSpPr>
        <p:spPr>
          <a:xfrm>
            <a:off x="6016752" y="1371600"/>
            <a:ext cx="457200" cy="274320"/>
          </a:xfrm>
          <a:prstGeom prst="rect">
            <a:avLst/>
          </a:prstGeom>
          <a:noFill/>
          <a:ln/>
        </p:spPr>
        <p:txBody>
          <a:bodyPr wrap="square" lIns="0" tIns="0" rIns="0" bIns="0" rtlCol="0" anchor="t"/>
          <a:lstStyle/>
          <a:p>
            <a:pPr algn="r" indent="0" marL="0">
              <a:buNone/>
            </a:pPr>
            <a:r>
              <a:rPr lang="en-US" sz="1100" b="1" dirty="0">
                <a:solidFill>
                  <a:srgbClr val="0A8577"/>
                </a:solidFill>
                <a:latin typeface="Calibri" pitchFamily="34" charset="0"/>
                <a:ea typeface="Calibri" pitchFamily="34" charset="-122"/>
                <a:cs typeface="Calibri" pitchFamily="34" charset="-120"/>
              </a:rPr>
              <a:t>03</a:t>
            </a:r>
            <a:endParaRPr lang="en-US" sz="1100" dirty="0"/>
          </a:p>
        </p:txBody>
      </p:sp>
      <p:sp>
        <p:nvSpPr>
          <p:cNvPr id="17" name="Shape 15"/>
          <p:cNvSpPr/>
          <p:nvPr/>
        </p:nvSpPr>
        <p:spPr>
          <a:xfrm>
            <a:off x="6739128" y="1261872"/>
            <a:ext cx="1929384" cy="1133856"/>
          </a:xfrm>
          <a:prstGeom prst="roundRect">
            <a:avLst>
              <a:gd name="adj" fmla="val 4839"/>
            </a:avLst>
          </a:prstGeom>
          <a:solidFill>
            <a:srgbClr val="F3F6F8"/>
          </a:solidFill>
          <a:ln w="12700">
            <a:solidFill>
              <a:srgbClr val="F3F6F8"/>
            </a:solidFill>
            <a:prstDash val="solid"/>
          </a:ln>
        </p:spPr>
      </p:sp>
      <p:sp>
        <p:nvSpPr>
          <p:cNvPr id="18" name="Shape 16"/>
          <p:cNvSpPr/>
          <p:nvPr/>
        </p:nvSpPr>
        <p:spPr>
          <a:xfrm>
            <a:off x="6858000" y="1371600"/>
            <a:ext cx="438912" cy="438912"/>
          </a:xfrm>
          <a:prstGeom prst="ellipse">
            <a:avLst/>
          </a:prstGeom>
          <a:solidFill>
            <a:srgbClr val="0A8577"/>
          </a:solidFill>
          <a:ln w="12700">
            <a:solidFill>
              <a:srgbClr val="0A8577"/>
            </a:solidFill>
            <a:prstDash val="solid"/>
          </a:ln>
        </p:spPr>
      </p:sp>
      <p:sp>
        <p:nvSpPr>
          <p:cNvPr id="19" name="Text 17"/>
          <p:cNvSpPr txBox="1"/>
          <p:nvPr/>
        </p:nvSpPr>
        <p:spPr>
          <a:xfrm>
            <a:off x="6858000" y="1865376"/>
            <a:ext cx="1737360" cy="475488"/>
          </a:xfrm>
          <a:prstGeom prst="rect">
            <a:avLst/>
          </a:prstGeom>
          <a:noFill/>
          <a:ln/>
        </p:spPr>
        <p:txBody>
          <a:bodyPr wrap="square" lIns="0" tIns="0" rIns="0" bIns="0" rtlCol="0" anchor="ctr"/>
          <a:lstStyle/>
          <a:p>
            <a:pPr indent="0" marL="0">
              <a:buNone/>
            </a:pPr>
            <a:r>
              <a:rPr lang="en-US" sz="1300" b="1" dirty="0">
                <a:solidFill>
                  <a:srgbClr val="10233A"/>
                </a:solidFill>
                <a:latin typeface="Calibri" pitchFamily="34" charset="0"/>
                <a:ea typeface="Calibri" pitchFamily="34" charset="-122"/>
                <a:cs typeface="Calibri" pitchFamily="34" charset="-120"/>
              </a:rPr>
              <a:t>Script &amp; Storyboard</a:t>
            </a:r>
            <a:endParaRPr lang="en-US" sz="1300" dirty="0"/>
          </a:p>
        </p:txBody>
      </p:sp>
      <p:sp>
        <p:nvSpPr>
          <p:cNvPr id="20" name="Text 18"/>
          <p:cNvSpPr txBox="1"/>
          <p:nvPr/>
        </p:nvSpPr>
        <p:spPr>
          <a:xfrm>
            <a:off x="8110728" y="1371600"/>
            <a:ext cx="457200" cy="274320"/>
          </a:xfrm>
          <a:prstGeom prst="rect">
            <a:avLst/>
          </a:prstGeom>
          <a:noFill/>
          <a:ln/>
        </p:spPr>
        <p:txBody>
          <a:bodyPr wrap="square" lIns="0" tIns="0" rIns="0" bIns="0" rtlCol="0" anchor="t"/>
          <a:lstStyle/>
          <a:p>
            <a:pPr algn="r" indent="0" marL="0">
              <a:buNone/>
            </a:pPr>
            <a:r>
              <a:rPr lang="en-US" sz="1100" b="1" dirty="0">
                <a:solidFill>
                  <a:srgbClr val="0A8577"/>
                </a:solidFill>
                <a:latin typeface="Calibri" pitchFamily="34" charset="0"/>
                <a:ea typeface="Calibri" pitchFamily="34" charset="-122"/>
                <a:cs typeface="Calibri" pitchFamily="34" charset="-120"/>
              </a:rPr>
              <a:t>04</a:t>
            </a:r>
            <a:endParaRPr lang="en-US" sz="1100" dirty="0"/>
          </a:p>
        </p:txBody>
      </p:sp>
      <p:sp>
        <p:nvSpPr>
          <p:cNvPr id="21" name="Shape 19"/>
          <p:cNvSpPr/>
          <p:nvPr/>
        </p:nvSpPr>
        <p:spPr>
          <a:xfrm>
            <a:off x="457200" y="2505456"/>
            <a:ext cx="1929384" cy="1133856"/>
          </a:xfrm>
          <a:prstGeom prst="roundRect">
            <a:avLst>
              <a:gd name="adj" fmla="val 4839"/>
            </a:avLst>
          </a:prstGeom>
          <a:solidFill>
            <a:srgbClr val="10233A"/>
          </a:solidFill>
          <a:ln w="12700">
            <a:solidFill>
              <a:srgbClr val="10233A"/>
            </a:solidFill>
            <a:prstDash val="solid"/>
          </a:ln>
        </p:spPr>
      </p:sp>
      <p:sp>
        <p:nvSpPr>
          <p:cNvPr id="22" name="Shape 20"/>
          <p:cNvSpPr/>
          <p:nvPr/>
        </p:nvSpPr>
        <p:spPr>
          <a:xfrm>
            <a:off x="576072" y="2615184"/>
            <a:ext cx="438912" cy="438912"/>
          </a:xfrm>
          <a:prstGeom prst="ellipse">
            <a:avLst/>
          </a:prstGeom>
          <a:solidFill>
            <a:srgbClr val="F2A541"/>
          </a:solidFill>
          <a:ln w="12700">
            <a:solidFill>
              <a:srgbClr val="F2A541"/>
            </a:solidFill>
            <a:prstDash val="solid"/>
          </a:ln>
        </p:spPr>
      </p:sp>
      <p:sp>
        <p:nvSpPr>
          <p:cNvPr id="23" name="Text 21"/>
          <p:cNvSpPr txBox="1"/>
          <p:nvPr/>
        </p:nvSpPr>
        <p:spPr>
          <a:xfrm>
            <a:off x="576072" y="3108960"/>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Video &amp; Editing</a:t>
            </a:r>
            <a:endParaRPr lang="en-US" sz="1300" dirty="0"/>
          </a:p>
        </p:txBody>
      </p:sp>
      <p:sp>
        <p:nvSpPr>
          <p:cNvPr id="24" name="Text 22"/>
          <p:cNvSpPr txBox="1"/>
          <p:nvPr/>
        </p:nvSpPr>
        <p:spPr>
          <a:xfrm>
            <a:off x="1828800" y="2615184"/>
            <a:ext cx="457200" cy="274320"/>
          </a:xfrm>
          <a:prstGeom prst="rect">
            <a:avLst/>
          </a:prstGeom>
          <a:noFill/>
          <a:ln/>
        </p:spPr>
        <p:txBody>
          <a:bodyPr wrap="square" lIns="0" tIns="0" rIns="0" bIns="0" rtlCol="0" anchor="t"/>
          <a:lstStyle/>
          <a:p>
            <a:pPr algn="r" indent="0" marL="0">
              <a:buNone/>
            </a:pPr>
            <a:r>
              <a:rPr lang="en-US" sz="1100" b="1" dirty="0">
                <a:solidFill>
                  <a:srgbClr val="F2A541"/>
                </a:solidFill>
                <a:latin typeface="Calibri" pitchFamily="34" charset="0"/>
                <a:ea typeface="Calibri" pitchFamily="34" charset="-122"/>
                <a:cs typeface="Calibri" pitchFamily="34" charset="-120"/>
              </a:rPr>
              <a:t>05</a:t>
            </a:r>
            <a:endParaRPr lang="en-US" sz="1100" dirty="0"/>
          </a:p>
        </p:txBody>
      </p:sp>
      <p:sp>
        <p:nvSpPr>
          <p:cNvPr id="25" name="Shape 23"/>
          <p:cNvSpPr/>
          <p:nvPr/>
        </p:nvSpPr>
        <p:spPr>
          <a:xfrm>
            <a:off x="2551176" y="2505456"/>
            <a:ext cx="1929384" cy="1133856"/>
          </a:xfrm>
          <a:prstGeom prst="roundRect">
            <a:avLst>
              <a:gd name="adj" fmla="val 4839"/>
            </a:avLst>
          </a:prstGeom>
          <a:solidFill>
            <a:srgbClr val="10233A"/>
          </a:solidFill>
          <a:ln w="12700">
            <a:solidFill>
              <a:srgbClr val="10233A"/>
            </a:solidFill>
            <a:prstDash val="solid"/>
          </a:ln>
        </p:spPr>
      </p:sp>
      <p:sp>
        <p:nvSpPr>
          <p:cNvPr id="26" name="Shape 24"/>
          <p:cNvSpPr/>
          <p:nvPr/>
        </p:nvSpPr>
        <p:spPr>
          <a:xfrm>
            <a:off x="2670048" y="2615184"/>
            <a:ext cx="438912" cy="438912"/>
          </a:xfrm>
          <a:prstGeom prst="ellipse">
            <a:avLst/>
          </a:prstGeom>
          <a:solidFill>
            <a:srgbClr val="F2A541"/>
          </a:solidFill>
          <a:ln w="12700">
            <a:solidFill>
              <a:srgbClr val="F2A541"/>
            </a:solidFill>
            <a:prstDash val="solid"/>
          </a:ln>
        </p:spPr>
      </p:sp>
      <p:sp>
        <p:nvSpPr>
          <p:cNvPr id="27" name="Text 25"/>
          <p:cNvSpPr txBox="1"/>
          <p:nvPr/>
        </p:nvSpPr>
        <p:spPr>
          <a:xfrm>
            <a:off x="2670048" y="3108960"/>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Digital Marketing</a:t>
            </a:r>
            <a:endParaRPr lang="en-US" sz="1300" dirty="0"/>
          </a:p>
        </p:txBody>
      </p:sp>
      <p:sp>
        <p:nvSpPr>
          <p:cNvPr id="28" name="Text 26"/>
          <p:cNvSpPr txBox="1"/>
          <p:nvPr/>
        </p:nvSpPr>
        <p:spPr>
          <a:xfrm>
            <a:off x="3922776" y="2615184"/>
            <a:ext cx="457200" cy="274320"/>
          </a:xfrm>
          <a:prstGeom prst="rect">
            <a:avLst/>
          </a:prstGeom>
          <a:noFill/>
          <a:ln/>
        </p:spPr>
        <p:txBody>
          <a:bodyPr wrap="square" lIns="0" tIns="0" rIns="0" bIns="0" rtlCol="0" anchor="t"/>
          <a:lstStyle/>
          <a:p>
            <a:pPr algn="r" indent="0" marL="0">
              <a:buNone/>
            </a:pPr>
            <a:r>
              <a:rPr lang="en-US" sz="1100" b="1" dirty="0">
                <a:solidFill>
                  <a:srgbClr val="F2A541"/>
                </a:solidFill>
                <a:latin typeface="Calibri" pitchFamily="34" charset="0"/>
                <a:ea typeface="Calibri" pitchFamily="34" charset="-122"/>
                <a:cs typeface="Calibri" pitchFamily="34" charset="-120"/>
              </a:rPr>
              <a:t>06</a:t>
            </a:r>
            <a:endParaRPr lang="en-US" sz="1100" dirty="0"/>
          </a:p>
        </p:txBody>
      </p:sp>
      <p:sp>
        <p:nvSpPr>
          <p:cNvPr id="29" name="Shape 27"/>
          <p:cNvSpPr/>
          <p:nvPr/>
        </p:nvSpPr>
        <p:spPr>
          <a:xfrm>
            <a:off x="4645152" y="2505456"/>
            <a:ext cx="1929384" cy="1133856"/>
          </a:xfrm>
          <a:prstGeom prst="roundRect">
            <a:avLst>
              <a:gd name="adj" fmla="val 4839"/>
            </a:avLst>
          </a:prstGeom>
          <a:solidFill>
            <a:srgbClr val="10233A"/>
          </a:solidFill>
          <a:ln w="12700">
            <a:solidFill>
              <a:srgbClr val="10233A"/>
            </a:solidFill>
            <a:prstDash val="solid"/>
          </a:ln>
        </p:spPr>
      </p:sp>
      <p:sp>
        <p:nvSpPr>
          <p:cNvPr id="30" name="Shape 28"/>
          <p:cNvSpPr/>
          <p:nvPr/>
        </p:nvSpPr>
        <p:spPr>
          <a:xfrm>
            <a:off x="4764024" y="2615184"/>
            <a:ext cx="438912" cy="438912"/>
          </a:xfrm>
          <a:prstGeom prst="ellipse">
            <a:avLst/>
          </a:prstGeom>
          <a:solidFill>
            <a:srgbClr val="F2A541"/>
          </a:solidFill>
          <a:ln w="12700">
            <a:solidFill>
              <a:srgbClr val="F2A541"/>
            </a:solidFill>
            <a:prstDash val="solid"/>
          </a:ln>
        </p:spPr>
      </p:sp>
      <p:sp>
        <p:nvSpPr>
          <p:cNvPr id="31" name="Text 29"/>
          <p:cNvSpPr txBox="1"/>
          <p:nvPr/>
        </p:nvSpPr>
        <p:spPr>
          <a:xfrm>
            <a:off x="4764024" y="3108960"/>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n8n Automation</a:t>
            </a:r>
            <a:endParaRPr lang="en-US" sz="1300" dirty="0"/>
          </a:p>
        </p:txBody>
      </p:sp>
      <p:sp>
        <p:nvSpPr>
          <p:cNvPr id="32" name="Text 30"/>
          <p:cNvSpPr txBox="1"/>
          <p:nvPr/>
        </p:nvSpPr>
        <p:spPr>
          <a:xfrm>
            <a:off x="6016752" y="2615184"/>
            <a:ext cx="457200" cy="274320"/>
          </a:xfrm>
          <a:prstGeom prst="rect">
            <a:avLst/>
          </a:prstGeom>
          <a:noFill/>
          <a:ln/>
        </p:spPr>
        <p:txBody>
          <a:bodyPr wrap="square" lIns="0" tIns="0" rIns="0" bIns="0" rtlCol="0" anchor="t"/>
          <a:lstStyle/>
          <a:p>
            <a:pPr algn="r" indent="0" marL="0">
              <a:buNone/>
            </a:pPr>
            <a:r>
              <a:rPr lang="en-US" sz="1100" b="1" dirty="0">
                <a:solidFill>
                  <a:srgbClr val="F2A541"/>
                </a:solidFill>
                <a:latin typeface="Calibri" pitchFamily="34" charset="0"/>
                <a:ea typeface="Calibri" pitchFamily="34" charset="-122"/>
                <a:cs typeface="Calibri" pitchFamily="34" charset="-120"/>
              </a:rPr>
              <a:t>07</a:t>
            </a:r>
            <a:endParaRPr lang="en-US" sz="1100" dirty="0"/>
          </a:p>
        </p:txBody>
      </p:sp>
      <p:sp>
        <p:nvSpPr>
          <p:cNvPr id="33" name="Shape 31"/>
          <p:cNvSpPr/>
          <p:nvPr/>
        </p:nvSpPr>
        <p:spPr>
          <a:xfrm>
            <a:off x="6739128" y="2505456"/>
            <a:ext cx="1929384" cy="1133856"/>
          </a:xfrm>
          <a:prstGeom prst="roundRect">
            <a:avLst>
              <a:gd name="adj" fmla="val 4839"/>
            </a:avLst>
          </a:prstGeom>
          <a:solidFill>
            <a:srgbClr val="10233A"/>
          </a:solidFill>
          <a:ln w="12700">
            <a:solidFill>
              <a:srgbClr val="10233A"/>
            </a:solidFill>
            <a:prstDash val="solid"/>
          </a:ln>
        </p:spPr>
      </p:sp>
      <p:sp>
        <p:nvSpPr>
          <p:cNvPr id="34" name="Shape 32"/>
          <p:cNvSpPr/>
          <p:nvPr/>
        </p:nvSpPr>
        <p:spPr>
          <a:xfrm>
            <a:off x="6858000" y="2615184"/>
            <a:ext cx="438912" cy="438912"/>
          </a:xfrm>
          <a:prstGeom prst="ellipse">
            <a:avLst/>
          </a:prstGeom>
          <a:solidFill>
            <a:srgbClr val="F2A541"/>
          </a:solidFill>
          <a:ln w="12700">
            <a:solidFill>
              <a:srgbClr val="F2A541"/>
            </a:solidFill>
            <a:prstDash val="solid"/>
          </a:ln>
        </p:spPr>
      </p:sp>
      <p:sp>
        <p:nvSpPr>
          <p:cNvPr id="35" name="Text 33"/>
          <p:cNvSpPr txBox="1"/>
          <p:nvPr/>
        </p:nvSpPr>
        <p:spPr>
          <a:xfrm>
            <a:off x="6858000" y="3108960"/>
            <a:ext cx="173736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Portfolio &amp; Capstone</a:t>
            </a:r>
            <a:endParaRPr lang="en-US" sz="1300" dirty="0"/>
          </a:p>
        </p:txBody>
      </p:sp>
      <p:sp>
        <p:nvSpPr>
          <p:cNvPr id="36" name="Text 34"/>
          <p:cNvSpPr txBox="1"/>
          <p:nvPr/>
        </p:nvSpPr>
        <p:spPr>
          <a:xfrm>
            <a:off x="8110728" y="2615184"/>
            <a:ext cx="457200" cy="274320"/>
          </a:xfrm>
          <a:prstGeom prst="rect">
            <a:avLst/>
          </a:prstGeom>
          <a:noFill/>
          <a:ln/>
        </p:spPr>
        <p:txBody>
          <a:bodyPr wrap="square" lIns="0" tIns="0" rIns="0" bIns="0" rtlCol="0" anchor="t"/>
          <a:lstStyle/>
          <a:p>
            <a:pPr algn="r" indent="0" marL="0">
              <a:buNone/>
            </a:pPr>
            <a:r>
              <a:rPr lang="en-US" sz="1100" b="1" dirty="0">
                <a:solidFill>
                  <a:srgbClr val="F2A541"/>
                </a:solidFill>
                <a:latin typeface="Calibri" pitchFamily="34" charset="0"/>
                <a:ea typeface="Calibri" pitchFamily="34" charset="-122"/>
                <a:cs typeface="Calibri" pitchFamily="34" charset="-120"/>
              </a:rPr>
              <a:t>08</a:t>
            </a:r>
            <a:endParaRPr lang="en-US" sz="1100" dirty="0"/>
          </a:p>
        </p:txBody>
      </p:sp>
      <p:sp>
        <p:nvSpPr>
          <p:cNvPr id="37" name="Shape 35"/>
          <p:cNvSpPr/>
          <p:nvPr/>
        </p:nvSpPr>
        <p:spPr>
          <a:xfrm>
            <a:off x="457200" y="3749040"/>
            <a:ext cx="8229600" cy="896112"/>
          </a:xfrm>
          <a:prstGeom prst="roundRect">
            <a:avLst>
              <a:gd name="adj" fmla="val 6122"/>
            </a:avLst>
          </a:prstGeom>
          <a:solidFill>
            <a:srgbClr val="10233A"/>
          </a:solidFill>
          <a:ln w="12700">
            <a:solidFill>
              <a:srgbClr val="10233A"/>
            </a:solidFill>
            <a:prstDash val="solid"/>
          </a:ln>
        </p:spPr>
      </p:sp>
      <p:sp>
        <p:nvSpPr>
          <p:cNvPr id="38" name="Text 36"/>
          <p:cNvSpPr txBox="1"/>
          <p:nvPr/>
        </p:nvSpPr>
        <p:spPr>
          <a:xfrm>
            <a:off x="621792" y="3749040"/>
            <a:ext cx="7909560" cy="896112"/>
          </a:xfrm>
          <a:prstGeom prst="rect">
            <a:avLst/>
          </a:prstGeom>
          <a:noFill/>
          <a:ln/>
        </p:spPr>
        <p:txBody>
          <a:bodyPr wrap="square" lIns="0" tIns="0" rIns="0" bIns="0" rtlCol="0" anchor="ctr"/>
          <a:lstStyle/>
          <a:p>
            <a:pPr indent="0" marL="0">
              <a:buNone/>
            </a:pPr>
            <a:r>
              <a:rPr lang="en-US" sz="1150" b="1" dirty="0">
                <a:solidFill>
                  <a:srgbClr val="F2A541"/>
                </a:solidFill>
                <a:latin typeface="Calibri" pitchFamily="34" charset="0"/>
                <a:ea typeface="Calibri" pitchFamily="34" charset="-122"/>
                <a:cs typeface="Calibri" pitchFamily="34" charset="-120"/>
              </a:rPr>
              <a:t>Why this focus: </a:t>
            </a:r>
            <a:pPr indent="0" marL="0">
              <a:buNone/>
            </a:pPr>
            <a:r>
              <a:rPr lang="en-US" sz="1150" dirty="0">
                <a:solidFill>
                  <a:srgbClr val="FFFFFF"/>
                </a:solidFill>
                <a:latin typeface="Calibri" pitchFamily="34" charset="0"/>
                <a:ea typeface="Calibri" pitchFamily="34" charset="-122"/>
                <a:cs typeface="Calibri" pitchFamily="34" charset="-120"/>
              </a:rPr>
              <a:t>many people already use AI for quick answers, but few use it to produce work a client can use. Small businesses, NGOs and community initiatives need steady content and often lack the time or skills to make it. AI Creators trains participants to deliver that work with AI tools, step by step, the way a small agency works with a real client.</a:t>
            </a:r>
            <a:endParaRPr lang="en-US" sz="1150" dirty="0"/>
          </a:p>
        </p:txBody>
      </p:sp>
      <p:pic>
        <p:nvPicPr>
          <p:cNvPr id="39" name="Image 0" descr="preencoded.png">    </p:cNvPr>
          <p:cNvPicPr>
            <a:picLocks noChangeAspect="1"/>
          </p:cNvPicPr>
          <p:nvPr/>
        </p:nvPicPr>
        <p:blipFill>
          <a:blip r:embed="rId1"/>
          <a:stretch>
            <a:fillRect/>
          </a:stretch>
        </p:blipFill>
        <p:spPr>
          <a:xfrm>
            <a:off x="685800" y="1481328"/>
            <a:ext cx="219456" cy="219456"/>
          </a:xfrm>
          <a:prstGeom prst="rect">
            <a:avLst/>
          </a:prstGeom>
        </p:spPr>
      </p:pic>
      <p:pic>
        <p:nvPicPr>
          <p:cNvPr id="40" name="Image 1" descr="preencoded.png">    </p:cNvPr>
          <p:cNvPicPr>
            <a:picLocks noChangeAspect="1"/>
          </p:cNvPicPr>
          <p:nvPr/>
        </p:nvPicPr>
        <p:blipFill>
          <a:blip r:embed="rId2"/>
          <a:stretch>
            <a:fillRect/>
          </a:stretch>
        </p:blipFill>
        <p:spPr>
          <a:xfrm>
            <a:off x="4873752" y="1481328"/>
            <a:ext cx="219456" cy="219456"/>
          </a:xfrm>
          <a:prstGeom prst="rect">
            <a:avLst/>
          </a:prstGeom>
        </p:spPr>
      </p:pic>
      <p:pic>
        <p:nvPicPr>
          <p:cNvPr id="41" name="Image 2" descr="preencoded.png">    </p:cNvPr>
          <p:cNvPicPr>
            <a:picLocks noChangeAspect="1"/>
          </p:cNvPicPr>
          <p:nvPr/>
        </p:nvPicPr>
        <p:blipFill>
          <a:blip r:embed="rId3"/>
          <a:stretch>
            <a:fillRect/>
          </a:stretch>
        </p:blipFill>
        <p:spPr>
          <a:xfrm>
            <a:off x="6967728" y="1481328"/>
            <a:ext cx="219456" cy="219456"/>
          </a:xfrm>
          <a:prstGeom prst="rect">
            <a:avLst/>
          </a:prstGeom>
        </p:spPr>
      </p:pic>
      <p:pic>
        <p:nvPicPr>
          <p:cNvPr id="42" name="Image 3" descr="preencoded.png">    </p:cNvPr>
          <p:cNvPicPr>
            <a:picLocks noChangeAspect="1"/>
          </p:cNvPicPr>
          <p:nvPr/>
        </p:nvPicPr>
        <p:blipFill>
          <a:blip r:embed="rId4"/>
          <a:stretch>
            <a:fillRect/>
          </a:stretch>
        </p:blipFill>
        <p:spPr>
          <a:xfrm>
            <a:off x="685800" y="2724912"/>
            <a:ext cx="219456" cy="219456"/>
          </a:xfrm>
          <a:prstGeom prst="rect">
            <a:avLst/>
          </a:prstGeom>
        </p:spPr>
      </p:pic>
      <p:pic>
        <p:nvPicPr>
          <p:cNvPr id="43" name="Image 4" descr="preencoded.png">    </p:cNvPr>
          <p:cNvPicPr>
            <a:picLocks noChangeAspect="1"/>
          </p:cNvPicPr>
          <p:nvPr/>
        </p:nvPicPr>
        <p:blipFill>
          <a:blip r:embed="rId5"/>
          <a:stretch>
            <a:fillRect/>
          </a:stretch>
        </p:blipFill>
        <p:spPr>
          <a:xfrm>
            <a:off x="2779776" y="1481328"/>
            <a:ext cx="219456" cy="219456"/>
          </a:xfrm>
          <a:prstGeom prst="rect">
            <a:avLst/>
          </a:prstGeom>
        </p:spPr>
      </p:pic>
      <p:pic>
        <p:nvPicPr>
          <p:cNvPr id="44" name="Image 5" descr="preencoded.png">    </p:cNvPr>
          <p:cNvPicPr>
            <a:picLocks noChangeAspect="1"/>
          </p:cNvPicPr>
          <p:nvPr/>
        </p:nvPicPr>
        <p:blipFill>
          <a:blip r:embed="rId6"/>
          <a:stretch>
            <a:fillRect/>
          </a:stretch>
        </p:blipFill>
        <p:spPr>
          <a:xfrm>
            <a:off x="2779776" y="2724912"/>
            <a:ext cx="219456" cy="219456"/>
          </a:xfrm>
          <a:prstGeom prst="rect">
            <a:avLst/>
          </a:prstGeom>
        </p:spPr>
      </p:pic>
      <p:pic>
        <p:nvPicPr>
          <p:cNvPr id="45" name="Image 6" descr="preencoded.png">    </p:cNvPr>
          <p:cNvPicPr>
            <a:picLocks noChangeAspect="1"/>
          </p:cNvPicPr>
          <p:nvPr/>
        </p:nvPicPr>
        <p:blipFill>
          <a:blip r:embed="rId7"/>
          <a:stretch>
            <a:fillRect/>
          </a:stretch>
        </p:blipFill>
        <p:spPr>
          <a:xfrm>
            <a:off x="4873752" y="2724912"/>
            <a:ext cx="219456" cy="219456"/>
          </a:xfrm>
          <a:prstGeom prst="rect">
            <a:avLst/>
          </a:prstGeom>
        </p:spPr>
      </p:pic>
      <p:pic>
        <p:nvPicPr>
          <p:cNvPr id="46" name="Image 7" descr="preencoded.png">    </p:cNvPr>
          <p:cNvPicPr>
            <a:picLocks noChangeAspect="1"/>
          </p:cNvPicPr>
          <p:nvPr/>
        </p:nvPicPr>
        <p:blipFill>
          <a:blip r:embed="rId8"/>
          <a:stretch>
            <a:fillRect/>
          </a:stretch>
        </p:blipFill>
        <p:spPr>
          <a:xfrm>
            <a:off x="6967728" y="2724912"/>
            <a:ext cx="219456" cy="219456"/>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5  ·  LEARN</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Eleven modules, 96 hours per participant</a:t>
            </a:r>
            <a:endParaRPr lang="en-US" sz="2500" dirty="0"/>
          </a:p>
        </p:txBody>
      </p:sp>
      <p:graphicFrame>
        <p:nvGraphicFramePr>
          <p:cNvPr id="5" name="Chart 0" descr=""/>
          <p:cNvGraphicFramePr/>
          <p:nvPr/>
        </p:nvGraphicFramePr>
        <p:xfrm>
          <a:off x="365760" y="118872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0" y="1298448"/>
            <a:ext cx="3017520" cy="3310128"/>
          </a:xfrm>
          <a:prstGeom prst="roundRect">
            <a:avLst>
              <a:gd name="adj" fmla="val 1818"/>
            </a:avLst>
          </a:prstGeom>
          <a:solidFill>
            <a:srgbClr val="F3F6F8"/>
          </a:solidFill>
          <a:ln w="12700">
            <a:solidFill>
              <a:srgbClr val="F3F6F8"/>
            </a:solidFill>
            <a:prstDash val="solid"/>
          </a:ln>
        </p:spPr>
      </p:sp>
      <p:sp>
        <p:nvSpPr>
          <p:cNvPr id="7" name="Shape 4"/>
          <p:cNvSpPr/>
          <p:nvPr/>
        </p:nvSpPr>
        <p:spPr>
          <a:xfrm>
            <a:off x="5806440" y="1417320"/>
            <a:ext cx="384048" cy="384048"/>
          </a:xfrm>
          <a:prstGeom prst="ellipse">
            <a:avLst/>
          </a:prstGeom>
          <a:solidFill>
            <a:srgbClr val="0A8577"/>
          </a:solidFill>
          <a:ln w="12700">
            <a:solidFill>
              <a:srgbClr val="0A8577"/>
            </a:solidFill>
            <a:prstDash val="solid"/>
          </a:ln>
        </p:spPr>
      </p:sp>
      <p:sp>
        <p:nvSpPr>
          <p:cNvPr id="8" name="Text 5"/>
          <p:cNvSpPr txBox="1"/>
          <p:nvPr/>
        </p:nvSpPr>
        <p:spPr>
          <a:xfrm>
            <a:off x="6281928" y="1417320"/>
            <a:ext cx="2286000" cy="384048"/>
          </a:xfrm>
          <a:prstGeom prst="rect">
            <a:avLst/>
          </a:prstGeom>
          <a:noFill/>
          <a:ln/>
        </p:spPr>
        <p:txBody>
          <a:bodyPr wrap="square" lIns="0" tIns="0" rIns="0" bIns="0" rtlCol="0" anchor="ctr"/>
          <a:lstStyle/>
          <a:p>
            <a:pPr indent="0" marL="0">
              <a:buNone/>
            </a:pPr>
            <a:r>
              <a:rPr lang="en-US" sz="1500" b="1" dirty="0">
                <a:solidFill>
                  <a:srgbClr val="0A8577"/>
                </a:solidFill>
                <a:latin typeface="Calibri" pitchFamily="34" charset="0"/>
                <a:ea typeface="Calibri" pitchFamily="34" charset="-122"/>
                <a:cs typeface="Calibri" pitchFamily="34" charset="-120"/>
              </a:rPr>
              <a:t>How it is delivered</a:t>
            </a:r>
            <a:endParaRPr lang="en-US" sz="1500" dirty="0"/>
          </a:p>
        </p:txBody>
      </p:sp>
      <p:sp>
        <p:nvSpPr>
          <p:cNvPr id="9" name="Text 6"/>
          <p:cNvSpPr txBox="1"/>
          <p:nvPr/>
        </p:nvSpPr>
        <p:spPr>
          <a:xfrm>
            <a:off x="5824728" y="1920240"/>
            <a:ext cx="2743200" cy="2606040"/>
          </a:xfrm>
          <a:prstGeom prst="rect">
            <a:avLst/>
          </a:prstGeom>
          <a:noFill/>
          <a:ln/>
        </p:spPr>
        <p:txBody>
          <a:bodyPr wrap="square" lIns="0" tIns="0" rIns="0" bIns="0" rtlCol="0" anchor="t"/>
          <a:lstStyle/>
          <a:p>
            <a:pPr indent="0" marL="0">
              <a:spcAft>
                <a:spcPts val="300"/>
              </a:spcAft>
              <a:buNone/>
            </a:pPr>
            <a:r>
              <a:rPr lang="en-US" sz="1200" dirty="0">
                <a:solidFill>
                  <a:srgbClr val="2B3A4A"/>
                </a:solidFill>
                <a:latin typeface="Calibri" pitchFamily="34" charset="0"/>
                <a:ea typeface="Calibri" pitchFamily="34" charset="-122"/>
                <a:cs typeface="Calibri" pitchFamily="34" charset="-120"/>
              </a:rPr>
              <a:t>32 sessions × 3 hours, three a week</a:t>
            </a:r>
            <a:endParaRPr lang="en-US" sz="1200" dirty="0"/>
          </a:p>
          <a:p>
            <a:pPr indent="0" marL="0">
              <a:spcAft>
                <a:spcPts val="300"/>
              </a:spcAft>
              <a:buNone/>
            </a:pPr>
            <a:r>
              <a:rPr lang="en-US" sz="1200" dirty="0">
                <a:solidFill>
                  <a:srgbClr val="2B3A4A"/>
                </a:solidFill>
                <a:latin typeface="Calibri" pitchFamily="34" charset="0"/>
                <a:ea typeface="Calibri" pitchFamily="34" charset="-122"/>
                <a:cs typeface="Calibri" pitchFamily="34" charset="-120"/>
              </a:rPr>
              <a:t>28.5 h concept and demo</a:t>
            </a:r>
            <a:endParaRPr lang="en-US" sz="1200" dirty="0"/>
          </a:p>
          <a:p>
            <a:pPr indent="0" marL="0">
              <a:spcAft>
                <a:spcPts val="300"/>
              </a:spcAft>
              <a:buNone/>
            </a:pPr>
            <a:r>
              <a:rPr lang="en-US" sz="1200" dirty="0">
                <a:solidFill>
                  <a:srgbClr val="2B3A4A"/>
                </a:solidFill>
                <a:latin typeface="Calibri" pitchFamily="34" charset="0"/>
                <a:ea typeface="Calibri" pitchFamily="34" charset="-122"/>
                <a:cs typeface="Calibri" pitchFamily="34" charset="-120"/>
              </a:rPr>
              <a:t>67.5 h hands-on practice</a:t>
            </a:r>
            <a:endParaRPr lang="en-US" sz="1200" dirty="0"/>
          </a:p>
          <a:p>
            <a:pPr indent="0" marL="0">
              <a:spcAft>
                <a:spcPts val="300"/>
              </a:spcAft>
              <a:buNone/>
            </a:pPr>
            <a:r>
              <a:rPr lang="en-US" sz="600" dirty="0">
                <a:solidFill>
                  <a:srgbClr val="2B3A4A"/>
                </a:solidFill>
                <a:latin typeface="Calibri" pitchFamily="34" charset="0"/>
                <a:ea typeface="Calibri" pitchFamily="34" charset="-122"/>
                <a:cs typeface="Calibri" pitchFamily="34" charset="-120"/>
              </a:rPr>
              <a:t> </a:t>
            </a:r>
            <a:endParaRPr lang="en-US" sz="1200" dirty="0"/>
          </a:p>
          <a:p>
            <a:pPr indent="0" marL="0">
              <a:spcAft>
                <a:spcPts val="300"/>
              </a:spcAft>
              <a:buNone/>
            </a:pPr>
            <a:r>
              <a:rPr lang="en-US" sz="1200" dirty="0">
                <a:solidFill>
                  <a:srgbClr val="2B3A4A"/>
                </a:solidFill>
                <a:latin typeface="Calibri" pitchFamily="34" charset="0"/>
                <a:ea typeface="Calibri" pitchFamily="34" charset="-122"/>
                <a:cs typeface="Calibri" pitchFamily="34" charset="-120"/>
              </a:rPr>
              <a:t>Every session follows the same loop: see it, try it, build it, show it.</a:t>
            </a:r>
            <a:endParaRPr lang="en-US" sz="1200" dirty="0"/>
          </a:p>
          <a:p>
            <a:pPr indent="0" marL="0">
              <a:spcAft>
                <a:spcPts val="300"/>
              </a:spcAft>
              <a:buNone/>
            </a:pPr>
            <a:r>
              <a:rPr lang="en-US" sz="600" dirty="0">
                <a:solidFill>
                  <a:srgbClr val="2B3A4A"/>
                </a:solidFill>
                <a:latin typeface="Calibri" pitchFamily="34" charset="0"/>
                <a:ea typeface="Calibri" pitchFamily="34" charset="-122"/>
                <a:cs typeface="Calibri" pitchFamily="34" charset="-120"/>
              </a:rPr>
              <a:t> </a:t>
            </a:r>
            <a:endParaRPr lang="en-US" sz="1200" dirty="0"/>
          </a:p>
          <a:p>
            <a:pPr indent="0" marL="0">
              <a:spcAft>
                <a:spcPts val="300"/>
              </a:spcAft>
              <a:buNone/>
            </a:pPr>
            <a:r>
              <a:rPr lang="en-US" sz="1200" dirty="0">
                <a:solidFill>
                  <a:srgbClr val="2B3A4A"/>
                </a:solidFill>
                <a:latin typeface="Calibri" pitchFamily="34" charset="0"/>
                <a:ea typeface="Calibri" pitchFamily="34" charset="-122"/>
                <a:cs typeface="Calibri" pitchFamily="34" charset="-120"/>
              </a:rPr>
              <a:t>Completion = 80% attendance + capstone. Certificate of completion (proposed).</a:t>
            </a:r>
            <a:endParaRPr lang="en-US" sz="1200" dirty="0"/>
          </a:p>
        </p:txBody>
      </p:sp>
      <p:pic>
        <p:nvPicPr>
          <p:cNvPr id="10" name="Image 0" descr="preencoded.png">    </p:cNvPr>
          <p:cNvPicPr>
            <a:picLocks noChangeAspect="1"/>
          </p:cNvPicPr>
          <p:nvPr/>
        </p:nvPicPr>
        <p:blipFill>
          <a:blip r:embed="rId2"/>
          <a:stretch>
            <a:fillRect/>
          </a:stretch>
        </p:blipFill>
        <p:spPr>
          <a:xfrm>
            <a:off x="5902452" y="1513332"/>
            <a:ext cx="192024" cy="192024"/>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6  ·  MODULES</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Eleven modules at a glance</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920240"/>
                <a:gridCol w="320040"/>
                <a:gridCol w="2606040"/>
                <a:gridCol w="33832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1023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1023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tools</a:t>
                      </a:r>
                      <a:endParaRPr lang="en-US" sz="9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1023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Participants produce</a:t>
                      </a:r>
                      <a:endParaRPr lang="en-US" sz="9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10233A"/>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M1  </a:t>
                      </a:r>
                      <a:pPr indent="0" marL="0">
                        <a:buNone/>
                      </a:pPr>
                      <a:r>
                        <a:rPr lang="en-US" sz="850" b="1" dirty="0">
                          <a:solidFill>
                            <a:srgbClr val="10233A"/>
                          </a:solidFill>
                          <a:latin typeface="Calibri" pitchFamily="34" charset="0"/>
                          <a:ea typeface="Calibri" pitchFamily="34" charset="-122"/>
                          <a:cs typeface="Calibri" pitchFamily="34" charset="-120"/>
                        </a:rPr>
                        <a:t>Orientation &amp; AI Literacy</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Gemini, Google Forms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Pre-assessment, signed Responsible AI pledge, assistant comparison log</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M2  </a:t>
                      </a:r>
                      <a:pPr indent="0" marL="0">
                        <a:buNone/>
                      </a:pPr>
                      <a:r>
                        <a:rPr lang="en-US" sz="850" b="1" dirty="0">
                          <a:solidFill>
                            <a:srgbClr val="10233A"/>
                          </a:solidFill>
                          <a:latin typeface="Calibri" pitchFamily="34" charset="0"/>
                          <a:ea typeface="Calibri" pitchFamily="34" charset="-122"/>
                          <a:cs typeface="Calibri" pitchFamily="34" charset="-120"/>
                        </a:rPr>
                        <a:t>Prompt &amp; Context</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Gemini, Google Docs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Prompt library (10+ prompts) and one context pack</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M3  </a:t>
                      </a:r>
                      <a:pPr indent="0" marL="0">
                        <a:buNone/>
                      </a:pPr>
                      <a:r>
                        <a:rPr lang="en-US" sz="850" b="1" dirty="0">
                          <a:solidFill>
                            <a:srgbClr val="10233A"/>
                          </a:solidFill>
                          <a:latin typeface="Calibri" pitchFamily="34" charset="0"/>
                          <a:ea typeface="Calibri" pitchFamily="34" charset="-122"/>
                          <a:cs typeface="Calibri" pitchFamily="34" charset="-120"/>
                        </a:rPr>
                        <a:t>Research &amp; Briefs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Gemini, ChatGPT, Google Docs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Verified research sheet and a one-page creative brief</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M4  </a:t>
                      </a:r>
                      <a:pPr indent="0" marL="0">
                        <a:buNone/>
                      </a:pPr>
                      <a:r>
                        <a:rPr lang="en-US" sz="850" b="1" dirty="0">
                          <a:solidFill>
                            <a:srgbClr val="10233A"/>
                          </a:solidFill>
                          <a:latin typeface="Calibri" pitchFamily="34" charset="0"/>
                          <a:ea typeface="Calibri" pitchFamily="34" charset="-122"/>
                          <a:cs typeface="Calibri" pitchFamily="34" charset="-120"/>
                        </a:rPr>
                        <a:t>Content &amp; Copywriting</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Gemini, Canva</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Content pillars sheet, one carousel, five captions with CTAs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M5  </a:t>
                      </a:r>
                      <a:pPr indent="0" marL="0">
                        <a:buNone/>
                      </a:pPr>
                      <a:r>
                        <a:rPr lang="en-US" sz="850" b="1" dirty="0">
                          <a:solidFill>
                            <a:srgbClr val="10233A"/>
                          </a:solidFill>
                          <a:latin typeface="Calibri" pitchFamily="34" charset="0"/>
                          <a:ea typeface="Calibri" pitchFamily="34" charset="-122"/>
                          <a:cs typeface="Calibri" pitchFamily="34" charset="-120"/>
                        </a:rPr>
                        <a:t>Character, Voice &amp; Visuals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 Gemini image generation, Canva, recorded narration, ElevenLabs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Character sheet, voice profile, six-image visual set, 30-second narration</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M6  </a:t>
                      </a:r>
                      <a:pPr indent="0" marL="0">
                        <a:buNone/>
                      </a:pPr>
                      <a:r>
                        <a:rPr lang="en-US" sz="850" b="1" dirty="0">
                          <a:solidFill>
                            <a:srgbClr val="10233A"/>
                          </a:solidFill>
                          <a:latin typeface="Calibri" pitchFamily="34" charset="0"/>
                          <a:ea typeface="Calibri" pitchFamily="34" charset="-122"/>
                          <a:cs typeface="Calibri" pitchFamily="34" charset="-120"/>
                        </a:rPr>
                        <a:t>Script &amp; Storyboard</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Gemini, Google Sheets, Canva</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Script and storyboard with shot list</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M7  </a:t>
                      </a:r>
                      <a:pPr indent="0" marL="0">
                        <a:buNone/>
                      </a:pPr>
                      <a:r>
                        <a:rPr lang="en-US" sz="850" b="1" dirty="0">
                          <a:solidFill>
                            <a:srgbClr val="10233A"/>
                          </a:solidFill>
                          <a:latin typeface="Calibri" pitchFamily="34" charset="0"/>
                          <a:ea typeface="Calibri" pitchFamily="34" charset="-122"/>
                          <a:cs typeface="Calibri" pitchFamily="34" charset="-120"/>
                        </a:rPr>
                        <a:t>AI Video &amp; Editing</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Google Flow, CapCut, Canva</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Edited 30–45 second video and a completed publishing checklist</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M8  </a:t>
                      </a:r>
                      <a:pPr indent="0" marL="0">
                        <a:buNone/>
                      </a:pPr>
                      <a:r>
                        <a:rPr lang="en-US" sz="850" b="1" dirty="0">
                          <a:solidFill>
                            <a:srgbClr val="10233A"/>
                          </a:solidFill>
                          <a:latin typeface="Calibri" pitchFamily="34" charset="0"/>
                          <a:ea typeface="Calibri" pitchFamily="34" charset="-122"/>
                          <a:cs typeface="Calibri" pitchFamily="34" charset="-120"/>
                        </a:rPr>
                        <a:t>Digital Marketing</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Gemini, Google Sheets, Canva</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Audience persona, four-week content calendar, campaign one-pager</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M9  </a:t>
                      </a:r>
                      <a:pPr indent="0" marL="0">
                        <a:buNone/>
                      </a:pPr>
                      <a:r>
                        <a:rPr lang="en-US" sz="850" b="1" dirty="0">
                          <a:solidFill>
                            <a:srgbClr val="10233A"/>
                          </a:solidFill>
                          <a:latin typeface="Calibri" pitchFamily="34" charset="0"/>
                          <a:ea typeface="Calibri" pitchFamily="34" charset="-122"/>
                          <a:cs typeface="Calibri" pitchFamily="34" charset="-120"/>
                        </a:rPr>
                        <a:t>n8n Automation</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n8n (program-hosted), Google Sheets, AI model node</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Working workflow, a hand-drawn or digital flow diagram, and a one-page explanation</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M10  </a:t>
                      </a:r>
                      <a:pPr indent="0" marL="0">
                        <a:buNone/>
                      </a:pPr>
                      <a:r>
                        <a:rPr lang="en-US" sz="850" b="1" dirty="0">
                          <a:solidFill>
                            <a:srgbClr val="10233A"/>
                          </a:solidFill>
                          <a:latin typeface="Calibri" pitchFamily="34" charset="0"/>
                          <a:ea typeface="Calibri" pitchFamily="34" charset="-122"/>
                          <a:cs typeface="Calibri" pitchFamily="34" charset="-120"/>
                        </a:rPr>
                        <a:t>Portfolio &amp; Freelancing</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ChatGPT / Gemini (canvas features), GitHub Pages, Google Docs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Published portfolio or landing page, three service packages, client message templates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FFFFF"/>
                    </a:solidFill>
                  </a:tcPr>
                </a:tc>
              </a:tr>
              <a:tr h="274320">
                <a:tc>
                  <a:txBody>
                    <a:bodyPr/>
                    <a:lstStyle/>
                    <a:p>
                      <a:pPr indent="0" marL="0">
                        <a:buNone/>
                      </a:pPr>
                      <a:r>
                        <a:rPr lang="en-US" sz="850" b="1" dirty="0">
                          <a:solidFill>
                            <a:srgbClr val="0A8577"/>
                          </a:solidFill>
                          <a:latin typeface="Calibri" pitchFamily="34" charset="0"/>
                          <a:ea typeface="Calibri" pitchFamily="34" charset="-122"/>
                          <a:cs typeface="Calibri" pitchFamily="34" charset="-120"/>
                        </a:rPr>
                        <a:t>M11  </a:t>
                      </a:r>
                      <a:pPr indent="0" marL="0">
                        <a:buNone/>
                      </a:pPr>
                      <a:r>
                        <a:rPr lang="en-US" sz="850" b="1" dirty="0">
                          <a:solidFill>
                            <a:srgbClr val="10233A"/>
                          </a:solidFill>
                          <a:latin typeface="Calibri" pitchFamily="34" charset="0"/>
                          <a:ea typeface="Calibri" pitchFamily="34" charset="-122"/>
                          <a:cs typeface="Calibri" pitchFamily="34" charset="-120"/>
                        </a:rPr>
                        <a:t>Capstone &amp; Demo Day</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algn="ctr" indent="0" marL="0">
                        <a:buNone/>
                      </a:pPr>
                      <a:r>
                        <a:rPr lang="en-US" sz="850" b="1" dirty="0">
                          <a:solidFill>
                            <a:srgbClr val="10233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All program tools</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c>
                  <a:txBody>
                    <a:bodyPr/>
                    <a:lstStyle/>
                    <a:p>
                      <a:pPr indent="0" marL="0">
                        <a:buNone/>
                      </a:pPr>
                      <a:r>
                        <a:rPr lang="en-US" sz="850" dirty="0">
                          <a:solidFill>
                            <a:srgbClr val="2B3A4A"/>
                          </a:solidFill>
                          <a:latin typeface="Calibri" pitchFamily="34" charset="0"/>
                          <a:ea typeface="Calibri" pitchFamily="34" charset="-122"/>
                          <a:cs typeface="Calibri" pitchFamily="34" charset="-120"/>
                        </a:rPr>
                        <a:t>Full capstone package and final presentation</a:t>
                      </a:r>
                      <a:endParaRPr lang="en-US" sz="850" dirty="0">
                        <a:latin typeface="Calibri" charset="0"/>
                        <a:ea typeface="Calibri" charset="0"/>
                        <a:cs typeface="Calibri" charset="0"/>
                      </a:endParaRPr>
                    </a:p>
                  </a:txBody>
                  <a:tcPr marL="54864" marR="54864" marT="18288" marB="18288" anchor="ctr">
                    <a:lnL w="6350" cap="flat" cmpd="sng" algn="ctr">
                      <a:solidFill>
                        <a:srgbClr val="DDE3E9"/>
                      </a:solidFill>
                      <a:prstDash val="solid"/>
                      <a:round/>
                      <a:headEnd type="none" w="med" len="med"/>
                      <a:tailEnd type="none" w="med" len="med"/>
                    </a:lnL>
                    <a:lnR w="6350" cap="flat" cmpd="sng" algn="ctr">
                      <a:solidFill>
                        <a:srgbClr val="DDE3E9"/>
                      </a:solidFill>
                      <a:prstDash val="solid"/>
                      <a:round/>
                      <a:headEnd type="none" w="med" len="med"/>
                      <a:tailEnd type="none" w="med" len="med"/>
                    </a:lnR>
                    <a:lnT w="6350" cap="flat" cmpd="sng" algn="ctr">
                      <a:solidFill>
                        <a:srgbClr val="DDE3E9"/>
                      </a:solidFill>
                      <a:prstDash val="solid"/>
                      <a:round/>
                      <a:headEnd type="none" w="med" len="med"/>
                      <a:tailEnd type="none" w="med" len="med"/>
                    </a:lnT>
                    <a:lnB w="6350" cap="flat" cmpd="sng" algn="ctr">
                      <a:solidFill>
                        <a:srgbClr val="DDE3E9"/>
                      </a:solidFill>
                      <a:prstDash val="solid"/>
                      <a:round/>
                      <a:headEnd type="none" w="med" len="med"/>
                      <a:tailEnd type="none" w="med" len="med"/>
                    </a:lnB>
                    <a:solidFill>
                      <a:srgbClr val="F3F6F8"/>
                    </a:solidFill>
                  </a:tcPr>
                </a:tc>
              </a:tr>
            </a:tbl>
          </a:graphicData>
        </a:graphic>
      </p:graphicFrame>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7  ·  THE PLAN</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Twelve weeks, three sessions a week</a:t>
            </a:r>
            <a:endParaRPr lang="en-US" sz="2500" dirty="0"/>
          </a:p>
        </p:txBody>
      </p:sp>
      <p:sp>
        <p:nvSpPr>
          <p:cNvPr id="5" name="Shape 3"/>
          <p:cNvSpPr/>
          <p:nvPr/>
        </p:nvSpPr>
        <p:spPr>
          <a:xfrm>
            <a:off x="457200" y="1298448"/>
            <a:ext cx="1536192" cy="1188720"/>
          </a:xfrm>
          <a:prstGeom prst="roundRect">
            <a:avLst>
              <a:gd name="adj" fmla="val 4615"/>
            </a:avLst>
          </a:prstGeom>
          <a:solidFill>
            <a:srgbClr val="10233A"/>
          </a:solidFill>
          <a:ln w="12700">
            <a:solidFill>
              <a:srgbClr val="10233A"/>
            </a:solidFill>
            <a:prstDash val="solid"/>
          </a:ln>
        </p:spPr>
      </p:sp>
      <p:sp>
        <p:nvSpPr>
          <p:cNvPr id="6" name="Text 4"/>
          <p:cNvSpPr txBox="1"/>
          <p:nvPr/>
        </p:nvSpPr>
        <p:spPr>
          <a:xfrm>
            <a:off x="457200" y="1371600"/>
            <a:ext cx="1536192"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Foundations</a:t>
            </a:r>
            <a:endParaRPr lang="en-US" sz="1200" dirty="0"/>
          </a:p>
        </p:txBody>
      </p:sp>
      <p:sp>
        <p:nvSpPr>
          <p:cNvPr id="7" name="Text 5"/>
          <p:cNvSpPr txBox="1"/>
          <p:nvPr/>
        </p:nvSpPr>
        <p:spPr>
          <a:xfrm>
            <a:off x="457200" y="1673352"/>
            <a:ext cx="1536192" cy="457200"/>
          </a:xfrm>
          <a:prstGeom prst="rect">
            <a:avLst/>
          </a:prstGeom>
          <a:noFill/>
          <a:ln/>
        </p:spPr>
        <p:txBody>
          <a:bodyPr wrap="square" lIns="0" tIns="0" rIns="0" bIns="0"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M1–M3</a:t>
            </a:r>
            <a:endParaRPr lang="en-US" sz="2200" dirty="0"/>
          </a:p>
        </p:txBody>
      </p:sp>
      <p:sp>
        <p:nvSpPr>
          <p:cNvPr id="8" name="Text 6"/>
          <p:cNvSpPr txBox="1"/>
          <p:nvPr/>
        </p:nvSpPr>
        <p:spPr>
          <a:xfrm>
            <a:off x="457200" y="2148840"/>
            <a:ext cx="1536192" cy="274320"/>
          </a:xfrm>
          <a:prstGeom prst="rect">
            <a:avLst/>
          </a:prstGeom>
          <a:noFill/>
          <a:ln/>
        </p:spPr>
        <p:txBody>
          <a:bodyPr wrap="square" lIns="0" tIns="0" rIns="0" bIns="0" rtlCol="0" anchor="t"/>
          <a:lstStyle/>
          <a:p>
            <a:pPr algn="ctr" indent="0" marL="0">
              <a:buNone/>
            </a:pPr>
            <a:r>
              <a:rPr lang="en-US" sz="1100" dirty="0">
                <a:solidFill>
                  <a:srgbClr val="D9E1EA"/>
                </a:solidFill>
                <a:latin typeface="Calibri" pitchFamily="34" charset="0"/>
                <a:ea typeface="Calibri" pitchFamily="34" charset="-122"/>
                <a:cs typeface="Calibri" pitchFamily="34" charset="-120"/>
              </a:rPr>
              <a:t>Weeks 1–2</a:t>
            </a:r>
            <a:endParaRPr lang="en-US" sz="1100" dirty="0"/>
          </a:p>
        </p:txBody>
      </p:sp>
      <p:sp>
        <p:nvSpPr>
          <p:cNvPr id="9" name="Shape 7"/>
          <p:cNvSpPr/>
          <p:nvPr/>
        </p:nvSpPr>
        <p:spPr>
          <a:xfrm>
            <a:off x="2130552" y="1298448"/>
            <a:ext cx="1536192" cy="1188720"/>
          </a:xfrm>
          <a:prstGeom prst="roundRect">
            <a:avLst>
              <a:gd name="adj" fmla="val 4615"/>
            </a:avLst>
          </a:prstGeom>
          <a:solidFill>
            <a:srgbClr val="0A8577"/>
          </a:solidFill>
          <a:ln w="12700">
            <a:solidFill>
              <a:srgbClr val="0A8577"/>
            </a:solidFill>
            <a:prstDash val="solid"/>
          </a:ln>
        </p:spPr>
      </p:sp>
      <p:sp>
        <p:nvSpPr>
          <p:cNvPr id="10" name="Text 8"/>
          <p:cNvSpPr txBox="1"/>
          <p:nvPr/>
        </p:nvSpPr>
        <p:spPr>
          <a:xfrm>
            <a:off x="2130552" y="1371600"/>
            <a:ext cx="1536192"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Create &amp; produce</a:t>
            </a:r>
            <a:endParaRPr lang="en-US" sz="1200" dirty="0"/>
          </a:p>
        </p:txBody>
      </p:sp>
      <p:sp>
        <p:nvSpPr>
          <p:cNvPr id="11" name="Text 9"/>
          <p:cNvSpPr txBox="1"/>
          <p:nvPr/>
        </p:nvSpPr>
        <p:spPr>
          <a:xfrm>
            <a:off x="2130552" y="1673352"/>
            <a:ext cx="1536192" cy="457200"/>
          </a:xfrm>
          <a:prstGeom prst="rect">
            <a:avLst/>
          </a:prstGeom>
          <a:noFill/>
          <a:ln/>
        </p:spPr>
        <p:txBody>
          <a:bodyPr wrap="square" lIns="0" tIns="0" rIns="0" bIns="0"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M4–M7</a:t>
            </a:r>
            <a:endParaRPr lang="en-US" sz="2200" dirty="0"/>
          </a:p>
        </p:txBody>
      </p:sp>
      <p:sp>
        <p:nvSpPr>
          <p:cNvPr id="12" name="Text 10"/>
          <p:cNvSpPr txBox="1"/>
          <p:nvPr/>
        </p:nvSpPr>
        <p:spPr>
          <a:xfrm>
            <a:off x="2130552" y="2148840"/>
            <a:ext cx="1536192" cy="274320"/>
          </a:xfrm>
          <a:prstGeom prst="rect">
            <a:avLst/>
          </a:prstGeom>
          <a:noFill/>
          <a:ln/>
        </p:spPr>
        <p:txBody>
          <a:bodyPr wrap="square" lIns="0" tIns="0" rIns="0" bIns="0" rtlCol="0" anchor="t"/>
          <a:lstStyle/>
          <a:p>
            <a:pPr algn="ctr" indent="0" marL="0">
              <a:buNone/>
            </a:pPr>
            <a:r>
              <a:rPr lang="en-US" sz="1100" dirty="0">
                <a:solidFill>
                  <a:srgbClr val="D9E1EA"/>
                </a:solidFill>
                <a:latin typeface="Calibri" pitchFamily="34" charset="0"/>
                <a:ea typeface="Calibri" pitchFamily="34" charset="-122"/>
                <a:cs typeface="Calibri" pitchFamily="34" charset="-120"/>
              </a:rPr>
              <a:t>Weeks 3–7</a:t>
            </a:r>
            <a:endParaRPr lang="en-US" sz="1100" dirty="0"/>
          </a:p>
        </p:txBody>
      </p:sp>
      <p:sp>
        <p:nvSpPr>
          <p:cNvPr id="13" name="Shape 11"/>
          <p:cNvSpPr/>
          <p:nvPr/>
        </p:nvSpPr>
        <p:spPr>
          <a:xfrm>
            <a:off x="3803904" y="1298448"/>
            <a:ext cx="1536192" cy="1188720"/>
          </a:xfrm>
          <a:prstGeom prst="roundRect">
            <a:avLst>
              <a:gd name="adj" fmla="val 4615"/>
            </a:avLst>
          </a:prstGeom>
          <a:solidFill>
            <a:srgbClr val="10233A"/>
          </a:solidFill>
          <a:ln w="12700">
            <a:solidFill>
              <a:srgbClr val="10233A"/>
            </a:solidFill>
            <a:prstDash val="solid"/>
          </a:ln>
        </p:spPr>
      </p:sp>
      <p:sp>
        <p:nvSpPr>
          <p:cNvPr id="14" name="Text 12"/>
          <p:cNvSpPr txBox="1"/>
          <p:nvPr/>
        </p:nvSpPr>
        <p:spPr>
          <a:xfrm>
            <a:off x="3803904" y="1371600"/>
            <a:ext cx="1536192"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Market</a:t>
            </a:r>
            <a:endParaRPr lang="en-US" sz="1200" dirty="0"/>
          </a:p>
        </p:txBody>
      </p:sp>
      <p:sp>
        <p:nvSpPr>
          <p:cNvPr id="15" name="Text 13"/>
          <p:cNvSpPr txBox="1"/>
          <p:nvPr/>
        </p:nvSpPr>
        <p:spPr>
          <a:xfrm>
            <a:off x="3803904" y="1673352"/>
            <a:ext cx="1536192" cy="457200"/>
          </a:xfrm>
          <a:prstGeom prst="rect">
            <a:avLst/>
          </a:prstGeom>
          <a:noFill/>
          <a:ln/>
        </p:spPr>
        <p:txBody>
          <a:bodyPr wrap="square" lIns="0" tIns="0" rIns="0" bIns="0"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M8</a:t>
            </a:r>
            <a:endParaRPr lang="en-US" sz="2200" dirty="0"/>
          </a:p>
        </p:txBody>
      </p:sp>
      <p:sp>
        <p:nvSpPr>
          <p:cNvPr id="16" name="Text 14"/>
          <p:cNvSpPr txBox="1"/>
          <p:nvPr/>
        </p:nvSpPr>
        <p:spPr>
          <a:xfrm>
            <a:off x="3803904" y="2148840"/>
            <a:ext cx="1536192" cy="274320"/>
          </a:xfrm>
          <a:prstGeom prst="rect">
            <a:avLst/>
          </a:prstGeom>
          <a:noFill/>
          <a:ln/>
        </p:spPr>
        <p:txBody>
          <a:bodyPr wrap="square" lIns="0" tIns="0" rIns="0" bIns="0" rtlCol="0" anchor="t"/>
          <a:lstStyle/>
          <a:p>
            <a:pPr algn="ctr" indent="0" marL="0">
              <a:buNone/>
            </a:pPr>
            <a:r>
              <a:rPr lang="en-US" sz="1100" dirty="0">
                <a:solidFill>
                  <a:srgbClr val="D9E1EA"/>
                </a:solidFill>
                <a:latin typeface="Calibri" pitchFamily="34" charset="0"/>
                <a:ea typeface="Calibri" pitchFamily="34" charset="-122"/>
                <a:cs typeface="Calibri" pitchFamily="34" charset="-120"/>
              </a:rPr>
              <a:t>Weeks 7–8</a:t>
            </a:r>
            <a:endParaRPr lang="en-US" sz="1100" dirty="0"/>
          </a:p>
        </p:txBody>
      </p:sp>
      <p:sp>
        <p:nvSpPr>
          <p:cNvPr id="17" name="Shape 15"/>
          <p:cNvSpPr/>
          <p:nvPr/>
        </p:nvSpPr>
        <p:spPr>
          <a:xfrm>
            <a:off x="5477256" y="1298448"/>
            <a:ext cx="1536192" cy="1188720"/>
          </a:xfrm>
          <a:prstGeom prst="roundRect">
            <a:avLst>
              <a:gd name="adj" fmla="val 4615"/>
            </a:avLst>
          </a:prstGeom>
          <a:solidFill>
            <a:srgbClr val="0A8577"/>
          </a:solidFill>
          <a:ln w="12700">
            <a:solidFill>
              <a:srgbClr val="0A8577"/>
            </a:solidFill>
            <a:prstDash val="solid"/>
          </a:ln>
        </p:spPr>
      </p:sp>
      <p:sp>
        <p:nvSpPr>
          <p:cNvPr id="18" name="Text 16"/>
          <p:cNvSpPr txBox="1"/>
          <p:nvPr/>
        </p:nvSpPr>
        <p:spPr>
          <a:xfrm>
            <a:off x="5477256" y="1371600"/>
            <a:ext cx="1536192"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Automate &amp; launch</a:t>
            </a:r>
            <a:endParaRPr lang="en-US" sz="1200" dirty="0"/>
          </a:p>
        </p:txBody>
      </p:sp>
      <p:sp>
        <p:nvSpPr>
          <p:cNvPr id="19" name="Text 17"/>
          <p:cNvSpPr txBox="1"/>
          <p:nvPr/>
        </p:nvSpPr>
        <p:spPr>
          <a:xfrm>
            <a:off x="5477256" y="1673352"/>
            <a:ext cx="1536192" cy="457200"/>
          </a:xfrm>
          <a:prstGeom prst="rect">
            <a:avLst/>
          </a:prstGeom>
          <a:noFill/>
          <a:ln/>
        </p:spPr>
        <p:txBody>
          <a:bodyPr wrap="square" lIns="0" tIns="0" rIns="0" bIns="0"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M9–M10</a:t>
            </a:r>
            <a:endParaRPr lang="en-US" sz="2200" dirty="0"/>
          </a:p>
        </p:txBody>
      </p:sp>
      <p:sp>
        <p:nvSpPr>
          <p:cNvPr id="20" name="Text 18"/>
          <p:cNvSpPr txBox="1"/>
          <p:nvPr/>
        </p:nvSpPr>
        <p:spPr>
          <a:xfrm>
            <a:off x="5477256" y="2148840"/>
            <a:ext cx="1536192" cy="274320"/>
          </a:xfrm>
          <a:prstGeom prst="rect">
            <a:avLst/>
          </a:prstGeom>
          <a:noFill/>
          <a:ln/>
        </p:spPr>
        <p:txBody>
          <a:bodyPr wrap="square" lIns="0" tIns="0" rIns="0" bIns="0" rtlCol="0" anchor="t"/>
          <a:lstStyle/>
          <a:p>
            <a:pPr algn="ctr" indent="0" marL="0">
              <a:buNone/>
            </a:pPr>
            <a:r>
              <a:rPr lang="en-US" sz="1100" dirty="0">
                <a:solidFill>
                  <a:srgbClr val="D9E1EA"/>
                </a:solidFill>
                <a:latin typeface="Calibri" pitchFamily="34" charset="0"/>
                <a:ea typeface="Calibri" pitchFamily="34" charset="-122"/>
                <a:cs typeface="Calibri" pitchFamily="34" charset="-120"/>
              </a:rPr>
              <a:t>Weeks 8–10</a:t>
            </a:r>
            <a:endParaRPr lang="en-US" sz="1100" dirty="0"/>
          </a:p>
        </p:txBody>
      </p:sp>
      <p:sp>
        <p:nvSpPr>
          <p:cNvPr id="21" name="Shape 19"/>
          <p:cNvSpPr/>
          <p:nvPr/>
        </p:nvSpPr>
        <p:spPr>
          <a:xfrm>
            <a:off x="7150608" y="1298448"/>
            <a:ext cx="1536192" cy="1188720"/>
          </a:xfrm>
          <a:prstGeom prst="roundRect">
            <a:avLst>
              <a:gd name="adj" fmla="val 4615"/>
            </a:avLst>
          </a:prstGeom>
          <a:solidFill>
            <a:srgbClr val="10233A"/>
          </a:solidFill>
          <a:ln w="12700">
            <a:solidFill>
              <a:srgbClr val="10233A"/>
            </a:solidFill>
            <a:prstDash val="solid"/>
          </a:ln>
        </p:spPr>
      </p:sp>
      <p:sp>
        <p:nvSpPr>
          <p:cNvPr id="22" name="Text 20"/>
          <p:cNvSpPr txBox="1"/>
          <p:nvPr/>
        </p:nvSpPr>
        <p:spPr>
          <a:xfrm>
            <a:off x="7150608" y="1371600"/>
            <a:ext cx="1536192" cy="292608"/>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Capstone</a:t>
            </a:r>
            <a:endParaRPr lang="en-US" sz="1200" dirty="0"/>
          </a:p>
        </p:txBody>
      </p:sp>
      <p:sp>
        <p:nvSpPr>
          <p:cNvPr id="23" name="Text 21"/>
          <p:cNvSpPr txBox="1"/>
          <p:nvPr/>
        </p:nvSpPr>
        <p:spPr>
          <a:xfrm>
            <a:off x="7150608" y="1673352"/>
            <a:ext cx="1536192" cy="457200"/>
          </a:xfrm>
          <a:prstGeom prst="rect">
            <a:avLst/>
          </a:prstGeom>
          <a:noFill/>
          <a:ln/>
        </p:spPr>
        <p:txBody>
          <a:bodyPr wrap="square" lIns="0" tIns="0" rIns="0" bIns="0" rtlCol="0" anchor="ctr"/>
          <a:lstStyle/>
          <a:p>
            <a:pPr algn="ctr" indent="0" marL="0">
              <a:buNone/>
            </a:pPr>
            <a:r>
              <a:rPr lang="en-US" sz="2200" b="1" dirty="0">
                <a:solidFill>
                  <a:srgbClr val="F2A541"/>
                </a:solidFill>
                <a:latin typeface="Cambria" pitchFamily="34" charset="0"/>
                <a:ea typeface="Cambria" pitchFamily="34" charset="-122"/>
                <a:cs typeface="Cambria" pitchFamily="34" charset="-120"/>
              </a:rPr>
              <a:t>M11</a:t>
            </a:r>
            <a:endParaRPr lang="en-US" sz="2200" dirty="0"/>
          </a:p>
        </p:txBody>
      </p:sp>
      <p:sp>
        <p:nvSpPr>
          <p:cNvPr id="24" name="Text 22"/>
          <p:cNvSpPr txBox="1"/>
          <p:nvPr/>
        </p:nvSpPr>
        <p:spPr>
          <a:xfrm>
            <a:off x="7150608" y="2148840"/>
            <a:ext cx="1536192" cy="274320"/>
          </a:xfrm>
          <a:prstGeom prst="rect">
            <a:avLst/>
          </a:prstGeom>
          <a:noFill/>
          <a:ln/>
        </p:spPr>
        <p:txBody>
          <a:bodyPr wrap="square" lIns="0" tIns="0" rIns="0" bIns="0" rtlCol="0" anchor="t"/>
          <a:lstStyle/>
          <a:p>
            <a:pPr algn="ctr" indent="0" marL="0">
              <a:buNone/>
            </a:pPr>
            <a:r>
              <a:rPr lang="en-US" sz="1100" dirty="0">
                <a:solidFill>
                  <a:srgbClr val="D9E1EA"/>
                </a:solidFill>
                <a:latin typeface="Calibri" pitchFamily="34" charset="0"/>
                <a:ea typeface="Calibri" pitchFamily="34" charset="-122"/>
                <a:cs typeface="Calibri" pitchFamily="34" charset="-120"/>
              </a:rPr>
              <a:t>Weeks 10–11</a:t>
            </a:r>
            <a:endParaRPr lang="en-US" sz="1100" dirty="0"/>
          </a:p>
        </p:txBody>
      </p:sp>
      <p:sp>
        <p:nvSpPr>
          <p:cNvPr id="25" name="Shape 23"/>
          <p:cNvSpPr/>
          <p:nvPr/>
        </p:nvSpPr>
        <p:spPr>
          <a:xfrm>
            <a:off x="731520" y="3063240"/>
            <a:ext cx="7680960" cy="0"/>
          </a:xfrm>
          <a:prstGeom prst="line">
            <a:avLst/>
          </a:prstGeom>
          <a:noFill/>
          <a:ln w="38100">
            <a:solidFill>
              <a:srgbClr val="0A8577"/>
            </a:solidFill>
            <a:prstDash val="solid"/>
          </a:ln>
        </p:spPr>
      </p:sp>
      <p:sp>
        <p:nvSpPr>
          <p:cNvPr id="26" name="Shape 24"/>
          <p:cNvSpPr/>
          <p:nvPr/>
        </p:nvSpPr>
        <p:spPr>
          <a:xfrm>
            <a:off x="685800" y="2834640"/>
            <a:ext cx="457200" cy="457200"/>
          </a:xfrm>
          <a:prstGeom prst="ellipse">
            <a:avLst/>
          </a:prstGeom>
          <a:solidFill>
            <a:srgbClr val="10233A"/>
          </a:solidFill>
          <a:ln w="12700">
            <a:solidFill>
              <a:srgbClr val="10233A"/>
            </a:solidFill>
            <a:prstDash val="solid"/>
          </a:ln>
        </p:spPr>
      </p:sp>
      <p:sp>
        <p:nvSpPr>
          <p:cNvPr id="27" name="Text 25"/>
          <p:cNvSpPr txBox="1"/>
          <p:nvPr/>
        </p:nvSpPr>
        <p:spPr>
          <a:xfrm>
            <a:off x="68580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8" name="Text 26"/>
          <p:cNvSpPr txBox="1"/>
          <p:nvPr/>
        </p:nvSpPr>
        <p:spPr>
          <a:xfrm>
            <a:off x="228600" y="3401568"/>
            <a:ext cx="1371600" cy="228600"/>
          </a:xfrm>
          <a:prstGeom prst="rect">
            <a:avLst/>
          </a:prstGeom>
          <a:noFill/>
          <a:ln/>
        </p:spPr>
        <p:txBody>
          <a:bodyPr wrap="square" lIns="0" tIns="0" rIns="0" bIns="0" rtlCol="0" anchor="t"/>
          <a:lstStyle/>
          <a:p>
            <a:pPr algn="ctr" indent="0" marL="0">
              <a:buNone/>
            </a:pPr>
            <a:r>
              <a:rPr lang="en-US" sz="1200" b="1" dirty="0">
                <a:solidFill>
                  <a:srgbClr val="10233A"/>
                </a:solidFill>
                <a:latin typeface="Calibri" pitchFamily="34" charset="0"/>
                <a:ea typeface="Calibri" pitchFamily="34" charset="-122"/>
                <a:cs typeface="Calibri" pitchFamily="34" charset="-120"/>
              </a:rPr>
              <a:t>W1</a:t>
            </a:r>
            <a:endParaRPr lang="en-US" sz="1200" dirty="0"/>
          </a:p>
        </p:txBody>
      </p:sp>
      <p:sp>
        <p:nvSpPr>
          <p:cNvPr id="29" name="Text 27"/>
          <p:cNvSpPr txBox="1"/>
          <p:nvPr/>
        </p:nvSpPr>
        <p:spPr>
          <a:xfrm>
            <a:off x="228600" y="3639312"/>
            <a:ext cx="1371600" cy="457200"/>
          </a:xfrm>
          <a:prstGeom prst="rect">
            <a:avLst/>
          </a:prstGeom>
          <a:noFill/>
          <a:ln/>
        </p:spPr>
        <p:txBody>
          <a:bodyPr wrap="square" lIns="0" tIns="0" rIns="0" bIns="0" rtlCol="0" anchor="t"/>
          <a:lstStyle/>
          <a:p>
            <a:pPr algn="ctr" indent="0" marL="0">
              <a:buNone/>
            </a:pPr>
            <a:r>
              <a:rPr lang="en-US" sz="1100" dirty="0">
                <a:solidFill>
                  <a:srgbClr val="2B3A4A"/>
                </a:solidFill>
                <a:latin typeface="Calibri" pitchFamily="34" charset="0"/>
                <a:ea typeface="Calibri" pitchFamily="34" charset="-122"/>
                <a:cs typeface="Calibri" pitchFamily="34" charset="-120"/>
              </a:rPr>
              <a:t>Orientation and pre-assessment</a:t>
            </a:r>
            <a:endParaRPr lang="en-US" sz="1100" dirty="0"/>
          </a:p>
        </p:txBody>
      </p:sp>
      <p:sp>
        <p:nvSpPr>
          <p:cNvPr id="30" name="Shape 28"/>
          <p:cNvSpPr/>
          <p:nvPr/>
        </p:nvSpPr>
        <p:spPr>
          <a:xfrm>
            <a:off x="2148840" y="2834640"/>
            <a:ext cx="457200" cy="457200"/>
          </a:xfrm>
          <a:prstGeom prst="ellipse">
            <a:avLst/>
          </a:prstGeom>
          <a:solidFill>
            <a:srgbClr val="0A8577"/>
          </a:solidFill>
          <a:ln w="12700">
            <a:solidFill>
              <a:srgbClr val="0A8577"/>
            </a:solidFill>
            <a:prstDash val="solid"/>
          </a:ln>
        </p:spPr>
      </p:sp>
      <p:sp>
        <p:nvSpPr>
          <p:cNvPr id="31" name="Text 29"/>
          <p:cNvSpPr txBox="1"/>
          <p:nvPr/>
        </p:nvSpPr>
        <p:spPr>
          <a:xfrm>
            <a:off x="214884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1691640" y="3401568"/>
            <a:ext cx="1371600" cy="228600"/>
          </a:xfrm>
          <a:prstGeom prst="rect">
            <a:avLst/>
          </a:prstGeom>
          <a:noFill/>
          <a:ln/>
        </p:spPr>
        <p:txBody>
          <a:bodyPr wrap="square" lIns="0" tIns="0" rIns="0" bIns="0" rtlCol="0" anchor="t"/>
          <a:lstStyle/>
          <a:p>
            <a:pPr algn="ctr" indent="0" marL="0">
              <a:buNone/>
            </a:pPr>
            <a:r>
              <a:rPr lang="en-US" sz="1200" b="1" dirty="0">
                <a:solidFill>
                  <a:srgbClr val="10233A"/>
                </a:solidFill>
                <a:latin typeface="Calibri" pitchFamily="34" charset="0"/>
                <a:ea typeface="Calibri" pitchFamily="34" charset="-122"/>
                <a:cs typeface="Calibri" pitchFamily="34" charset="-120"/>
              </a:rPr>
              <a:t>W2</a:t>
            </a:r>
            <a:endParaRPr lang="en-US" sz="1200" dirty="0"/>
          </a:p>
        </p:txBody>
      </p:sp>
      <p:sp>
        <p:nvSpPr>
          <p:cNvPr id="33" name="Text 31"/>
          <p:cNvSpPr txBox="1"/>
          <p:nvPr/>
        </p:nvSpPr>
        <p:spPr>
          <a:xfrm>
            <a:off x="1691640" y="3639312"/>
            <a:ext cx="1371600" cy="457200"/>
          </a:xfrm>
          <a:prstGeom prst="rect">
            <a:avLst/>
          </a:prstGeom>
          <a:noFill/>
          <a:ln/>
        </p:spPr>
        <p:txBody>
          <a:bodyPr wrap="square" lIns="0" tIns="0" rIns="0" bIns="0" rtlCol="0" anchor="t"/>
          <a:lstStyle/>
          <a:p>
            <a:pPr algn="ctr" indent="0" marL="0">
              <a:buNone/>
            </a:pPr>
            <a:r>
              <a:rPr lang="en-US" sz="1100" dirty="0">
                <a:solidFill>
                  <a:srgbClr val="2B3A4A"/>
                </a:solidFill>
                <a:latin typeface="Calibri" pitchFamily="34" charset="0"/>
                <a:ea typeface="Calibri" pitchFamily="34" charset="-122"/>
                <a:cs typeface="Calibri" pitchFamily="34" charset="-120"/>
              </a:rPr>
              <a:t>Client brief approved</a:t>
            </a:r>
            <a:endParaRPr lang="en-US" sz="1100" dirty="0"/>
          </a:p>
        </p:txBody>
      </p:sp>
      <p:sp>
        <p:nvSpPr>
          <p:cNvPr id="34" name="Shape 32"/>
          <p:cNvSpPr/>
          <p:nvPr/>
        </p:nvSpPr>
        <p:spPr>
          <a:xfrm>
            <a:off x="3611880" y="2834640"/>
            <a:ext cx="457200" cy="457200"/>
          </a:xfrm>
          <a:prstGeom prst="ellipse">
            <a:avLst/>
          </a:prstGeom>
          <a:solidFill>
            <a:srgbClr val="10233A"/>
          </a:solidFill>
          <a:ln w="12700">
            <a:solidFill>
              <a:srgbClr val="10233A"/>
            </a:solidFill>
            <a:prstDash val="solid"/>
          </a:ln>
        </p:spPr>
      </p:sp>
      <p:sp>
        <p:nvSpPr>
          <p:cNvPr id="35" name="Text 33"/>
          <p:cNvSpPr txBox="1"/>
          <p:nvPr/>
        </p:nvSpPr>
        <p:spPr>
          <a:xfrm>
            <a:off x="361188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6" name="Text 34"/>
          <p:cNvSpPr txBox="1"/>
          <p:nvPr/>
        </p:nvSpPr>
        <p:spPr>
          <a:xfrm>
            <a:off x="3154680" y="3401568"/>
            <a:ext cx="1371600" cy="228600"/>
          </a:xfrm>
          <a:prstGeom prst="rect">
            <a:avLst/>
          </a:prstGeom>
          <a:noFill/>
          <a:ln/>
        </p:spPr>
        <p:txBody>
          <a:bodyPr wrap="square" lIns="0" tIns="0" rIns="0" bIns="0" rtlCol="0" anchor="t"/>
          <a:lstStyle/>
          <a:p>
            <a:pPr algn="ctr" indent="0" marL="0">
              <a:buNone/>
            </a:pPr>
            <a:r>
              <a:rPr lang="en-US" sz="1200" b="1" dirty="0">
                <a:solidFill>
                  <a:srgbClr val="10233A"/>
                </a:solidFill>
                <a:latin typeface="Calibri" pitchFamily="34" charset="0"/>
                <a:ea typeface="Calibri" pitchFamily="34" charset="-122"/>
                <a:cs typeface="Calibri" pitchFamily="34" charset="-120"/>
              </a:rPr>
              <a:t>W7</a:t>
            </a:r>
            <a:endParaRPr lang="en-US" sz="1200" dirty="0"/>
          </a:p>
        </p:txBody>
      </p:sp>
      <p:sp>
        <p:nvSpPr>
          <p:cNvPr id="37" name="Text 35"/>
          <p:cNvSpPr txBox="1"/>
          <p:nvPr/>
        </p:nvSpPr>
        <p:spPr>
          <a:xfrm>
            <a:off x="3154680" y="3639312"/>
            <a:ext cx="1371600" cy="457200"/>
          </a:xfrm>
          <a:prstGeom prst="rect">
            <a:avLst/>
          </a:prstGeom>
          <a:noFill/>
          <a:ln/>
        </p:spPr>
        <p:txBody>
          <a:bodyPr wrap="square" lIns="0" tIns="0" rIns="0" bIns="0" rtlCol="0" anchor="t"/>
          <a:lstStyle/>
          <a:p>
            <a:pPr algn="ctr" indent="0" marL="0">
              <a:buNone/>
            </a:pPr>
            <a:r>
              <a:rPr lang="en-US" sz="1100" dirty="0">
                <a:solidFill>
                  <a:srgbClr val="2B3A4A"/>
                </a:solidFill>
                <a:latin typeface="Calibri" pitchFamily="34" charset="0"/>
                <a:ea typeface="Calibri" pitchFamily="34" charset="-122"/>
                <a:cs typeface="Calibri" pitchFamily="34" charset="-120"/>
              </a:rPr>
              <a:t>Edited video</a:t>
            </a:r>
            <a:endParaRPr lang="en-US" sz="1100" dirty="0"/>
          </a:p>
        </p:txBody>
      </p:sp>
      <p:sp>
        <p:nvSpPr>
          <p:cNvPr id="38" name="Shape 36"/>
          <p:cNvSpPr/>
          <p:nvPr/>
        </p:nvSpPr>
        <p:spPr>
          <a:xfrm>
            <a:off x="5074920" y="2834640"/>
            <a:ext cx="457200" cy="457200"/>
          </a:xfrm>
          <a:prstGeom prst="ellipse">
            <a:avLst/>
          </a:prstGeom>
          <a:solidFill>
            <a:srgbClr val="0A8577"/>
          </a:solidFill>
          <a:ln w="12700">
            <a:solidFill>
              <a:srgbClr val="0A8577"/>
            </a:solidFill>
            <a:prstDash val="solid"/>
          </a:ln>
        </p:spPr>
      </p:sp>
      <p:sp>
        <p:nvSpPr>
          <p:cNvPr id="39" name="Text 37"/>
          <p:cNvSpPr txBox="1"/>
          <p:nvPr/>
        </p:nvSpPr>
        <p:spPr>
          <a:xfrm>
            <a:off x="507492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0" name="Text 38"/>
          <p:cNvSpPr txBox="1"/>
          <p:nvPr/>
        </p:nvSpPr>
        <p:spPr>
          <a:xfrm>
            <a:off x="4617720" y="3401568"/>
            <a:ext cx="1371600" cy="228600"/>
          </a:xfrm>
          <a:prstGeom prst="rect">
            <a:avLst/>
          </a:prstGeom>
          <a:noFill/>
          <a:ln/>
        </p:spPr>
        <p:txBody>
          <a:bodyPr wrap="square" lIns="0" tIns="0" rIns="0" bIns="0" rtlCol="0" anchor="t"/>
          <a:lstStyle/>
          <a:p>
            <a:pPr algn="ctr" indent="0" marL="0">
              <a:buNone/>
            </a:pPr>
            <a:r>
              <a:rPr lang="en-US" sz="1200" b="1" dirty="0">
                <a:solidFill>
                  <a:srgbClr val="10233A"/>
                </a:solidFill>
                <a:latin typeface="Calibri" pitchFamily="34" charset="0"/>
                <a:ea typeface="Calibri" pitchFamily="34" charset="-122"/>
                <a:cs typeface="Calibri" pitchFamily="34" charset="-120"/>
              </a:rPr>
              <a:t>W9</a:t>
            </a:r>
            <a:endParaRPr lang="en-US" sz="1200" dirty="0"/>
          </a:p>
        </p:txBody>
      </p:sp>
      <p:sp>
        <p:nvSpPr>
          <p:cNvPr id="41" name="Text 39"/>
          <p:cNvSpPr txBox="1"/>
          <p:nvPr/>
        </p:nvSpPr>
        <p:spPr>
          <a:xfrm>
            <a:off x="4617720" y="3639312"/>
            <a:ext cx="1371600" cy="457200"/>
          </a:xfrm>
          <a:prstGeom prst="rect">
            <a:avLst/>
          </a:prstGeom>
          <a:noFill/>
          <a:ln/>
        </p:spPr>
        <p:txBody>
          <a:bodyPr wrap="square" lIns="0" tIns="0" rIns="0" bIns="0" rtlCol="0" anchor="t"/>
          <a:lstStyle/>
          <a:p>
            <a:pPr algn="ctr" indent="0" marL="0">
              <a:buNone/>
            </a:pPr>
            <a:r>
              <a:rPr lang="en-US" sz="1100" dirty="0">
                <a:solidFill>
                  <a:srgbClr val="2B3A4A"/>
                </a:solidFill>
                <a:latin typeface="Calibri" pitchFamily="34" charset="0"/>
                <a:ea typeface="Calibri" pitchFamily="34" charset="-122"/>
                <a:cs typeface="Calibri" pitchFamily="34" charset="-120"/>
              </a:rPr>
              <a:t>Working automation</a:t>
            </a:r>
            <a:endParaRPr lang="en-US" sz="1100" dirty="0"/>
          </a:p>
        </p:txBody>
      </p:sp>
      <p:sp>
        <p:nvSpPr>
          <p:cNvPr id="42" name="Shape 40"/>
          <p:cNvSpPr/>
          <p:nvPr/>
        </p:nvSpPr>
        <p:spPr>
          <a:xfrm>
            <a:off x="6537960" y="2834640"/>
            <a:ext cx="457200" cy="457200"/>
          </a:xfrm>
          <a:prstGeom prst="ellipse">
            <a:avLst/>
          </a:prstGeom>
          <a:solidFill>
            <a:srgbClr val="10233A"/>
          </a:solidFill>
          <a:ln w="12700">
            <a:solidFill>
              <a:srgbClr val="10233A"/>
            </a:solidFill>
            <a:prstDash val="solid"/>
          </a:ln>
        </p:spPr>
      </p:sp>
      <p:sp>
        <p:nvSpPr>
          <p:cNvPr id="43" name="Text 41"/>
          <p:cNvSpPr txBox="1"/>
          <p:nvPr/>
        </p:nvSpPr>
        <p:spPr>
          <a:xfrm>
            <a:off x="653796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4" name="Text 42"/>
          <p:cNvSpPr txBox="1"/>
          <p:nvPr/>
        </p:nvSpPr>
        <p:spPr>
          <a:xfrm>
            <a:off x="6080760" y="3401568"/>
            <a:ext cx="1371600" cy="228600"/>
          </a:xfrm>
          <a:prstGeom prst="rect">
            <a:avLst/>
          </a:prstGeom>
          <a:noFill/>
          <a:ln/>
        </p:spPr>
        <p:txBody>
          <a:bodyPr wrap="square" lIns="0" tIns="0" rIns="0" bIns="0" rtlCol="0" anchor="t"/>
          <a:lstStyle/>
          <a:p>
            <a:pPr algn="ctr" indent="0" marL="0">
              <a:buNone/>
            </a:pPr>
            <a:r>
              <a:rPr lang="en-US" sz="1200" b="1" dirty="0">
                <a:solidFill>
                  <a:srgbClr val="10233A"/>
                </a:solidFill>
                <a:latin typeface="Calibri" pitchFamily="34" charset="0"/>
                <a:ea typeface="Calibri" pitchFamily="34" charset="-122"/>
                <a:cs typeface="Calibri" pitchFamily="34" charset="-120"/>
              </a:rPr>
              <a:t>W11</a:t>
            </a:r>
            <a:endParaRPr lang="en-US" sz="1200" dirty="0"/>
          </a:p>
        </p:txBody>
      </p:sp>
      <p:sp>
        <p:nvSpPr>
          <p:cNvPr id="45" name="Text 43"/>
          <p:cNvSpPr txBox="1"/>
          <p:nvPr/>
        </p:nvSpPr>
        <p:spPr>
          <a:xfrm>
            <a:off x="6080760" y="3639312"/>
            <a:ext cx="1371600" cy="457200"/>
          </a:xfrm>
          <a:prstGeom prst="rect">
            <a:avLst/>
          </a:prstGeom>
          <a:noFill/>
          <a:ln/>
        </p:spPr>
        <p:txBody>
          <a:bodyPr wrap="square" lIns="0" tIns="0" rIns="0" bIns="0" rtlCol="0" anchor="t"/>
          <a:lstStyle/>
          <a:p>
            <a:pPr algn="ctr" indent="0" marL="0">
              <a:buNone/>
            </a:pPr>
            <a:r>
              <a:rPr lang="en-US" sz="1100" dirty="0">
                <a:solidFill>
                  <a:srgbClr val="2B3A4A"/>
                </a:solidFill>
                <a:latin typeface="Calibri" pitchFamily="34" charset="0"/>
                <a:ea typeface="Calibri" pitchFamily="34" charset="-122"/>
                <a:cs typeface="Calibri" pitchFamily="34" charset="-120"/>
              </a:rPr>
              <a:t>Post-assessment and Demo Day</a:t>
            </a:r>
            <a:endParaRPr lang="en-US" sz="1100" dirty="0"/>
          </a:p>
        </p:txBody>
      </p:sp>
      <p:sp>
        <p:nvSpPr>
          <p:cNvPr id="46" name="Shape 44"/>
          <p:cNvSpPr/>
          <p:nvPr/>
        </p:nvSpPr>
        <p:spPr>
          <a:xfrm>
            <a:off x="8001000" y="2834640"/>
            <a:ext cx="457200" cy="457200"/>
          </a:xfrm>
          <a:prstGeom prst="ellipse">
            <a:avLst/>
          </a:prstGeom>
          <a:solidFill>
            <a:srgbClr val="0A8577"/>
          </a:solidFill>
          <a:ln w="12700">
            <a:solidFill>
              <a:srgbClr val="0A8577"/>
            </a:solidFill>
            <a:prstDash val="solid"/>
          </a:ln>
        </p:spPr>
      </p:sp>
      <p:sp>
        <p:nvSpPr>
          <p:cNvPr id="47" name="Text 45"/>
          <p:cNvSpPr txBox="1"/>
          <p:nvPr/>
        </p:nvSpPr>
        <p:spPr>
          <a:xfrm>
            <a:off x="8001000" y="28346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8" name="Text 46"/>
          <p:cNvSpPr txBox="1"/>
          <p:nvPr/>
        </p:nvSpPr>
        <p:spPr>
          <a:xfrm>
            <a:off x="7543800" y="3401568"/>
            <a:ext cx="1371600" cy="228600"/>
          </a:xfrm>
          <a:prstGeom prst="rect">
            <a:avLst/>
          </a:prstGeom>
          <a:noFill/>
          <a:ln/>
        </p:spPr>
        <p:txBody>
          <a:bodyPr wrap="square" lIns="0" tIns="0" rIns="0" bIns="0" rtlCol="0" anchor="t"/>
          <a:lstStyle/>
          <a:p>
            <a:pPr algn="ctr" indent="0" marL="0">
              <a:buNone/>
            </a:pPr>
            <a:r>
              <a:rPr lang="en-US" sz="1200" b="1" dirty="0">
                <a:solidFill>
                  <a:srgbClr val="10233A"/>
                </a:solidFill>
                <a:latin typeface="Calibri" pitchFamily="34" charset="0"/>
                <a:ea typeface="Calibri" pitchFamily="34" charset="-122"/>
                <a:cs typeface="Calibri" pitchFamily="34" charset="-120"/>
              </a:rPr>
              <a:t>W12</a:t>
            </a:r>
            <a:endParaRPr lang="en-US" sz="1200" dirty="0"/>
          </a:p>
        </p:txBody>
      </p:sp>
      <p:sp>
        <p:nvSpPr>
          <p:cNvPr id="49" name="Text 47"/>
          <p:cNvSpPr txBox="1"/>
          <p:nvPr/>
        </p:nvSpPr>
        <p:spPr>
          <a:xfrm>
            <a:off x="7543800" y="3639312"/>
            <a:ext cx="1371600" cy="457200"/>
          </a:xfrm>
          <a:prstGeom prst="rect">
            <a:avLst/>
          </a:prstGeom>
          <a:noFill/>
          <a:ln/>
        </p:spPr>
        <p:txBody>
          <a:bodyPr wrap="square" lIns="0" tIns="0" rIns="0" bIns="0" rtlCol="0" anchor="t"/>
          <a:lstStyle/>
          <a:p>
            <a:pPr algn="ctr" indent="0" marL="0">
              <a:buNone/>
            </a:pPr>
            <a:r>
              <a:rPr lang="en-US" sz="1100" dirty="0">
                <a:solidFill>
                  <a:srgbClr val="2B3A4A"/>
                </a:solidFill>
                <a:latin typeface="Calibri" pitchFamily="34" charset="0"/>
                <a:ea typeface="Calibri" pitchFamily="34" charset="-122"/>
                <a:cs typeface="Calibri" pitchFamily="34" charset="-120"/>
              </a:rPr>
              <a:t>Buffer for make-ups</a:t>
            </a:r>
            <a:endParaRPr lang="en-US" sz="1100" dirty="0"/>
          </a:p>
        </p:txBody>
      </p:sp>
      <p:sp>
        <p:nvSpPr>
          <p:cNvPr id="50" name="Text 48"/>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050" i="1" dirty="0">
                <a:solidFill>
                  <a:srgbClr val="586676"/>
                </a:solidFill>
                <a:latin typeface="Calibri" pitchFamily="34" charset="0"/>
                <a:ea typeface="Calibri" pitchFamily="34" charset="-122"/>
                <a:cs typeface="Calibri" pitchFamily="34" charset="-120"/>
              </a:rPr>
              <a:t>Sessions run three times a week (proposed). Each module's output feeds the team's capstone, so the final weeks are for finishing, not starting.</a:t>
            </a:r>
            <a:endParaRPr lang="en-US" sz="10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8  ·  PRACTICE</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Every session ends with something made</a:t>
            </a:r>
            <a:endParaRPr lang="en-US" sz="2500" dirty="0"/>
          </a:p>
        </p:txBody>
      </p:sp>
      <p:sp>
        <p:nvSpPr>
          <p:cNvPr id="5" name="Shape 3"/>
          <p:cNvSpPr/>
          <p:nvPr/>
        </p:nvSpPr>
        <p:spPr>
          <a:xfrm>
            <a:off x="457200" y="1261872"/>
            <a:ext cx="1929384" cy="749808"/>
          </a:xfrm>
          <a:prstGeom prst="roundRect">
            <a:avLst>
              <a:gd name="adj" fmla="val 7317"/>
            </a:avLst>
          </a:prstGeom>
          <a:solidFill>
            <a:srgbClr val="F3F6F8"/>
          </a:solidFill>
          <a:ln w="12700">
            <a:solidFill>
              <a:srgbClr val="F3F6F8"/>
            </a:solidFill>
            <a:prstDash val="solid"/>
          </a:ln>
        </p:spPr>
      </p:sp>
      <p:sp>
        <p:nvSpPr>
          <p:cNvPr id="6" name="Shape 4"/>
          <p:cNvSpPr/>
          <p:nvPr/>
        </p:nvSpPr>
        <p:spPr>
          <a:xfrm>
            <a:off x="566928" y="1371600"/>
            <a:ext cx="365760" cy="365760"/>
          </a:xfrm>
          <a:prstGeom prst="ellipse">
            <a:avLst/>
          </a:prstGeom>
          <a:solidFill>
            <a:srgbClr val="0A8577"/>
          </a:solidFill>
          <a:ln w="12700">
            <a:solidFill>
              <a:srgbClr val="0A8577"/>
            </a:solidFill>
            <a:prstDash val="solid"/>
          </a:ln>
        </p:spPr>
      </p:sp>
      <p:sp>
        <p:nvSpPr>
          <p:cNvPr id="7" name="Text 5"/>
          <p:cNvSpPr txBox="1"/>
          <p:nvPr/>
        </p:nvSpPr>
        <p:spPr>
          <a:xfrm>
            <a:off x="1005840" y="1316736"/>
            <a:ext cx="1325880" cy="274320"/>
          </a:xfrm>
          <a:prstGeom prst="rect">
            <a:avLst/>
          </a:prstGeom>
          <a:noFill/>
          <a:ln/>
        </p:spPr>
        <p:txBody>
          <a:bodyPr wrap="square" lIns="0" tIns="0" rIns="0" bIns="0" rtlCol="0" anchor="t"/>
          <a:lstStyle/>
          <a:p>
            <a:pPr indent="0" marL="0">
              <a:buNone/>
            </a:pPr>
            <a:r>
              <a:rPr lang="en-US" sz="1250" b="1" dirty="0">
                <a:solidFill>
                  <a:srgbClr val="0A8577"/>
                </a:solidFill>
                <a:latin typeface="Calibri" pitchFamily="34" charset="0"/>
                <a:ea typeface="Calibri" pitchFamily="34" charset="-122"/>
                <a:cs typeface="Calibri" pitchFamily="34" charset="-120"/>
              </a:rPr>
              <a:t>1. See it</a:t>
            </a:r>
            <a:endParaRPr lang="en-US" sz="1250" dirty="0"/>
          </a:p>
        </p:txBody>
      </p:sp>
      <p:sp>
        <p:nvSpPr>
          <p:cNvPr id="8" name="Text 6"/>
          <p:cNvSpPr txBox="1"/>
          <p:nvPr/>
        </p:nvSpPr>
        <p:spPr>
          <a:xfrm>
            <a:off x="1005840" y="1591056"/>
            <a:ext cx="1325880" cy="384048"/>
          </a:xfrm>
          <a:prstGeom prst="rect">
            <a:avLst/>
          </a:prstGeom>
          <a:noFill/>
          <a:ln/>
        </p:spPr>
        <p:txBody>
          <a:bodyPr wrap="square" lIns="0" tIns="0" rIns="0" bIns="0" rtlCol="0" anchor="t"/>
          <a:lstStyle/>
          <a:p>
            <a:pPr indent="0" marL="0">
              <a:buNone/>
            </a:pPr>
            <a:r>
              <a:rPr lang="en-US" sz="950" dirty="0">
                <a:solidFill>
                  <a:srgbClr val="2B3A4A"/>
                </a:solidFill>
                <a:latin typeface="Calibri" pitchFamily="34" charset="0"/>
                <a:ea typeface="Calibri" pitchFamily="34" charset="-122"/>
                <a:cs typeface="Calibri" pitchFamily="34" charset="-120"/>
              </a:rPr>
              <a:t>Short concept and live demo</a:t>
            </a:r>
            <a:endParaRPr lang="en-US" sz="950" dirty="0"/>
          </a:p>
        </p:txBody>
      </p:sp>
      <p:sp>
        <p:nvSpPr>
          <p:cNvPr id="9" name="Shape 7"/>
          <p:cNvSpPr/>
          <p:nvPr/>
        </p:nvSpPr>
        <p:spPr>
          <a:xfrm>
            <a:off x="2551176" y="1261872"/>
            <a:ext cx="1929384" cy="749808"/>
          </a:xfrm>
          <a:prstGeom prst="roundRect">
            <a:avLst>
              <a:gd name="adj" fmla="val 7317"/>
            </a:avLst>
          </a:prstGeom>
          <a:solidFill>
            <a:srgbClr val="F3F6F8"/>
          </a:solidFill>
          <a:ln w="12700">
            <a:solidFill>
              <a:srgbClr val="F3F6F8"/>
            </a:solidFill>
            <a:prstDash val="solid"/>
          </a:ln>
        </p:spPr>
      </p:sp>
      <p:sp>
        <p:nvSpPr>
          <p:cNvPr id="10" name="Shape 8"/>
          <p:cNvSpPr/>
          <p:nvPr/>
        </p:nvSpPr>
        <p:spPr>
          <a:xfrm>
            <a:off x="2660904" y="1371600"/>
            <a:ext cx="365760" cy="365760"/>
          </a:xfrm>
          <a:prstGeom prst="ellipse">
            <a:avLst/>
          </a:prstGeom>
          <a:solidFill>
            <a:srgbClr val="0A8577"/>
          </a:solidFill>
          <a:ln w="12700">
            <a:solidFill>
              <a:srgbClr val="0A8577"/>
            </a:solidFill>
            <a:prstDash val="solid"/>
          </a:ln>
        </p:spPr>
      </p:sp>
      <p:sp>
        <p:nvSpPr>
          <p:cNvPr id="11" name="Text 9"/>
          <p:cNvSpPr txBox="1"/>
          <p:nvPr/>
        </p:nvSpPr>
        <p:spPr>
          <a:xfrm>
            <a:off x="3099816" y="1316736"/>
            <a:ext cx="1325880" cy="274320"/>
          </a:xfrm>
          <a:prstGeom prst="rect">
            <a:avLst/>
          </a:prstGeom>
          <a:noFill/>
          <a:ln/>
        </p:spPr>
        <p:txBody>
          <a:bodyPr wrap="square" lIns="0" tIns="0" rIns="0" bIns="0" rtlCol="0" anchor="t"/>
          <a:lstStyle/>
          <a:p>
            <a:pPr indent="0" marL="0">
              <a:buNone/>
            </a:pPr>
            <a:r>
              <a:rPr lang="en-US" sz="1250" b="1" dirty="0">
                <a:solidFill>
                  <a:srgbClr val="0A8577"/>
                </a:solidFill>
                <a:latin typeface="Calibri" pitchFamily="34" charset="0"/>
                <a:ea typeface="Calibri" pitchFamily="34" charset="-122"/>
                <a:cs typeface="Calibri" pitchFamily="34" charset="-120"/>
              </a:rPr>
              <a:t>2. Try it</a:t>
            </a:r>
            <a:endParaRPr lang="en-US" sz="1250" dirty="0"/>
          </a:p>
        </p:txBody>
      </p:sp>
      <p:sp>
        <p:nvSpPr>
          <p:cNvPr id="12" name="Text 10"/>
          <p:cNvSpPr txBox="1"/>
          <p:nvPr/>
        </p:nvSpPr>
        <p:spPr>
          <a:xfrm>
            <a:off x="3099816" y="1591056"/>
            <a:ext cx="1325880" cy="384048"/>
          </a:xfrm>
          <a:prstGeom prst="rect">
            <a:avLst/>
          </a:prstGeom>
          <a:noFill/>
          <a:ln/>
        </p:spPr>
        <p:txBody>
          <a:bodyPr wrap="square" lIns="0" tIns="0" rIns="0" bIns="0" rtlCol="0" anchor="t"/>
          <a:lstStyle/>
          <a:p>
            <a:pPr indent="0" marL="0">
              <a:buNone/>
            </a:pPr>
            <a:r>
              <a:rPr lang="en-US" sz="950" dirty="0">
                <a:solidFill>
                  <a:srgbClr val="2B3A4A"/>
                </a:solidFill>
                <a:latin typeface="Calibri" pitchFamily="34" charset="0"/>
                <a:ea typeface="Calibri" pitchFamily="34" charset="-122"/>
                <a:cs typeface="Calibri" pitchFamily="34" charset="-120"/>
              </a:rPr>
              <a:t>Guided exercise in pairs</a:t>
            </a:r>
            <a:endParaRPr lang="en-US" sz="950" dirty="0"/>
          </a:p>
        </p:txBody>
      </p:sp>
      <p:sp>
        <p:nvSpPr>
          <p:cNvPr id="13" name="Shape 11"/>
          <p:cNvSpPr/>
          <p:nvPr/>
        </p:nvSpPr>
        <p:spPr>
          <a:xfrm>
            <a:off x="4645152" y="1261872"/>
            <a:ext cx="1929384" cy="749808"/>
          </a:xfrm>
          <a:prstGeom prst="roundRect">
            <a:avLst>
              <a:gd name="adj" fmla="val 7317"/>
            </a:avLst>
          </a:prstGeom>
          <a:solidFill>
            <a:srgbClr val="10233A"/>
          </a:solidFill>
          <a:ln w="12700">
            <a:solidFill>
              <a:srgbClr val="10233A"/>
            </a:solidFill>
            <a:prstDash val="solid"/>
          </a:ln>
        </p:spPr>
      </p:sp>
      <p:sp>
        <p:nvSpPr>
          <p:cNvPr id="14" name="Shape 12"/>
          <p:cNvSpPr/>
          <p:nvPr/>
        </p:nvSpPr>
        <p:spPr>
          <a:xfrm>
            <a:off x="4754880" y="1371600"/>
            <a:ext cx="365760" cy="365760"/>
          </a:xfrm>
          <a:prstGeom prst="ellipse">
            <a:avLst/>
          </a:prstGeom>
          <a:solidFill>
            <a:srgbClr val="F2A541"/>
          </a:solidFill>
          <a:ln w="12700">
            <a:solidFill>
              <a:srgbClr val="F2A541"/>
            </a:solidFill>
            <a:prstDash val="solid"/>
          </a:ln>
        </p:spPr>
      </p:sp>
      <p:sp>
        <p:nvSpPr>
          <p:cNvPr id="15" name="Text 13"/>
          <p:cNvSpPr txBox="1"/>
          <p:nvPr/>
        </p:nvSpPr>
        <p:spPr>
          <a:xfrm>
            <a:off x="5193792" y="1316736"/>
            <a:ext cx="1325880" cy="274320"/>
          </a:xfrm>
          <a:prstGeom prst="rect">
            <a:avLst/>
          </a:prstGeom>
          <a:noFill/>
          <a:ln/>
        </p:spPr>
        <p:txBody>
          <a:bodyPr wrap="square" lIns="0" tIns="0" rIns="0" bIns="0" rtlCol="0" anchor="t"/>
          <a:lstStyle/>
          <a:p>
            <a:pPr indent="0" marL="0">
              <a:buNone/>
            </a:pPr>
            <a:r>
              <a:rPr lang="en-US" sz="1250" b="1" dirty="0">
                <a:solidFill>
                  <a:srgbClr val="F2A541"/>
                </a:solidFill>
                <a:latin typeface="Calibri" pitchFamily="34" charset="0"/>
                <a:ea typeface="Calibri" pitchFamily="34" charset="-122"/>
                <a:cs typeface="Calibri" pitchFamily="34" charset="-120"/>
              </a:rPr>
              <a:t>3. Build it</a:t>
            </a:r>
            <a:endParaRPr lang="en-US" sz="1250" dirty="0"/>
          </a:p>
        </p:txBody>
      </p:sp>
      <p:sp>
        <p:nvSpPr>
          <p:cNvPr id="16" name="Text 14"/>
          <p:cNvSpPr txBox="1"/>
          <p:nvPr/>
        </p:nvSpPr>
        <p:spPr>
          <a:xfrm>
            <a:off x="5193792" y="1591056"/>
            <a:ext cx="1325880" cy="384048"/>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Apply it to the capstone client</a:t>
            </a:r>
            <a:endParaRPr lang="en-US" sz="950" dirty="0"/>
          </a:p>
        </p:txBody>
      </p:sp>
      <p:sp>
        <p:nvSpPr>
          <p:cNvPr id="17" name="Shape 15"/>
          <p:cNvSpPr/>
          <p:nvPr/>
        </p:nvSpPr>
        <p:spPr>
          <a:xfrm>
            <a:off x="6739128" y="1261872"/>
            <a:ext cx="1929384" cy="749808"/>
          </a:xfrm>
          <a:prstGeom prst="roundRect">
            <a:avLst>
              <a:gd name="adj" fmla="val 7317"/>
            </a:avLst>
          </a:prstGeom>
          <a:solidFill>
            <a:srgbClr val="F3F6F8"/>
          </a:solidFill>
          <a:ln w="12700">
            <a:solidFill>
              <a:srgbClr val="F3F6F8"/>
            </a:solidFill>
            <a:prstDash val="solid"/>
          </a:ln>
        </p:spPr>
      </p:sp>
      <p:sp>
        <p:nvSpPr>
          <p:cNvPr id="18" name="Shape 16"/>
          <p:cNvSpPr/>
          <p:nvPr/>
        </p:nvSpPr>
        <p:spPr>
          <a:xfrm>
            <a:off x="6848856" y="1371600"/>
            <a:ext cx="365760" cy="365760"/>
          </a:xfrm>
          <a:prstGeom prst="ellipse">
            <a:avLst/>
          </a:prstGeom>
          <a:solidFill>
            <a:srgbClr val="0A8577"/>
          </a:solidFill>
          <a:ln w="12700">
            <a:solidFill>
              <a:srgbClr val="0A8577"/>
            </a:solidFill>
            <a:prstDash val="solid"/>
          </a:ln>
        </p:spPr>
      </p:sp>
      <p:sp>
        <p:nvSpPr>
          <p:cNvPr id="19" name="Text 17"/>
          <p:cNvSpPr txBox="1"/>
          <p:nvPr/>
        </p:nvSpPr>
        <p:spPr>
          <a:xfrm>
            <a:off x="7287768" y="1316736"/>
            <a:ext cx="1325880" cy="274320"/>
          </a:xfrm>
          <a:prstGeom prst="rect">
            <a:avLst/>
          </a:prstGeom>
          <a:noFill/>
          <a:ln/>
        </p:spPr>
        <p:txBody>
          <a:bodyPr wrap="square" lIns="0" tIns="0" rIns="0" bIns="0" rtlCol="0" anchor="t"/>
          <a:lstStyle/>
          <a:p>
            <a:pPr indent="0" marL="0">
              <a:buNone/>
            </a:pPr>
            <a:r>
              <a:rPr lang="en-US" sz="1250" b="1" dirty="0">
                <a:solidFill>
                  <a:srgbClr val="0A8577"/>
                </a:solidFill>
                <a:latin typeface="Calibri" pitchFamily="34" charset="0"/>
                <a:ea typeface="Calibri" pitchFamily="34" charset="-122"/>
                <a:cs typeface="Calibri" pitchFamily="34" charset="-120"/>
              </a:rPr>
              <a:t>4. Show it</a:t>
            </a:r>
            <a:endParaRPr lang="en-US" sz="1250" dirty="0"/>
          </a:p>
        </p:txBody>
      </p:sp>
      <p:sp>
        <p:nvSpPr>
          <p:cNvPr id="20" name="Text 18"/>
          <p:cNvSpPr txBox="1"/>
          <p:nvPr/>
        </p:nvSpPr>
        <p:spPr>
          <a:xfrm>
            <a:off x="7287768" y="1591056"/>
            <a:ext cx="1325880" cy="384048"/>
          </a:xfrm>
          <a:prstGeom prst="rect">
            <a:avLst/>
          </a:prstGeom>
          <a:noFill/>
          <a:ln/>
        </p:spPr>
        <p:txBody>
          <a:bodyPr wrap="square" lIns="0" tIns="0" rIns="0" bIns="0" rtlCol="0" anchor="t"/>
          <a:lstStyle/>
          <a:p>
            <a:pPr indent="0" marL="0">
              <a:buNone/>
            </a:pPr>
            <a:r>
              <a:rPr lang="en-US" sz="950" dirty="0">
                <a:solidFill>
                  <a:srgbClr val="2B3A4A"/>
                </a:solidFill>
                <a:latin typeface="Calibri" pitchFamily="34" charset="0"/>
                <a:ea typeface="Calibri" pitchFamily="34" charset="-122"/>
                <a:cs typeface="Calibri" pitchFamily="34" charset="-120"/>
              </a:rPr>
              <a:t>Share, get feedback, improve</a:t>
            </a:r>
            <a:endParaRPr lang="en-US" sz="950" dirty="0"/>
          </a:p>
        </p:txBody>
      </p:sp>
      <p:sp>
        <p:nvSpPr>
          <p:cNvPr id="21" name="Shape 19"/>
          <p:cNvSpPr/>
          <p:nvPr/>
        </p:nvSpPr>
        <p:spPr>
          <a:xfrm>
            <a:off x="457200" y="2121408"/>
            <a:ext cx="2258568" cy="329184"/>
          </a:xfrm>
          <a:prstGeom prst="rect">
            <a:avLst/>
          </a:prstGeom>
          <a:solidFill>
            <a:srgbClr val="586676"/>
          </a:solidFill>
          <a:ln w="12700">
            <a:solidFill>
              <a:srgbClr val="586676"/>
            </a:solidFill>
            <a:prstDash val="solid"/>
          </a:ln>
        </p:spPr>
      </p:sp>
      <p:sp>
        <p:nvSpPr>
          <p:cNvPr id="22" name="Text 20"/>
          <p:cNvSpPr txBox="1"/>
          <p:nvPr/>
        </p:nvSpPr>
        <p:spPr>
          <a:xfrm>
            <a:off x="457200" y="2121408"/>
            <a:ext cx="225856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 &amp; demo  0:00–0:50</a:t>
            </a:r>
            <a:endParaRPr lang="en-US" sz="1050" dirty="0"/>
          </a:p>
        </p:txBody>
      </p:sp>
      <p:sp>
        <p:nvSpPr>
          <p:cNvPr id="23" name="Shape 21"/>
          <p:cNvSpPr/>
          <p:nvPr/>
        </p:nvSpPr>
        <p:spPr>
          <a:xfrm>
            <a:off x="2743200" y="2121408"/>
            <a:ext cx="4773168" cy="329184"/>
          </a:xfrm>
          <a:prstGeom prst="rect">
            <a:avLst/>
          </a:prstGeom>
          <a:solidFill>
            <a:srgbClr val="0A8577"/>
          </a:solidFill>
          <a:ln w="12700">
            <a:solidFill>
              <a:srgbClr val="0A8577"/>
            </a:solidFill>
            <a:prstDash val="solid"/>
          </a:ln>
        </p:spPr>
      </p:sp>
      <p:sp>
        <p:nvSpPr>
          <p:cNvPr id="24" name="Text 22"/>
          <p:cNvSpPr txBox="1"/>
          <p:nvPr/>
        </p:nvSpPr>
        <p:spPr>
          <a:xfrm>
            <a:off x="2743200" y="2121408"/>
            <a:ext cx="477316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Hands-on build  0:50–2:35</a:t>
            </a:r>
            <a:endParaRPr lang="en-US" sz="1050" dirty="0"/>
          </a:p>
        </p:txBody>
      </p:sp>
      <p:sp>
        <p:nvSpPr>
          <p:cNvPr id="25" name="Shape 23"/>
          <p:cNvSpPr/>
          <p:nvPr/>
        </p:nvSpPr>
        <p:spPr>
          <a:xfrm>
            <a:off x="7543800" y="2121408"/>
            <a:ext cx="1115568" cy="329184"/>
          </a:xfrm>
          <a:prstGeom prst="rect">
            <a:avLst/>
          </a:prstGeom>
          <a:solidFill>
            <a:srgbClr val="10233A"/>
          </a:solidFill>
          <a:ln w="12700">
            <a:solidFill>
              <a:srgbClr val="10233A"/>
            </a:solidFill>
            <a:prstDash val="solid"/>
          </a:ln>
        </p:spPr>
      </p:sp>
      <p:sp>
        <p:nvSpPr>
          <p:cNvPr id="26" name="Text 24"/>
          <p:cNvSpPr txBox="1"/>
          <p:nvPr/>
        </p:nvSpPr>
        <p:spPr>
          <a:xfrm>
            <a:off x="7543800" y="2121408"/>
            <a:ext cx="1115568"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Show  2:35–3:00</a:t>
            </a:r>
            <a:endParaRPr lang="en-US" sz="850" dirty="0"/>
          </a:p>
        </p:txBody>
      </p:sp>
      <p:sp>
        <p:nvSpPr>
          <p:cNvPr id="27" name="Text 25"/>
          <p:cNvSpPr txBox="1"/>
          <p:nvPr/>
        </p:nvSpPr>
        <p:spPr>
          <a:xfrm>
            <a:off x="457200" y="2578608"/>
            <a:ext cx="4572000" cy="274320"/>
          </a:xfrm>
          <a:prstGeom prst="rect">
            <a:avLst/>
          </a:prstGeom>
          <a:noFill/>
          <a:ln/>
        </p:spPr>
        <p:txBody>
          <a:bodyPr wrap="square" lIns="0" tIns="0" rIns="0" bIns="0" rtlCol="0" anchor="t"/>
          <a:lstStyle/>
          <a:p>
            <a:pPr indent="0" marL="0">
              <a:buNone/>
            </a:pPr>
            <a:r>
              <a:rPr lang="en-US" sz="1300" b="1" dirty="0">
                <a:solidFill>
                  <a:srgbClr val="10233A"/>
                </a:solidFill>
                <a:latin typeface="Calibri" pitchFamily="34" charset="0"/>
                <a:ea typeface="Calibri" pitchFamily="34" charset="-122"/>
                <a:cs typeface="Calibri" pitchFamily="34" charset="-120"/>
              </a:rPr>
              <a:t>Twelve structured exercises</a:t>
            </a:r>
            <a:endParaRPr lang="en-US" sz="1300" dirty="0"/>
          </a:p>
        </p:txBody>
      </p:sp>
      <p:sp>
        <p:nvSpPr>
          <p:cNvPr id="28" name="Shape 26"/>
          <p:cNvSpPr/>
          <p:nvPr/>
        </p:nvSpPr>
        <p:spPr>
          <a:xfrm>
            <a:off x="457200" y="2907792"/>
            <a:ext cx="1984248" cy="502920"/>
          </a:xfrm>
          <a:prstGeom prst="roundRect">
            <a:avLst>
              <a:gd name="adj" fmla="val 10909"/>
            </a:avLst>
          </a:prstGeom>
          <a:solidFill>
            <a:srgbClr val="E0EFED"/>
          </a:solidFill>
          <a:ln w="12700">
            <a:solidFill>
              <a:srgbClr val="E0EFED"/>
            </a:solidFill>
            <a:prstDash val="solid"/>
          </a:ln>
        </p:spPr>
      </p:sp>
      <p:sp>
        <p:nvSpPr>
          <p:cNvPr id="29" name="Text 27"/>
          <p:cNvSpPr txBox="1"/>
          <p:nvPr/>
        </p:nvSpPr>
        <p:spPr>
          <a:xfrm>
            <a:off x="530352" y="2953512"/>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M1</a:t>
            </a:r>
            <a:endParaRPr lang="en-US" sz="850" dirty="0"/>
          </a:p>
        </p:txBody>
      </p:sp>
      <p:sp>
        <p:nvSpPr>
          <p:cNvPr id="30" name="Text 28"/>
          <p:cNvSpPr txBox="1"/>
          <p:nvPr/>
        </p:nvSpPr>
        <p:spPr>
          <a:xfrm>
            <a:off x="914400" y="2944368"/>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Spot the error</a:t>
            </a:r>
            <a:endParaRPr lang="en-US" sz="1000" dirty="0"/>
          </a:p>
        </p:txBody>
      </p:sp>
      <p:sp>
        <p:nvSpPr>
          <p:cNvPr id="31" name="Text 29"/>
          <p:cNvSpPr txBox="1"/>
          <p:nvPr/>
        </p:nvSpPr>
        <p:spPr>
          <a:xfrm>
            <a:off x="530352" y="3163824"/>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Fix five AI answers with sources</a:t>
            </a:r>
            <a:endParaRPr lang="en-US" sz="850" dirty="0"/>
          </a:p>
        </p:txBody>
      </p:sp>
      <p:sp>
        <p:nvSpPr>
          <p:cNvPr id="32" name="Shape 30"/>
          <p:cNvSpPr/>
          <p:nvPr/>
        </p:nvSpPr>
        <p:spPr>
          <a:xfrm>
            <a:off x="2532888" y="2907792"/>
            <a:ext cx="1984248" cy="502920"/>
          </a:xfrm>
          <a:prstGeom prst="roundRect">
            <a:avLst>
              <a:gd name="adj" fmla="val 10909"/>
            </a:avLst>
          </a:prstGeom>
          <a:solidFill>
            <a:srgbClr val="F3F6F8"/>
          </a:solidFill>
          <a:ln w="12700">
            <a:solidFill>
              <a:srgbClr val="F3F6F8"/>
            </a:solidFill>
            <a:prstDash val="solid"/>
          </a:ln>
        </p:spPr>
      </p:sp>
      <p:sp>
        <p:nvSpPr>
          <p:cNvPr id="33" name="Text 31"/>
          <p:cNvSpPr txBox="1"/>
          <p:nvPr/>
        </p:nvSpPr>
        <p:spPr>
          <a:xfrm>
            <a:off x="2606040" y="2953512"/>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M2</a:t>
            </a:r>
            <a:endParaRPr lang="en-US" sz="850" dirty="0"/>
          </a:p>
        </p:txBody>
      </p:sp>
      <p:sp>
        <p:nvSpPr>
          <p:cNvPr id="34" name="Text 32"/>
          <p:cNvSpPr txBox="1"/>
          <p:nvPr/>
        </p:nvSpPr>
        <p:spPr>
          <a:xfrm>
            <a:off x="2990088" y="2944368"/>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Prompt upgrade</a:t>
            </a:r>
            <a:endParaRPr lang="en-US" sz="1000" dirty="0"/>
          </a:p>
        </p:txBody>
      </p:sp>
      <p:sp>
        <p:nvSpPr>
          <p:cNvPr id="35" name="Text 33"/>
          <p:cNvSpPr txBox="1"/>
          <p:nvPr/>
        </p:nvSpPr>
        <p:spPr>
          <a:xfrm>
            <a:off x="2606040" y="3163824"/>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One prompt, three versions, scored</a:t>
            </a:r>
            <a:endParaRPr lang="en-US" sz="850" dirty="0"/>
          </a:p>
        </p:txBody>
      </p:sp>
      <p:sp>
        <p:nvSpPr>
          <p:cNvPr id="36" name="Shape 34"/>
          <p:cNvSpPr/>
          <p:nvPr/>
        </p:nvSpPr>
        <p:spPr>
          <a:xfrm>
            <a:off x="4608576" y="2907792"/>
            <a:ext cx="1984248" cy="502920"/>
          </a:xfrm>
          <a:prstGeom prst="roundRect">
            <a:avLst>
              <a:gd name="adj" fmla="val 10909"/>
            </a:avLst>
          </a:prstGeom>
          <a:solidFill>
            <a:srgbClr val="E0EFED"/>
          </a:solidFill>
          <a:ln w="12700">
            <a:solidFill>
              <a:srgbClr val="E0EFED"/>
            </a:solidFill>
            <a:prstDash val="solid"/>
          </a:ln>
        </p:spPr>
      </p:sp>
      <p:sp>
        <p:nvSpPr>
          <p:cNvPr id="37" name="Text 35"/>
          <p:cNvSpPr txBox="1"/>
          <p:nvPr/>
        </p:nvSpPr>
        <p:spPr>
          <a:xfrm>
            <a:off x="4681728" y="2953512"/>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M3</a:t>
            </a:r>
            <a:endParaRPr lang="en-US" sz="850" dirty="0"/>
          </a:p>
        </p:txBody>
      </p:sp>
      <p:sp>
        <p:nvSpPr>
          <p:cNvPr id="38" name="Text 36"/>
          <p:cNvSpPr txBox="1"/>
          <p:nvPr/>
        </p:nvSpPr>
        <p:spPr>
          <a:xfrm>
            <a:off x="5065776" y="2944368"/>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Fact-check race</a:t>
            </a:r>
            <a:endParaRPr lang="en-US" sz="1000" dirty="0"/>
          </a:p>
        </p:txBody>
      </p:sp>
      <p:sp>
        <p:nvSpPr>
          <p:cNvPr id="39" name="Text 37"/>
          <p:cNvSpPr txBox="1"/>
          <p:nvPr/>
        </p:nvSpPr>
        <p:spPr>
          <a:xfrm>
            <a:off x="4681728" y="3163824"/>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Verify six claims with sources</a:t>
            </a:r>
            <a:endParaRPr lang="en-US" sz="850" dirty="0"/>
          </a:p>
        </p:txBody>
      </p:sp>
      <p:sp>
        <p:nvSpPr>
          <p:cNvPr id="40" name="Shape 38"/>
          <p:cNvSpPr/>
          <p:nvPr/>
        </p:nvSpPr>
        <p:spPr>
          <a:xfrm>
            <a:off x="6684264" y="2907792"/>
            <a:ext cx="1984248" cy="502920"/>
          </a:xfrm>
          <a:prstGeom prst="roundRect">
            <a:avLst>
              <a:gd name="adj" fmla="val 10909"/>
            </a:avLst>
          </a:prstGeom>
          <a:solidFill>
            <a:srgbClr val="F3F6F8"/>
          </a:solidFill>
          <a:ln w="12700">
            <a:solidFill>
              <a:srgbClr val="F3F6F8"/>
            </a:solidFill>
            <a:prstDash val="solid"/>
          </a:ln>
        </p:spPr>
      </p:sp>
      <p:sp>
        <p:nvSpPr>
          <p:cNvPr id="41" name="Text 39"/>
          <p:cNvSpPr txBox="1"/>
          <p:nvPr/>
        </p:nvSpPr>
        <p:spPr>
          <a:xfrm>
            <a:off x="6757416" y="2953512"/>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M3</a:t>
            </a:r>
            <a:endParaRPr lang="en-US" sz="850" dirty="0"/>
          </a:p>
        </p:txBody>
      </p:sp>
      <p:sp>
        <p:nvSpPr>
          <p:cNvPr id="42" name="Text 40"/>
          <p:cNvSpPr txBox="1"/>
          <p:nvPr/>
        </p:nvSpPr>
        <p:spPr>
          <a:xfrm>
            <a:off x="7141464" y="2944368"/>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Client role-play</a:t>
            </a:r>
            <a:endParaRPr lang="en-US" sz="1000" dirty="0"/>
          </a:p>
        </p:txBody>
      </p:sp>
      <p:sp>
        <p:nvSpPr>
          <p:cNvPr id="43" name="Text 41"/>
          <p:cNvSpPr txBox="1"/>
          <p:nvPr/>
        </p:nvSpPr>
        <p:spPr>
          <a:xfrm>
            <a:off x="6757416" y="3163824"/>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Interview a vague client, write the brief</a:t>
            </a:r>
            <a:endParaRPr lang="en-US" sz="850" dirty="0"/>
          </a:p>
        </p:txBody>
      </p:sp>
      <p:sp>
        <p:nvSpPr>
          <p:cNvPr id="44" name="Shape 42"/>
          <p:cNvSpPr/>
          <p:nvPr/>
        </p:nvSpPr>
        <p:spPr>
          <a:xfrm>
            <a:off x="457200" y="3474720"/>
            <a:ext cx="1984248" cy="502920"/>
          </a:xfrm>
          <a:prstGeom prst="roundRect">
            <a:avLst>
              <a:gd name="adj" fmla="val 10909"/>
            </a:avLst>
          </a:prstGeom>
          <a:solidFill>
            <a:srgbClr val="E0EFED"/>
          </a:solidFill>
          <a:ln w="12700">
            <a:solidFill>
              <a:srgbClr val="E0EFED"/>
            </a:solidFill>
            <a:prstDash val="solid"/>
          </a:ln>
        </p:spPr>
      </p:sp>
      <p:sp>
        <p:nvSpPr>
          <p:cNvPr id="45" name="Text 43"/>
          <p:cNvSpPr txBox="1"/>
          <p:nvPr/>
        </p:nvSpPr>
        <p:spPr>
          <a:xfrm>
            <a:off x="530352" y="3520440"/>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M4</a:t>
            </a:r>
            <a:endParaRPr lang="en-US" sz="850" dirty="0"/>
          </a:p>
        </p:txBody>
      </p:sp>
      <p:sp>
        <p:nvSpPr>
          <p:cNvPr id="46" name="Text 44"/>
          <p:cNvSpPr txBox="1"/>
          <p:nvPr/>
        </p:nvSpPr>
        <p:spPr>
          <a:xfrm>
            <a:off x="914400" y="3511296"/>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Hook clinic</a:t>
            </a:r>
            <a:endParaRPr lang="en-US" sz="1000" dirty="0"/>
          </a:p>
        </p:txBody>
      </p:sp>
      <p:sp>
        <p:nvSpPr>
          <p:cNvPr id="47" name="Text 45"/>
          <p:cNvSpPr txBox="1"/>
          <p:nvPr/>
        </p:nvSpPr>
        <p:spPr>
          <a:xfrm>
            <a:off x="530352" y="3730752"/>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Ten hooks, peers shortlist three</a:t>
            </a:r>
            <a:endParaRPr lang="en-US" sz="850" dirty="0"/>
          </a:p>
        </p:txBody>
      </p:sp>
      <p:sp>
        <p:nvSpPr>
          <p:cNvPr id="48" name="Shape 46"/>
          <p:cNvSpPr/>
          <p:nvPr/>
        </p:nvSpPr>
        <p:spPr>
          <a:xfrm>
            <a:off x="2532888" y="3474720"/>
            <a:ext cx="1984248" cy="502920"/>
          </a:xfrm>
          <a:prstGeom prst="roundRect">
            <a:avLst>
              <a:gd name="adj" fmla="val 10909"/>
            </a:avLst>
          </a:prstGeom>
          <a:solidFill>
            <a:srgbClr val="F3F6F8"/>
          </a:solidFill>
          <a:ln w="12700">
            <a:solidFill>
              <a:srgbClr val="F3F6F8"/>
            </a:solidFill>
            <a:prstDash val="solid"/>
          </a:ln>
        </p:spPr>
      </p:sp>
      <p:sp>
        <p:nvSpPr>
          <p:cNvPr id="49" name="Text 47"/>
          <p:cNvSpPr txBox="1"/>
          <p:nvPr/>
        </p:nvSpPr>
        <p:spPr>
          <a:xfrm>
            <a:off x="2606040" y="3520440"/>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M5</a:t>
            </a:r>
            <a:endParaRPr lang="en-US" sz="850" dirty="0"/>
          </a:p>
        </p:txBody>
      </p:sp>
      <p:sp>
        <p:nvSpPr>
          <p:cNvPr id="50" name="Text 48"/>
          <p:cNvSpPr txBox="1"/>
          <p:nvPr/>
        </p:nvSpPr>
        <p:spPr>
          <a:xfrm>
            <a:off x="2990088" y="3511296"/>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One character, four scenes</a:t>
            </a:r>
            <a:endParaRPr lang="en-US" sz="1000" dirty="0"/>
          </a:p>
        </p:txBody>
      </p:sp>
      <p:sp>
        <p:nvSpPr>
          <p:cNvPr id="51" name="Text 49"/>
          <p:cNvSpPr txBox="1"/>
          <p:nvPr/>
        </p:nvSpPr>
        <p:spPr>
          <a:xfrm>
            <a:off x="2606040" y="3730752"/>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Keep a character consistent</a:t>
            </a:r>
            <a:endParaRPr lang="en-US" sz="850" dirty="0"/>
          </a:p>
        </p:txBody>
      </p:sp>
      <p:sp>
        <p:nvSpPr>
          <p:cNvPr id="52" name="Shape 50"/>
          <p:cNvSpPr/>
          <p:nvPr/>
        </p:nvSpPr>
        <p:spPr>
          <a:xfrm>
            <a:off x="4608576" y="3474720"/>
            <a:ext cx="1984248" cy="502920"/>
          </a:xfrm>
          <a:prstGeom prst="roundRect">
            <a:avLst>
              <a:gd name="adj" fmla="val 10909"/>
            </a:avLst>
          </a:prstGeom>
          <a:solidFill>
            <a:srgbClr val="E0EFED"/>
          </a:solidFill>
          <a:ln w="12700">
            <a:solidFill>
              <a:srgbClr val="E0EFED"/>
            </a:solidFill>
            <a:prstDash val="solid"/>
          </a:ln>
        </p:spPr>
      </p:sp>
      <p:sp>
        <p:nvSpPr>
          <p:cNvPr id="53" name="Text 51"/>
          <p:cNvSpPr txBox="1"/>
          <p:nvPr/>
        </p:nvSpPr>
        <p:spPr>
          <a:xfrm>
            <a:off x="4681728" y="3520440"/>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M6</a:t>
            </a:r>
            <a:endParaRPr lang="en-US" sz="850" dirty="0"/>
          </a:p>
        </p:txBody>
      </p:sp>
      <p:sp>
        <p:nvSpPr>
          <p:cNvPr id="54" name="Text 52"/>
          <p:cNvSpPr txBox="1"/>
          <p:nvPr/>
        </p:nvSpPr>
        <p:spPr>
          <a:xfrm>
            <a:off x="5065776" y="3511296"/>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60 to 30</a:t>
            </a:r>
            <a:endParaRPr lang="en-US" sz="1000" dirty="0"/>
          </a:p>
        </p:txBody>
      </p:sp>
      <p:sp>
        <p:nvSpPr>
          <p:cNvPr id="55" name="Text 53"/>
          <p:cNvSpPr txBox="1"/>
          <p:nvPr/>
        </p:nvSpPr>
        <p:spPr>
          <a:xfrm>
            <a:off x="4681728" y="3730752"/>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Halve a script, keep the message</a:t>
            </a:r>
            <a:endParaRPr lang="en-US" sz="850" dirty="0"/>
          </a:p>
        </p:txBody>
      </p:sp>
      <p:sp>
        <p:nvSpPr>
          <p:cNvPr id="56" name="Shape 54"/>
          <p:cNvSpPr/>
          <p:nvPr/>
        </p:nvSpPr>
        <p:spPr>
          <a:xfrm>
            <a:off x="6684264" y="3474720"/>
            <a:ext cx="1984248" cy="502920"/>
          </a:xfrm>
          <a:prstGeom prst="roundRect">
            <a:avLst>
              <a:gd name="adj" fmla="val 10909"/>
            </a:avLst>
          </a:prstGeom>
          <a:solidFill>
            <a:srgbClr val="F3F6F8"/>
          </a:solidFill>
          <a:ln w="12700">
            <a:solidFill>
              <a:srgbClr val="F3F6F8"/>
            </a:solidFill>
            <a:prstDash val="solid"/>
          </a:ln>
        </p:spPr>
      </p:sp>
      <p:sp>
        <p:nvSpPr>
          <p:cNvPr id="57" name="Text 55"/>
          <p:cNvSpPr txBox="1"/>
          <p:nvPr/>
        </p:nvSpPr>
        <p:spPr>
          <a:xfrm>
            <a:off x="6757416" y="3520440"/>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M7</a:t>
            </a:r>
            <a:endParaRPr lang="en-US" sz="850" dirty="0"/>
          </a:p>
        </p:txBody>
      </p:sp>
      <p:sp>
        <p:nvSpPr>
          <p:cNvPr id="58" name="Text 56"/>
          <p:cNvSpPr txBox="1"/>
          <p:nvPr/>
        </p:nvSpPr>
        <p:spPr>
          <a:xfrm>
            <a:off x="7141464" y="3511296"/>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Continuity challenge</a:t>
            </a:r>
            <a:endParaRPr lang="en-US" sz="1000" dirty="0"/>
          </a:p>
        </p:txBody>
      </p:sp>
      <p:sp>
        <p:nvSpPr>
          <p:cNvPr id="59" name="Text 57"/>
          <p:cNvSpPr txBox="1"/>
          <p:nvPr/>
        </p:nvSpPr>
        <p:spPr>
          <a:xfrm>
            <a:off x="6757416" y="3730752"/>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Three matching consecutive shots</a:t>
            </a:r>
            <a:endParaRPr lang="en-US" sz="850" dirty="0"/>
          </a:p>
        </p:txBody>
      </p:sp>
      <p:sp>
        <p:nvSpPr>
          <p:cNvPr id="60" name="Shape 58"/>
          <p:cNvSpPr/>
          <p:nvPr/>
        </p:nvSpPr>
        <p:spPr>
          <a:xfrm>
            <a:off x="457200" y="4041648"/>
            <a:ext cx="1984248" cy="502920"/>
          </a:xfrm>
          <a:prstGeom prst="roundRect">
            <a:avLst>
              <a:gd name="adj" fmla="val 10909"/>
            </a:avLst>
          </a:prstGeom>
          <a:solidFill>
            <a:srgbClr val="E0EFED"/>
          </a:solidFill>
          <a:ln w="12700">
            <a:solidFill>
              <a:srgbClr val="E0EFED"/>
            </a:solidFill>
            <a:prstDash val="solid"/>
          </a:ln>
        </p:spPr>
      </p:sp>
      <p:sp>
        <p:nvSpPr>
          <p:cNvPr id="61" name="Text 59"/>
          <p:cNvSpPr txBox="1"/>
          <p:nvPr/>
        </p:nvSpPr>
        <p:spPr>
          <a:xfrm>
            <a:off x="530352" y="4087368"/>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M8</a:t>
            </a:r>
            <a:endParaRPr lang="en-US" sz="850" dirty="0"/>
          </a:p>
        </p:txBody>
      </p:sp>
      <p:sp>
        <p:nvSpPr>
          <p:cNvPr id="62" name="Text 60"/>
          <p:cNvSpPr txBox="1"/>
          <p:nvPr/>
        </p:nvSpPr>
        <p:spPr>
          <a:xfrm>
            <a:off x="914400" y="4078224"/>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Campaign sprint</a:t>
            </a:r>
            <a:endParaRPr lang="en-US" sz="1000" dirty="0"/>
          </a:p>
        </p:txBody>
      </p:sp>
      <p:sp>
        <p:nvSpPr>
          <p:cNvPr id="63" name="Text 61"/>
          <p:cNvSpPr txBox="1"/>
          <p:nvPr/>
        </p:nvSpPr>
        <p:spPr>
          <a:xfrm>
            <a:off x="530352" y="4297680"/>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Two-week campaign in 60 minutes</a:t>
            </a:r>
            <a:endParaRPr lang="en-US" sz="850" dirty="0"/>
          </a:p>
        </p:txBody>
      </p:sp>
      <p:sp>
        <p:nvSpPr>
          <p:cNvPr id="64" name="Shape 62"/>
          <p:cNvSpPr/>
          <p:nvPr/>
        </p:nvSpPr>
        <p:spPr>
          <a:xfrm>
            <a:off x="2532888" y="4041648"/>
            <a:ext cx="1984248" cy="502920"/>
          </a:xfrm>
          <a:prstGeom prst="roundRect">
            <a:avLst>
              <a:gd name="adj" fmla="val 10909"/>
            </a:avLst>
          </a:prstGeom>
          <a:solidFill>
            <a:srgbClr val="F3F6F8"/>
          </a:solidFill>
          <a:ln w="12700">
            <a:solidFill>
              <a:srgbClr val="F3F6F8"/>
            </a:solidFill>
            <a:prstDash val="solid"/>
          </a:ln>
        </p:spPr>
      </p:sp>
      <p:sp>
        <p:nvSpPr>
          <p:cNvPr id="65" name="Text 63"/>
          <p:cNvSpPr txBox="1"/>
          <p:nvPr/>
        </p:nvSpPr>
        <p:spPr>
          <a:xfrm>
            <a:off x="2606040" y="4087368"/>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M9</a:t>
            </a:r>
            <a:endParaRPr lang="en-US" sz="850" dirty="0"/>
          </a:p>
        </p:txBody>
      </p:sp>
      <p:sp>
        <p:nvSpPr>
          <p:cNvPr id="66" name="Text 64"/>
          <p:cNvSpPr txBox="1"/>
          <p:nvPr/>
        </p:nvSpPr>
        <p:spPr>
          <a:xfrm>
            <a:off x="2990088" y="4078224"/>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Content Idea Generator</a:t>
            </a:r>
            <a:endParaRPr lang="en-US" sz="1000" dirty="0"/>
          </a:p>
        </p:txBody>
      </p:sp>
      <p:sp>
        <p:nvSpPr>
          <p:cNvPr id="67" name="Text 65"/>
          <p:cNvSpPr txBox="1"/>
          <p:nvPr/>
        </p:nvSpPr>
        <p:spPr>
          <a:xfrm>
            <a:off x="2606040" y="4297680"/>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Form → AI → Sheets in n8n</a:t>
            </a:r>
            <a:endParaRPr lang="en-US" sz="850" dirty="0"/>
          </a:p>
        </p:txBody>
      </p:sp>
      <p:sp>
        <p:nvSpPr>
          <p:cNvPr id="68" name="Shape 66"/>
          <p:cNvSpPr/>
          <p:nvPr/>
        </p:nvSpPr>
        <p:spPr>
          <a:xfrm>
            <a:off x="4608576" y="4041648"/>
            <a:ext cx="1984248" cy="502920"/>
          </a:xfrm>
          <a:prstGeom prst="roundRect">
            <a:avLst>
              <a:gd name="adj" fmla="val 10909"/>
            </a:avLst>
          </a:prstGeom>
          <a:solidFill>
            <a:srgbClr val="E0EFED"/>
          </a:solidFill>
          <a:ln w="12700">
            <a:solidFill>
              <a:srgbClr val="E0EFED"/>
            </a:solidFill>
            <a:prstDash val="solid"/>
          </a:ln>
        </p:spPr>
      </p:sp>
      <p:sp>
        <p:nvSpPr>
          <p:cNvPr id="69" name="Text 67"/>
          <p:cNvSpPr txBox="1"/>
          <p:nvPr/>
        </p:nvSpPr>
        <p:spPr>
          <a:xfrm>
            <a:off x="4681728" y="4087368"/>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M10</a:t>
            </a:r>
            <a:endParaRPr lang="en-US" sz="850" dirty="0"/>
          </a:p>
        </p:txBody>
      </p:sp>
      <p:sp>
        <p:nvSpPr>
          <p:cNvPr id="70" name="Text 68"/>
          <p:cNvSpPr txBox="1"/>
          <p:nvPr/>
        </p:nvSpPr>
        <p:spPr>
          <a:xfrm>
            <a:off x="5065776" y="4078224"/>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Client inbox</a:t>
            </a:r>
            <a:endParaRPr lang="en-US" sz="1000" dirty="0"/>
          </a:p>
        </p:txBody>
      </p:sp>
      <p:sp>
        <p:nvSpPr>
          <p:cNvPr id="71" name="Text 69"/>
          <p:cNvSpPr txBox="1"/>
          <p:nvPr/>
        </p:nvSpPr>
        <p:spPr>
          <a:xfrm>
            <a:off x="4681728" y="4297680"/>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Reply to three client messages</a:t>
            </a:r>
            <a:endParaRPr lang="en-US" sz="850" dirty="0"/>
          </a:p>
        </p:txBody>
      </p:sp>
      <p:sp>
        <p:nvSpPr>
          <p:cNvPr id="72" name="Shape 70"/>
          <p:cNvSpPr/>
          <p:nvPr/>
        </p:nvSpPr>
        <p:spPr>
          <a:xfrm>
            <a:off x="6684264" y="4041648"/>
            <a:ext cx="1984248" cy="502920"/>
          </a:xfrm>
          <a:prstGeom prst="roundRect">
            <a:avLst>
              <a:gd name="adj" fmla="val 10909"/>
            </a:avLst>
          </a:prstGeom>
          <a:solidFill>
            <a:srgbClr val="F3F6F8"/>
          </a:solidFill>
          <a:ln w="12700">
            <a:solidFill>
              <a:srgbClr val="F3F6F8"/>
            </a:solidFill>
            <a:prstDash val="solid"/>
          </a:ln>
        </p:spPr>
      </p:sp>
      <p:sp>
        <p:nvSpPr>
          <p:cNvPr id="73" name="Text 71"/>
          <p:cNvSpPr txBox="1"/>
          <p:nvPr/>
        </p:nvSpPr>
        <p:spPr>
          <a:xfrm>
            <a:off x="6757416" y="4087368"/>
            <a:ext cx="384048" cy="201168"/>
          </a:xfrm>
          <a:prstGeom prst="rect">
            <a:avLst/>
          </a:prstGeom>
          <a:noFill/>
          <a:ln/>
        </p:spPr>
        <p:txBody>
          <a:bodyPr wrap="square" lIns="0" tIns="0" rIns="0" bIns="0" rtlCol="0" anchor="t"/>
          <a:lstStyle/>
          <a:p>
            <a:pPr indent="0" marL="0">
              <a:buNone/>
            </a:pPr>
            <a:r>
              <a:rPr lang="en-US" sz="850" b="1" dirty="0">
                <a:solidFill>
                  <a:srgbClr val="0A8577"/>
                </a:solidFill>
                <a:latin typeface="Calibri" pitchFamily="34" charset="0"/>
                <a:ea typeface="Calibri" pitchFamily="34" charset="-122"/>
                <a:cs typeface="Calibri" pitchFamily="34" charset="-120"/>
              </a:rPr>
              <a:t>M11</a:t>
            </a:r>
            <a:endParaRPr lang="en-US" sz="850" dirty="0"/>
          </a:p>
        </p:txBody>
      </p:sp>
      <p:sp>
        <p:nvSpPr>
          <p:cNvPr id="74" name="Text 72"/>
          <p:cNvSpPr txBox="1"/>
          <p:nvPr/>
        </p:nvSpPr>
        <p:spPr>
          <a:xfrm>
            <a:off x="7141464" y="4078224"/>
            <a:ext cx="1481328" cy="219456"/>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Demo Day dry run</a:t>
            </a:r>
            <a:endParaRPr lang="en-US" sz="1000" dirty="0"/>
          </a:p>
        </p:txBody>
      </p:sp>
      <p:sp>
        <p:nvSpPr>
          <p:cNvPr id="75" name="Text 73"/>
          <p:cNvSpPr txBox="1"/>
          <p:nvPr/>
        </p:nvSpPr>
        <p:spPr>
          <a:xfrm>
            <a:off x="6757416" y="4297680"/>
            <a:ext cx="1874520" cy="219456"/>
          </a:xfrm>
          <a:prstGeom prst="rect">
            <a:avLst/>
          </a:prstGeom>
          <a:noFill/>
          <a:ln/>
        </p:spPr>
        <p:txBody>
          <a:bodyPr wrap="square" lIns="0" tIns="0" rIns="0" bIns="0" rtlCol="0" anchor="t"/>
          <a:lstStyle/>
          <a:p>
            <a:pPr indent="0" marL="0">
              <a:buNone/>
            </a:pPr>
            <a:r>
              <a:rPr lang="en-US" sz="850" dirty="0">
                <a:solidFill>
                  <a:srgbClr val="2B3A4A"/>
                </a:solidFill>
                <a:latin typeface="Calibri" pitchFamily="34" charset="0"/>
                <a:ea typeface="Calibri" pitchFamily="34" charset="-122"/>
                <a:cs typeface="Calibri" pitchFamily="34" charset="-120"/>
              </a:rPr>
              <a:t>Rehearse with peer feedback</a:t>
            </a:r>
            <a:endParaRPr lang="en-US" sz="850" dirty="0"/>
          </a:p>
        </p:txBody>
      </p:sp>
      <p:pic>
        <p:nvPicPr>
          <p:cNvPr id="76" name="Image 0" descr="preencoded.png">    </p:cNvPr>
          <p:cNvPicPr>
            <a:picLocks noChangeAspect="1"/>
          </p:cNvPicPr>
          <p:nvPr/>
        </p:nvPicPr>
        <p:blipFill>
          <a:blip r:embed="rId1"/>
          <a:stretch>
            <a:fillRect/>
          </a:stretch>
        </p:blipFill>
        <p:spPr>
          <a:xfrm>
            <a:off x="658368" y="1463040"/>
            <a:ext cx="182880" cy="182880"/>
          </a:xfrm>
          <a:prstGeom prst="rect">
            <a:avLst/>
          </a:prstGeom>
        </p:spPr>
      </p:pic>
      <p:pic>
        <p:nvPicPr>
          <p:cNvPr id="77" name="Image 1" descr="preencoded.png">    </p:cNvPr>
          <p:cNvPicPr>
            <a:picLocks noChangeAspect="1"/>
          </p:cNvPicPr>
          <p:nvPr/>
        </p:nvPicPr>
        <p:blipFill>
          <a:blip r:embed="rId2"/>
          <a:stretch>
            <a:fillRect/>
          </a:stretch>
        </p:blipFill>
        <p:spPr>
          <a:xfrm>
            <a:off x="2752344" y="1463040"/>
            <a:ext cx="182880" cy="182880"/>
          </a:xfrm>
          <a:prstGeom prst="rect">
            <a:avLst/>
          </a:prstGeom>
        </p:spPr>
      </p:pic>
      <p:pic>
        <p:nvPicPr>
          <p:cNvPr id="78" name="Image 2" descr="preencoded.png">    </p:cNvPr>
          <p:cNvPicPr>
            <a:picLocks noChangeAspect="1"/>
          </p:cNvPicPr>
          <p:nvPr/>
        </p:nvPicPr>
        <p:blipFill>
          <a:blip r:embed="rId3"/>
          <a:stretch>
            <a:fillRect/>
          </a:stretch>
        </p:blipFill>
        <p:spPr>
          <a:xfrm>
            <a:off x="4846320" y="1463040"/>
            <a:ext cx="182880" cy="182880"/>
          </a:xfrm>
          <a:prstGeom prst="rect">
            <a:avLst/>
          </a:prstGeom>
        </p:spPr>
      </p:pic>
      <p:pic>
        <p:nvPicPr>
          <p:cNvPr id="79" name="Image 3" descr="preencoded.png">    </p:cNvPr>
          <p:cNvPicPr>
            <a:picLocks noChangeAspect="1"/>
          </p:cNvPicPr>
          <p:nvPr/>
        </p:nvPicPr>
        <p:blipFill>
          <a:blip r:embed="rId4"/>
          <a:stretch>
            <a:fillRect/>
          </a:stretch>
        </p:blipFill>
        <p:spPr>
          <a:xfrm>
            <a:off x="6940296" y="1463040"/>
            <a:ext cx="182880" cy="182880"/>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9  ·  IN ACTION</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What participants actually do, step by step</a:t>
            </a:r>
            <a:endParaRPr lang="en-US" sz="2500" dirty="0"/>
          </a:p>
        </p:txBody>
      </p:sp>
      <p:sp>
        <p:nvSpPr>
          <p:cNvPr id="5" name="Shape 3"/>
          <p:cNvSpPr/>
          <p:nvPr/>
        </p:nvSpPr>
        <p:spPr>
          <a:xfrm>
            <a:off x="457200" y="1261872"/>
            <a:ext cx="1600200" cy="566928"/>
          </a:xfrm>
          <a:prstGeom prst="roundRect">
            <a:avLst>
              <a:gd name="adj" fmla="val 9677"/>
            </a:avLst>
          </a:prstGeom>
          <a:solidFill>
            <a:srgbClr val="0A8577"/>
          </a:solidFill>
          <a:ln w="12700">
            <a:solidFill>
              <a:srgbClr val="0A8577"/>
            </a:solidFill>
            <a:prstDash val="solid"/>
          </a:ln>
        </p:spPr>
      </p:sp>
      <p:sp>
        <p:nvSpPr>
          <p:cNvPr id="6" name="Text 4"/>
          <p:cNvSpPr txBox="1"/>
          <p:nvPr/>
        </p:nvSpPr>
        <p:spPr>
          <a:xfrm>
            <a:off x="896112" y="1261872"/>
            <a:ext cx="11430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Content</a:t>
            </a:r>
            <a:endParaRPr lang="en-US" sz="1150" dirty="0"/>
          </a:p>
        </p:txBody>
      </p:sp>
      <p:sp>
        <p:nvSpPr>
          <p:cNvPr id="7" name="Shape 5"/>
          <p:cNvSpPr/>
          <p:nvPr/>
        </p:nvSpPr>
        <p:spPr>
          <a:xfrm>
            <a:off x="2176272" y="1335024"/>
            <a:ext cx="1129284" cy="420624"/>
          </a:xfrm>
          <a:prstGeom prst="roundRect">
            <a:avLst>
              <a:gd name="adj" fmla="val 13043"/>
            </a:avLst>
          </a:prstGeom>
          <a:solidFill>
            <a:srgbClr val="F3F6F8"/>
          </a:solidFill>
          <a:ln w="12700">
            <a:solidFill>
              <a:srgbClr val="F3F6F8"/>
            </a:solidFill>
            <a:prstDash val="solid"/>
          </a:ln>
        </p:spPr>
      </p:sp>
      <p:sp>
        <p:nvSpPr>
          <p:cNvPr id="8" name="Text 6"/>
          <p:cNvSpPr txBox="1"/>
          <p:nvPr/>
        </p:nvSpPr>
        <p:spPr>
          <a:xfrm>
            <a:off x="2212848" y="1335024"/>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One idea</a:t>
            </a:r>
            <a:endParaRPr lang="en-US" sz="1000" dirty="0"/>
          </a:p>
        </p:txBody>
      </p:sp>
      <p:sp>
        <p:nvSpPr>
          <p:cNvPr id="9" name="Shape 7"/>
          <p:cNvSpPr/>
          <p:nvPr/>
        </p:nvSpPr>
        <p:spPr>
          <a:xfrm>
            <a:off x="3461004" y="1335024"/>
            <a:ext cx="1129284" cy="420624"/>
          </a:xfrm>
          <a:prstGeom prst="roundRect">
            <a:avLst>
              <a:gd name="adj" fmla="val 13043"/>
            </a:avLst>
          </a:prstGeom>
          <a:solidFill>
            <a:srgbClr val="F3F6F8"/>
          </a:solidFill>
          <a:ln w="12700">
            <a:solidFill>
              <a:srgbClr val="F3F6F8"/>
            </a:solidFill>
            <a:prstDash val="solid"/>
          </a:ln>
        </p:spPr>
      </p:sp>
      <p:sp>
        <p:nvSpPr>
          <p:cNvPr id="10" name="Text 8"/>
          <p:cNvSpPr txBox="1"/>
          <p:nvPr/>
        </p:nvSpPr>
        <p:spPr>
          <a:xfrm>
            <a:off x="3497580" y="1335024"/>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Reel hook</a:t>
            </a:r>
            <a:endParaRPr lang="en-US" sz="1000" dirty="0"/>
          </a:p>
        </p:txBody>
      </p:sp>
      <p:sp>
        <p:nvSpPr>
          <p:cNvPr id="11" name="Shape 9"/>
          <p:cNvSpPr/>
          <p:nvPr/>
        </p:nvSpPr>
        <p:spPr>
          <a:xfrm>
            <a:off x="4745736" y="1335024"/>
            <a:ext cx="1129284" cy="420624"/>
          </a:xfrm>
          <a:prstGeom prst="roundRect">
            <a:avLst>
              <a:gd name="adj" fmla="val 13043"/>
            </a:avLst>
          </a:prstGeom>
          <a:solidFill>
            <a:srgbClr val="F3F6F8"/>
          </a:solidFill>
          <a:ln w="12700">
            <a:solidFill>
              <a:srgbClr val="F3F6F8"/>
            </a:solidFill>
            <a:prstDash val="solid"/>
          </a:ln>
        </p:spPr>
      </p:sp>
      <p:sp>
        <p:nvSpPr>
          <p:cNvPr id="12" name="Text 10"/>
          <p:cNvSpPr txBox="1"/>
          <p:nvPr/>
        </p:nvSpPr>
        <p:spPr>
          <a:xfrm>
            <a:off x="4782312" y="1335024"/>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Carousel</a:t>
            </a:r>
            <a:endParaRPr lang="en-US" sz="1000" dirty="0"/>
          </a:p>
        </p:txBody>
      </p:sp>
      <p:sp>
        <p:nvSpPr>
          <p:cNvPr id="13" name="Shape 11"/>
          <p:cNvSpPr/>
          <p:nvPr/>
        </p:nvSpPr>
        <p:spPr>
          <a:xfrm>
            <a:off x="6030468" y="1335024"/>
            <a:ext cx="1129284" cy="420624"/>
          </a:xfrm>
          <a:prstGeom prst="roundRect">
            <a:avLst>
              <a:gd name="adj" fmla="val 13043"/>
            </a:avLst>
          </a:prstGeom>
          <a:solidFill>
            <a:srgbClr val="F3F6F8"/>
          </a:solidFill>
          <a:ln w="12700">
            <a:solidFill>
              <a:srgbClr val="F3F6F8"/>
            </a:solidFill>
            <a:prstDash val="solid"/>
          </a:ln>
        </p:spPr>
      </p:sp>
      <p:sp>
        <p:nvSpPr>
          <p:cNvPr id="14" name="Text 12"/>
          <p:cNvSpPr txBox="1"/>
          <p:nvPr/>
        </p:nvSpPr>
        <p:spPr>
          <a:xfrm>
            <a:off x="6067044" y="1335024"/>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Caption + CTA</a:t>
            </a:r>
            <a:endParaRPr lang="en-US" sz="1000" dirty="0"/>
          </a:p>
        </p:txBody>
      </p:sp>
      <p:sp>
        <p:nvSpPr>
          <p:cNvPr id="15" name="Shape 13"/>
          <p:cNvSpPr/>
          <p:nvPr/>
        </p:nvSpPr>
        <p:spPr>
          <a:xfrm>
            <a:off x="7269480" y="1335024"/>
            <a:ext cx="1417320" cy="420624"/>
          </a:xfrm>
          <a:prstGeom prst="roundRect">
            <a:avLst>
              <a:gd name="adj" fmla="val 13043"/>
            </a:avLst>
          </a:prstGeom>
          <a:solidFill>
            <a:srgbClr val="FCEBD3"/>
          </a:solidFill>
          <a:ln w="12700">
            <a:solidFill>
              <a:srgbClr val="FCEBD3"/>
            </a:solidFill>
            <a:prstDash val="solid"/>
          </a:ln>
        </p:spPr>
      </p:sp>
      <p:sp>
        <p:nvSpPr>
          <p:cNvPr id="16" name="Text 14"/>
          <p:cNvSpPr txBox="1"/>
          <p:nvPr/>
        </p:nvSpPr>
        <p:spPr>
          <a:xfrm>
            <a:off x="7306056" y="1335024"/>
            <a:ext cx="1344168" cy="420624"/>
          </a:xfrm>
          <a:prstGeom prst="rect">
            <a:avLst/>
          </a:prstGeom>
          <a:noFill/>
          <a:ln/>
        </p:spPr>
        <p:txBody>
          <a:bodyPr wrap="square" lIns="0" tIns="0" rIns="0" bIns="0" rtlCol="0" anchor="ctr"/>
          <a:lstStyle/>
          <a:p>
            <a:pPr algn="ctr" indent="0" marL="0">
              <a:buNone/>
            </a:pPr>
            <a:r>
              <a:rPr lang="en-US" sz="950" b="1" dirty="0">
                <a:solidFill>
                  <a:srgbClr val="10233A"/>
                </a:solidFill>
                <a:latin typeface="Calibri" pitchFamily="34" charset="0"/>
                <a:ea typeface="Calibri" pitchFamily="34" charset="-122"/>
                <a:cs typeface="Calibri" pitchFamily="34" charset="-120"/>
              </a:rPr>
              <a:t>Carousel and 5 captions</a:t>
            </a:r>
            <a:endParaRPr lang="en-US" sz="950" dirty="0"/>
          </a:p>
        </p:txBody>
      </p:sp>
      <p:sp>
        <p:nvSpPr>
          <p:cNvPr id="17" name="Shape 15"/>
          <p:cNvSpPr/>
          <p:nvPr/>
        </p:nvSpPr>
        <p:spPr>
          <a:xfrm>
            <a:off x="457200" y="1938528"/>
            <a:ext cx="1600200" cy="566928"/>
          </a:xfrm>
          <a:prstGeom prst="roundRect">
            <a:avLst>
              <a:gd name="adj" fmla="val 9677"/>
            </a:avLst>
          </a:prstGeom>
          <a:solidFill>
            <a:srgbClr val="0A8577"/>
          </a:solidFill>
          <a:ln w="12700">
            <a:solidFill>
              <a:srgbClr val="0A8577"/>
            </a:solidFill>
            <a:prstDash val="solid"/>
          </a:ln>
        </p:spPr>
      </p:sp>
      <p:sp>
        <p:nvSpPr>
          <p:cNvPr id="18" name="Text 16"/>
          <p:cNvSpPr txBox="1"/>
          <p:nvPr/>
        </p:nvSpPr>
        <p:spPr>
          <a:xfrm>
            <a:off x="896112" y="1938528"/>
            <a:ext cx="11430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Video</a:t>
            </a:r>
            <a:endParaRPr lang="en-US" sz="1150" dirty="0"/>
          </a:p>
        </p:txBody>
      </p:sp>
      <p:sp>
        <p:nvSpPr>
          <p:cNvPr id="19" name="Shape 17"/>
          <p:cNvSpPr/>
          <p:nvPr/>
        </p:nvSpPr>
        <p:spPr>
          <a:xfrm>
            <a:off x="2176272" y="2011680"/>
            <a:ext cx="701040" cy="420624"/>
          </a:xfrm>
          <a:prstGeom prst="roundRect">
            <a:avLst>
              <a:gd name="adj" fmla="val 13043"/>
            </a:avLst>
          </a:prstGeom>
          <a:solidFill>
            <a:srgbClr val="F3F6F8"/>
          </a:solidFill>
          <a:ln w="12700">
            <a:solidFill>
              <a:srgbClr val="F3F6F8"/>
            </a:solidFill>
            <a:prstDash val="solid"/>
          </a:ln>
        </p:spPr>
      </p:sp>
      <p:sp>
        <p:nvSpPr>
          <p:cNvPr id="20" name="Text 18"/>
          <p:cNvSpPr txBox="1"/>
          <p:nvPr/>
        </p:nvSpPr>
        <p:spPr>
          <a:xfrm>
            <a:off x="2212848" y="2011680"/>
            <a:ext cx="627888" cy="42062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Character</a:t>
            </a:r>
            <a:endParaRPr lang="en-US" sz="900" dirty="0"/>
          </a:p>
        </p:txBody>
      </p:sp>
      <p:sp>
        <p:nvSpPr>
          <p:cNvPr id="21" name="Shape 19"/>
          <p:cNvSpPr/>
          <p:nvPr/>
        </p:nvSpPr>
        <p:spPr>
          <a:xfrm>
            <a:off x="3032760" y="2011680"/>
            <a:ext cx="701040" cy="420624"/>
          </a:xfrm>
          <a:prstGeom prst="roundRect">
            <a:avLst>
              <a:gd name="adj" fmla="val 13043"/>
            </a:avLst>
          </a:prstGeom>
          <a:solidFill>
            <a:srgbClr val="F3F6F8"/>
          </a:solidFill>
          <a:ln w="12700">
            <a:solidFill>
              <a:srgbClr val="F3F6F8"/>
            </a:solidFill>
            <a:prstDash val="solid"/>
          </a:ln>
        </p:spPr>
      </p:sp>
      <p:sp>
        <p:nvSpPr>
          <p:cNvPr id="22" name="Text 20"/>
          <p:cNvSpPr txBox="1"/>
          <p:nvPr/>
        </p:nvSpPr>
        <p:spPr>
          <a:xfrm>
            <a:off x="3069336" y="2011680"/>
            <a:ext cx="627888" cy="42062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Voice</a:t>
            </a:r>
            <a:endParaRPr lang="en-US" sz="900" dirty="0"/>
          </a:p>
        </p:txBody>
      </p:sp>
      <p:sp>
        <p:nvSpPr>
          <p:cNvPr id="23" name="Shape 21"/>
          <p:cNvSpPr/>
          <p:nvPr/>
        </p:nvSpPr>
        <p:spPr>
          <a:xfrm>
            <a:off x="3889248" y="2011680"/>
            <a:ext cx="701040" cy="420624"/>
          </a:xfrm>
          <a:prstGeom prst="roundRect">
            <a:avLst>
              <a:gd name="adj" fmla="val 13043"/>
            </a:avLst>
          </a:prstGeom>
          <a:solidFill>
            <a:srgbClr val="F3F6F8"/>
          </a:solidFill>
          <a:ln w="12700">
            <a:solidFill>
              <a:srgbClr val="F3F6F8"/>
            </a:solidFill>
            <a:prstDash val="solid"/>
          </a:ln>
        </p:spPr>
      </p:sp>
      <p:sp>
        <p:nvSpPr>
          <p:cNvPr id="24" name="Text 22"/>
          <p:cNvSpPr txBox="1"/>
          <p:nvPr/>
        </p:nvSpPr>
        <p:spPr>
          <a:xfrm>
            <a:off x="3925824" y="2011680"/>
            <a:ext cx="627888" cy="42062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Script</a:t>
            </a:r>
            <a:endParaRPr lang="en-US" sz="900" dirty="0"/>
          </a:p>
        </p:txBody>
      </p:sp>
      <p:sp>
        <p:nvSpPr>
          <p:cNvPr id="25" name="Shape 23"/>
          <p:cNvSpPr/>
          <p:nvPr/>
        </p:nvSpPr>
        <p:spPr>
          <a:xfrm>
            <a:off x="4745736" y="2011680"/>
            <a:ext cx="701040" cy="420624"/>
          </a:xfrm>
          <a:prstGeom prst="roundRect">
            <a:avLst>
              <a:gd name="adj" fmla="val 13043"/>
            </a:avLst>
          </a:prstGeom>
          <a:solidFill>
            <a:srgbClr val="F3F6F8"/>
          </a:solidFill>
          <a:ln w="12700">
            <a:solidFill>
              <a:srgbClr val="F3F6F8"/>
            </a:solidFill>
            <a:prstDash val="solid"/>
          </a:ln>
        </p:spPr>
      </p:sp>
      <p:sp>
        <p:nvSpPr>
          <p:cNvPr id="26" name="Text 24"/>
          <p:cNvSpPr txBox="1"/>
          <p:nvPr/>
        </p:nvSpPr>
        <p:spPr>
          <a:xfrm>
            <a:off x="4782312" y="2011680"/>
            <a:ext cx="627888" cy="42062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Storyboard</a:t>
            </a:r>
            <a:endParaRPr lang="en-US" sz="900" dirty="0"/>
          </a:p>
        </p:txBody>
      </p:sp>
      <p:sp>
        <p:nvSpPr>
          <p:cNvPr id="27" name="Shape 25"/>
          <p:cNvSpPr/>
          <p:nvPr/>
        </p:nvSpPr>
        <p:spPr>
          <a:xfrm>
            <a:off x="5602224" y="2011680"/>
            <a:ext cx="701040" cy="420624"/>
          </a:xfrm>
          <a:prstGeom prst="roundRect">
            <a:avLst>
              <a:gd name="adj" fmla="val 13043"/>
            </a:avLst>
          </a:prstGeom>
          <a:solidFill>
            <a:srgbClr val="F3F6F8"/>
          </a:solidFill>
          <a:ln w="12700">
            <a:solidFill>
              <a:srgbClr val="F3F6F8"/>
            </a:solidFill>
            <a:prstDash val="solid"/>
          </a:ln>
        </p:spPr>
      </p:sp>
      <p:sp>
        <p:nvSpPr>
          <p:cNvPr id="28" name="Text 26"/>
          <p:cNvSpPr txBox="1"/>
          <p:nvPr/>
        </p:nvSpPr>
        <p:spPr>
          <a:xfrm>
            <a:off x="5638800" y="2011680"/>
            <a:ext cx="627888" cy="42062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AI video</a:t>
            </a:r>
            <a:endParaRPr lang="en-US" sz="900" dirty="0"/>
          </a:p>
        </p:txBody>
      </p:sp>
      <p:sp>
        <p:nvSpPr>
          <p:cNvPr id="29" name="Shape 27"/>
          <p:cNvSpPr/>
          <p:nvPr/>
        </p:nvSpPr>
        <p:spPr>
          <a:xfrm>
            <a:off x="6458712" y="2011680"/>
            <a:ext cx="701040" cy="420624"/>
          </a:xfrm>
          <a:prstGeom prst="roundRect">
            <a:avLst>
              <a:gd name="adj" fmla="val 13043"/>
            </a:avLst>
          </a:prstGeom>
          <a:solidFill>
            <a:srgbClr val="F3F6F8"/>
          </a:solidFill>
          <a:ln w="12700">
            <a:solidFill>
              <a:srgbClr val="F3F6F8"/>
            </a:solidFill>
            <a:prstDash val="solid"/>
          </a:ln>
        </p:spPr>
      </p:sp>
      <p:sp>
        <p:nvSpPr>
          <p:cNvPr id="30" name="Text 28"/>
          <p:cNvSpPr txBox="1"/>
          <p:nvPr/>
        </p:nvSpPr>
        <p:spPr>
          <a:xfrm>
            <a:off x="6495288" y="2011680"/>
            <a:ext cx="627888" cy="42062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Edit &amp; publish</a:t>
            </a:r>
            <a:endParaRPr lang="en-US" sz="900" dirty="0"/>
          </a:p>
        </p:txBody>
      </p:sp>
      <p:sp>
        <p:nvSpPr>
          <p:cNvPr id="31" name="Shape 29"/>
          <p:cNvSpPr/>
          <p:nvPr/>
        </p:nvSpPr>
        <p:spPr>
          <a:xfrm>
            <a:off x="7269480" y="2011680"/>
            <a:ext cx="1417320" cy="420624"/>
          </a:xfrm>
          <a:prstGeom prst="roundRect">
            <a:avLst>
              <a:gd name="adj" fmla="val 13043"/>
            </a:avLst>
          </a:prstGeom>
          <a:solidFill>
            <a:srgbClr val="FCEBD3"/>
          </a:solidFill>
          <a:ln w="12700">
            <a:solidFill>
              <a:srgbClr val="FCEBD3"/>
            </a:solidFill>
            <a:prstDash val="solid"/>
          </a:ln>
        </p:spPr>
      </p:sp>
      <p:sp>
        <p:nvSpPr>
          <p:cNvPr id="32" name="Text 30"/>
          <p:cNvSpPr txBox="1"/>
          <p:nvPr/>
        </p:nvSpPr>
        <p:spPr>
          <a:xfrm>
            <a:off x="7306056" y="2011680"/>
            <a:ext cx="1344168" cy="420624"/>
          </a:xfrm>
          <a:prstGeom prst="rect">
            <a:avLst/>
          </a:prstGeom>
          <a:noFill/>
          <a:ln/>
        </p:spPr>
        <p:txBody>
          <a:bodyPr wrap="square" lIns="0" tIns="0" rIns="0" bIns="0" rtlCol="0" anchor="ctr"/>
          <a:lstStyle/>
          <a:p>
            <a:pPr algn="ctr" indent="0" marL="0">
              <a:buNone/>
            </a:pPr>
            <a:r>
              <a:rPr lang="en-US" sz="950" b="1" dirty="0">
                <a:solidFill>
                  <a:srgbClr val="10233A"/>
                </a:solidFill>
                <a:latin typeface="Calibri" pitchFamily="34" charset="0"/>
                <a:ea typeface="Calibri" pitchFamily="34" charset="-122"/>
                <a:cs typeface="Calibri" pitchFamily="34" charset="-120"/>
              </a:rPr>
              <a:t>30–45 second video</a:t>
            </a:r>
            <a:endParaRPr lang="en-US" sz="950" dirty="0"/>
          </a:p>
        </p:txBody>
      </p:sp>
      <p:sp>
        <p:nvSpPr>
          <p:cNvPr id="33" name="Shape 31"/>
          <p:cNvSpPr/>
          <p:nvPr/>
        </p:nvSpPr>
        <p:spPr>
          <a:xfrm>
            <a:off x="457200" y="2615184"/>
            <a:ext cx="1600200" cy="566928"/>
          </a:xfrm>
          <a:prstGeom prst="roundRect">
            <a:avLst>
              <a:gd name="adj" fmla="val 9677"/>
            </a:avLst>
          </a:prstGeom>
          <a:solidFill>
            <a:srgbClr val="0A8577"/>
          </a:solidFill>
          <a:ln w="12700">
            <a:solidFill>
              <a:srgbClr val="0A8577"/>
            </a:solidFill>
            <a:prstDash val="solid"/>
          </a:ln>
        </p:spPr>
      </p:sp>
      <p:sp>
        <p:nvSpPr>
          <p:cNvPr id="34" name="Text 32"/>
          <p:cNvSpPr txBox="1"/>
          <p:nvPr/>
        </p:nvSpPr>
        <p:spPr>
          <a:xfrm>
            <a:off x="896112" y="2615184"/>
            <a:ext cx="11430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Marketing</a:t>
            </a:r>
            <a:endParaRPr lang="en-US" sz="1150" dirty="0"/>
          </a:p>
        </p:txBody>
      </p:sp>
      <p:sp>
        <p:nvSpPr>
          <p:cNvPr id="35" name="Shape 33"/>
          <p:cNvSpPr/>
          <p:nvPr/>
        </p:nvSpPr>
        <p:spPr>
          <a:xfrm>
            <a:off x="2176272" y="2688336"/>
            <a:ext cx="1129284" cy="420624"/>
          </a:xfrm>
          <a:prstGeom prst="roundRect">
            <a:avLst>
              <a:gd name="adj" fmla="val 13043"/>
            </a:avLst>
          </a:prstGeom>
          <a:solidFill>
            <a:srgbClr val="F3F6F8"/>
          </a:solidFill>
          <a:ln w="12700">
            <a:solidFill>
              <a:srgbClr val="F3F6F8"/>
            </a:solidFill>
            <a:prstDash val="solid"/>
          </a:ln>
        </p:spPr>
      </p:sp>
      <p:sp>
        <p:nvSpPr>
          <p:cNvPr id="36" name="Text 34"/>
          <p:cNvSpPr txBox="1"/>
          <p:nvPr/>
        </p:nvSpPr>
        <p:spPr>
          <a:xfrm>
            <a:off x="2212848" y="2688336"/>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Persona</a:t>
            </a:r>
            <a:endParaRPr lang="en-US" sz="1000" dirty="0"/>
          </a:p>
        </p:txBody>
      </p:sp>
      <p:sp>
        <p:nvSpPr>
          <p:cNvPr id="37" name="Shape 35"/>
          <p:cNvSpPr/>
          <p:nvPr/>
        </p:nvSpPr>
        <p:spPr>
          <a:xfrm>
            <a:off x="3461004" y="2688336"/>
            <a:ext cx="1129284" cy="420624"/>
          </a:xfrm>
          <a:prstGeom prst="roundRect">
            <a:avLst>
              <a:gd name="adj" fmla="val 13043"/>
            </a:avLst>
          </a:prstGeom>
          <a:solidFill>
            <a:srgbClr val="F3F6F8"/>
          </a:solidFill>
          <a:ln w="12700">
            <a:solidFill>
              <a:srgbClr val="F3F6F8"/>
            </a:solidFill>
            <a:prstDash val="solid"/>
          </a:ln>
        </p:spPr>
      </p:sp>
      <p:sp>
        <p:nvSpPr>
          <p:cNvPr id="38" name="Text 36"/>
          <p:cNvSpPr txBox="1"/>
          <p:nvPr/>
        </p:nvSpPr>
        <p:spPr>
          <a:xfrm>
            <a:off x="3497580" y="2688336"/>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SMART objective</a:t>
            </a:r>
            <a:endParaRPr lang="en-US" sz="1000" dirty="0"/>
          </a:p>
        </p:txBody>
      </p:sp>
      <p:sp>
        <p:nvSpPr>
          <p:cNvPr id="39" name="Shape 37"/>
          <p:cNvSpPr/>
          <p:nvPr/>
        </p:nvSpPr>
        <p:spPr>
          <a:xfrm>
            <a:off x="4745736" y="2688336"/>
            <a:ext cx="1129284" cy="420624"/>
          </a:xfrm>
          <a:prstGeom prst="roundRect">
            <a:avLst>
              <a:gd name="adj" fmla="val 13043"/>
            </a:avLst>
          </a:prstGeom>
          <a:solidFill>
            <a:srgbClr val="F3F6F8"/>
          </a:solidFill>
          <a:ln w="12700">
            <a:solidFill>
              <a:srgbClr val="F3F6F8"/>
            </a:solidFill>
            <a:prstDash val="solid"/>
          </a:ln>
        </p:spPr>
      </p:sp>
      <p:sp>
        <p:nvSpPr>
          <p:cNvPr id="40" name="Text 38"/>
          <p:cNvSpPr txBox="1"/>
          <p:nvPr/>
        </p:nvSpPr>
        <p:spPr>
          <a:xfrm>
            <a:off x="4782312" y="2688336"/>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4-week calendar</a:t>
            </a:r>
            <a:endParaRPr lang="en-US" sz="1000" dirty="0"/>
          </a:p>
        </p:txBody>
      </p:sp>
      <p:sp>
        <p:nvSpPr>
          <p:cNvPr id="41" name="Shape 39"/>
          <p:cNvSpPr/>
          <p:nvPr/>
        </p:nvSpPr>
        <p:spPr>
          <a:xfrm>
            <a:off x="6030468" y="2688336"/>
            <a:ext cx="1129284" cy="420624"/>
          </a:xfrm>
          <a:prstGeom prst="roundRect">
            <a:avLst>
              <a:gd name="adj" fmla="val 13043"/>
            </a:avLst>
          </a:prstGeom>
          <a:solidFill>
            <a:srgbClr val="F3F6F8"/>
          </a:solidFill>
          <a:ln w="12700">
            <a:solidFill>
              <a:srgbClr val="F3F6F8"/>
            </a:solidFill>
            <a:prstDash val="solid"/>
          </a:ln>
        </p:spPr>
      </p:sp>
      <p:sp>
        <p:nvSpPr>
          <p:cNvPr id="42" name="Text 40"/>
          <p:cNvSpPr txBox="1"/>
          <p:nvPr/>
        </p:nvSpPr>
        <p:spPr>
          <a:xfrm>
            <a:off x="6067044" y="2688336"/>
            <a:ext cx="1056132"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Campaign</a:t>
            </a:r>
            <a:endParaRPr lang="en-US" sz="1000" dirty="0"/>
          </a:p>
        </p:txBody>
      </p:sp>
      <p:sp>
        <p:nvSpPr>
          <p:cNvPr id="43" name="Shape 41"/>
          <p:cNvSpPr/>
          <p:nvPr/>
        </p:nvSpPr>
        <p:spPr>
          <a:xfrm>
            <a:off x="7269480" y="2688336"/>
            <a:ext cx="1417320" cy="420624"/>
          </a:xfrm>
          <a:prstGeom prst="roundRect">
            <a:avLst>
              <a:gd name="adj" fmla="val 13043"/>
            </a:avLst>
          </a:prstGeom>
          <a:solidFill>
            <a:srgbClr val="FCEBD3"/>
          </a:solidFill>
          <a:ln w="12700">
            <a:solidFill>
              <a:srgbClr val="FCEBD3"/>
            </a:solidFill>
            <a:prstDash val="solid"/>
          </a:ln>
        </p:spPr>
      </p:sp>
      <p:sp>
        <p:nvSpPr>
          <p:cNvPr id="44" name="Text 42"/>
          <p:cNvSpPr txBox="1"/>
          <p:nvPr/>
        </p:nvSpPr>
        <p:spPr>
          <a:xfrm>
            <a:off x="7306056" y="2688336"/>
            <a:ext cx="1344168" cy="420624"/>
          </a:xfrm>
          <a:prstGeom prst="rect">
            <a:avLst/>
          </a:prstGeom>
          <a:noFill/>
          <a:ln/>
        </p:spPr>
        <p:txBody>
          <a:bodyPr wrap="square" lIns="0" tIns="0" rIns="0" bIns="0" rtlCol="0" anchor="ctr"/>
          <a:lstStyle/>
          <a:p>
            <a:pPr algn="ctr" indent="0" marL="0">
              <a:buNone/>
            </a:pPr>
            <a:r>
              <a:rPr lang="en-US" sz="950" b="1" dirty="0">
                <a:solidFill>
                  <a:srgbClr val="10233A"/>
                </a:solidFill>
                <a:latin typeface="Calibri" pitchFamily="34" charset="0"/>
                <a:ea typeface="Calibri" pitchFamily="34" charset="-122"/>
                <a:cs typeface="Calibri" pitchFamily="34" charset="-120"/>
              </a:rPr>
              <a:t>Campaign one-pager</a:t>
            </a:r>
            <a:endParaRPr lang="en-US" sz="950" dirty="0"/>
          </a:p>
        </p:txBody>
      </p:sp>
      <p:sp>
        <p:nvSpPr>
          <p:cNvPr id="45" name="Shape 43"/>
          <p:cNvSpPr/>
          <p:nvPr/>
        </p:nvSpPr>
        <p:spPr>
          <a:xfrm>
            <a:off x="457200" y="3291840"/>
            <a:ext cx="1600200" cy="566928"/>
          </a:xfrm>
          <a:prstGeom prst="roundRect">
            <a:avLst>
              <a:gd name="adj" fmla="val 9677"/>
            </a:avLst>
          </a:prstGeom>
          <a:solidFill>
            <a:srgbClr val="10233A"/>
          </a:solidFill>
          <a:ln w="12700">
            <a:solidFill>
              <a:srgbClr val="10233A"/>
            </a:solidFill>
            <a:prstDash val="solid"/>
          </a:ln>
        </p:spPr>
      </p:sp>
      <p:sp>
        <p:nvSpPr>
          <p:cNvPr id="46" name="Text 44"/>
          <p:cNvSpPr txBox="1"/>
          <p:nvPr/>
        </p:nvSpPr>
        <p:spPr>
          <a:xfrm>
            <a:off x="896112" y="3291840"/>
            <a:ext cx="11430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Automation (n8n)</a:t>
            </a:r>
            <a:endParaRPr lang="en-US" sz="1150" dirty="0"/>
          </a:p>
        </p:txBody>
      </p:sp>
      <p:sp>
        <p:nvSpPr>
          <p:cNvPr id="47" name="Shape 45"/>
          <p:cNvSpPr/>
          <p:nvPr/>
        </p:nvSpPr>
        <p:spPr>
          <a:xfrm>
            <a:off x="2176272" y="3364992"/>
            <a:ext cx="872338" cy="420624"/>
          </a:xfrm>
          <a:prstGeom prst="roundRect">
            <a:avLst>
              <a:gd name="adj" fmla="val 13043"/>
            </a:avLst>
          </a:prstGeom>
          <a:solidFill>
            <a:srgbClr val="F3F6F8"/>
          </a:solidFill>
          <a:ln w="12700">
            <a:solidFill>
              <a:srgbClr val="F3F6F8"/>
            </a:solidFill>
            <a:prstDash val="solid"/>
          </a:ln>
        </p:spPr>
      </p:sp>
      <p:sp>
        <p:nvSpPr>
          <p:cNvPr id="48" name="Text 46"/>
          <p:cNvSpPr txBox="1"/>
          <p:nvPr/>
        </p:nvSpPr>
        <p:spPr>
          <a:xfrm>
            <a:off x="2212848" y="3364992"/>
            <a:ext cx="79918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Form</a:t>
            </a:r>
            <a:endParaRPr lang="en-US" sz="1000" dirty="0"/>
          </a:p>
        </p:txBody>
      </p:sp>
      <p:sp>
        <p:nvSpPr>
          <p:cNvPr id="49" name="Shape 47"/>
          <p:cNvSpPr/>
          <p:nvPr/>
        </p:nvSpPr>
        <p:spPr>
          <a:xfrm>
            <a:off x="3204058" y="3364992"/>
            <a:ext cx="872338" cy="420624"/>
          </a:xfrm>
          <a:prstGeom prst="roundRect">
            <a:avLst>
              <a:gd name="adj" fmla="val 13043"/>
            </a:avLst>
          </a:prstGeom>
          <a:solidFill>
            <a:srgbClr val="F3F6F8"/>
          </a:solidFill>
          <a:ln w="12700">
            <a:solidFill>
              <a:srgbClr val="F3F6F8"/>
            </a:solidFill>
            <a:prstDash val="solid"/>
          </a:ln>
        </p:spPr>
      </p:sp>
      <p:sp>
        <p:nvSpPr>
          <p:cNvPr id="50" name="Text 48"/>
          <p:cNvSpPr txBox="1"/>
          <p:nvPr/>
        </p:nvSpPr>
        <p:spPr>
          <a:xfrm>
            <a:off x="3240634" y="3364992"/>
            <a:ext cx="79918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n8n</a:t>
            </a:r>
            <a:endParaRPr lang="en-US" sz="1000" dirty="0"/>
          </a:p>
        </p:txBody>
      </p:sp>
      <p:sp>
        <p:nvSpPr>
          <p:cNvPr id="51" name="Shape 49"/>
          <p:cNvSpPr/>
          <p:nvPr/>
        </p:nvSpPr>
        <p:spPr>
          <a:xfrm>
            <a:off x="4231843" y="3364992"/>
            <a:ext cx="872338" cy="420624"/>
          </a:xfrm>
          <a:prstGeom prst="roundRect">
            <a:avLst>
              <a:gd name="adj" fmla="val 13043"/>
            </a:avLst>
          </a:prstGeom>
          <a:solidFill>
            <a:srgbClr val="F3F6F8"/>
          </a:solidFill>
          <a:ln w="12700">
            <a:solidFill>
              <a:srgbClr val="F3F6F8"/>
            </a:solidFill>
            <a:prstDash val="solid"/>
          </a:ln>
        </p:spPr>
      </p:sp>
      <p:sp>
        <p:nvSpPr>
          <p:cNvPr id="52" name="Text 50"/>
          <p:cNvSpPr txBox="1"/>
          <p:nvPr/>
        </p:nvSpPr>
        <p:spPr>
          <a:xfrm>
            <a:off x="4268419" y="3364992"/>
            <a:ext cx="79918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AI step</a:t>
            </a:r>
            <a:endParaRPr lang="en-US" sz="1000" dirty="0"/>
          </a:p>
        </p:txBody>
      </p:sp>
      <p:sp>
        <p:nvSpPr>
          <p:cNvPr id="53" name="Shape 51"/>
          <p:cNvSpPr/>
          <p:nvPr/>
        </p:nvSpPr>
        <p:spPr>
          <a:xfrm>
            <a:off x="5259629" y="3364992"/>
            <a:ext cx="872338" cy="420624"/>
          </a:xfrm>
          <a:prstGeom prst="roundRect">
            <a:avLst>
              <a:gd name="adj" fmla="val 13043"/>
            </a:avLst>
          </a:prstGeom>
          <a:solidFill>
            <a:srgbClr val="F3F6F8"/>
          </a:solidFill>
          <a:ln w="12700">
            <a:solidFill>
              <a:srgbClr val="F3F6F8"/>
            </a:solidFill>
            <a:prstDash val="solid"/>
          </a:ln>
        </p:spPr>
      </p:sp>
      <p:sp>
        <p:nvSpPr>
          <p:cNvPr id="54" name="Text 52"/>
          <p:cNvSpPr txBox="1"/>
          <p:nvPr/>
        </p:nvSpPr>
        <p:spPr>
          <a:xfrm>
            <a:off x="5296205" y="3364992"/>
            <a:ext cx="79918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Hook · caption · CTA</a:t>
            </a:r>
            <a:endParaRPr lang="en-US" sz="1000" dirty="0"/>
          </a:p>
        </p:txBody>
      </p:sp>
      <p:sp>
        <p:nvSpPr>
          <p:cNvPr id="55" name="Shape 53"/>
          <p:cNvSpPr/>
          <p:nvPr/>
        </p:nvSpPr>
        <p:spPr>
          <a:xfrm>
            <a:off x="6287414" y="3364992"/>
            <a:ext cx="872338" cy="420624"/>
          </a:xfrm>
          <a:prstGeom prst="roundRect">
            <a:avLst>
              <a:gd name="adj" fmla="val 13043"/>
            </a:avLst>
          </a:prstGeom>
          <a:solidFill>
            <a:srgbClr val="F3F6F8"/>
          </a:solidFill>
          <a:ln w="12700">
            <a:solidFill>
              <a:srgbClr val="F3F6F8"/>
            </a:solidFill>
            <a:prstDash val="solid"/>
          </a:ln>
        </p:spPr>
      </p:sp>
      <p:sp>
        <p:nvSpPr>
          <p:cNvPr id="56" name="Text 54"/>
          <p:cNvSpPr txBox="1"/>
          <p:nvPr/>
        </p:nvSpPr>
        <p:spPr>
          <a:xfrm>
            <a:off x="6323990" y="3364992"/>
            <a:ext cx="79918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Google Sheets</a:t>
            </a:r>
            <a:endParaRPr lang="en-US" sz="1000" dirty="0"/>
          </a:p>
        </p:txBody>
      </p:sp>
      <p:sp>
        <p:nvSpPr>
          <p:cNvPr id="57" name="Shape 55"/>
          <p:cNvSpPr/>
          <p:nvPr/>
        </p:nvSpPr>
        <p:spPr>
          <a:xfrm>
            <a:off x="7269480" y="3364992"/>
            <a:ext cx="1417320" cy="420624"/>
          </a:xfrm>
          <a:prstGeom prst="roundRect">
            <a:avLst>
              <a:gd name="adj" fmla="val 13043"/>
            </a:avLst>
          </a:prstGeom>
          <a:solidFill>
            <a:srgbClr val="FCEBD3"/>
          </a:solidFill>
          <a:ln w="12700">
            <a:solidFill>
              <a:srgbClr val="FCEBD3"/>
            </a:solidFill>
            <a:prstDash val="solid"/>
          </a:ln>
        </p:spPr>
      </p:sp>
      <p:sp>
        <p:nvSpPr>
          <p:cNvPr id="58" name="Text 56"/>
          <p:cNvSpPr txBox="1"/>
          <p:nvPr/>
        </p:nvSpPr>
        <p:spPr>
          <a:xfrm>
            <a:off x="7306056" y="3364992"/>
            <a:ext cx="1344168" cy="420624"/>
          </a:xfrm>
          <a:prstGeom prst="rect">
            <a:avLst/>
          </a:prstGeom>
          <a:noFill/>
          <a:ln/>
        </p:spPr>
        <p:txBody>
          <a:bodyPr wrap="square" lIns="0" tIns="0" rIns="0" bIns="0" rtlCol="0" anchor="ctr"/>
          <a:lstStyle/>
          <a:p>
            <a:pPr algn="ctr" indent="0" marL="0">
              <a:buNone/>
            </a:pPr>
            <a:r>
              <a:rPr lang="en-US" sz="950" b="1" dirty="0">
                <a:solidFill>
                  <a:srgbClr val="10233A"/>
                </a:solidFill>
                <a:latin typeface="Calibri" pitchFamily="34" charset="0"/>
                <a:ea typeface="Calibri" pitchFamily="34" charset="-122"/>
                <a:cs typeface="Calibri" pitchFamily="34" charset="-120"/>
              </a:rPr>
              <a:t>Working workflow</a:t>
            </a:r>
            <a:endParaRPr lang="en-US" sz="950" dirty="0"/>
          </a:p>
        </p:txBody>
      </p:sp>
      <p:sp>
        <p:nvSpPr>
          <p:cNvPr id="59" name="Shape 57"/>
          <p:cNvSpPr/>
          <p:nvPr/>
        </p:nvSpPr>
        <p:spPr>
          <a:xfrm>
            <a:off x="457200" y="3968496"/>
            <a:ext cx="1600200" cy="566928"/>
          </a:xfrm>
          <a:prstGeom prst="roundRect">
            <a:avLst>
              <a:gd name="adj" fmla="val 9677"/>
            </a:avLst>
          </a:prstGeom>
          <a:solidFill>
            <a:srgbClr val="0A8577"/>
          </a:solidFill>
          <a:ln w="12700">
            <a:solidFill>
              <a:srgbClr val="0A8577"/>
            </a:solidFill>
            <a:prstDash val="solid"/>
          </a:ln>
        </p:spPr>
      </p:sp>
      <p:sp>
        <p:nvSpPr>
          <p:cNvPr id="60" name="Text 58"/>
          <p:cNvSpPr txBox="1"/>
          <p:nvPr/>
        </p:nvSpPr>
        <p:spPr>
          <a:xfrm>
            <a:off x="896112" y="3968496"/>
            <a:ext cx="1143000"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Freelancing</a:t>
            </a:r>
            <a:endParaRPr lang="en-US" sz="1150" dirty="0"/>
          </a:p>
        </p:txBody>
      </p:sp>
      <p:sp>
        <p:nvSpPr>
          <p:cNvPr id="61" name="Shape 59"/>
          <p:cNvSpPr/>
          <p:nvPr/>
        </p:nvSpPr>
        <p:spPr>
          <a:xfrm>
            <a:off x="2176272" y="4041648"/>
            <a:ext cx="1557528" cy="420624"/>
          </a:xfrm>
          <a:prstGeom prst="roundRect">
            <a:avLst>
              <a:gd name="adj" fmla="val 13043"/>
            </a:avLst>
          </a:prstGeom>
          <a:solidFill>
            <a:srgbClr val="F3F6F8"/>
          </a:solidFill>
          <a:ln w="12700">
            <a:solidFill>
              <a:srgbClr val="F3F6F8"/>
            </a:solidFill>
            <a:prstDash val="solid"/>
          </a:ln>
        </p:spPr>
      </p:sp>
      <p:sp>
        <p:nvSpPr>
          <p:cNvPr id="62" name="Text 60"/>
          <p:cNvSpPr txBox="1"/>
          <p:nvPr/>
        </p:nvSpPr>
        <p:spPr>
          <a:xfrm>
            <a:off x="2212848" y="4041648"/>
            <a:ext cx="148437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Build a page</a:t>
            </a:r>
            <a:endParaRPr lang="en-US" sz="1000" dirty="0"/>
          </a:p>
        </p:txBody>
      </p:sp>
      <p:sp>
        <p:nvSpPr>
          <p:cNvPr id="63" name="Shape 61"/>
          <p:cNvSpPr/>
          <p:nvPr/>
        </p:nvSpPr>
        <p:spPr>
          <a:xfrm>
            <a:off x="3889248" y="4041648"/>
            <a:ext cx="1557528" cy="420624"/>
          </a:xfrm>
          <a:prstGeom prst="roundRect">
            <a:avLst>
              <a:gd name="adj" fmla="val 13043"/>
            </a:avLst>
          </a:prstGeom>
          <a:solidFill>
            <a:srgbClr val="F3F6F8"/>
          </a:solidFill>
          <a:ln w="12700">
            <a:solidFill>
              <a:srgbClr val="F3F6F8"/>
            </a:solidFill>
            <a:prstDash val="solid"/>
          </a:ln>
        </p:spPr>
      </p:sp>
      <p:sp>
        <p:nvSpPr>
          <p:cNvPr id="64" name="Text 62"/>
          <p:cNvSpPr txBox="1"/>
          <p:nvPr/>
        </p:nvSpPr>
        <p:spPr>
          <a:xfrm>
            <a:off x="3925824" y="4041648"/>
            <a:ext cx="148437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Package 3 services</a:t>
            </a:r>
            <a:endParaRPr lang="en-US" sz="1000" dirty="0"/>
          </a:p>
        </p:txBody>
      </p:sp>
      <p:sp>
        <p:nvSpPr>
          <p:cNvPr id="65" name="Shape 63"/>
          <p:cNvSpPr/>
          <p:nvPr/>
        </p:nvSpPr>
        <p:spPr>
          <a:xfrm>
            <a:off x="5602224" y="4041648"/>
            <a:ext cx="1557528" cy="420624"/>
          </a:xfrm>
          <a:prstGeom prst="roundRect">
            <a:avLst>
              <a:gd name="adj" fmla="val 13043"/>
            </a:avLst>
          </a:prstGeom>
          <a:solidFill>
            <a:srgbClr val="F3F6F8"/>
          </a:solidFill>
          <a:ln w="12700">
            <a:solidFill>
              <a:srgbClr val="F3F6F8"/>
            </a:solidFill>
            <a:prstDash val="solid"/>
          </a:ln>
        </p:spPr>
      </p:sp>
      <p:sp>
        <p:nvSpPr>
          <p:cNvPr id="66" name="Text 64"/>
          <p:cNvSpPr txBox="1"/>
          <p:nvPr/>
        </p:nvSpPr>
        <p:spPr>
          <a:xfrm>
            <a:off x="5638800" y="4041648"/>
            <a:ext cx="1484376" cy="420624"/>
          </a:xfrm>
          <a:prstGeom prst="rect">
            <a:avLst/>
          </a:prstGeom>
          <a:noFill/>
          <a:ln/>
        </p:spPr>
        <p:txBody>
          <a:bodyPr wrap="square" lIns="0" tIns="0" rIns="0" bIns="0" rtlCol="0" anchor="ctr"/>
          <a:lstStyle/>
          <a:p>
            <a:pPr algn="ctr" indent="0" marL="0">
              <a:buNone/>
            </a:pPr>
            <a:r>
              <a:rPr lang="en-US" sz="1000" b="1" dirty="0">
                <a:solidFill>
                  <a:srgbClr val="10233A"/>
                </a:solidFill>
                <a:latin typeface="Calibri" pitchFamily="34" charset="0"/>
                <a:ea typeface="Calibri" pitchFamily="34" charset="-122"/>
                <a:cs typeface="Calibri" pitchFamily="34" charset="-120"/>
              </a:rPr>
              <a:t>Client messages</a:t>
            </a:r>
            <a:endParaRPr lang="en-US" sz="1000" dirty="0"/>
          </a:p>
        </p:txBody>
      </p:sp>
      <p:sp>
        <p:nvSpPr>
          <p:cNvPr id="67" name="Shape 65"/>
          <p:cNvSpPr/>
          <p:nvPr/>
        </p:nvSpPr>
        <p:spPr>
          <a:xfrm>
            <a:off x="7269480" y="4041648"/>
            <a:ext cx="1417320" cy="420624"/>
          </a:xfrm>
          <a:prstGeom prst="roundRect">
            <a:avLst>
              <a:gd name="adj" fmla="val 13043"/>
            </a:avLst>
          </a:prstGeom>
          <a:solidFill>
            <a:srgbClr val="FCEBD3"/>
          </a:solidFill>
          <a:ln w="12700">
            <a:solidFill>
              <a:srgbClr val="FCEBD3"/>
            </a:solidFill>
            <a:prstDash val="solid"/>
          </a:ln>
        </p:spPr>
      </p:sp>
      <p:sp>
        <p:nvSpPr>
          <p:cNvPr id="68" name="Text 66"/>
          <p:cNvSpPr txBox="1"/>
          <p:nvPr/>
        </p:nvSpPr>
        <p:spPr>
          <a:xfrm>
            <a:off x="7306056" y="4041648"/>
            <a:ext cx="1344168" cy="420624"/>
          </a:xfrm>
          <a:prstGeom prst="rect">
            <a:avLst/>
          </a:prstGeom>
          <a:noFill/>
          <a:ln/>
        </p:spPr>
        <p:txBody>
          <a:bodyPr wrap="square" lIns="0" tIns="0" rIns="0" bIns="0" rtlCol="0" anchor="ctr"/>
          <a:lstStyle/>
          <a:p>
            <a:pPr algn="ctr" indent="0" marL="0">
              <a:buNone/>
            </a:pPr>
            <a:r>
              <a:rPr lang="en-US" sz="950" b="1" dirty="0">
                <a:solidFill>
                  <a:srgbClr val="10233A"/>
                </a:solidFill>
                <a:latin typeface="Calibri" pitchFamily="34" charset="0"/>
                <a:ea typeface="Calibri" pitchFamily="34" charset="-122"/>
                <a:cs typeface="Calibri" pitchFamily="34" charset="-120"/>
              </a:rPr>
              <a:t>Portfolio and offers</a:t>
            </a:r>
            <a:endParaRPr lang="en-US" sz="950" dirty="0"/>
          </a:p>
        </p:txBody>
      </p:sp>
      <p:sp>
        <p:nvSpPr>
          <p:cNvPr id="69" name="Text 67"/>
          <p:cNvSpPr txBox="1"/>
          <p:nvPr/>
        </p:nvSpPr>
        <p:spPr>
          <a:xfrm>
            <a:off x="457200" y="4572000"/>
            <a:ext cx="8229600" cy="182880"/>
          </a:xfrm>
          <a:prstGeom prst="rect">
            <a:avLst/>
          </a:prstGeom>
          <a:noFill/>
          <a:ln/>
        </p:spPr>
        <p:txBody>
          <a:bodyPr wrap="square" lIns="0" tIns="0" rIns="0" bIns="0" rtlCol="0" anchor="t"/>
          <a:lstStyle/>
          <a:p>
            <a:pPr indent="0" marL="0">
              <a:buNone/>
            </a:pPr>
            <a:r>
              <a:rPr lang="en-US" sz="950" i="1" dirty="0">
                <a:solidFill>
                  <a:srgbClr val="586676"/>
                </a:solidFill>
                <a:latin typeface="Calibri" pitchFamily="34" charset="0"/>
                <a:ea typeface="Calibri" pitchFamily="34" charset="-122"/>
                <a:cs typeface="Calibri" pitchFamily="34" charset="-120"/>
              </a:rPr>
              <a:t>Each workflow is practised on the team's capstone client, so every output also becomes part of the final package.</a:t>
            </a:r>
            <a:endParaRPr lang="en-US" sz="950" dirty="0"/>
          </a:p>
        </p:txBody>
      </p:sp>
      <p:pic>
        <p:nvPicPr>
          <p:cNvPr id="70" name="Image 0" descr="preencoded.png">    </p:cNvPr>
          <p:cNvPicPr>
            <a:picLocks noChangeAspect="1"/>
          </p:cNvPicPr>
          <p:nvPr/>
        </p:nvPicPr>
        <p:blipFill>
          <a:blip r:embed="rId1"/>
          <a:stretch>
            <a:fillRect/>
          </a:stretch>
        </p:blipFill>
        <p:spPr>
          <a:xfrm>
            <a:off x="566928" y="1417320"/>
            <a:ext cx="256032" cy="256032"/>
          </a:xfrm>
          <a:prstGeom prst="rect">
            <a:avLst/>
          </a:prstGeom>
        </p:spPr>
      </p:pic>
      <p:pic>
        <p:nvPicPr>
          <p:cNvPr id="71" name="Image 1" descr="preencoded.png">    </p:cNvPr>
          <p:cNvPicPr>
            <a:picLocks noChangeAspect="1"/>
          </p:cNvPicPr>
          <p:nvPr/>
        </p:nvPicPr>
        <p:blipFill>
          <a:blip r:embed="rId2"/>
          <a:stretch>
            <a:fillRect/>
          </a:stretch>
        </p:blipFill>
        <p:spPr>
          <a:xfrm>
            <a:off x="3319272" y="1481328"/>
            <a:ext cx="128016" cy="128016"/>
          </a:xfrm>
          <a:prstGeom prst="rect">
            <a:avLst/>
          </a:prstGeom>
        </p:spPr>
      </p:pic>
      <p:pic>
        <p:nvPicPr>
          <p:cNvPr id="72" name="Image 2" descr="preencoded.png">    </p:cNvPr>
          <p:cNvPicPr>
            <a:picLocks noChangeAspect="1"/>
          </p:cNvPicPr>
          <p:nvPr/>
        </p:nvPicPr>
        <p:blipFill>
          <a:blip r:embed="rId3"/>
          <a:stretch>
            <a:fillRect/>
          </a:stretch>
        </p:blipFill>
        <p:spPr>
          <a:xfrm>
            <a:off x="4604004" y="1481328"/>
            <a:ext cx="128016" cy="128016"/>
          </a:xfrm>
          <a:prstGeom prst="rect">
            <a:avLst/>
          </a:prstGeom>
        </p:spPr>
      </p:pic>
      <p:pic>
        <p:nvPicPr>
          <p:cNvPr id="73" name="Image 3" descr="preencoded.png">    </p:cNvPr>
          <p:cNvPicPr>
            <a:picLocks noChangeAspect="1"/>
          </p:cNvPicPr>
          <p:nvPr/>
        </p:nvPicPr>
        <p:blipFill>
          <a:blip r:embed="rId4"/>
          <a:stretch>
            <a:fillRect/>
          </a:stretch>
        </p:blipFill>
        <p:spPr>
          <a:xfrm>
            <a:off x="5888736" y="1481328"/>
            <a:ext cx="128016" cy="128016"/>
          </a:xfrm>
          <a:prstGeom prst="rect">
            <a:avLst/>
          </a:prstGeom>
        </p:spPr>
      </p:pic>
      <p:pic>
        <p:nvPicPr>
          <p:cNvPr id="74" name="Image 4" descr="preencoded.png">    </p:cNvPr>
          <p:cNvPicPr>
            <a:picLocks noChangeAspect="1"/>
          </p:cNvPicPr>
          <p:nvPr/>
        </p:nvPicPr>
        <p:blipFill>
          <a:blip r:embed="rId5"/>
          <a:stretch>
            <a:fillRect/>
          </a:stretch>
        </p:blipFill>
        <p:spPr>
          <a:xfrm>
            <a:off x="566928" y="2093976"/>
            <a:ext cx="256032" cy="256032"/>
          </a:xfrm>
          <a:prstGeom prst="rect">
            <a:avLst/>
          </a:prstGeom>
        </p:spPr>
      </p:pic>
      <p:pic>
        <p:nvPicPr>
          <p:cNvPr id="75" name="Image 5" descr="preencoded.png">    </p:cNvPr>
          <p:cNvPicPr>
            <a:picLocks noChangeAspect="1"/>
          </p:cNvPicPr>
          <p:nvPr/>
        </p:nvPicPr>
        <p:blipFill>
          <a:blip r:embed="rId6"/>
          <a:stretch>
            <a:fillRect/>
          </a:stretch>
        </p:blipFill>
        <p:spPr>
          <a:xfrm>
            <a:off x="2891028" y="2157984"/>
            <a:ext cx="128016" cy="128016"/>
          </a:xfrm>
          <a:prstGeom prst="rect">
            <a:avLst/>
          </a:prstGeom>
        </p:spPr>
      </p:pic>
      <p:pic>
        <p:nvPicPr>
          <p:cNvPr id="76" name="Image 6" descr="preencoded.png">    </p:cNvPr>
          <p:cNvPicPr>
            <a:picLocks noChangeAspect="1"/>
          </p:cNvPicPr>
          <p:nvPr/>
        </p:nvPicPr>
        <p:blipFill>
          <a:blip r:embed="rId7"/>
          <a:stretch>
            <a:fillRect/>
          </a:stretch>
        </p:blipFill>
        <p:spPr>
          <a:xfrm>
            <a:off x="5460492" y="2157984"/>
            <a:ext cx="128016" cy="128016"/>
          </a:xfrm>
          <a:prstGeom prst="rect">
            <a:avLst/>
          </a:prstGeom>
        </p:spPr>
      </p:pic>
      <p:pic>
        <p:nvPicPr>
          <p:cNvPr id="77" name="Image 7" descr="preencoded.png">    </p:cNvPr>
          <p:cNvPicPr>
            <a:picLocks noChangeAspect="1"/>
          </p:cNvPicPr>
          <p:nvPr/>
        </p:nvPicPr>
        <p:blipFill>
          <a:blip r:embed="rId8"/>
          <a:stretch>
            <a:fillRect/>
          </a:stretch>
        </p:blipFill>
        <p:spPr>
          <a:xfrm>
            <a:off x="6316980" y="2157984"/>
            <a:ext cx="128016" cy="128016"/>
          </a:xfrm>
          <a:prstGeom prst="rect">
            <a:avLst/>
          </a:prstGeom>
        </p:spPr>
      </p:pic>
      <p:pic>
        <p:nvPicPr>
          <p:cNvPr id="78" name="Image 8" descr="preencoded.png">    </p:cNvPr>
          <p:cNvPicPr>
            <a:picLocks noChangeAspect="1"/>
          </p:cNvPicPr>
          <p:nvPr/>
        </p:nvPicPr>
        <p:blipFill>
          <a:blip r:embed="rId9"/>
          <a:stretch>
            <a:fillRect/>
          </a:stretch>
        </p:blipFill>
        <p:spPr>
          <a:xfrm>
            <a:off x="4604004" y="2157984"/>
            <a:ext cx="128016" cy="128016"/>
          </a:xfrm>
          <a:prstGeom prst="rect">
            <a:avLst/>
          </a:prstGeom>
        </p:spPr>
      </p:pic>
      <p:pic>
        <p:nvPicPr>
          <p:cNvPr id="79" name="Image 9" descr="preencoded.png">    </p:cNvPr>
          <p:cNvPicPr>
            <a:picLocks noChangeAspect="1"/>
          </p:cNvPicPr>
          <p:nvPr/>
        </p:nvPicPr>
        <p:blipFill>
          <a:blip r:embed="rId10"/>
          <a:stretch>
            <a:fillRect/>
          </a:stretch>
        </p:blipFill>
        <p:spPr>
          <a:xfrm>
            <a:off x="3319272" y="2834640"/>
            <a:ext cx="128016" cy="128016"/>
          </a:xfrm>
          <a:prstGeom prst="rect">
            <a:avLst/>
          </a:prstGeom>
        </p:spPr>
      </p:pic>
      <p:pic>
        <p:nvPicPr>
          <p:cNvPr id="80" name="Image 10" descr="preencoded.png">    </p:cNvPr>
          <p:cNvPicPr>
            <a:picLocks noChangeAspect="1"/>
          </p:cNvPicPr>
          <p:nvPr/>
        </p:nvPicPr>
        <p:blipFill>
          <a:blip r:embed="rId11"/>
          <a:stretch>
            <a:fillRect/>
          </a:stretch>
        </p:blipFill>
        <p:spPr>
          <a:xfrm>
            <a:off x="3747516" y="2157984"/>
            <a:ext cx="128016" cy="128016"/>
          </a:xfrm>
          <a:prstGeom prst="rect">
            <a:avLst/>
          </a:prstGeom>
        </p:spPr>
      </p:pic>
      <p:pic>
        <p:nvPicPr>
          <p:cNvPr id="81" name="Image 11" descr="preencoded.png">    </p:cNvPr>
          <p:cNvPicPr>
            <a:picLocks noChangeAspect="1"/>
          </p:cNvPicPr>
          <p:nvPr/>
        </p:nvPicPr>
        <p:blipFill>
          <a:blip r:embed="rId12"/>
          <a:stretch>
            <a:fillRect/>
          </a:stretch>
        </p:blipFill>
        <p:spPr>
          <a:xfrm>
            <a:off x="566928" y="2770632"/>
            <a:ext cx="256032" cy="256032"/>
          </a:xfrm>
          <a:prstGeom prst="rect">
            <a:avLst/>
          </a:prstGeom>
        </p:spPr>
      </p:pic>
      <p:pic>
        <p:nvPicPr>
          <p:cNvPr id="82" name="Image 12" descr="preencoded.png">    </p:cNvPr>
          <p:cNvPicPr>
            <a:picLocks noChangeAspect="1"/>
          </p:cNvPicPr>
          <p:nvPr/>
        </p:nvPicPr>
        <p:blipFill>
          <a:blip r:embed="rId13"/>
          <a:stretch>
            <a:fillRect/>
          </a:stretch>
        </p:blipFill>
        <p:spPr>
          <a:xfrm>
            <a:off x="4604004" y="2834640"/>
            <a:ext cx="128016" cy="128016"/>
          </a:xfrm>
          <a:prstGeom prst="rect">
            <a:avLst/>
          </a:prstGeom>
        </p:spPr>
      </p:pic>
      <p:pic>
        <p:nvPicPr>
          <p:cNvPr id="83" name="Image 13" descr="preencoded.png">    </p:cNvPr>
          <p:cNvPicPr>
            <a:picLocks noChangeAspect="1"/>
          </p:cNvPicPr>
          <p:nvPr/>
        </p:nvPicPr>
        <p:blipFill>
          <a:blip r:embed="rId14"/>
          <a:stretch>
            <a:fillRect/>
          </a:stretch>
        </p:blipFill>
        <p:spPr>
          <a:xfrm>
            <a:off x="4090111" y="3511296"/>
            <a:ext cx="128016" cy="128016"/>
          </a:xfrm>
          <a:prstGeom prst="rect">
            <a:avLst/>
          </a:prstGeom>
        </p:spPr>
      </p:pic>
      <p:pic>
        <p:nvPicPr>
          <p:cNvPr id="84" name="Image 14" descr="preencoded.png">    </p:cNvPr>
          <p:cNvPicPr>
            <a:picLocks noChangeAspect="1"/>
          </p:cNvPicPr>
          <p:nvPr/>
        </p:nvPicPr>
        <p:blipFill>
          <a:blip r:embed="rId15"/>
          <a:stretch>
            <a:fillRect/>
          </a:stretch>
        </p:blipFill>
        <p:spPr>
          <a:xfrm>
            <a:off x="5888736" y="2834640"/>
            <a:ext cx="128016" cy="128016"/>
          </a:xfrm>
          <a:prstGeom prst="rect">
            <a:avLst/>
          </a:prstGeom>
        </p:spPr>
      </p:pic>
      <p:pic>
        <p:nvPicPr>
          <p:cNvPr id="85" name="Image 15" descr="preencoded.png">    </p:cNvPr>
          <p:cNvPicPr>
            <a:picLocks noChangeAspect="1"/>
          </p:cNvPicPr>
          <p:nvPr/>
        </p:nvPicPr>
        <p:blipFill>
          <a:blip r:embed="rId16"/>
          <a:stretch>
            <a:fillRect/>
          </a:stretch>
        </p:blipFill>
        <p:spPr>
          <a:xfrm>
            <a:off x="566928" y="3447288"/>
            <a:ext cx="256032" cy="256032"/>
          </a:xfrm>
          <a:prstGeom prst="rect">
            <a:avLst/>
          </a:prstGeom>
        </p:spPr>
      </p:pic>
      <p:pic>
        <p:nvPicPr>
          <p:cNvPr id="86" name="Image 16" descr="preencoded.png">    </p:cNvPr>
          <p:cNvPicPr>
            <a:picLocks noChangeAspect="1"/>
          </p:cNvPicPr>
          <p:nvPr/>
        </p:nvPicPr>
        <p:blipFill>
          <a:blip r:embed="rId17"/>
          <a:stretch>
            <a:fillRect/>
          </a:stretch>
        </p:blipFill>
        <p:spPr>
          <a:xfrm>
            <a:off x="3062326" y="3511296"/>
            <a:ext cx="128016" cy="128016"/>
          </a:xfrm>
          <a:prstGeom prst="rect">
            <a:avLst/>
          </a:prstGeom>
        </p:spPr>
      </p:pic>
      <p:pic>
        <p:nvPicPr>
          <p:cNvPr id="87" name="Image 17" descr="preencoded.png">    </p:cNvPr>
          <p:cNvPicPr>
            <a:picLocks noChangeAspect="1"/>
          </p:cNvPicPr>
          <p:nvPr/>
        </p:nvPicPr>
        <p:blipFill>
          <a:blip r:embed="rId18"/>
          <a:stretch>
            <a:fillRect/>
          </a:stretch>
        </p:blipFill>
        <p:spPr>
          <a:xfrm>
            <a:off x="5117897" y="3511296"/>
            <a:ext cx="128016" cy="128016"/>
          </a:xfrm>
          <a:prstGeom prst="rect">
            <a:avLst/>
          </a:prstGeom>
        </p:spPr>
      </p:pic>
      <p:pic>
        <p:nvPicPr>
          <p:cNvPr id="88" name="Image 18" descr="preencoded.png">    </p:cNvPr>
          <p:cNvPicPr>
            <a:picLocks noChangeAspect="1"/>
          </p:cNvPicPr>
          <p:nvPr/>
        </p:nvPicPr>
        <p:blipFill>
          <a:blip r:embed="rId19"/>
          <a:stretch>
            <a:fillRect/>
          </a:stretch>
        </p:blipFill>
        <p:spPr>
          <a:xfrm>
            <a:off x="3747516" y="4187952"/>
            <a:ext cx="128016" cy="128016"/>
          </a:xfrm>
          <a:prstGeom prst="rect">
            <a:avLst/>
          </a:prstGeom>
        </p:spPr>
      </p:pic>
      <p:pic>
        <p:nvPicPr>
          <p:cNvPr id="89" name="Image 19" descr="preencoded.png">    </p:cNvPr>
          <p:cNvPicPr>
            <a:picLocks noChangeAspect="1"/>
          </p:cNvPicPr>
          <p:nvPr/>
        </p:nvPicPr>
        <p:blipFill>
          <a:blip r:embed="rId20"/>
          <a:stretch>
            <a:fillRect/>
          </a:stretch>
        </p:blipFill>
        <p:spPr>
          <a:xfrm>
            <a:off x="566928" y="4123944"/>
            <a:ext cx="256032" cy="256032"/>
          </a:xfrm>
          <a:prstGeom prst="rect">
            <a:avLst/>
          </a:prstGeom>
        </p:spPr>
      </p:pic>
      <p:pic>
        <p:nvPicPr>
          <p:cNvPr id="90" name="Image 20" descr="preencoded.png">    </p:cNvPr>
          <p:cNvPicPr>
            <a:picLocks noChangeAspect="1"/>
          </p:cNvPicPr>
          <p:nvPr/>
        </p:nvPicPr>
        <p:blipFill>
          <a:blip r:embed="rId21"/>
          <a:stretch>
            <a:fillRect/>
          </a:stretch>
        </p:blipFill>
        <p:spPr>
          <a:xfrm>
            <a:off x="6145682" y="3511296"/>
            <a:ext cx="128016" cy="128016"/>
          </a:xfrm>
          <a:prstGeom prst="rect">
            <a:avLst/>
          </a:prstGeom>
        </p:spPr>
      </p:pic>
      <p:pic>
        <p:nvPicPr>
          <p:cNvPr id="91" name="Image 21" descr="preencoded.png">    </p:cNvPr>
          <p:cNvPicPr>
            <a:picLocks noChangeAspect="1"/>
          </p:cNvPicPr>
          <p:nvPr/>
        </p:nvPicPr>
        <p:blipFill>
          <a:blip r:embed="rId22"/>
          <a:stretch>
            <a:fillRect/>
          </a:stretch>
        </p:blipFill>
        <p:spPr>
          <a:xfrm>
            <a:off x="5460492" y="4187952"/>
            <a:ext cx="128016" cy="128016"/>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10  ·  TOOLS</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The AI tools participants learn to use</a:t>
            </a:r>
            <a:endParaRPr lang="en-US" sz="2500" dirty="0"/>
          </a:p>
        </p:txBody>
      </p:sp>
      <p:sp>
        <p:nvSpPr>
          <p:cNvPr id="5" name="Shape 3"/>
          <p:cNvSpPr/>
          <p:nvPr/>
        </p:nvSpPr>
        <p:spPr>
          <a:xfrm>
            <a:off x="457200" y="1298448"/>
            <a:ext cx="2651760" cy="1481328"/>
          </a:xfrm>
          <a:prstGeom prst="roundRect">
            <a:avLst>
              <a:gd name="adj" fmla="val 3704"/>
            </a:avLst>
          </a:prstGeom>
          <a:solidFill>
            <a:srgbClr val="F3F6F8"/>
          </a:solidFill>
          <a:ln w="12700">
            <a:solidFill>
              <a:srgbClr val="F3F6F8"/>
            </a:solidFill>
            <a:prstDash val="solid"/>
          </a:ln>
        </p:spPr>
      </p:sp>
      <p:sp>
        <p:nvSpPr>
          <p:cNvPr id="6" name="Shape 4"/>
          <p:cNvSpPr/>
          <p:nvPr/>
        </p:nvSpPr>
        <p:spPr>
          <a:xfrm>
            <a:off x="594360" y="1435608"/>
            <a:ext cx="420624" cy="420624"/>
          </a:xfrm>
          <a:prstGeom prst="ellipse">
            <a:avLst/>
          </a:prstGeom>
          <a:solidFill>
            <a:srgbClr val="0A8577"/>
          </a:solidFill>
          <a:ln w="12700">
            <a:solidFill>
              <a:srgbClr val="0A8577"/>
            </a:solidFill>
            <a:prstDash val="solid"/>
          </a:ln>
        </p:spPr>
      </p:sp>
      <p:sp>
        <p:nvSpPr>
          <p:cNvPr id="7" name="Text 5"/>
          <p:cNvSpPr txBox="1"/>
          <p:nvPr/>
        </p:nvSpPr>
        <p:spPr>
          <a:xfrm>
            <a:off x="1115568" y="1435608"/>
            <a:ext cx="1920240" cy="420624"/>
          </a:xfrm>
          <a:prstGeom prst="rect">
            <a:avLst/>
          </a:prstGeom>
          <a:noFill/>
          <a:ln/>
        </p:spPr>
        <p:txBody>
          <a:bodyPr wrap="square" lIns="0" tIns="0" rIns="0" bIns="0" rtlCol="0" anchor="ctr"/>
          <a:lstStyle/>
          <a:p>
            <a:pPr indent="0" marL="0">
              <a:buNone/>
            </a:pPr>
            <a:r>
              <a:rPr lang="en-US" sz="1400" b="1" dirty="0">
                <a:solidFill>
                  <a:srgbClr val="0A8577"/>
                </a:solidFill>
                <a:latin typeface="Calibri" pitchFamily="34" charset="0"/>
                <a:ea typeface="Calibri" pitchFamily="34" charset="-122"/>
                <a:cs typeface="Calibri" pitchFamily="34" charset="-120"/>
              </a:rPr>
              <a:t>AI assistants</a:t>
            </a:r>
            <a:endParaRPr lang="en-US" sz="1400" dirty="0"/>
          </a:p>
        </p:txBody>
      </p:sp>
      <p:sp>
        <p:nvSpPr>
          <p:cNvPr id="8" name="Text 6"/>
          <p:cNvSpPr txBox="1"/>
          <p:nvPr/>
        </p:nvSpPr>
        <p:spPr>
          <a:xfrm>
            <a:off x="594360" y="1956816"/>
            <a:ext cx="2423160" cy="292608"/>
          </a:xfrm>
          <a:prstGeom prst="rect">
            <a:avLst/>
          </a:prstGeom>
          <a:noFill/>
          <a:ln/>
        </p:spPr>
        <p:txBody>
          <a:bodyPr wrap="square" lIns="0" tIns="0" rIns="0" bIns="0" rtlCol="0" anchor="t"/>
          <a:lstStyle/>
          <a:p>
            <a:pPr indent="0" marL="0">
              <a:buNone/>
            </a:pPr>
            <a:r>
              <a:rPr lang="en-US" sz="1200" b="1" dirty="0">
                <a:solidFill>
                  <a:srgbClr val="10233A"/>
                </a:solidFill>
                <a:latin typeface="Calibri" pitchFamily="34" charset="0"/>
                <a:ea typeface="Calibri" pitchFamily="34" charset="-122"/>
                <a:cs typeface="Calibri" pitchFamily="34" charset="-120"/>
              </a:rPr>
              <a:t>ChatGPT · Gemini</a:t>
            </a:r>
            <a:endParaRPr lang="en-US" sz="1200" dirty="0"/>
          </a:p>
        </p:txBody>
      </p:sp>
      <p:sp>
        <p:nvSpPr>
          <p:cNvPr id="9" name="Text 7"/>
          <p:cNvSpPr txBox="1"/>
          <p:nvPr/>
        </p:nvSpPr>
        <p:spPr>
          <a:xfrm>
            <a:off x="594360" y="2258568"/>
            <a:ext cx="2423160" cy="41148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Research, prompting, writing and editing</a:t>
            </a:r>
            <a:endParaRPr lang="en-US" sz="1100" dirty="0"/>
          </a:p>
        </p:txBody>
      </p:sp>
      <p:sp>
        <p:nvSpPr>
          <p:cNvPr id="10" name="Shape 8"/>
          <p:cNvSpPr/>
          <p:nvPr/>
        </p:nvSpPr>
        <p:spPr>
          <a:xfrm>
            <a:off x="3246120" y="1298448"/>
            <a:ext cx="2651760" cy="1481328"/>
          </a:xfrm>
          <a:prstGeom prst="roundRect">
            <a:avLst>
              <a:gd name="adj" fmla="val 3704"/>
            </a:avLst>
          </a:prstGeom>
          <a:solidFill>
            <a:srgbClr val="F3F6F8"/>
          </a:solidFill>
          <a:ln w="12700">
            <a:solidFill>
              <a:srgbClr val="F3F6F8"/>
            </a:solidFill>
            <a:prstDash val="solid"/>
          </a:ln>
        </p:spPr>
      </p:sp>
      <p:sp>
        <p:nvSpPr>
          <p:cNvPr id="11" name="Shape 9"/>
          <p:cNvSpPr/>
          <p:nvPr/>
        </p:nvSpPr>
        <p:spPr>
          <a:xfrm>
            <a:off x="3383280" y="1435608"/>
            <a:ext cx="420624" cy="420624"/>
          </a:xfrm>
          <a:prstGeom prst="ellipse">
            <a:avLst/>
          </a:prstGeom>
          <a:solidFill>
            <a:srgbClr val="0A8577"/>
          </a:solidFill>
          <a:ln w="12700">
            <a:solidFill>
              <a:srgbClr val="0A8577"/>
            </a:solidFill>
            <a:prstDash val="solid"/>
          </a:ln>
        </p:spPr>
      </p:sp>
      <p:sp>
        <p:nvSpPr>
          <p:cNvPr id="12" name="Text 10"/>
          <p:cNvSpPr txBox="1"/>
          <p:nvPr/>
        </p:nvSpPr>
        <p:spPr>
          <a:xfrm>
            <a:off x="3904488" y="1435608"/>
            <a:ext cx="1920240" cy="420624"/>
          </a:xfrm>
          <a:prstGeom prst="rect">
            <a:avLst/>
          </a:prstGeom>
          <a:noFill/>
          <a:ln/>
        </p:spPr>
        <p:txBody>
          <a:bodyPr wrap="square" lIns="0" tIns="0" rIns="0" bIns="0" rtlCol="0" anchor="ctr"/>
          <a:lstStyle/>
          <a:p>
            <a:pPr indent="0" marL="0">
              <a:buNone/>
            </a:pPr>
            <a:r>
              <a:rPr lang="en-US" sz="1400" b="1" dirty="0">
                <a:solidFill>
                  <a:srgbClr val="0A8577"/>
                </a:solidFill>
                <a:latin typeface="Calibri" pitchFamily="34" charset="0"/>
                <a:ea typeface="Calibri" pitchFamily="34" charset="-122"/>
                <a:cs typeface="Calibri" pitchFamily="34" charset="-120"/>
              </a:rPr>
              <a:t>Design &amp; images</a:t>
            </a:r>
            <a:endParaRPr lang="en-US" sz="1400" dirty="0"/>
          </a:p>
        </p:txBody>
      </p:sp>
      <p:sp>
        <p:nvSpPr>
          <p:cNvPr id="13" name="Text 11"/>
          <p:cNvSpPr txBox="1"/>
          <p:nvPr/>
        </p:nvSpPr>
        <p:spPr>
          <a:xfrm>
            <a:off x="3383280" y="1956816"/>
            <a:ext cx="2423160" cy="292608"/>
          </a:xfrm>
          <a:prstGeom prst="rect">
            <a:avLst/>
          </a:prstGeom>
          <a:noFill/>
          <a:ln/>
        </p:spPr>
        <p:txBody>
          <a:bodyPr wrap="square" lIns="0" tIns="0" rIns="0" bIns="0" rtlCol="0" anchor="t"/>
          <a:lstStyle/>
          <a:p>
            <a:pPr indent="0" marL="0">
              <a:buNone/>
            </a:pPr>
            <a:r>
              <a:rPr lang="en-US" sz="1200" b="1" dirty="0">
                <a:solidFill>
                  <a:srgbClr val="10233A"/>
                </a:solidFill>
                <a:latin typeface="Calibri" pitchFamily="34" charset="0"/>
                <a:ea typeface="Calibri" pitchFamily="34" charset="-122"/>
                <a:cs typeface="Calibri" pitchFamily="34" charset="-120"/>
              </a:rPr>
              <a:t>Canva · ChatGPT / Gemini images</a:t>
            </a:r>
            <a:endParaRPr lang="en-US" sz="1200" dirty="0"/>
          </a:p>
        </p:txBody>
      </p:sp>
      <p:sp>
        <p:nvSpPr>
          <p:cNvPr id="14" name="Text 12"/>
          <p:cNvSpPr txBox="1"/>
          <p:nvPr/>
        </p:nvSpPr>
        <p:spPr>
          <a:xfrm>
            <a:off x="3383280" y="2258568"/>
            <a:ext cx="2423160" cy="41148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Carousels, characters, brand visuals</a:t>
            </a:r>
            <a:endParaRPr lang="en-US" sz="1100" dirty="0"/>
          </a:p>
        </p:txBody>
      </p:sp>
      <p:sp>
        <p:nvSpPr>
          <p:cNvPr id="15" name="Shape 13"/>
          <p:cNvSpPr/>
          <p:nvPr/>
        </p:nvSpPr>
        <p:spPr>
          <a:xfrm>
            <a:off x="6035040" y="1298448"/>
            <a:ext cx="2651760" cy="1481328"/>
          </a:xfrm>
          <a:prstGeom prst="roundRect">
            <a:avLst>
              <a:gd name="adj" fmla="val 3704"/>
            </a:avLst>
          </a:prstGeom>
          <a:solidFill>
            <a:srgbClr val="F3F6F8"/>
          </a:solidFill>
          <a:ln w="12700">
            <a:solidFill>
              <a:srgbClr val="F3F6F8"/>
            </a:solidFill>
            <a:prstDash val="solid"/>
          </a:ln>
        </p:spPr>
      </p:sp>
      <p:sp>
        <p:nvSpPr>
          <p:cNvPr id="16" name="Shape 14"/>
          <p:cNvSpPr/>
          <p:nvPr/>
        </p:nvSpPr>
        <p:spPr>
          <a:xfrm>
            <a:off x="6172200" y="1435608"/>
            <a:ext cx="420624" cy="420624"/>
          </a:xfrm>
          <a:prstGeom prst="ellipse">
            <a:avLst/>
          </a:prstGeom>
          <a:solidFill>
            <a:srgbClr val="0A8577"/>
          </a:solidFill>
          <a:ln w="12700">
            <a:solidFill>
              <a:srgbClr val="0A8577"/>
            </a:solidFill>
            <a:prstDash val="solid"/>
          </a:ln>
        </p:spPr>
      </p:sp>
      <p:sp>
        <p:nvSpPr>
          <p:cNvPr id="17" name="Text 15"/>
          <p:cNvSpPr txBox="1"/>
          <p:nvPr/>
        </p:nvSpPr>
        <p:spPr>
          <a:xfrm>
            <a:off x="6693408" y="1435608"/>
            <a:ext cx="1920240" cy="420624"/>
          </a:xfrm>
          <a:prstGeom prst="rect">
            <a:avLst/>
          </a:prstGeom>
          <a:noFill/>
          <a:ln/>
        </p:spPr>
        <p:txBody>
          <a:bodyPr wrap="square" lIns="0" tIns="0" rIns="0" bIns="0" rtlCol="0" anchor="ctr"/>
          <a:lstStyle/>
          <a:p>
            <a:pPr indent="0" marL="0">
              <a:buNone/>
            </a:pPr>
            <a:r>
              <a:rPr lang="en-US" sz="1400" b="1" dirty="0">
                <a:solidFill>
                  <a:srgbClr val="0A8577"/>
                </a:solidFill>
                <a:latin typeface="Calibri" pitchFamily="34" charset="0"/>
                <a:ea typeface="Calibri" pitchFamily="34" charset="-122"/>
                <a:cs typeface="Calibri" pitchFamily="34" charset="-120"/>
              </a:rPr>
              <a:t>Video</a:t>
            </a:r>
            <a:endParaRPr lang="en-US" sz="1400" dirty="0"/>
          </a:p>
        </p:txBody>
      </p:sp>
      <p:sp>
        <p:nvSpPr>
          <p:cNvPr id="18" name="Text 16"/>
          <p:cNvSpPr txBox="1"/>
          <p:nvPr/>
        </p:nvSpPr>
        <p:spPr>
          <a:xfrm>
            <a:off x="6172200" y="1956816"/>
            <a:ext cx="2423160" cy="292608"/>
          </a:xfrm>
          <a:prstGeom prst="rect">
            <a:avLst/>
          </a:prstGeom>
          <a:noFill/>
          <a:ln/>
        </p:spPr>
        <p:txBody>
          <a:bodyPr wrap="square" lIns="0" tIns="0" rIns="0" bIns="0" rtlCol="0" anchor="t"/>
          <a:lstStyle/>
          <a:p>
            <a:pPr indent="0" marL="0">
              <a:buNone/>
            </a:pPr>
            <a:r>
              <a:rPr lang="en-US" sz="1200" b="1" dirty="0">
                <a:solidFill>
                  <a:srgbClr val="10233A"/>
                </a:solidFill>
                <a:latin typeface="Calibri" pitchFamily="34" charset="0"/>
                <a:ea typeface="Calibri" pitchFamily="34" charset="-122"/>
                <a:cs typeface="Calibri" pitchFamily="34" charset="-120"/>
              </a:rPr>
              <a:t>Google Flow · CapCut</a:t>
            </a:r>
            <a:endParaRPr lang="en-US" sz="1200" dirty="0"/>
          </a:p>
        </p:txBody>
      </p:sp>
      <p:sp>
        <p:nvSpPr>
          <p:cNvPr id="19" name="Text 17"/>
          <p:cNvSpPr txBox="1"/>
          <p:nvPr/>
        </p:nvSpPr>
        <p:spPr>
          <a:xfrm>
            <a:off x="6172200" y="2258568"/>
            <a:ext cx="2423160" cy="41148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Generated shots, editing, captions</a:t>
            </a:r>
            <a:endParaRPr lang="en-US" sz="1100" dirty="0"/>
          </a:p>
        </p:txBody>
      </p:sp>
      <p:sp>
        <p:nvSpPr>
          <p:cNvPr id="20" name="Shape 18"/>
          <p:cNvSpPr/>
          <p:nvPr/>
        </p:nvSpPr>
        <p:spPr>
          <a:xfrm>
            <a:off x="457200" y="2926080"/>
            <a:ext cx="2651760" cy="1481328"/>
          </a:xfrm>
          <a:prstGeom prst="roundRect">
            <a:avLst>
              <a:gd name="adj" fmla="val 3704"/>
            </a:avLst>
          </a:prstGeom>
          <a:solidFill>
            <a:srgbClr val="F3F6F8"/>
          </a:solidFill>
          <a:ln w="12700">
            <a:solidFill>
              <a:srgbClr val="F3F6F8"/>
            </a:solidFill>
            <a:prstDash val="solid"/>
          </a:ln>
        </p:spPr>
      </p:sp>
      <p:sp>
        <p:nvSpPr>
          <p:cNvPr id="21" name="Shape 19"/>
          <p:cNvSpPr/>
          <p:nvPr/>
        </p:nvSpPr>
        <p:spPr>
          <a:xfrm>
            <a:off x="594360" y="3063240"/>
            <a:ext cx="420624" cy="420624"/>
          </a:xfrm>
          <a:prstGeom prst="ellipse">
            <a:avLst/>
          </a:prstGeom>
          <a:solidFill>
            <a:srgbClr val="0A8577"/>
          </a:solidFill>
          <a:ln w="12700">
            <a:solidFill>
              <a:srgbClr val="0A8577"/>
            </a:solidFill>
            <a:prstDash val="solid"/>
          </a:ln>
        </p:spPr>
      </p:sp>
      <p:sp>
        <p:nvSpPr>
          <p:cNvPr id="22" name="Text 20"/>
          <p:cNvSpPr txBox="1"/>
          <p:nvPr/>
        </p:nvSpPr>
        <p:spPr>
          <a:xfrm>
            <a:off x="1115568" y="3063240"/>
            <a:ext cx="1920240" cy="420624"/>
          </a:xfrm>
          <a:prstGeom prst="rect">
            <a:avLst/>
          </a:prstGeom>
          <a:noFill/>
          <a:ln/>
        </p:spPr>
        <p:txBody>
          <a:bodyPr wrap="square" lIns="0" tIns="0" rIns="0" bIns="0" rtlCol="0" anchor="ctr"/>
          <a:lstStyle/>
          <a:p>
            <a:pPr indent="0" marL="0">
              <a:buNone/>
            </a:pPr>
            <a:r>
              <a:rPr lang="en-US" sz="1400" b="1" dirty="0">
                <a:solidFill>
                  <a:srgbClr val="0A8577"/>
                </a:solidFill>
                <a:latin typeface="Calibri" pitchFamily="34" charset="0"/>
                <a:ea typeface="Calibri" pitchFamily="34" charset="-122"/>
                <a:cs typeface="Calibri" pitchFamily="34" charset="-120"/>
              </a:rPr>
              <a:t>Voice</a:t>
            </a:r>
            <a:endParaRPr lang="en-US" sz="1400" dirty="0"/>
          </a:p>
        </p:txBody>
      </p:sp>
      <p:sp>
        <p:nvSpPr>
          <p:cNvPr id="23" name="Text 21"/>
          <p:cNvSpPr txBox="1"/>
          <p:nvPr/>
        </p:nvSpPr>
        <p:spPr>
          <a:xfrm>
            <a:off x="594360" y="3584448"/>
            <a:ext cx="2423160" cy="292608"/>
          </a:xfrm>
          <a:prstGeom prst="rect">
            <a:avLst/>
          </a:prstGeom>
          <a:noFill/>
          <a:ln/>
        </p:spPr>
        <p:txBody>
          <a:bodyPr wrap="square" lIns="0" tIns="0" rIns="0" bIns="0" rtlCol="0" anchor="t"/>
          <a:lstStyle/>
          <a:p>
            <a:pPr indent="0" marL="0">
              <a:buNone/>
            </a:pPr>
            <a:r>
              <a:rPr lang="en-US" sz="1200" b="1" dirty="0">
                <a:solidFill>
                  <a:srgbClr val="10233A"/>
                </a:solidFill>
                <a:latin typeface="Calibri" pitchFamily="34" charset="0"/>
                <a:ea typeface="Calibri" pitchFamily="34" charset="-122"/>
                <a:cs typeface="Calibri" pitchFamily="34" charset="-120"/>
              </a:rPr>
              <a:t>ElevenLabs · recorded narration</a:t>
            </a:r>
            <a:endParaRPr lang="en-US" sz="1200" dirty="0"/>
          </a:p>
        </p:txBody>
      </p:sp>
      <p:sp>
        <p:nvSpPr>
          <p:cNvPr id="24" name="Text 22"/>
          <p:cNvSpPr txBox="1"/>
          <p:nvPr/>
        </p:nvSpPr>
        <p:spPr>
          <a:xfrm>
            <a:off x="594360" y="3886200"/>
            <a:ext cx="2423160" cy="41148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Voice profiles and 30-second narration</a:t>
            </a:r>
            <a:endParaRPr lang="en-US" sz="1100" dirty="0"/>
          </a:p>
        </p:txBody>
      </p:sp>
      <p:sp>
        <p:nvSpPr>
          <p:cNvPr id="25" name="Shape 23"/>
          <p:cNvSpPr/>
          <p:nvPr/>
        </p:nvSpPr>
        <p:spPr>
          <a:xfrm>
            <a:off x="3246120" y="2926080"/>
            <a:ext cx="2651760" cy="1481328"/>
          </a:xfrm>
          <a:prstGeom prst="roundRect">
            <a:avLst>
              <a:gd name="adj" fmla="val 3704"/>
            </a:avLst>
          </a:prstGeom>
          <a:solidFill>
            <a:srgbClr val="10233A"/>
          </a:solidFill>
          <a:ln w="12700">
            <a:solidFill>
              <a:srgbClr val="10233A"/>
            </a:solidFill>
            <a:prstDash val="solid"/>
          </a:ln>
        </p:spPr>
      </p:sp>
      <p:sp>
        <p:nvSpPr>
          <p:cNvPr id="26" name="Shape 24"/>
          <p:cNvSpPr/>
          <p:nvPr/>
        </p:nvSpPr>
        <p:spPr>
          <a:xfrm>
            <a:off x="3383280" y="3063240"/>
            <a:ext cx="420624" cy="420624"/>
          </a:xfrm>
          <a:prstGeom prst="ellipse">
            <a:avLst/>
          </a:prstGeom>
          <a:solidFill>
            <a:srgbClr val="F2A541"/>
          </a:solidFill>
          <a:ln w="12700">
            <a:solidFill>
              <a:srgbClr val="F2A541"/>
            </a:solidFill>
            <a:prstDash val="solid"/>
          </a:ln>
        </p:spPr>
      </p:sp>
      <p:sp>
        <p:nvSpPr>
          <p:cNvPr id="27" name="Text 25"/>
          <p:cNvSpPr txBox="1"/>
          <p:nvPr/>
        </p:nvSpPr>
        <p:spPr>
          <a:xfrm>
            <a:off x="3904488" y="3063240"/>
            <a:ext cx="1920240" cy="420624"/>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Automation</a:t>
            </a:r>
            <a:endParaRPr lang="en-US" sz="1400" dirty="0"/>
          </a:p>
        </p:txBody>
      </p:sp>
      <p:sp>
        <p:nvSpPr>
          <p:cNvPr id="28" name="Text 26"/>
          <p:cNvSpPr txBox="1"/>
          <p:nvPr/>
        </p:nvSpPr>
        <p:spPr>
          <a:xfrm>
            <a:off x="3383280" y="3584448"/>
            <a:ext cx="2423160" cy="29260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n8n · Google Sheets</a:t>
            </a:r>
            <a:endParaRPr lang="en-US" sz="1200" dirty="0"/>
          </a:p>
        </p:txBody>
      </p:sp>
      <p:sp>
        <p:nvSpPr>
          <p:cNvPr id="29" name="Text 27"/>
          <p:cNvSpPr txBox="1"/>
          <p:nvPr/>
        </p:nvSpPr>
        <p:spPr>
          <a:xfrm>
            <a:off x="3383280" y="3886200"/>
            <a:ext cx="2423160" cy="411480"/>
          </a:xfrm>
          <a:prstGeom prst="rect">
            <a:avLst/>
          </a:prstGeom>
          <a:noFill/>
          <a:ln/>
        </p:spPr>
        <p:txBody>
          <a:bodyPr wrap="square" lIns="0" tIns="0" rIns="0" bIns="0" rtlCol="0" anchor="t"/>
          <a:lstStyle/>
          <a:p>
            <a:pPr indent="0" marL="0">
              <a:buNone/>
            </a:pPr>
            <a:r>
              <a:rPr lang="en-US" sz="1100" dirty="0">
                <a:solidFill>
                  <a:srgbClr val="D9E1EA"/>
                </a:solidFill>
                <a:latin typeface="Calibri" pitchFamily="34" charset="0"/>
                <a:ea typeface="Calibri" pitchFamily="34" charset="-122"/>
                <a:cs typeface="Calibri" pitchFamily="34" charset="-120"/>
              </a:rPr>
              <a:t>Form → AI → Sheets content workflow</a:t>
            </a:r>
            <a:endParaRPr lang="en-US" sz="1100" dirty="0"/>
          </a:p>
        </p:txBody>
      </p:sp>
      <p:sp>
        <p:nvSpPr>
          <p:cNvPr id="30" name="Shape 28"/>
          <p:cNvSpPr/>
          <p:nvPr/>
        </p:nvSpPr>
        <p:spPr>
          <a:xfrm>
            <a:off x="6035040" y="2926080"/>
            <a:ext cx="2651760" cy="1481328"/>
          </a:xfrm>
          <a:prstGeom prst="roundRect">
            <a:avLst>
              <a:gd name="adj" fmla="val 3704"/>
            </a:avLst>
          </a:prstGeom>
          <a:solidFill>
            <a:srgbClr val="F3F6F8"/>
          </a:solidFill>
          <a:ln w="12700">
            <a:solidFill>
              <a:srgbClr val="F3F6F8"/>
            </a:solidFill>
            <a:prstDash val="solid"/>
          </a:ln>
        </p:spPr>
      </p:sp>
      <p:sp>
        <p:nvSpPr>
          <p:cNvPr id="31" name="Shape 29"/>
          <p:cNvSpPr/>
          <p:nvPr/>
        </p:nvSpPr>
        <p:spPr>
          <a:xfrm>
            <a:off x="6172200" y="3063240"/>
            <a:ext cx="420624" cy="420624"/>
          </a:xfrm>
          <a:prstGeom prst="ellipse">
            <a:avLst/>
          </a:prstGeom>
          <a:solidFill>
            <a:srgbClr val="0A8577"/>
          </a:solidFill>
          <a:ln w="12700">
            <a:solidFill>
              <a:srgbClr val="0A8577"/>
            </a:solidFill>
            <a:prstDash val="solid"/>
          </a:ln>
        </p:spPr>
      </p:sp>
      <p:sp>
        <p:nvSpPr>
          <p:cNvPr id="32" name="Text 30"/>
          <p:cNvSpPr txBox="1"/>
          <p:nvPr/>
        </p:nvSpPr>
        <p:spPr>
          <a:xfrm>
            <a:off x="6693408" y="3063240"/>
            <a:ext cx="1920240" cy="420624"/>
          </a:xfrm>
          <a:prstGeom prst="rect">
            <a:avLst/>
          </a:prstGeom>
          <a:noFill/>
          <a:ln/>
        </p:spPr>
        <p:txBody>
          <a:bodyPr wrap="square" lIns="0" tIns="0" rIns="0" bIns="0" rtlCol="0" anchor="ctr"/>
          <a:lstStyle/>
          <a:p>
            <a:pPr indent="0" marL="0">
              <a:buNone/>
            </a:pPr>
            <a:r>
              <a:rPr lang="en-US" sz="1400" b="1" dirty="0">
                <a:solidFill>
                  <a:srgbClr val="0A8577"/>
                </a:solidFill>
                <a:latin typeface="Calibri" pitchFamily="34" charset="0"/>
                <a:ea typeface="Calibri" pitchFamily="34" charset="-122"/>
                <a:cs typeface="Calibri" pitchFamily="34" charset="-120"/>
              </a:rPr>
              <a:t>Web &amp; portfolio</a:t>
            </a:r>
            <a:endParaRPr lang="en-US" sz="1400" dirty="0"/>
          </a:p>
        </p:txBody>
      </p:sp>
      <p:sp>
        <p:nvSpPr>
          <p:cNvPr id="33" name="Text 31"/>
          <p:cNvSpPr txBox="1"/>
          <p:nvPr/>
        </p:nvSpPr>
        <p:spPr>
          <a:xfrm>
            <a:off x="6172200" y="3584448"/>
            <a:ext cx="2423160" cy="292608"/>
          </a:xfrm>
          <a:prstGeom prst="rect">
            <a:avLst/>
          </a:prstGeom>
          <a:noFill/>
          <a:ln/>
        </p:spPr>
        <p:txBody>
          <a:bodyPr wrap="square" lIns="0" tIns="0" rIns="0" bIns="0" rtlCol="0" anchor="t"/>
          <a:lstStyle/>
          <a:p>
            <a:pPr indent="0" marL="0">
              <a:buNone/>
            </a:pPr>
            <a:r>
              <a:rPr lang="en-US" sz="1200" b="1" dirty="0">
                <a:solidFill>
                  <a:srgbClr val="10233A"/>
                </a:solidFill>
                <a:latin typeface="Calibri" pitchFamily="34" charset="0"/>
                <a:ea typeface="Calibri" pitchFamily="34" charset="-122"/>
                <a:cs typeface="Calibri" pitchFamily="34" charset="-120"/>
              </a:rPr>
              <a:t>AI canvas · GitHub Pages</a:t>
            </a:r>
            <a:endParaRPr lang="en-US" sz="1200" dirty="0"/>
          </a:p>
        </p:txBody>
      </p:sp>
      <p:sp>
        <p:nvSpPr>
          <p:cNvPr id="34" name="Text 32"/>
          <p:cNvSpPr txBox="1"/>
          <p:nvPr/>
        </p:nvSpPr>
        <p:spPr>
          <a:xfrm>
            <a:off x="6172200" y="3886200"/>
            <a:ext cx="2423160" cy="41148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A published one-page portfolio</a:t>
            </a:r>
            <a:endParaRPr lang="en-US" sz="1100" dirty="0"/>
          </a:p>
        </p:txBody>
      </p:sp>
      <p:pic>
        <p:nvPicPr>
          <p:cNvPr id="35" name="Image 0" descr="preencoded.png">    </p:cNvPr>
          <p:cNvPicPr>
            <a:picLocks noChangeAspect="1"/>
          </p:cNvPicPr>
          <p:nvPr/>
        </p:nvPicPr>
        <p:blipFill>
          <a:blip r:embed="rId1"/>
          <a:stretch>
            <a:fillRect/>
          </a:stretch>
        </p:blipFill>
        <p:spPr>
          <a:xfrm>
            <a:off x="699516" y="3168396"/>
            <a:ext cx="210312" cy="210312"/>
          </a:xfrm>
          <a:prstGeom prst="rect">
            <a:avLst/>
          </a:prstGeom>
        </p:spPr>
      </p:pic>
      <p:pic>
        <p:nvPicPr>
          <p:cNvPr id="36" name="Image 1" descr="preencoded.png">    </p:cNvPr>
          <p:cNvPicPr>
            <a:picLocks noChangeAspect="1"/>
          </p:cNvPicPr>
          <p:nvPr/>
        </p:nvPicPr>
        <p:blipFill>
          <a:blip r:embed="rId2"/>
          <a:stretch>
            <a:fillRect/>
          </a:stretch>
        </p:blipFill>
        <p:spPr>
          <a:xfrm>
            <a:off x="699516" y="1540764"/>
            <a:ext cx="210312" cy="210312"/>
          </a:xfrm>
          <a:prstGeom prst="rect">
            <a:avLst/>
          </a:prstGeom>
        </p:spPr>
      </p:pic>
      <p:pic>
        <p:nvPicPr>
          <p:cNvPr id="37" name="Image 2" descr="preencoded.png">    </p:cNvPr>
          <p:cNvPicPr>
            <a:picLocks noChangeAspect="1"/>
          </p:cNvPicPr>
          <p:nvPr/>
        </p:nvPicPr>
        <p:blipFill>
          <a:blip r:embed="rId3"/>
          <a:stretch>
            <a:fillRect/>
          </a:stretch>
        </p:blipFill>
        <p:spPr>
          <a:xfrm>
            <a:off x="3488436" y="1540764"/>
            <a:ext cx="210312" cy="210312"/>
          </a:xfrm>
          <a:prstGeom prst="rect">
            <a:avLst/>
          </a:prstGeom>
        </p:spPr>
      </p:pic>
      <p:pic>
        <p:nvPicPr>
          <p:cNvPr id="38" name="Image 3" descr="preencoded.png">    </p:cNvPr>
          <p:cNvPicPr>
            <a:picLocks noChangeAspect="1"/>
          </p:cNvPicPr>
          <p:nvPr/>
        </p:nvPicPr>
        <p:blipFill>
          <a:blip r:embed="rId4"/>
          <a:stretch>
            <a:fillRect/>
          </a:stretch>
        </p:blipFill>
        <p:spPr>
          <a:xfrm>
            <a:off x="6277356" y="1540764"/>
            <a:ext cx="210312" cy="210312"/>
          </a:xfrm>
          <a:prstGeom prst="rect">
            <a:avLst/>
          </a:prstGeom>
        </p:spPr>
      </p:pic>
      <p:pic>
        <p:nvPicPr>
          <p:cNvPr id="39" name="Image 4" descr="preencoded.png">    </p:cNvPr>
          <p:cNvPicPr>
            <a:picLocks noChangeAspect="1"/>
          </p:cNvPicPr>
          <p:nvPr/>
        </p:nvPicPr>
        <p:blipFill>
          <a:blip r:embed="rId5"/>
          <a:stretch>
            <a:fillRect/>
          </a:stretch>
        </p:blipFill>
        <p:spPr>
          <a:xfrm>
            <a:off x="3488436" y="3168396"/>
            <a:ext cx="210312" cy="210312"/>
          </a:xfrm>
          <a:prstGeom prst="rect">
            <a:avLst/>
          </a:prstGeom>
        </p:spPr>
      </p:pic>
      <p:pic>
        <p:nvPicPr>
          <p:cNvPr id="40" name="Image 5" descr="preencoded.png">    </p:cNvPr>
          <p:cNvPicPr>
            <a:picLocks noChangeAspect="1"/>
          </p:cNvPicPr>
          <p:nvPr/>
        </p:nvPicPr>
        <p:blipFill>
          <a:blip r:embed="rId6"/>
          <a:stretch>
            <a:fillRect/>
          </a:stretch>
        </p:blipFill>
        <p:spPr>
          <a:xfrm>
            <a:off x="6277356" y="3168396"/>
            <a:ext cx="210312" cy="210312"/>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11  ·  CAPSTONE</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Capstone: an AI-powered mini digital agency</a:t>
            </a:r>
            <a:endParaRPr lang="en-US" sz="2500" dirty="0"/>
          </a:p>
        </p:txBody>
      </p:sp>
      <p:sp>
        <p:nvSpPr>
          <p:cNvPr id="5" name="Text 3"/>
          <p:cNvSpPr txBox="1"/>
          <p:nvPr/>
        </p:nvSpPr>
        <p:spPr>
          <a:xfrm>
            <a:off x="457200" y="1234440"/>
            <a:ext cx="8229600" cy="411480"/>
          </a:xfrm>
          <a:prstGeom prst="rect">
            <a:avLst/>
          </a:prstGeom>
          <a:noFill/>
          <a:ln/>
        </p:spPr>
        <p:txBody>
          <a:bodyPr wrap="square" lIns="0" tIns="0" rIns="0" bIns="0" rtlCol="0" anchor="t"/>
          <a:lstStyle/>
          <a:p>
            <a:pPr indent="0" marL="0">
              <a:buNone/>
            </a:pPr>
            <a:r>
              <a:rPr lang="en-US" sz="1200" dirty="0">
                <a:solidFill>
                  <a:srgbClr val="2B3A4A"/>
                </a:solidFill>
                <a:latin typeface="Calibri" pitchFamily="34" charset="0"/>
                <a:ea typeface="Calibri" pitchFamily="34" charset="-122"/>
                <a:cs typeface="Calibri" pitchFamily="34" charset="-120"/>
              </a:rPr>
              <a:t>Teams of 3–4 choose a real or realistic client (a small business, NGO, local shop or community initiative) and deliver a complete campaign package.</a:t>
            </a:r>
            <a:endParaRPr lang="en-US" sz="1200" dirty="0"/>
          </a:p>
        </p:txBody>
      </p:sp>
      <p:sp>
        <p:nvSpPr>
          <p:cNvPr id="6" name="Shape 4"/>
          <p:cNvSpPr/>
          <p:nvPr/>
        </p:nvSpPr>
        <p:spPr>
          <a:xfrm>
            <a:off x="457200" y="1719072"/>
            <a:ext cx="1554480" cy="365760"/>
          </a:xfrm>
          <a:prstGeom prst="roundRect">
            <a:avLst>
              <a:gd name="adj" fmla="val 15000"/>
            </a:avLst>
          </a:prstGeom>
          <a:solidFill>
            <a:srgbClr val="10233A"/>
          </a:solidFill>
          <a:ln w="12700">
            <a:solidFill>
              <a:srgbClr val="10233A"/>
            </a:solidFill>
            <a:prstDash val="solid"/>
          </a:ln>
        </p:spPr>
      </p:sp>
      <p:sp>
        <p:nvSpPr>
          <p:cNvPr id="7" name="Text 5"/>
          <p:cNvSpPr txBox="1"/>
          <p:nvPr/>
        </p:nvSpPr>
        <p:spPr>
          <a:xfrm>
            <a:off x="457200" y="1719072"/>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Discover</a:t>
            </a:r>
            <a:endParaRPr lang="en-US" sz="1150" dirty="0"/>
          </a:p>
        </p:txBody>
      </p:sp>
      <p:sp>
        <p:nvSpPr>
          <p:cNvPr id="8" name="Shape 6"/>
          <p:cNvSpPr/>
          <p:nvPr/>
        </p:nvSpPr>
        <p:spPr>
          <a:xfrm>
            <a:off x="457200" y="2148840"/>
            <a:ext cx="1554480" cy="2148840"/>
          </a:xfrm>
          <a:prstGeom prst="roundRect">
            <a:avLst>
              <a:gd name="adj" fmla="val 3529"/>
            </a:avLst>
          </a:prstGeom>
          <a:solidFill>
            <a:srgbClr val="F3F6F8"/>
          </a:solidFill>
          <a:ln w="12700">
            <a:solidFill>
              <a:srgbClr val="F3F6F8"/>
            </a:solidFill>
            <a:prstDash val="solid"/>
          </a:ln>
        </p:spPr>
      </p:sp>
      <p:sp>
        <p:nvSpPr>
          <p:cNvPr id="9" name="Shape 7"/>
          <p:cNvSpPr/>
          <p:nvPr/>
        </p:nvSpPr>
        <p:spPr>
          <a:xfrm>
            <a:off x="530352" y="2249424"/>
            <a:ext cx="182880" cy="182880"/>
          </a:xfrm>
          <a:prstGeom prst="ellipse">
            <a:avLst/>
          </a:prstGeom>
          <a:solidFill>
            <a:srgbClr val="0A8577"/>
          </a:solidFill>
          <a:ln w="12700">
            <a:solidFill>
              <a:srgbClr val="0A8577"/>
            </a:solidFill>
            <a:prstDash val="solid"/>
          </a:ln>
        </p:spPr>
      </p:sp>
      <p:sp>
        <p:nvSpPr>
          <p:cNvPr id="10" name="Text 8"/>
          <p:cNvSpPr txBox="1"/>
          <p:nvPr/>
        </p:nvSpPr>
        <p:spPr>
          <a:xfrm>
            <a:off x="530352" y="2249424"/>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11" name="Text 9"/>
          <p:cNvSpPr txBox="1"/>
          <p:nvPr/>
        </p:nvSpPr>
        <p:spPr>
          <a:xfrm>
            <a:off x="768096" y="2221992"/>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Research</a:t>
            </a:r>
            <a:endParaRPr lang="en-US" sz="1000" dirty="0"/>
          </a:p>
        </p:txBody>
      </p:sp>
      <p:sp>
        <p:nvSpPr>
          <p:cNvPr id="12" name="Shape 10"/>
          <p:cNvSpPr/>
          <p:nvPr/>
        </p:nvSpPr>
        <p:spPr>
          <a:xfrm>
            <a:off x="530352" y="2505456"/>
            <a:ext cx="182880" cy="182880"/>
          </a:xfrm>
          <a:prstGeom prst="ellipse">
            <a:avLst/>
          </a:prstGeom>
          <a:solidFill>
            <a:srgbClr val="0A8577"/>
          </a:solidFill>
          <a:ln w="12700">
            <a:solidFill>
              <a:srgbClr val="0A8577"/>
            </a:solidFill>
            <a:prstDash val="solid"/>
          </a:ln>
        </p:spPr>
      </p:sp>
      <p:sp>
        <p:nvSpPr>
          <p:cNvPr id="13" name="Text 11"/>
          <p:cNvSpPr txBox="1"/>
          <p:nvPr/>
        </p:nvSpPr>
        <p:spPr>
          <a:xfrm>
            <a:off x="530352" y="2505456"/>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14" name="Text 12"/>
          <p:cNvSpPr txBox="1"/>
          <p:nvPr/>
        </p:nvSpPr>
        <p:spPr>
          <a:xfrm>
            <a:off x="768096" y="2478024"/>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Client brief</a:t>
            </a:r>
            <a:endParaRPr lang="en-US" sz="1000" dirty="0"/>
          </a:p>
        </p:txBody>
      </p:sp>
      <p:sp>
        <p:nvSpPr>
          <p:cNvPr id="15" name="Shape 13"/>
          <p:cNvSpPr/>
          <p:nvPr/>
        </p:nvSpPr>
        <p:spPr>
          <a:xfrm>
            <a:off x="530352" y="2761488"/>
            <a:ext cx="182880" cy="182880"/>
          </a:xfrm>
          <a:prstGeom prst="ellipse">
            <a:avLst/>
          </a:prstGeom>
          <a:solidFill>
            <a:srgbClr val="0A8577"/>
          </a:solidFill>
          <a:ln w="12700">
            <a:solidFill>
              <a:srgbClr val="0A8577"/>
            </a:solidFill>
            <a:prstDash val="solid"/>
          </a:ln>
        </p:spPr>
      </p:sp>
      <p:sp>
        <p:nvSpPr>
          <p:cNvPr id="16" name="Text 14"/>
          <p:cNvSpPr txBox="1"/>
          <p:nvPr/>
        </p:nvSpPr>
        <p:spPr>
          <a:xfrm>
            <a:off x="530352" y="2761488"/>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17" name="Text 15"/>
          <p:cNvSpPr txBox="1"/>
          <p:nvPr/>
        </p:nvSpPr>
        <p:spPr>
          <a:xfrm>
            <a:off x="768096" y="2734056"/>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Audience persona</a:t>
            </a:r>
            <a:endParaRPr lang="en-US" sz="1000" dirty="0"/>
          </a:p>
        </p:txBody>
      </p:sp>
      <p:sp>
        <p:nvSpPr>
          <p:cNvPr id="18" name="Shape 16"/>
          <p:cNvSpPr/>
          <p:nvPr/>
        </p:nvSpPr>
        <p:spPr>
          <a:xfrm>
            <a:off x="530352" y="3017520"/>
            <a:ext cx="182880" cy="182880"/>
          </a:xfrm>
          <a:prstGeom prst="ellipse">
            <a:avLst/>
          </a:prstGeom>
          <a:solidFill>
            <a:srgbClr val="0A8577"/>
          </a:solidFill>
          <a:ln w="12700">
            <a:solidFill>
              <a:srgbClr val="0A8577"/>
            </a:solidFill>
            <a:prstDash val="solid"/>
          </a:ln>
        </p:spPr>
      </p:sp>
      <p:sp>
        <p:nvSpPr>
          <p:cNvPr id="19" name="Text 17"/>
          <p:cNvSpPr txBox="1"/>
          <p:nvPr/>
        </p:nvSpPr>
        <p:spPr>
          <a:xfrm>
            <a:off x="530352" y="3017520"/>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20" name="Text 18"/>
          <p:cNvSpPr txBox="1"/>
          <p:nvPr/>
        </p:nvSpPr>
        <p:spPr>
          <a:xfrm>
            <a:off x="768096" y="2990088"/>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Marketing objective</a:t>
            </a:r>
            <a:endParaRPr lang="en-US" sz="1000" dirty="0"/>
          </a:p>
        </p:txBody>
      </p:sp>
      <p:sp>
        <p:nvSpPr>
          <p:cNvPr id="21" name="Shape 19"/>
          <p:cNvSpPr/>
          <p:nvPr/>
        </p:nvSpPr>
        <p:spPr>
          <a:xfrm>
            <a:off x="2130552" y="1719072"/>
            <a:ext cx="1554480" cy="365760"/>
          </a:xfrm>
          <a:prstGeom prst="roundRect">
            <a:avLst>
              <a:gd name="adj" fmla="val 15000"/>
            </a:avLst>
          </a:prstGeom>
          <a:solidFill>
            <a:srgbClr val="10233A"/>
          </a:solidFill>
          <a:ln w="12700">
            <a:solidFill>
              <a:srgbClr val="10233A"/>
            </a:solidFill>
            <a:prstDash val="solid"/>
          </a:ln>
        </p:spPr>
      </p:sp>
      <p:sp>
        <p:nvSpPr>
          <p:cNvPr id="22" name="Text 20"/>
          <p:cNvSpPr txBox="1"/>
          <p:nvPr/>
        </p:nvSpPr>
        <p:spPr>
          <a:xfrm>
            <a:off x="2130552" y="1719072"/>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Plan</a:t>
            </a:r>
            <a:endParaRPr lang="en-US" sz="1150" dirty="0"/>
          </a:p>
        </p:txBody>
      </p:sp>
      <p:sp>
        <p:nvSpPr>
          <p:cNvPr id="23" name="Shape 21"/>
          <p:cNvSpPr/>
          <p:nvPr/>
        </p:nvSpPr>
        <p:spPr>
          <a:xfrm>
            <a:off x="2130552" y="2148840"/>
            <a:ext cx="1554480" cy="2148840"/>
          </a:xfrm>
          <a:prstGeom prst="roundRect">
            <a:avLst>
              <a:gd name="adj" fmla="val 3529"/>
            </a:avLst>
          </a:prstGeom>
          <a:solidFill>
            <a:srgbClr val="F3F6F8"/>
          </a:solidFill>
          <a:ln w="12700">
            <a:solidFill>
              <a:srgbClr val="F3F6F8"/>
            </a:solidFill>
            <a:prstDash val="solid"/>
          </a:ln>
        </p:spPr>
      </p:sp>
      <p:sp>
        <p:nvSpPr>
          <p:cNvPr id="24" name="Shape 22"/>
          <p:cNvSpPr/>
          <p:nvPr/>
        </p:nvSpPr>
        <p:spPr>
          <a:xfrm>
            <a:off x="2203704" y="2249424"/>
            <a:ext cx="182880" cy="182880"/>
          </a:xfrm>
          <a:prstGeom prst="ellipse">
            <a:avLst/>
          </a:prstGeom>
          <a:solidFill>
            <a:srgbClr val="0A8577"/>
          </a:solidFill>
          <a:ln w="12700">
            <a:solidFill>
              <a:srgbClr val="0A8577"/>
            </a:solidFill>
            <a:prstDash val="solid"/>
          </a:ln>
        </p:spPr>
      </p:sp>
      <p:sp>
        <p:nvSpPr>
          <p:cNvPr id="25" name="Text 23"/>
          <p:cNvSpPr txBox="1"/>
          <p:nvPr/>
        </p:nvSpPr>
        <p:spPr>
          <a:xfrm>
            <a:off x="2203704" y="2249424"/>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26" name="Text 24"/>
          <p:cNvSpPr txBox="1"/>
          <p:nvPr/>
        </p:nvSpPr>
        <p:spPr>
          <a:xfrm>
            <a:off x="2441448" y="2221992"/>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Content strategy</a:t>
            </a:r>
            <a:endParaRPr lang="en-US" sz="1000" dirty="0"/>
          </a:p>
        </p:txBody>
      </p:sp>
      <p:sp>
        <p:nvSpPr>
          <p:cNvPr id="27" name="Shape 25"/>
          <p:cNvSpPr/>
          <p:nvPr/>
        </p:nvSpPr>
        <p:spPr>
          <a:xfrm>
            <a:off x="2203704" y="2505456"/>
            <a:ext cx="182880" cy="182880"/>
          </a:xfrm>
          <a:prstGeom prst="ellipse">
            <a:avLst/>
          </a:prstGeom>
          <a:solidFill>
            <a:srgbClr val="0A8577"/>
          </a:solidFill>
          <a:ln w="12700">
            <a:solidFill>
              <a:srgbClr val="0A8577"/>
            </a:solidFill>
            <a:prstDash val="solid"/>
          </a:ln>
        </p:spPr>
      </p:sp>
      <p:sp>
        <p:nvSpPr>
          <p:cNvPr id="28" name="Text 26"/>
          <p:cNvSpPr txBox="1"/>
          <p:nvPr/>
        </p:nvSpPr>
        <p:spPr>
          <a:xfrm>
            <a:off x="2203704" y="2505456"/>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29" name="Text 27"/>
          <p:cNvSpPr txBox="1"/>
          <p:nvPr/>
        </p:nvSpPr>
        <p:spPr>
          <a:xfrm>
            <a:off x="2441448" y="2478024"/>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Content calendar</a:t>
            </a:r>
            <a:endParaRPr lang="en-US" sz="1000" dirty="0"/>
          </a:p>
        </p:txBody>
      </p:sp>
      <p:sp>
        <p:nvSpPr>
          <p:cNvPr id="30" name="Shape 28"/>
          <p:cNvSpPr/>
          <p:nvPr/>
        </p:nvSpPr>
        <p:spPr>
          <a:xfrm>
            <a:off x="2203704" y="2761488"/>
            <a:ext cx="182880" cy="182880"/>
          </a:xfrm>
          <a:prstGeom prst="ellipse">
            <a:avLst/>
          </a:prstGeom>
          <a:solidFill>
            <a:srgbClr val="0A8577"/>
          </a:solidFill>
          <a:ln w="12700">
            <a:solidFill>
              <a:srgbClr val="0A8577"/>
            </a:solidFill>
            <a:prstDash val="solid"/>
          </a:ln>
        </p:spPr>
      </p:sp>
      <p:sp>
        <p:nvSpPr>
          <p:cNvPr id="31" name="Text 29"/>
          <p:cNvSpPr txBox="1"/>
          <p:nvPr/>
        </p:nvSpPr>
        <p:spPr>
          <a:xfrm>
            <a:off x="2203704" y="2761488"/>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p>
        </p:txBody>
      </p:sp>
      <p:sp>
        <p:nvSpPr>
          <p:cNvPr id="32" name="Text 30"/>
          <p:cNvSpPr txBox="1"/>
          <p:nvPr/>
        </p:nvSpPr>
        <p:spPr>
          <a:xfrm>
            <a:off x="2441448" y="2734056"/>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Marketing campaign</a:t>
            </a:r>
            <a:endParaRPr lang="en-US" sz="1000" dirty="0"/>
          </a:p>
        </p:txBody>
      </p:sp>
      <p:sp>
        <p:nvSpPr>
          <p:cNvPr id="33" name="Shape 31"/>
          <p:cNvSpPr/>
          <p:nvPr/>
        </p:nvSpPr>
        <p:spPr>
          <a:xfrm>
            <a:off x="3803904" y="1719072"/>
            <a:ext cx="1554480" cy="365760"/>
          </a:xfrm>
          <a:prstGeom prst="roundRect">
            <a:avLst>
              <a:gd name="adj" fmla="val 15000"/>
            </a:avLst>
          </a:prstGeom>
          <a:solidFill>
            <a:srgbClr val="F2A541"/>
          </a:solidFill>
          <a:ln w="12700">
            <a:solidFill>
              <a:srgbClr val="F2A541"/>
            </a:solidFill>
            <a:prstDash val="solid"/>
          </a:ln>
        </p:spPr>
      </p:sp>
      <p:sp>
        <p:nvSpPr>
          <p:cNvPr id="34" name="Text 32"/>
          <p:cNvSpPr txBox="1"/>
          <p:nvPr/>
        </p:nvSpPr>
        <p:spPr>
          <a:xfrm>
            <a:off x="3803904" y="1719072"/>
            <a:ext cx="1554480" cy="365760"/>
          </a:xfrm>
          <a:prstGeom prst="rect">
            <a:avLst/>
          </a:prstGeom>
          <a:noFill/>
          <a:ln/>
        </p:spPr>
        <p:txBody>
          <a:bodyPr wrap="square" lIns="0" tIns="0" rIns="0" bIns="0" rtlCol="0" anchor="ctr"/>
          <a:lstStyle/>
          <a:p>
            <a:pPr algn="ctr" indent="0" marL="0">
              <a:buNone/>
            </a:pPr>
            <a:r>
              <a:rPr lang="en-US" sz="1150" b="1" dirty="0">
                <a:solidFill>
                  <a:srgbClr val="10233A"/>
                </a:solidFill>
                <a:latin typeface="Calibri" pitchFamily="34" charset="0"/>
                <a:ea typeface="Calibri" pitchFamily="34" charset="-122"/>
                <a:cs typeface="Calibri" pitchFamily="34" charset="-120"/>
              </a:rPr>
              <a:t>Create</a:t>
            </a:r>
            <a:endParaRPr lang="en-US" sz="1150" dirty="0"/>
          </a:p>
        </p:txBody>
      </p:sp>
      <p:sp>
        <p:nvSpPr>
          <p:cNvPr id="35" name="Shape 33"/>
          <p:cNvSpPr/>
          <p:nvPr/>
        </p:nvSpPr>
        <p:spPr>
          <a:xfrm>
            <a:off x="3803904" y="2148840"/>
            <a:ext cx="1554480" cy="2148840"/>
          </a:xfrm>
          <a:prstGeom prst="roundRect">
            <a:avLst>
              <a:gd name="adj" fmla="val 3529"/>
            </a:avLst>
          </a:prstGeom>
          <a:solidFill>
            <a:srgbClr val="F3F6F8"/>
          </a:solidFill>
          <a:ln w="12700">
            <a:solidFill>
              <a:srgbClr val="F3F6F8"/>
            </a:solidFill>
            <a:prstDash val="solid"/>
          </a:ln>
        </p:spPr>
      </p:sp>
      <p:sp>
        <p:nvSpPr>
          <p:cNvPr id="36" name="Shape 34"/>
          <p:cNvSpPr/>
          <p:nvPr/>
        </p:nvSpPr>
        <p:spPr>
          <a:xfrm>
            <a:off x="3877056" y="2249424"/>
            <a:ext cx="182880" cy="182880"/>
          </a:xfrm>
          <a:prstGeom prst="ellipse">
            <a:avLst/>
          </a:prstGeom>
          <a:solidFill>
            <a:srgbClr val="F2A541"/>
          </a:solidFill>
          <a:ln w="12700">
            <a:solidFill>
              <a:srgbClr val="F2A541"/>
            </a:solidFill>
            <a:prstDash val="solid"/>
          </a:ln>
        </p:spPr>
      </p:sp>
      <p:sp>
        <p:nvSpPr>
          <p:cNvPr id="37" name="Text 35"/>
          <p:cNvSpPr txBox="1"/>
          <p:nvPr/>
        </p:nvSpPr>
        <p:spPr>
          <a:xfrm>
            <a:off x="3877056" y="2249424"/>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8</a:t>
            </a:r>
            <a:endParaRPr lang="en-US" sz="750" dirty="0"/>
          </a:p>
        </p:txBody>
      </p:sp>
      <p:sp>
        <p:nvSpPr>
          <p:cNvPr id="38" name="Text 36"/>
          <p:cNvSpPr txBox="1"/>
          <p:nvPr/>
        </p:nvSpPr>
        <p:spPr>
          <a:xfrm>
            <a:off x="4114800" y="2221992"/>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AI character</a:t>
            </a:r>
            <a:endParaRPr lang="en-US" sz="1000" dirty="0"/>
          </a:p>
        </p:txBody>
      </p:sp>
      <p:sp>
        <p:nvSpPr>
          <p:cNvPr id="39" name="Shape 37"/>
          <p:cNvSpPr/>
          <p:nvPr/>
        </p:nvSpPr>
        <p:spPr>
          <a:xfrm>
            <a:off x="3877056" y="2505456"/>
            <a:ext cx="182880" cy="182880"/>
          </a:xfrm>
          <a:prstGeom prst="ellipse">
            <a:avLst/>
          </a:prstGeom>
          <a:solidFill>
            <a:srgbClr val="F2A541"/>
          </a:solidFill>
          <a:ln w="12700">
            <a:solidFill>
              <a:srgbClr val="F2A541"/>
            </a:solidFill>
            <a:prstDash val="solid"/>
          </a:ln>
        </p:spPr>
      </p:sp>
      <p:sp>
        <p:nvSpPr>
          <p:cNvPr id="40" name="Text 38"/>
          <p:cNvSpPr txBox="1"/>
          <p:nvPr/>
        </p:nvSpPr>
        <p:spPr>
          <a:xfrm>
            <a:off x="3877056" y="2505456"/>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9</a:t>
            </a:r>
            <a:endParaRPr lang="en-US" sz="750" dirty="0"/>
          </a:p>
        </p:txBody>
      </p:sp>
      <p:sp>
        <p:nvSpPr>
          <p:cNvPr id="41" name="Text 39"/>
          <p:cNvSpPr txBox="1"/>
          <p:nvPr/>
        </p:nvSpPr>
        <p:spPr>
          <a:xfrm>
            <a:off x="4114800" y="2478024"/>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Voice profile</a:t>
            </a:r>
            <a:endParaRPr lang="en-US" sz="1000" dirty="0"/>
          </a:p>
        </p:txBody>
      </p:sp>
      <p:sp>
        <p:nvSpPr>
          <p:cNvPr id="42" name="Shape 40"/>
          <p:cNvSpPr/>
          <p:nvPr/>
        </p:nvSpPr>
        <p:spPr>
          <a:xfrm>
            <a:off x="3877056" y="2761488"/>
            <a:ext cx="182880" cy="182880"/>
          </a:xfrm>
          <a:prstGeom prst="ellipse">
            <a:avLst/>
          </a:prstGeom>
          <a:solidFill>
            <a:srgbClr val="F2A541"/>
          </a:solidFill>
          <a:ln w="12700">
            <a:solidFill>
              <a:srgbClr val="F2A541"/>
            </a:solidFill>
            <a:prstDash val="solid"/>
          </a:ln>
        </p:spPr>
      </p:sp>
      <p:sp>
        <p:nvSpPr>
          <p:cNvPr id="43" name="Text 41"/>
          <p:cNvSpPr txBox="1"/>
          <p:nvPr/>
        </p:nvSpPr>
        <p:spPr>
          <a:xfrm>
            <a:off x="3877056" y="2761488"/>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10</a:t>
            </a:r>
            <a:endParaRPr lang="en-US" sz="750" dirty="0"/>
          </a:p>
        </p:txBody>
      </p:sp>
      <p:sp>
        <p:nvSpPr>
          <p:cNvPr id="44" name="Text 42"/>
          <p:cNvSpPr txBox="1"/>
          <p:nvPr/>
        </p:nvSpPr>
        <p:spPr>
          <a:xfrm>
            <a:off x="4114800" y="2734056"/>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Visual assets</a:t>
            </a:r>
            <a:endParaRPr lang="en-US" sz="1000" dirty="0"/>
          </a:p>
        </p:txBody>
      </p:sp>
      <p:sp>
        <p:nvSpPr>
          <p:cNvPr id="45" name="Shape 43"/>
          <p:cNvSpPr/>
          <p:nvPr/>
        </p:nvSpPr>
        <p:spPr>
          <a:xfrm>
            <a:off x="3877056" y="3017520"/>
            <a:ext cx="182880" cy="182880"/>
          </a:xfrm>
          <a:prstGeom prst="ellipse">
            <a:avLst/>
          </a:prstGeom>
          <a:solidFill>
            <a:srgbClr val="F2A541"/>
          </a:solidFill>
          <a:ln w="12700">
            <a:solidFill>
              <a:srgbClr val="F2A541"/>
            </a:solidFill>
            <a:prstDash val="solid"/>
          </a:ln>
        </p:spPr>
      </p:sp>
      <p:sp>
        <p:nvSpPr>
          <p:cNvPr id="46" name="Text 44"/>
          <p:cNvSpPr txBox="1"/>
          <p:nvPr/>
        </p:nvSpPr>
        <p:spPr>
          <a:xfrm>
            <a:off x="3877056" y="3017520"/>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11</a:t>
            </a:r>
            <a:endParaRPr lang="en-US" sz="750" dirty="0"/>
          </a:p>
        </p:txBody>
      </p:sp>
      <p:sp>
        <p:nvSpPr>
          <p:cNvPr id="47" name="Text 45"/>
          <p:cNvSpPr txBox="1"/>
          <p:nvPr/>
        </p:nvSpPr>
        <p:spPr>
          <a:xfrm>
            <a:off x="4114800" y="2990088"/>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Video scripts</a:t>
            </a:r>
            <a:endParaRPr lang="en-US" sz="1000" dirty="0"/>
          </a:p>
        </p:txBody>
      </p:sp>
      <p:sp>
        <p:nvSpPr>
          <p:cNvPr id="48" name="Shape 46"/>
          <p:cNvSpPr/>
          <p:nvPr/>
        </p:nvSpPr>
        <p:spPr>
          <a:xfrm>
            <a:off x="3877056" y="3273552"/>
            <a:ext cx="182880" cy="182880"/>
          </a:xfrm>
          <a:prstGeom prst="ellipse">
            <a:avLst/>
          </a:prstGeom>
          <a:solidFill>
            <a:srgbClr val="F2A541"/>
          </a:solidFill>
          <a:ln w="12700">
            <a:solidFill>
              <a:srgbClr val="F2A541"/>
            </a:solidFill>
            <a:prstDash val="solid"/>
          </a:ln>
        </p:spPr>
      </p:sp>
      <p:sp>
        <p:nvSpPr>
          <p:cNvPr id="49" name="Text 47"/>
          <p:cNvSpPr txBox="1"/>
          <p:nvPr/>
        </p:nvSpPr>
        <p:spPr>
          <a:xfrm>
            <a:off x="3877056" y="3273552"/>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12</a:t>
            </a:r>
            <a:endParaRPr lang="en-US" sz="750" dirty="0"/>
          </a:p>
        </p:txBody>
      </p:sp>
      <p:sp>
        <p:nvSpPr>
          <p:cNvPr id="50" name="Text 48"/>
          <p:cNvSpPr txBox="1"/>
          <p:nvPr/>
        </p:nvSpPr>
        <p:spPr>
          <a:xfrm>
            <a:off x="4114800" y="3246120"/>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Storyboard</a:t>
            </a:r>
            <a:endParaRPr lang="en-US" sz="1000" dirty="0"/>
          </a:p>
        </p:txBody>
      </p:sp>
      <p:sp>
        <p:nvSpPr>
          <p:cNvPr id="51" name="Shape 49"/>
          <p:cNvSpPr/>
          <p:nvPr/>
        </p:nvSpPr>
        <p:spPr>
          <a:xfrm>
            <a:off x="3877056" y="3529584"/>
            <a:ext cx="182880" cy="182880"/>
          </a:xfrm>
          <a:prstGeom prst="ellipse">
            <a:avLst/>
          </a:prstGeom>
          <a:solidFill>
            <a:srgbClr val="F2A541"/>
          </a:solidFill>
          <a:ln w="12700">
            <a:solidFill>
              <a:srgbClr val="F2A541"/>
            </a:solidFill>
            <a:prstDash val="solid"/>
          </a:ln>
        </p:spPr>
      </p:sp>
      <p:sp>
        <p:nvSpPr>
          <p:cNvPr id="52" name="Text 50"/>
          <p:cNvSpPr txBox="1"/>
          <p:nvPr/>
        </p:nvSpPr>
        <p:spPr>
          <a:xfrm>
            <a:off x="3877056" y="3529584"/>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13</a:t>
            </a:r>
            <a:endParaRPr lang="en-US" sz="750" dirty="0"/>
          </a:p>
        </p:txBody>
      </p:sp>
      <p:sp>
        <p:nvSpPr>
          <p:cNvPr id="53" name="Text 51"/>
          <p:cNvSpPr txBox="1"/>
          <p:nvPr/>
        </p:nvSpPr>
        <p:spPr>
          <a:xfrm>
            <a:off x="4114800" y="3502152"/>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AI video</a:t>
            </a:r>
            <a:endParaRPr lang="en-US" sz="1000" dirty="0"/>
          </a:p>
        </p:txBody>
      </p:sp>
      <p:sp>
        <p:nvSpPr>
          <p:cNvPr id="54" name="Shape 52"/>
          <p:cNvSpPr/>
          <p:nvPr/>
        </p:nvSpPr>
        <p:spPr>
          <a:xfrm>
            <a:off x="3877056" y="3785616"/>
            <a:ext cx="182880" cy="182880"/>
          </a:xfrm>
          <a:prstGeom prst="ellipse">
            <a:avLst/>
          </a:prstGeom>
          <a:solidFill>
            <a:srgbClr val="F2A541"/>
          </a:solidFill>
          <a:ln w="12700">
            <a:solidFill>
              <a:srgbClr val="F2A541"/>
            </a:solidFill>
            <a:prstDash val="solid"/>
          </a:ln>
        </p:spPr>
      </p:sp>
      <p:sp>
        <p:nvSpPr>
          <p:cNvPr id="55" name="Text 53"/>
          <p:cNvSpPr txBox="1"/>
          <p:nvPr/>
        </p:nvSpPr>
        <p:spPr>
          <a:xfrm>
            <a:off x="3877056" y="3785616"/>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14</a:t>
            </a:r>
            <a:endParaRPr lang="en-US" sz="750" dirty="0"/>
          </a:p>
        </p:txBody>
      </p:sp>
      <p:sp>
        <p:nvSpPr>
          <p:cNvPr id="56" name="Text 54"/>
          <p:cNvSpPr txBox="1"/>
          <p:nvPr/>
        </p:nvSpPr>
        <p:spPr>
          <a:xfrm>
            <a:off x="4114800" y="3758184"/>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Edited final video</a:t>
            </a:r>
            <a:endParaRPr lang="en-US" sz="1000" dirty="0"/>
          </a:p>
        </p:txBody>
      </p:sp>
      <p:sp>
        <p:nvSpPr>
          <p:cNvPr id="57" name="Shape 55"/>
          <p:cNvSpPr/>
          <p:nvPr/>
        </p:nvSpPr>
        <p:spPr>
          <a:xfrm>
            <a:off x="3877056" y="4041648"/>
            <a:ext cx="182880" cy="182880"/>
          </a:xfrm>
          <a:prstGeom prst="ellipse">
            <a:avLst/>
          </a:prstGeom>
          <a:solidFill>
            <a:srgbClr val="F2A541"/>
          </a:solidFill>
          <a:ln w="12700">
            <a:solidFill>
              <a:srgbClr val="F2A541"/>
            </a:solidFill>
            <a:prstDash val="solid"/>
          </a:ln>
        </p:spPr>
      </p:sp>
      <p:sp>
        <p:nvSpPr>
          <p:cNvPr id="58" name="Text 56"/>
          <p:cNvSpPr txBox="1"/>
          <p:nvPr/>
        </p:nvSpPr>
        <p:spPr>
          <a:xfrm>
            <a:off x="3877056" y="4041648"/>
            <a:ext cx="182880" cy="182880"/>
          </a:xfrm>
          <a:prstGeom prst="rect">
            <a:avLst/>
          </a:prstGeom>
          <a:noFill/>
          <a:ln/>
        </p:spPr>
        <p:txBody>
          <a:bodyPr wrap="square" lIns="0" tIns="0" rIns="0" bIns="0" rtlCol="0" anchor="ctr"/>
          <a:lstStyle/>
          <a:p>
            <a:pPr algn="ctr" indent="0" marL="0">
              <a:buNone/>
            </a:pPr>
            <a:r>
              <a:rPr lang="en-US" sz="750" b="1" dirty="0">
                <a:solidFill>
                  <a:srgbClr val="10233A"/>
                </a:solidFill>
                <a:latin typeface="Calibri" pitchFamily="34" charset="0"/>
                <a:ea typeface="Calibri" pitchFamily="34" charset="-122"/>
                <a:cs typeface="Calibri" pitchFamily="34" charset="-120"/>
              </a:rPr>
              <a:t>15</a:t>
            </a:r>
            <a:endParaRPr lang="en-US" sz="750" dirty="0"/>
          </a:p>
        </p:txBody>
      </p:sp>
      <p:sp>
        <p:nvSpPr>
          <p:cNvPr id="59" name="Text 57"/>
          <p:cNvSpPr txBox="1"/>
          <p:nvPr/>
        </p:nvSpPr>
        <p:spPr>
          <a:xfrm>
            <a:off x="4114800" y="4014216"/>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Social posts</a:t>
            </a:r>
            <a:endParaRPr lang="en-US" sz="1000" dirty="0"/>
          </a:p>
        </p:txBody>
      </p:sp>
      <p:sp>
        <p:nvSpPr>
          <p:cNvPr id="60" name="Shape 58"/>
          <p:cNvSpPr/>
          <p:nvPr/>
        </p:nvSpPr>
        <p:spPr>
          <a:xfrm>
            <a:off x="5477256" y="1719072"/>
            <a:ext cx="1554480" cy="365760"/>
          </a:xfrm>
          <a:prstGeom prst="roundRect">
            <a:avLst>
              <a:gd name="adj" fmla="val 15000"/>
            </a:avLst>
          </a:prstGeom>
          <a:solidFill>
            <a:srgbClr val="10233A"/>
          </a:solidFill>
          <a:ln w="12700">
            <a:solidFill>
              <a:srgbClr val="10233A"/>
            </a:solidFill>
            <a:prstDash val="solid"/>
          </a:ln>
        </p:spPr>
      </p:sp>
      <p:sp>
        <p:nvSpPr>
          <p:cNvPr id="61" name="Text 59"/>
          <p:cNvSpPr txBox="1"/>
          <p:nvPr/>
        </p:nvSpPr>
        <p:spPr>
          <a:xfrm>
            <a:off x="5477256" y="1719072"/>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Automate &amp; launch</a:t>
            </a:r>
            <a:endParaRPr lang="en-US" sz="1150" dirty="0"/>
          </a:p>
        </p:txBody>
      </p:sp>
      <p:sp>
        <p:nvSpPr>
          <p:cNvPr id="62" name="Shape 60"/>
          <p:cNvSpPr/>
          <p:nvPr/>
        </p:nvSpPr>
        <p:spPr>
          <a:xfrm>
            <a:off x="5477256" y="2148840"/>
            <a:ext cx="1554480" cy="2148840"/>
          </a:xfrm>
          <a:prstGeom prst="roundRect">
            <a:avLst>
              <a:gd name="adj" fmla="val 3529"/>
            </a:avLst>
          </a:prstGeom>
          <a:solidFill>
            <a:srgbClr val="F3F6F8"/>
          </a:solidFill>
          <a:ln w="12700">
            <a:solidFill>
              <a:srgbClr val="F3F6F8"/>
            </a:solidFill>
            <a:prstDash val="solid"/>
          </a:ln>
        </p:spPr>
      </p:sp>
      <p:sp>
        <p:nvSpPr>
          <p:cNvPr id="63" name="Shape 61"/>
          <p:cNvSpPr/>
          <p:nvPr/>
        </p:nvSpPr>
        <p:spPr>
          <a:xfrm>
            <a:off x="5550408" y="2249424"/>
            <a:ext cx="182880" cy="182880"/>
          </a:xfrm>
          <a:prstGeom prst="ellipse">
            <a:avLst/>
          </a:prstGeom>
          <a:solidFill>
            <a:srgbClr val="0A8577"/>
          </a:solidFill>
          <a:ln w="12700">
            <a:solidFill>
              <a:srgbClr val="0A8577"/>
            </a:solidFill>
            <a:prstDash val="solid"/>
          </a:ln>
        </p:spPr>
      </p:sp>
      <p:sp>
        <p:nvSpPr>
          <p:cNvPr id="64" name="Text 62"/>
          <p:cNvSpPr txBox="1"/>
          <p:nvPr/>
        </p:nvSpPr>
        <p:spPr>
          <a:xfrm>
            <a:off x="5550408" y="2249424"/>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16</a:t>
            </a:r>
            <a:endParaRPr lang="en-US" sz="750" dirty="0"/>
          </a:p>
        </p:txBody>
      </p:sp>
      <p:sp>
        <p:nvSpPr>
          <p:cNvPr id="65" name="Text 63"/>
          <p:cNvSpPr txBox="1"/>
          <p:nvPr/>
        </p:nvSpPr>
        <p:spPr>
          <a:xfrm>
            <a:off x="5788152" y="2221992"/>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n8n automation</a:t>
            </a:r>
            <a:endParaRPr lang="en-US" sz="1000" dirty="0"/>
          </a:p>
        </p:txBody>
      </p:sp>
      <p:sp>
        <p:nvSpPr>
          <p:cNvPr id="66" name="Shape 64"/>
          <p:cNvSpPr/>
          <p:nvPr/>
        </p:nvSpPr>
        <p:spPr>
          <a:xfrm>
            <a:off x="5550408" y="2505456"/>
            <a:ext cx="182880" cy="182880"/>
          </a:xfrm>
          <a:prstGeom prst="ellipse">
            <a:avLst/>
          </a:prstGeom>
          <a:solidFill>
            <a:srgbClr val="0A8577"/>
          </a:solidFill>
          <a:ln w="12700">
            <a:solidFill>
              <a:srgbClr val="0A8577"/>
            </a:solidFill>
            <a:prstDash val="solid"/>
          </a:ln>
        </p:spPr>
      </p:sp>
      <p:sp>
        <p:nvSpPr>
          <p:cNvPr id="67" name="Text 65"/>
          <p:cNvSpPr txBox="1"/>
          <p:nvPr/>
        </p:nvSpPr>
        <p:spPr>
          <a:xfrm>
            <a:off x="5550408" y="2505456"/>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17</a:t>
            </a:r>
            <a:endParaRPr lang="en-US" sz="750" dirty="0"/>
          </a:p>
        </p:txBody>
      </p:sp>
      <p:sp>
        <p:nvSpPr>
          <p:cNvPr id="68" name="Text 66"/>
          <p:cNvSpPr txBox="1"/>
          <p:nvPr/>
        </p:nvSpPr>
        <p:spPr>
          <a:xfrm>
            <a:off x="5788152" y="2478024"/>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Landing page</a:t>
            </a:r>
            <a:endParaRPr lang="en-US" sz="1000" dirty="0"/>
          </a:p>
        </p:txBody>
      </p:sp>
      <p:sp>
        <p:nvSpPr>
          <p:cNvPr id="69" name="Shape 67"/>
          <p:cNvSpPr/>
          <p:nvPr/>
        </p:nvSpPr>
        <p:spPr>
          <a:xfrm>
            <a:off x="7150608" y="1719072"/>
            <a:ext cx="1554480" cy="365760"/>
          </a:xfrm>
          <a:prstGeom prst="roundRect">
            <a:avLst>
              <a:gd name="adj" fmla="val 15000"/>
            </a:avLst>
          </a:prstGeom>
          <a:solidFill>
            <a:srgbClr val="10233A"/>
          </a:solidFill>
          <a:ln w="12700">
            <a:solidFill>
              <a:srgbClr val="10233A"/>
            </a:solidFill>
            <a:prstDash val="solid"/>
          </a:ln>
        </p:spPr>
      </p:sp>
      <p:sp>
        <p:nvSpPr>
          <p:cNvPr id="70" name="Text 68"/>
          <p:cNvSpPr txBox="1"/>
          <p:nvPr/>
        </p:nvSpPr>
        <p:spPr>
          <a:xfrm>
            <a:off x="7150608" y="1719072"/>
            <a:ext cx="155448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Present</a:t>
            </a:r>
            <a:endParaRPr lang="en-US" sz="1150" dirty="0"/>
          </a:p>
        </p:txBody>
      </p:sp>
      <p:sp>
        <p:nvSpPr>
          <p:cNvPr id="71" name="Shape 69"/>
          <p:cNvSpPr/>
          <p:nvPr/>
        </p:nvSpPr>
        <p:spPr>
          <a:xfrm>
            <a:off x="7150608" y="2148840"/>
            <a:ext cx="1554480" cy="2148840"/>
          </a:xfrm>
          <a:prstGeom prst="roundRect">
            <a:avLst>
              <a:gd name="adj" fmla="val 3529"/>
            </a:avLst>
          </a:prstGeom>
          <a:solidFill>
            <a:srgbClr val="F3F6F8"/>
          </a:solidFill>
          <a:ln w="12700">
            <a:solidFill>
              <a:srgbClr val="F3F6F8"/>
            </a:solidFill>
            <a:prstDash val="solid"/>
          </a:ln>
        </p:spPr>
      </p:sp>
      <p:sp>
        <p:nvSpPr>
          <p:cNvPr id="72" name="Shape 70"/>
          <p:cNvSpPr/>
          <p:nvPr/>
        </p:nvSpPr>
        <p:spPr>
          <a:xfrm>
            <a:off x="7223760" y="2249424"/>
            <a:ext cx="182880" cy="182880"/>
          </a:xfrm>
          <a:prstGeom prst="ellipse">
            <a:avLst/>
          </a:prstGeom>
          <a:solidFill>
            <a:srgbClr val="0A8577"/>
          </a:solidFill>
          <a:ln w="12700">
            <a:solidFill>
              <a:srgbClr val="0A8577"/>
            </a:solidFill>
            <a:prstDash val="solid"/>
          </a:ln>
        </p:spPr>
      </p:sp>
      <p:sp>
        <p:nvSpPr>
          <p:cNvPr id="73" name="Text 71"/>
          <p:cNvSpPr txBox="1"/>
          <p:nvPr/>
        </p:nvSpPr>
        <p:spPr>
          <a:xfrm>
            <a:off x="7223760" y="2249424"/>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18</a:t>
            </a:r>
            <a:endParaRPr lang="en-US" sz="750" dirty="0"/>
          </a:p>
        </p:txBody>
      </p:sp>
      <p:sp>
        <p:nvSpPr>
          <p:cNvPr id="74" name="Text 72"/>
          <p:cNvSpPr txBox="1"/>
          <p:nvPr/>
        </p:nvSpPr>
        <p:spPr>
          <a:xfrm>
            <a:off x="7461504" y="2221992"/>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Portfolio case study</a:t>
            </a:r>
            <a:endParaRPr lang="en-US" sz="1000" dirty="0"/>
          </a:p>
        </p:txBody>
      </p:sp>
      <p:sp>
        <p:nvSpPr>
          <p:cNvPr id="75" name="Shape 73"/>
          <p:cNvSpPr/>
          <p:nvPr/>
        </p:nvSpPr>
        <p:spPr>
          <a:xfrm>
            <a:off x="7223760" y="2505456"/>
            <a:ext cx="182880" cy="182880"/>
          </a:xfrm>
          <a:prstGeom prst="ellipse">
            <a:avLst/>
          </a:prstGeom>
          <a:solidFill>
            <a:srgbClr val="0A8577"/>
          </a:solidFill>
          <a:ln w="12700">
            <a:solidFill>
              <a:srgbClr val="0A8577"/>
            </a:solidFill>
            <a:prstDash val="solid"/>
          </a:ln>
        </p:spPr>
      </p:sp>
      <p:sp>
        <p:nvSpPr>
          <p:cNvPr id="76" name="Text 74"/>
          <p:cNvSpPr txBox="1"/>
          <p:nvPr/>
        </p:nvSpPr>
        <p:spPr>
          <a:xfrm>
            <a:off x="7223760" y="2505456"/>
            <a:ext cx="18288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19</a:t>
            </a:r>
            <a:endParaRPr lang="en-US" sz="750" dirty="0"/>
          </a:p>
        </p:txBody>
      </p:sp>
      <p:sp>
        <p:nvSpPr>
          <p:cNvPr id="77" name="Text 75"/>
          <p:cNvSpPr txBox="1"/>
          <p:nvPr/>
        </p:nvSpPr>
        <p:spPr>
          <a:xfrm>
            <a:off x="7461504" y="2478024"/>
            <a:ext cx="1225296" cy="237744"/>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Final presentation</a:t>
            </a:r>
            <a:endParaRPr lang="en-US" sz="1000" dirty="0"/>
          </a:p>
        </p:txBody>
      </p:sp>
      <p:sp>
        <p:nvSpPr>
          <p:cNvPr id="78" name="Text 76"/>
          <p:cNvSpPr txBox="1"/>
          <p:nvPr/>
        </p:nvSpPr>
        <p:spPr>
          <a:xfrm>
            <a:off x="457200" y="4370832"/>
            <a:ext cx="8229600" cy="274320"/>
          </a:xfrm>
          <a:prstGeom prst="rect">
            <a:avLst/>
          </a:prstGeom>
          <a:noFill/>
          <a:ln/>
        </p:spPr>
        <p:txBody>
          <a:bodyPr wrap="square" lIns="0" tIns="0" rIns="0" bIns="0" rtlCol="0" anchor="t"/>
          <a:lstStyle/>
          <a:p>
            <a:pPr indent="0" marL="0">
              <a:buNone/>
            </a:pPr>
            <a:r>
              <a:rPr lang="en-US" sz="1150" b="1" dirty="0">
                <a:solidFill>
                  <a:srgbClr val="10233A"/>
                </a:solidFill>
                <a:latin typeface="Calibri" pitchFamily="34" charset="0"/>
                <a:ea typeface="Calibri" pitchFamily="34" charset="-122"/>
                <a:cs typeface="Calibri" pitchFamily="34" charset="-120"/>
              </a:rPr>
              <a:t>19 deliverables. Team roles rotate: strategist · content lead · visual &amp; video lead · automation lead.</a:t>
            </a:r>
            <a:endParaRPr lang="en-US" sz="11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12  ·  ASSESSMENT</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How progress and work are assessed</a:t>
            </a:r>
            <a:endParaRPr lang="en-US" sz="2500" dirty="0"/>
          </a:p>
        </p:txBody>
      </p:sp>
      <p:sp>
        <p:nvSpPr>
          <p:cNvPr id="5" name="Shape 3"/>
          <p:cNvSpPr/>
          <p:nvPr/>
        </p:nvSpPr>
        <p:spPr>
          <a:xfrm>
            <a:off x="457200" y="1261872"/>
            <a:ext cx="1929384" cy="1024128"/>
          </a:xfrm>
          <a:prstGeom prst="roundRect">
            <a:avLst>
              <a:gd name="adj" fmla="val 5357"/>
            </a:avLst>
          </a:prstGeom>
          <a:solidFill>
            <a:srgbClr val="10233A"/>
          </a:solidFill>
          <a:ln w="12700">
            <a:solidFill>
              <a:srgbClr val="10233A"/>
            </a:solidFill>
            <a:prstDash val="solid"/>
          </a:ln>
        </p:spPr>
      </p:sp>
      <p:sp>
        <p:nvSpPr>
          <p:cNvPr id="6" name="Text 4"/>
          <p:cNvSpPr txBox="1"/>
          <p:nvPr/>
        </p:nvSpPr>
        <p:spPr>
          <a:xfrm>
            <a:off x="566928" y="1325880"/>
            <a:ext cx="1737360" cy="256032"/>
          </a:xfrm>
          <a:prstGeom prst="rect">
            <a:avLst/>
          </a:prstGeom>
          <a:noFill/>
          <a:ln/>
        </p:spPr>
        <p:txBody>
          <a:bodyPr wrap="square" lIns="0" tIns="0" rIns="0" bIns="0" rtlCol="0" anchor="t"/>
          <a:lstStyle/>
          <a:p>
            <a:pPr indent="0" marL="0">
              <a:buNone/>
            </a:pPr>
            <a:r>
              <a:rPr lang="en-US" sz="1050" b="1" dirty="0">
                <a:solidFill>
                  <a:srgbClr val="F2A541"/>
                </a:solidFill>
                <a:latin typeface="Calibri" pitchFamily="34" charset="0"/>
                <a:ea typeface="Calibri" pitchFamily="34" charset="-122"/>
                <a:cs typeface="Calibri" pitchFamily="34" charset="-120"/>
              </a:rPr>
              <a:t>BEFORE · Session 1</a:t>
            </a:r>
            <a:endParaRPr lang="en-US" sz="1050" dirty="0"/>
          </a:p>
        </p:txBody>
      </p:sp>
      <p:sp>
        <p:nvSpPr>
          <p:cNvPr id="7" name="Text 5"/>
          <p:cNvSpPr txBox="1"/>
          <p:nvPr/>
        </p:nvSpPr>
        <p:spPr>
          <a:xfrm>
            <a:off x="566928" y="1600200"/>
            <a:ext cx="1737360" cy="64008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Knowledge check (50) + practical task (50). Baseline, not graded.</a:t>
            </a:r>
            <a:endParaRPr lang="en-US" sz="950" dirty="0"/>
          </a:p>
        </p:txBody>
      </p:sp>
      <p:sp>
        <p:nvSpPr>
          <p:cNvPr id="8" name="Shape 6"/>
          <p:cNvSpPr/>
          <p:nvPr/>
        </p:nvSpPr>
        <p:spPr>
          <a:xfrm>
            <a:off x="2551176" y="1261872"/>
            <a:ext cx="1929384" cy="1024128"/>
          </a:xfrm>
          <a:prstGeom prst="roundRect">
            <a:avLst>
              <a:gd name="adj" fmla="val 5357"/>
            </a:avLst>
          </a:prstGeom>
          <a:solidFill>
            <a:srgbClr val="0A8577"/>
          </a:solidFill>
          <a:ln w="12700">
            <a:solidFill>
              <a:srgbClr val="0A8577"/>
            </a:solidFill>
            <a:prstDash val="solid"/>
          </a:ln>
        </p:spPr>
      </p:sp>
      <p:sp>
        <p:nvSpPr>
          <p:cNvPr id="9" name="Text 7"/>
          <p:cNvSpPr txBox="1"/>
          <p:nvPr/>
        </p:nvSpPr>
        <p:spPr>
          <a:xfrm>
            <a:off x="2660904" y="1325880"/>
            <a:ext cx="1737360" cy="256032"/>
          </a:xfrm>
          <a:prstGeom prst="rect">
            <a:avLst/>
          </a:prstGeom>
          <a:noFill/>
          <a:ln/>
        </p:spPr>
        <p:txBody>
          <a:bodyPr wrap="square" lIns="0" tIns="0" rIns="0" bIns="0" rtlCol="0" anchor="t"/>
          <a:lstStyle/>
          <a:p>
            <a:pPr indent="0" marL="0">
              <a:buNone/>
            </a:pPr>
            <a:r>
              <a:rPr lang="en-US" sz="1050" b="1" dirty="0">
                <a:solidFill>
                  <a:srgbClr val="F2A541"/>
                </a:solidFill>
                <a:latin typeface="Calibri" pitchFamily="34" charset="0"/>
                <a:ea typeface="Calibri" pitchFamily="34" charset="-122"/>
                <a:cs typeface="Calibri" pitchFamily="34" charset="-120"/>
              </a:rPr>
              <a:t>DURING · Every module</a:t>
            </a:r>
            <a:endParaRPr lang="en-US" sz="1050" dirty="0"/>
          </a:p>
        </p:txBody>
      </p:sp>
      <p:sp>
        <p:nvSpPr>
          <p:cNvPr id="10" name="Text 8"/>
          <p:cNvSpPr txBox="1"/>
          <p:nvPr/>
        </p:nvSpPr>
        <p:spPr>
          <a:xfrm>
            <a:off x="2660904" y="1600200"/>
            <a:ext cx="1737360" cy="64008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Deliverable checklists; week-6 mid-point review.</a:t>
            </a:r>
            <a:endParaRPr lang="en-US" sz="950" dirty="0"/>
          </a:p>
        </p:txBody>
      </p:sp>
      <p:sp>
        <p:nvSpPr>
          <p:cNvPr id="11" name="Shape 9"/>
          <p:cNvSpPr/>
          <p:nvPr/>
        </p:nvSpPr>
        <p:spPr>
          <a:xfrm>
            <a:off x="4645152" y="1261872"/>
            <a:ext cx="1929384" cy="1024128"/>
          </a:xfrm>
          <a:prstGeom prst="roundRect">
            <a:avLst>
              <a:gd name="adj" fmla="val 5357"/>
            </a:avLst>
          </a:prstGeom>
          <a:solidFill>
            <a:srgbClr val="10233A"/>
          </a:solidFill>
          <a:ln w="12700">
            <a:solidFill>
              <a:srgbClr val="10233A"/>
            </a:solidFill>
            <a:prstDash val="solid"/>
          </a:ln>
        </p:spPr>
      </p:sp>
      <p:sp>
        <p:nvSpPr>
          <p:cNvPr id="12" name="Text 10"/>
          <p:cNvSpPr txBox="1"/>
          <p:nvPr/>
        </p:nvSpPr>
        <p:spPr>
          <a:xfrm>
            <a:off x="4754880" y="1325880"/>
            <a:ext cx="1737360" cy="256032"/>
          </a:xfrm>
          <a:prstGeom prst="rect">
            <a:avLst/>
          </a:prstGeom>
          <a:noFill/>
          <a:ln/>
        </p:spPr>
        <p:txBody>
          <a:bodyPr wrap="square" lIns="0" tIns="0" rIns="0" bIns="0" rtlCol="0" anchor="t"/>
          <a:lstStyle/>
          <a:p>
            <a:pPr indent="0" marL="0">
              <a:buNone/>
            </a:pPr>
            <a:r>
              <a:rPr lang="en-US" sz="1050" b="1" dirty="0">
                <a:solidFill>
                  <a:srgbClr val="F2A541"/>
                </a:solidFill>
                <a:latin typeface="Calibri" pitchFamily="34" charset="0"/>
                <a:ea typeface="Calibri" pitchFamily="34" charset="-122"/>
                <a:cs typeface="Calibri" pitchFamily="34" charset="-120"/>
              </a:rPr>
              <a:t>AFTER · Session 32</a:t>
            </a:r>
            <a:endParaRPr lang="en-US" sz="1050" dirty="0"/>
          </a:p>
        </p:txBody>
      </p:sp>
      <p:sp>
        <p:nvSpPr>
          <p:cNvPr id="13" name="Text 11"/>
          <p:cNvSpPr txBox="1"/>
          <p:nvPr/>
        </p:nvSpPr>
        <p:spPr>
          <a:xfrm>
            <a:off x="4754880" y="1600200"/>
            <a:ext cx="1737360" cy="64008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Same test, parallel questions. Gain = post − pre.</a:t>
            </a:r>
            <a:endParaRPr lang="en-US" sz="950" dirty="0"/>
          </a:p>
        </p:txBody>
      </p:sp>
      <p:sp>
        <p:nvSpPr>
          <p:cNvPr id="14" name="Shape 12"/>
          <p:cNvSpPr/>
          <p:nvPr/>
        </p:nvSpPr>
        <p:spPr>
          <a:xfrm>
            <a:off x="6739128" y="1261872"/>
            <a:ext cx="1929384" cy="1024128"/>
          </a:xfrm>
          <a:prstGeom prst="roundRect">
            <a:avLst>
              <a:gd name="adj" fmla="val 5357"/>
            </a:avLst>
          </a:prstGeom>
          <a:solidFill>
            <a:srgbClr val="E4572E"/>
          </a:solidFill>
          <a:ln w="12700">
            <a:solidFill>
              <a:srgbClr val="E4572E"/>
            </a:solidFill>
            <a:prstDash val="solid"/>
          </a:ln>
        </p:spPr>
      </p:sp>
      <p:sp>
        <p:nvSpPr>
          <p:cNvPr id="15" name="Text 13"/>
          <p:cNvSpPr txBox="1"/>
          <p:nvPr/>
        </p:nvSpPr>
        <p:spPr>
          <a:xfrm>
            <a:off x="6848856" y="1325880"/>
            <a:ext cx="1737360" cy="256032"/>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LATER · 3 months</a:t>
            </a:r>
            <a:endParaRPr lang="en-US" sz="1050" dirty="0"/>
          </a:p>
        </p:txBody>
      </p:sp>
      <p:sp>
        <p:nvSpPr>
          <p:cNvPr id="16" name="Text 14"/>
          <p:cNvSpPr txBox="1"/>
          <p:nvPr/>
        </p:nvSpPr>
        <p:spPr>
          <a:xfrm>
            <a:off x="6848856" y="1600200"/>
            <a:ext cx="1737360" cy="64008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Follow-up survey on skills use (proposed).</a:t>
            </a:r>
            <a:endParaRPr lang="en-US" sz="950" dirty="0"/>
          </a:p>
        </p:txBody>
      </p:sp>
      <p:sp>
        <p:nvSpPr>
          <p:cNvPr id="17" name="Shape 15"/>
          <p:cNvSpPr/>
          <p:nvPr/>
        </p:nvSpPr>
        <p:spPr>
          <a:xfrm>
            <a:off x="457200" y="2423160"/>
            <a:ext cx="3291840" cy="2194560"/>
          </a:xfrm>
          <a:prstGeom prst="roundRect">
            <a:avLst>
              <a:gd name="adj" fmla="val 2500"/>
            </a:avLst>
          </a:prstGeom>
          <a:solidFill>
            <a:srgbClr val="F3F6F8"/>
          </a:solidFill>
          <a:ln w="12700">
            <a:solidFill>
              <a:srgbClr val="F3F6F8"/>
            </a:solidFill>
            <a:prstDash val="solid"/>
          </a:ln>
        </p:spPr>
      </p:sp>
      <p:sp>
        <p:nvSpPr>
          <p:cNvPr id="18" name="Text 16"/>
          <p:cNvSpPr txBox="1"/>
          <p:nvPr/>
        </p:nvSpPr>
        <p:spPr>
          <a:xfrm>
            <a:off x="594360" y="2496312"/>
            <a:ext cx="3017520" cy="292608"/>
          </a:xfrm>
          <a:prstGeom prst="rect">
            <a:avLst/>
          </a:prstGeom>
          <a:noFill/>
          <a:ln/>
        </p:spPr>
        <p:txBody>
          <a:bodyPr wrap="square" lIns="0" tIns="0" rIns="0" bIns="0" rtlCol="0" anchor="t"/>
          <a:lstStyle/>
          <a:p>
            <a:pPr indent="0" marL="0">
              <a:buNone/>
            </a:pPr>
            <a:r>
              <a:rPr lang="en-US" sz="1300" b="1" dirty="0">
                <a:solidFill>
                  <a:srgbClr val="0A8577"/>
                </a:solidFill>
                <a:latin typeface="Calibri" pitchFamily="34" charset="0"/>
                <a:ea typeface="Calibri" pitchFamily="34" charset="-122"/>
                <a:cs typeface="Calibri" pitchFamily="34" charset="-120"/>
              </a:rPr>
              <a:t>Final grade (proposed)</a:t>
            </a:r>
            <a:endParaRPr lang="en-US" sz="1300" dirty="0"/>
          </a:p>
        </p:txBody>
      </p:sp>
      <p:sp>
        <p:nvSpPr>
          <p:cNvPr id="19" name="Text 17"/>
          <p:cNvSpPr txBox="1"/>
          <p:nvPr/>
        </p:nvSpPr>
        <p:spPr>
          <a:xfrm>
            <a:off x="594360" y="2816352"/>
            <a:ext cx="2011680" cy="201168"/>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Module deliverables</a:t>
            </a:r>
            <a:endParaRPr lang="en-US" sz="1000" dirty="0"/>
          </a:p>
        </p:txBody>
      </p:sp>
      <p:sp>
        <p:nvSpPr>
          <p:cNvPr id="20" name="Shape 18"/>
          <p:cNvSpPr/>
          <p:nvPr/>
        </p:nvSpPr>
        <p:spPr>
          <a:xfrm>
            <a:off x="594360" y="3026664"/>
            <a:ext cx="2514600" cy="118872"/>
          </a:xfrm>
          <a:prstGeom prst="rect">
            <a:avLst/>
          </a:prstGeom>
          <a:solidFill>
            <a:srgbClr val="0A8577"/>
          </a:solidFill>
          <a:ln w="12700">
            <a:solidFill>
              <a:srgbClr val="0A8577"/>
            </a:solidFill>
            <a:prstDash val="solid"/>
          </a:ln>
        </p:spPr>
      </p:sp>
      <p:sp>
        <p:nvSpPr>
          <p:cNvPr id="21" name="Text 19"/>
          <p:cNvSpPr txBox="1"/>
          <p:nvPr/>
        </p:nvSpPr>
        <p:spPr>
          <a:xfrm>
            <a:off x="3154680" y="2926080"/>
            <a:ext cx="502920" cy="27432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40%</a:t>
            </a:r>
            <a:endParaRPr lang="en-US" sz="1100" dirty="0"/>
          </a:p>
        </p:txBody>
      </p:sp>
      <p:sp>
        <p:nvSpPr>
          <p:cNvPr id="22" name="Text 20"/>
          <p:cNvSpPr txBox="1"/>
          <p:nvPr/>
        </p:nvSpPr>
        <p:spPr>
          <a:xfrm>
            <a:off x="594360" y="3182112"/>
            <a:ext cx="2011680" cy="201168"/>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Capstone package</a:t>
            </a:r>
            <a:endParaRPr lang="en-US" sz="1000" dirty="0"/>
          </a:p>
        </p:txBody>
      </p:sp>
      <p:sp>
        <p:nvSpPr>
          <p:cNvPr id="23" name="Shape 21"/>
          <p:cNvSpPr/>
          <p:nvPr/>
        </p:nvSpPr>
        <p:spPr>
          <a:xfrm>
            <a:off x="594360" y="3392424"/>
            <a:ext cx="2200275" cy="118872"/>
          </a:xfrm>
          <a:prstGeom prst="rect">
            <a:avLst/>
          </a:prstGeom>
          <a:solidFill>
            <a:srgbClr val="10233A"/>
          </a:solidFill>
          <a:ln w="12700">
            <a:solidFill>
              <a:srgbClr val="10233A"/>
            </a:solidFill>
            <a:prstDash val="solid"/>
          </a:ln>
        </p:spPr>
      </p:sp>
      <p:sp>
        <p:nvSpPr>
          <p:cNvPr id="24" name="Text 22"/>
          <p:cNvSpPr txBox="1"/>
          <p:nvPr/>
        </p:nvSpPr>
        <p:spPr>
          <a:xfrm>
            <a:off x="3154680" y="3291840"/>
            <a:ext cx="502920" cy="27432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35%</a:t>
            </a:r>
            <a:endParaRPr lang="en-US" sz="1100" dirty="0"/>
          </a:p>
        </p:txBody>
      </p:sp>
      <p:sp>
        <p:nvSpPr>
          <p:cNvPr id="25" name="Text 23"/>
          <p:cNvSpPr txBox="1"/>
          <p:nvPr/>
        </p:nvSpPr>
        <p:spPr>
          <a:xfrm>
            <a:off x="594360" y="3547872"/>
            <a:ext cx="2011680" cy="201168"/>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Demo Day presentation</a:t>
            </a:r>
            <a:endParaRPr lang="en-US" sz="1000" dirty="0"/>
          </a:p>
        </p:txBody>
      </p:sp>
      <p:sp>
        <p:nvSpPr>
          <p:cNvPr id="26" name="Shape 24"/>
          <p:cNvSpPr/>
          <p:nvPr/>
        </p:nvSpPr>
        <p:spPr>
          <a:xfrm>
            <a:off x="594360" y="3758184"/>
            <a:ext cx="942975" cy="118872"/>
          </a:xfrm>
          <a:prstGeom prst="rect">
            <a:avLst/>
          </a:prstGeom>
          <a:solidFill>
            <a:srgbClr val="F2A541"/>
          </a:solidFill>
          <a:ln w="12700">
            <a:solidFill>
              <a:srgbClr val="F2A541"/>
            </a:solidFill>
            <a:prstDash val="solid"/>
          </a:ln>
        </p:spPr>
      </p:sp>
      <p:sp>
        <p:nvSpPr>
          <p:cNvPr id="27" name="Text 25"/>
          <p:cNvSpPr txBox="1"/>
          <p:nvPr/>
        </p:nvSpPr>
        <p:spPr>
          <a:xfrm>
            <a:off x="3154680" y="3657600"/>
            <a:ext cx="502920" cy="27432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15%</a:t>
            </a:r>
            <a:endParaRPr lang="en-US" sz="1100" dirty="0"/>
          </a:p>
        </p:txBody>
      </p:sp>
      <p:sp>
        <p:nvSpPr>
          <p:cNvPr id="28" name="Text 26"/>
          <p:cNvSpPr txBox="1"/>
          <p:nvPr/>
        </p:nvSpPr>
        <p:spPr>
          <a:xfrm>
            <a:off x="594360" y="3913632"/>
            <a:ext cx="2011680" cy="201168"/>
          </a:xfrm>
          <a:prstGeom prst="rect">
            <a:avLst/>
          </a:prstGeom>
          <a:noFill/>
          <a:ln/>
        </p:spPr>
        <p:txBody>
          <a:bodyPr wrap="square" lIns="0" tIns="0" rIns="0" bIns="0" rtlCol="0" anchor="t"/>
          <a:lstStyle/>
          <a:p>
            <a:pPr indent="0" marL="0">
              <a:buNone/>
            </a:pPr>
            <a:r>
              <a:rPr lang="en-US" sz="1000" b="1" dirty="0">
                <a:solidFill>
                  <a:srgbClr val="10233A"/>
                </a:solidFill>
                <a:latin typeface="Calibri" pitchFamily="34" charset="0"/>
                <a:ea typeface="Calibri" pitchFamily="34" charset="-122"/>
                <a:cs typeface="Calibri" pitchFamily="34" charset="-120"/>
              </a:rPr>
              <a:t>Participation &amp; reflection</a:t>
            </a:r>
            <a:endParaRPr lang="en-US" sz="1000" dirty="0"/>
          </a:p>
        </p:txBody>
      </p:sp>
      <p:sp>
        <p:nvSpPr>
          <p:cNvPr id="29" name="Shape 27"/>
          <p:cNvSpPr/>
          <p:nvPr/>
        </p:nvSpPr>
        <p:spPr>
          <a:xfrm>
            <a:off x="594360" y="4123944"/>
            <a:ext cx="628650" cy="118872"/>
          </a:xfrm>
          <a:prstGeom prst="rect">
            <a:avLst/>
          </a:prstGeom>
          <a:solidFill>
            <a:srgbClr val="F2A541"/>
          </a:solidFill>
          <a:ln w="12700">
            <a:solidFill>
              <a:srgbClr val="F2A541"/>
            </a:solidFill>
            <a:prstDash val="solid"/>
          </a:ln>
        </p:spPr>
      </p:sp>
      <p:sp>
        <p:nvSpPr>
          <p:cNvPr id="30" name="Text 28"/>
          <p:cNvSpPr txBox="1"/>
          <p:nvPr/>
        </p:nvSpPr>
        <p:spPr>
          <a:xfrm>
            <a:off x="3154680" y="4023360"/>
            <a:ext cx="502920" cy="27432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10%</a:t>
            </a:r>
            <a:endParaRPr lang="en-US" sz="1100" dirty="0"/>
          </a:p>
        </p:txBody>
      </p:sp>
      <p:sp>
        <p:nvSpPr>
          <p:cNvPr id="31" name="Text 29"/>
          <p:cNvSpPr txBox="1"/>
          <p:nvPr/>
        </p:nvSpPr>
        <p:spPr>
          <a:xfrm>
            <a:off x="594360" y="4370832"/>
            <a:ext cx="3063240" cy="201168"/>
          </a:xfrm>
          <a:prstGeom prst="rect">
            <a:avLst/>
          </a:prstGeom>
          <a:noFill/>
          <a:ln/>
        </p:spPr>
        <p:txBody>
          <a:bodyPr wrap="square" lIns="0" tIns="0" rIns="0" bIns="0" rtlCol="0" anchor="t"/>
          <a:lstStyle/>
          <a:p>
            <a:pPr indent="0" marL="0">
              <a:buNone/>
            </a:pPr>
            <a:r>
              <a:rPr lang="en-US" sz="900" i="1" dirty="0">
                <a:solidFill>
                  <a:srgbClr val="586676"/>
                </a:solidFill>
                <a:latin typeface="Calibri" pitchFamily="34" charset="0"/>
                <a:ea typeface="Calibri" pitchFamily="34" charset="-122"/>
                <a:cs typeface="Calibri" pitchFamily="34" charset="-120"/>
              </a:rPr>
              <a:t>Completion: 80% attendance + capstone submitted.</a:t>
            </a:r>
            <a:endParaRPr lang="en-US" sz="900" dirty="0"/>
          </a:p>
        </p:txBody>
      </p:sp>
      <p:sp>
        <p:nvSpPr>
          <p:cNvPr id="32" name="Shape 30"/>
          <p:cNvSpPr/>
          <p:nvPr/>
        </p:nvSpPr>
        <p:spPr>
          <a:xfrm>
            <a:off x="3931920" y="2423160"/>
            <a:ext cx="4754880" cy="2194560"/>
          </a:xfrm>
          <a:prstGeom prst="roundRect">
            <a:avLst>
              <a:gd name="adj" fmla="val 2500"/>
            </a:avLst>
          </a:prstGeom>
          <a:solidFill>
            <a:srgbClr val="F3F6F8"/>
          </a:solidFill>
          <a:ln w="12700">
            <a:solidFill>
              <a:srgbClr val="F3F6F8"/>
            </a:solidFill>
            <a:prstDash val="solid"/>
          </a:ln>
        </p:spPr>
      </p:sp>
      <p:sp>
        <p:nvSpPr>
          <p:cNvPr id="33" name="Text 31"/>
          <p:cNvSpPr txBox="1"/>
          <p:nvPr/>
        </p:nvSpPr>
        <p:spPr>
          <a:xfrm>
            <a:off x="4069080" y="2496312"/>
            <a:ext cx="4572000" cy="292608"/>
          </a:xfrm>
          <a:prstGeom prst="rect">
            <a:avLst/>
          </a:prstGeom>
          <a:noFill/>
          <a:ln/>
        </p:spPr>
        <p:txBody>
          <a:bodyPr wrap="square" lIns="0" tIns="0" rIns="0" bIns="0" rtlCol="0" anchor="t"/>
          <a:lstStyle/>
          <a:p>
            <a:pPr indent="0" marL="0">
              <a:buNone/>
            </a:pPr>
            <a:r>
              <a:rPr lang="en-US" sz="1300" b="1" dirty="0">
                <a:solidFill>
                  <a:srgbClr val="0A8577"/>
                </a:solidFill>
                <a:latin typeface="Calibri" pitchFamily="34" charset="0"/>
                <a:ea typeface="Calibri" pitchFamily="34" charset="-122"/>
                <a:cs typeface="Calibri" pitchFamily="34" charset="-120"/>
              </a:rPr>
              <a:t>Capstone rubric (proposed): “meets standard” = 3 of 4</a:t>
            </a:r>
            <a:endParaRPr lang="en-US" sz="1300" dirty="0"/>
          </a:p>
        </p:txBody>
      </p:sp>
      <p:sp>
        <p:nvSpPr>
          <p:cNvPr id="34" name="Text 32"/>
          <p:cNvSpPr txBox="1"/>
          <p:nvPr/>
        </p:nvSpPr>
        <p:spPr>
          <a:xfrm>
            <a:off x="4069080" y="2834640"/>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Brief and research</a:t>
            </a:r>
            <a:endParaRPr lang="en-US" sz="950" dirty="0"/>
          </a:p>
        </p:txBody>
      </p:sp>
      <p:sp>
        <p:nvSpPr>
          <p:cNvPr id="35" name="Text 33"/>
          <p:cNvSpPr txBox="1"/>
          <p:nvPr/>
        </p:nvSpPr>
        <p:spPr>
          <a:xfrm>
            <a:off x="5486400" y="2834640"/>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15%</a:t>
            </a:r>
            <a:endParaRPr lang="en-US" sz="950" dirty="0"/>
          </a:p>
        </p:txBody>
      </p:sp>
      <p:sp>
        <p:nvSpPr>
          <p:cNvPr id="36" name="Text 34"/>
          <p:cNvSpPr txBox="1"/>
          <p:nvPr/>
        </p:nvSpPr>
        <p:spPr>
          <a:xfrm>
            <a:off x="5897880" y="2834640"/>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Clear objective; claims verified</a:t>
            </a:r>
            <a:endParaRPr lang="en-US" sz="950" dirty="0"/>
          </a:p>
        </p:txBody>
      </p:sp>
      <p:sp>
        <p:nvSpPr>
          <p:cNvPr id="37" name="Text 35"/>
          <p:cNvSpPr txBox="1"/>
          <p:nvPr/>
        </p:nvSpPr>
        <p:spPr>
          <a:xfrm>
            <a:off x="4069080" y="3081528"/>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Content quality</a:t>
            </a:r>
            <a:endParaRPr lang="en-US" sz="950" dirty="0"/>
          </a:p>
        </p:txBody>
      </p:sp>
      <p:sp>
        <p:nvSpPr>
          <p:cNvPr id="38" name="Text 36"/>
          <p:cNvSpPr txBox="1"/>
          <p:nvPr/>
        </p:nvSpPr>
        <p:spPr>
          <a:xfrm>
            <a:off x="5486400" y="3081528"/>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20%</a:t>
            </a:r>
            <a:endParaRPr lang="en-US" sz="950" dirty="0"/>
          </a:p>
        </p:txBody>
      </p:sp>
      <p:sp>
        <p:nvSpPr>
          <p:cNvPr id="39" name="Text 37"/>
          <p:cNvSpPr txBox="1"/>
          <p:nvPr/>
        </p:nvSpPr>
        <p:spPr>
          <a:xfrm>
            <a:off x="5897880" y="3081528"/>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On-brand copy, strong hooks and CTAs</a:t>
            </a:r>
            <a:endParaRPr lang="en-US" sz="950" dirty="0"/>
          </a:p>
        </p:txBody>
      </p:sp>
      <p:sp>
        <p:nvSpPr>
          <p:cNvPr id="40" name="Text 38"/>
          <p:cNvSpPr txBox="1"/>
          <p:nvPr/>
        </p:nvSpPr>
        <p:spPr>
          <a:xfrm>
            <a:off x="4069080" y="3328416"/>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Visual and video</a:t>
            </a:r>
            <a:endParaRPr lang="en-US" sz="950" dirty="0"/>
          </a:p>
        </p:txBody>
      </p:sp>
      <p:sp>
        <p:nvSpPr>
          <p:cNvPr id="41" name="Text 39"/>
          <p:cNvSpPr txBox="1"/>
          <p:nvPr/>
        </p:nvSpPr>
        <p:spPr>
          <a:xfrm>
            <a:off x="5486400" y="3328416"/>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20%</a:t>
            </a:r>
            <a:endParaRPr lang="en-US" sz="950" dirty="0"/>
          </a:p>
        </p:txBody>
      </p:sp>
      <p:sp>
        <p:nvSpPr>
          <p:cNvPr id="42" name="Text 40"/>
          <p:cNvSpPr txBox="1"/>
          <p:nvPr/>
        </p:nvSpPr>
        <p:spPr>
          <a:xfrm>
            <a:off x="5897880" y="3328416"/>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Consistent visuals; captioned, clean audio</a:t>
            </a:r>
            <a:endParaRPr lang="en-US" sz="950" dirty="0"/>
          </a:p>
        </p:txBody>
      </p:sp>
      <p:sp>
        <p:nvSpPr>
          <p:cNvPr id="43" name="Text 41"/>
          <p:cNvSpPr txBox="1"/>
          <p:nvPr/>
        </p:nvSpPr>
        <p:spPr>
          <a:xfrm>
            <a:off x="4069080" y="3575304"/>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Marketing plan</a:t>
            </a:r>
            <a:endParaRPr lang="en-US" sz="950" dirty="0"/>
          </a:p>
        </p:txBody>
      </p:sp>
      <p:sp>
        <p:nvSpPr>
          <p:cNvPr id="44" name="Text 42"/>
          <p:cNvSpPr txBox="1"/>
          <p:nvPr/>
        </p:nvSpPr>
        <p:spPr>
          <a:xfrm>
            <a:off x="5486400" y="3575304"/>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15%</a:t>
            </a:r>
            <a:endParaRPr lang="en-US" sz="950" dirty="0"/>
          </a:p>
        </p:txBody>
      </p:sp>
      <p:sp>
        <p:nvSpPr>
          <p:cNvPr id="45" name="Text 43"/>
          <p:cNvSpPr txBox="1"/>
          <p:nvPr/>
        </p:nvSpPr>
        <p:spPr>
          <a:xfrm>
            <a:off x="5897880" y="3575304"/>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Persona, SMART objective, realistic calendar</a:t>
            </a:r>
            <a:endParaRPr lang="en-US" sz="950" dirty="0"/>
          </a:p>
        </p:txBody>
      </p:sp>
      <p:sp>
        <p:nvSpPr>
          <p:cNvPr id="46" name="Text 44"/>
          <p:cNvSpPr txBox="1"/>
          <p:nvPr/>
        </p:nvSpPr>
        <p:spPr>
          <a:xfrm>
            <a:off x="4069080" y="3822192"/>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Automation</a:t>
            </a:r>
            <a:endParaRPr lang="en-US" sz="950" dirty="0"/>
          </a:p>
        </p:txBody>
      </p:sp>
      <p:sp>
        <p:nvSpPr>
          <p:cNvPr id="47" name="Text 45"/>
          <p:cNvSpPr txBox="1"/>
          <p:nvPr/>
        </p:nvSpPr>
        <p:spPr>
          <a:xfrm>
            <a:off x="5486400" y="3822192"/>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10%</a:t>
            </a:r>
            <a:endParaRPr lang="en-US" sz="950" dirty="0"/>
          </a:p>
        </p:txBody>
      </p:sp>
      <p:sp>
        <p:nvSpPr>
          <p:cNvPr id="48" name="Text 46"/>
          <p:cNvSpPr txBox="1"/>
          <p:nvPr/>
        </p:nvSpPr>
        <p:spPr>
          <a:xfrm>
            <a:off x="5897880" y="3822192"/>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Workflow runs; team can explain it</a:t>
            </a:r>
            <a:endParaRPr lang="en-US" sz="950" dirty="0"/>
          </a:p>
        </p:txBody>
      </p:sp>
      <p:sp>
        <p:nvSpPr>
          <p:cNvPr id="49" name="Text 47"/>
          <p:cNvSpPr txBox="1"/>
          <p:nvPr/>
        </p:nvSpPr>
        <p:spPr>
          <a:xfrm>
            <a:off x="4069080" y="4069080"/>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Responsible AI</a:t>
            </a:r>
            <a:endParaRPr lang="en-US" sz="950" dirty="0"/>
          </a:p>
        </p:txBody>
      </p:sp>
      <p:sp>
        <p:nvSpPr>
          <p:cNvPr id="50" name="Text 48"/>
          <p:cNvSpPr txBox="1"/>
          <p:nvPr/>
        </p:nvSpPr>
        <p:spPr>
          <a:xfrm>
            <a:off x="5486400" y="4069080"/>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10%</a:t>
            </a:r>
            <a:endParaRPr lang="en-US" sz="950" dirty="0"/>
          </a:p>
        </p:txBody>
      </p:sp>
      <p:sp>
        <p:nvSpPr>
          <p:cNvPr id="51" name="Text 49"/>
          <p:cNvSpPr txBox="1"/>
          <p:nvPr/>
        </p:nvSpPr>
        <p:spPr>
          <a:xfrm>
            <a:off x="5897880" y="4069080"/>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AI content labelled; no misuse of data</a:t>
            </a:r>
            <a:endParaRPr lang="en-US" sz="950" dirty="0"/>
          </a:p>
        </p:txBody>
      </p:sp>
      <p:sp>
        <p:nvSpPr>
          <p:cNvPr id="52" name="Text 50"/>
          <p:cNvSpPr txBox="1"/>
          <p:nvPr/>
        </p:nvSpPr>
        <p:spPr>
          <a:xfrm>
            <a:off x="4069080" y="4315968"/>
            <a:ext cx="1417320" cy="237744"/>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Presentation</a:t>
            </a:r>
            <a:endParaRPr lang="en-US" sz="950" dirty="0"/>
          </a:p>
        </p:txBody>
      </p:sp>
      <p:sp>
        <p:nvSpPr>
          <p:cNvPr id="53" name="Text 51"/>
          <p:cNvSpPr txBox="1"/>
          <p:nvPr/>
        </p:nvSpPr>
        <p:spPr>
          <a:xfrm>
            <a:off x="5486400" y="4315968"/>
            <a:ext cx="411480" cy="237744"/>
          </a:xfrm>
          <a:prstGeom prst="rect">
            <a:avLst/>
          </a:prstGeom>
          <a:noFill/>
          <a:ln/>
        </p:spPr>
        <p:txBody>
          <a:bodyPr wrap="square" lIns="0" tIns="0" rIns="0" bIns="0" rtlCol="0" anchor="ctr"/>
          <a:lstStyle/>
          <a:p>
            <a:pPr indent="0" marL="0">
              <a:buNone/>
            </a:pPr>
            <a:r>
              <a:rPr lang="en-US" sz="950" b="1" dirty="0">
                <a:solidFill>
                  <a:srgbClr val="F2A541"/>
                </a:solidFill>
                <a:latin typeface="Calibri" pitchFamily="34" charset="0"/>
                <a:ea typeface="Calibri" pitchFamily="34" charset="-122"/>
                <a:cs typeface="Calibri" pitchFamily="34" charset="-120"/>
              </a:rPr>
              <a:t>10%</a:t>
            </a:r>
            <a:endParaRPr lang="en-US" sz="950" dirty="0"/>
          </a:p>
        </p:txBody>
      </p:sp>
      <p:sp>
        <p:nvSpPr>
          <p:cNvPr id="54" name="Text 52"/>
          <p:cNvSpPr txBox="1"/>
          <p:nvPr/>
        </p:nvSpPr>
        <p:spPr>
          <a:xfrm>
            <a:off x="5897880" y="4315968"/>
            <a:ext cx="2697480" cy="237744"/>
          </a:xfrm>
          <a:prstGeom prst="rect">
            <a:avLst/>
          </a:prstGeom>
          <a:noFill/>
          <a:ln/>
        </p:spPr>
        <p:txBody>
          <a:bodyPr wrap="square" lIns="0" tIns="0" rIns="0" bIns="0" rtlCol="0" anchor="ctr"/>
          <a:lstStyle/>
          <a:p>
            <a:pPr indent="0" marL="0">
              <a:buNone/>
            </a:pPr>
            <a:r>
              <a:rPr lang="en-US" sz="950" dirty="0">
                <a:solidFill>
                  <a:srgbClr val="2B3A4A"/>
                </a:solidFill>
                <a:latin typeface="Calibri" pitchFamily="34" charset="0"/>
                <a:ea typeface="Calibri" pitchFamily="34" charset="-122"/>
                <a:cs typeface="Calibri" pitchFamily="34" charset="-120"/>
              </a:rPr>
              <a:t>Clear story of decisions and results</a:t>
            </a:r>
            <a:endParaRPr lang="en-US" sz="95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13  ·  EVIDENCE</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Results framework: what will be reported</a:t>
            </a:r>
            <a:endParaRPr lang="en-US" sz="2500" dirty="0"/>
          </a:p>
        </p:txBody>
      </p:sp>
      <p:sp>
        <p:nvSpPr>
          <p:cNvPr id="5" name="Text 3"/>
          <p:cNvSpPr txBox="1"/>
          <p:nvPr/>
        </p:nvSpPr>
        <p:spPr>
          <a:xfrm>
            <a:off x="594360" y="1216152"/>
            <a:ext cx="1828800" cy="201168"/>
          </a:xfrm>
          <a:prstGeom prst="rect">
            <a:avLst/>
          </a:prstGeom>
          <a:noFill/>
          <a:ln/>
        </p:spPr>
        <p:txBody>
          <a:bodyPr wrap="square" lIns="0" tIns="0" rIns="0" bIns="0" rtlCol="0" anchor="t"/>
          <a:lstStyle/>
          <a:p>
            <a:pPr indent="0" marL="0">
              <a:buNone/>
            </a:pPr>
            <a:r>
              <a:rPr lang="en-US" sz="900" b="1" dirty="0">
                <a:solidFill>
                  <a:srgbClr val="586676"/>
                </a:solidFill>
                <a:latin typeface="Calibri" pitchFamily="34" charset="0"/>
                <a:ea typeface="Calibri" pitchFamily="34" charset="-122"/>
                <a:cs typeface="Calibri" pitchFamily="34" charset="-120"/>
              </a:rPr>
              <a:t>Indicator</a:t>
            </a:r>
            <a:endParaRPr lang="en-US" sz="900" dirty="0"/>
          </a:p>
        </p:txBody>
      </p:sp>
      <p:sp>
        <p:nvSpPr>
          <p:cNvPr id="6" name="Text 4"/>
          <p:cNvSpPr txBox="1"/>
          <p:nvPr/>
        </p:nvSpPr>
        <p:spPr>
          <a:xfrm>
            <a:off x="2606040" y="1216152"/>
            <a:ext cx="1828800" cy="201168"/>
          </a:xfrm>
          <a:prstGeom prst="rect">
            <a:avLst/>
          </a:prstGeom>
          <a:noFill/>
          <a:ln/>
        </p:spPr>
        <p:txBody>
          <a:bodyPr wrap="square" lIns="0" tIns="0" rIns="0" bIns="0" rtlCol="0" anchor="t"/>
          <a:lstStyle/>
          <a:p>
            <a:pPr indent="0" marL="0">
              <a:buNone/>
            </a:pPr>
            <a:r>
              <a:rPr lang="en-US" sz="900" b="1" dirty="0">
                <a:solidFill>
                  <a:srgbClr val="586676"/>
                </a:solidFill>
                <a:latin typeface="Calibri" pitchFamily="34" charset="0"/>
                <a:ea typeface="Calibri" pitchFamily="34" charset="-122"/>
                <a:cs typeface="Calibri" pitchFamily="34" charset="-120"/>
              </a:rPr>
              <a:t>How it is measured</a:t>
            </a:r>
            <a:endParaRPr lang="en-US" sz="900" dirty="0"/>
          </a:p>
        </p:txBody>
      </p:sp>
      <p:sp>
        <p:nvSpPr>
          <p:cNvPr id="7" name="Text 5"/>
          <p:cNvSpPr txBox="1"/>
          <p:nvPr/>
        </p:nvSpPr>
        <p:spPr>
          <a:xfrm>
            <a:off x="4434840" y="1216152"/>
            <a:ext cx="1005840" cy="201168"/>
          </a:xfrm>
          <a:prstGeom prst="rect">
            <a:avLst/>
          </a:prstGeom>
          <a:noFill/>
          <a:ln/>
        </p:spPr>
        <p:txBody>
          <a:bodyPr wrap="square" lIns="0" tIns="0" rIns="0" bIns="0" rtlCol="0" anchor="t"/>
          <a:lstStyle/>
          <a:p>
            <a:pPr algn="r" indent="0" marL="0">
              <a:buNone/>
            </a:pPr>
            <a:r>
              <a:rPr lang="en-US" sz="900" b="1" dirty="0">
                <a:solidFill>
                  <a:srgbClr val="586676"/>
                </a:solidFill>
                <a:latin typeface="Calibri" pitchFamily="34" charset="0"/>
                <a:ea typeface="Calibri" pitchFamily="34" charset="-122"/>
                <a:cs typeface="Calibri" pitchFamily="34" charset="-120"/>
              </a:rPr>
              <a:t>Proposed target</a:t>
            </a:r>
            <a:endParaRPr lang="en-US" sz="900" dirty="0"/>
          </a:p>
        </p:txBody>
      </p:sp>
      <p:sp>
        <p:nvSpPr>
          <p:cNvPr id="8" name="Shape 6"/>
          <p:cNvSpPr/>
          <p:nvPr/>
        </p:nvSpPr>
        <p:spPr>
          <a:xfrm>
            <a:off x="457200" y="1444752"/>
            <a:ext cx="5074920" cy="338328"/>
          </a:xfrm>
          <a:prstGeom prst="roundRect">
            <a:avLst>
              <a:gd name="adj" fmla="val 16216"/>
            </a:avLst>
          </a:prstGeom>
          <a:solidFill>
            <a:srgbClr val="F3F6F8"/>
          </a:solidFill>
          <a:ln w="12700">
            <a:solidFill>
              <a:srgbClr val="F3F6F8"/>
            </a:solidFill>
            <a:prstDash val="solid"/>
          </a:ln>
        </p:spPr>
      </p:sp>
      <p:sp>
        <p:nvSpPr>
          <p:cNvPr id="9" name="Text 7"/>
          <p:cNvSpPr txBox="1"/>
          <p:nvPr/>
        </p:nvSpPr>
        <p:spPr>
          <a:xfrm>
            <a:off x="594360" y="1444752"/>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Program completion</a:t>
            </a:r>
            <a:endParaRPr lang="en-US" sz="1100" dirty="0"/>
          </a:p>
        </p:txBody>
      </p:sp>
      <p:sp>
        <p:nvSpPr>
          <p:cNvPr id="10" name="Text 8"/>
          <p:cNvSpPr txBox="1"/>
          <p:nvPr/>
        </p:nvSpPr>
        <p:spPr>
          <a:xfrm>
            <a:off x="2606040" y="1444752"/>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Attendance 80%+</a:t>
            </a:r>
            <a:endParaRPr lang="en-US" sz="1000" dirty="0"/>
          </a:p>
        </p:txBody>
      </p:sp>
      <p:sp>
        <p:nvSpPr>
          <p:cNvPr id="11" name="Text 9"/>
          <p:cNvSpPr txBox="1"/>
          <p:nvPr/>
        </p:nvSpPr>
        <p:spPr>
          <a:xfrm>
            <a:off x="4434840" y="1444752"/>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85%</a:t>
            </a:r>
            <a:endParaRPr lang="en-US" sz="1100" dirty="0"/>
          </a:p>
        </p:txBody>
      </p:sp>
      <p:sp>
        <p:nvSpPr>
          <p:cNvPr id="12" name="Shape 10"/>
          <p:cNvSpPr/>
          <p:nvPr/>
        </p:nvSpPr>
        <p:spPr>
          <a:xfrm>
            <a:off x="457200" y="1837944"/>
            <a:ext cx="5074920" cy="338328"/>
          </a:xfrm>
          <a:prstGeom prst="roundRect">
            <a:avLst>
              <a:gd name="adj" fmla="val 16216"/>
            </a:avLst>
          </a:prstGeom>
          <a:solidFill>
            <a:srgbClr val="F3F6F8"/>
          </a:solidFill>
          <a:ln w="12700">
            <a:solidFill>
              <a:srgbClr val="F3F6F8"/>
            </a:solidFill>
            <a:prstDash val="solid"/>
          </a:ln>
        </p:spPr>
      </p:sp>
      <p:sp>
        <p:nvSpPr>
          <p:cNvPr id="13" name="Text 11"/>
          <p:cNvSpPr txBox="1"/>
          <p:nvPr/>
        </p:nvSpPr>
        <p:spPr>
          <a:xfrm>
            <a:off x="594360" y="1837944"/>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Pre/post improvement</a:t>
            </a:r>
            <a:endParaRPr lang="en-US" sz="1100" dirty="0"/>
          </a:p>
        </p:txBody>
      </p:sp>
      <p:sp>
        <p:nvSpPr>
          <p:cNvPr id="14" name="Text 12"/>
          <p:cNvSpPr txBox="1"/>
          <p:nvPr/>
        </p:nvSpPr>
        <p:spPr>
          <a:xfrm>
            <a:off x="2606040" y="1837944"/>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Same test, start and end</a:t>
            </a:r>
            <a:endParaRPr lang="en-US" sz="1000" dirty="0"/>
          </a:p>
        </p:txBody>
      </p:sp>
      <p:sp>
        <p:nvSpPr>
          <p:cNvPr id="15" name="Text 13"/>
          <p:cNvSpPr txBox="1"/>
          <p:nvPr/>
        </p:nvSpPr>
        <p:spPr>
          <a:xfrm>
            <a:off x="4434840" y="1837944"/>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+25 pts</a:t>
            </a:r>
            <a:endParaRPr lang="en-US" sz="1100" dirty="0"/>
          </a:p>
        </p:txBody>
      </p:sp>
      <p:sp>
        <p:nvSpPr>
          <p:cNvPr id="16" name="Shape 14"/>
          <p:cNvSpPr/>
          <p:nvPr/>
        </p:nvSpPr>
        <p:spPr>
          <a:xfrm>
            <a:off x="457200" y="2231136"/>
            <a:ext cx="5074920" cy="338328"/>
          </a:xfrm>
          <a:prstGeom prst="roundRect">
            <a:avLst>
              <a:gd name="adj" fmla="val 16216"/>
            </a:avLst>
          </a:prstGeom>
          <a:solidFill>
            <a:srgbClr val="F3F6F8"/>
          </a:solidFill>
          <a:ln w="12700">
            <a:solidFill>
              <a:srgbClr val="F3F6F8"/>
            </a:solidFill>
            <a:prstDash val="solid"/>
          </a:ln>
        </p:spPr>
      </p:sp>
      <p:sp>
        <p:nvSpPr>
          <p:cNvPr id="17" name="Text 15"/>
          <p:cNvSpPr txBox="1"/>
          <p:nvPr/>
        </p:nvSpPr>
        <p:spPr>
          <a:xfrm>
            <a:off x="594360" y="2231136"/>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Practical assignments</a:t>
            </a:r>
            <a:endParaRPr lang="en-US" sz="1100" dirty="0"/>
          </a:p>
        </p:txBody>
      </p:sp>
      <p:sp>
        <p:nvSpPr>
          <p:cNvPr id="18" name="Text 16"/>
          <p:cNvSpPr txBox="1"/>
          <p:nvPr/>
        </p:nvSpPr>
        <p:spPr>
          <a:xfrm>
            <a:off x="2606040" y="2231136"/>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Deliverables submitted</a:t>
            </a:r>
            <a:endParaRPr lang="en-US" sz="1000" dirty="0"/>
          </a:p>
        </p:txBody>
      </p:sp>
      <p:sp>
        <p:nvSpPr>
          <p:cNvPr id="19" name="Text 17"/>
          <p:cNvSpPr txBox="1"/>
          <p:nvPr/>
        </p:nvSpPr>
        <p:spPr>
          <a:xfrm>
            <a:off x="4434840" y="2231136"/>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90%</a:t>
            </a:r>
            <a:endParaRPr lang="en-US" sz="1100" dirty="0"/>
          </a:p>
        </p:txBody>
      </p:sp>
      <p:sp>
        <p:nvSpPr>
          <p:cNvPr id="20" name="Shape 18"/>
          <p:cNvSpPr/>
          <p:nvPr/>
        </p:nvSpPr>
        <p:spPr>
          <a:xfrm>
            <a:off x="457200" y="2624328"/>
            <a:ext cx="5074920" cy="338328"/>
          </a:xfrm>
          <a:prstGeom prst="roundRect">
            <a:avLst>
              <a:gd name="adj" fmla="val 16216"/>
            </a:avLst>
          </a:prstGeom>
          <a:solidFill>
            <a:srgbClr val="E0EFED"/>
          </a:solidFill>
          <a:ln w="12700">
            <a:solidFill>
              <a:srgbClr val="E0EFED"/>
            </a:solidFill>
            <a:prstDash val="solid"/>
          </a:ln>
        </p:spPr>
      </p:sp>
      <p:sp>
        <p:nvSpPr>
          <p:cNvPr id="21" name="Text 19"/>
          <p:cNvSpPr txBox="1"/>
          <p:nvPr/>
        </p:nvSpPr>
        <p:spPr>
          <a:xfrm>
            <a:off x="594360" y="2624328"/>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Video project</a:t>
            </a:r>
            <a:endParaRPr lang="en-US" sz="1100" dirty="0"/>
          </a:p>
        </p:txBody>
      </p:sp>
      <p:sp>
        <p:nvSpPr>
          <p:cNvPr id="22" name="Text 20"/>
          <p:cNvSpPr txBox="1"/>
          <p:nvPr/>
        </p:nvSpPr>
        <p:spPr>
          <a:xfrm>
            <a:off x="2606040" y="2624328"/>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Meets the rubric</a:t>
            </a:r>
            <a:endParaRPr lang="en-US" sz="1000" dirty="0"/>
          </a:p>
        </p:txBody>
      </p:sp>
      <p:sp>
        <p:nvSpPr>
          <p:cNvPr id="23" name="Text 21"/>
          <p:cNvSpPr txBox="1"/>
          <p:nvPr/>
        </p:nvSpPr>
        <p:spPr>
          <a:xfrm>
            <a:off x="4434840" y="2624328"/>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85%</a:t>
            </a:r>
            <a:endParaRPr lang="en-US" sz="1100" dirty="0"/>
          </a:p>
        </p:txBody>
      </p:sp>
      <p:sp>
        <p:nvSpPr>
          <p:cNvPr id="24" name="Shape 22"/>
          <p:cNvSpPr/>
          <p:nvPr/>
        </p:nvSpPr>
        <p:spPr>
          <a:xfrm>
            <a:off x="457200" y="3017520"/>
            <a:ext cx="5074920" cy="338328"/>
          </a:xfrm>
          <a:prstGeom prst="roundRect">
            <a:avLst>
              <a:gd name="adj" fmla="val 16216"/>
            </a:avLst>
          </a:prstGeom>
          <a:solidFill>
            <a:srgbClr val="E0EFED"/>
          </a:solidFill>
          <a:ln w="12700">
            <a:solidFill>
              <a:srgbClr val="E0EFED"/>
            </a:solidFill>
            <a:prstDash val="solid"/>
          </a:ln>
        </p:spPr>
      </p:sp>
      <p:sp>
        <p:nvSpPr>
          <p:cNvPr id="25" name="Text 23"/>
          <p:cNvSpPr txBox="1"/>
          <p:nvPr/>
        </p:nvSpPr>
        <p:spPr>
          <a:xfrm>
            <a:off x="594360" y="3017520"/>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Automation project</a:t>
            </a:r>
            <a:endParaRPr lang="en-US" sz="1100" dirty="0"/>
          </a:p>
        </p:txBody>
      </p:sp>
      <p:sp>
        <p:nvSpPr>
          <p:cNvPr id="26" name="Text 24"/>
          <p:cNvSpPr txBox="1"/>
          <p:nvPr/>
        </p:nvSpPr>
        <p:spPr>
          <a:xfrm>
            <a:off x="2606040" y="3017520"/>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Runs end to end</a:t>
            </a:r>
            <a:endParaRPr lang="en-US" sz="1000" dirty="0"/>
          </a:p>
        </p:txBody>
      </p:sp>
      <p:sp>
        <p:nvSpPr>
          <p:cNvPr id="27" name="Text 25"/>
          <p:cNvSpPr txBox="1"/>
          <p:nvPr/>
        </p:nvSpPr>
        <p:spPr>
          <a:xfrm>
            <a:off x="4434840" y="3017520"/>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80%</a:t>
            </a:r>
            <a:endParaRPr lang="en-US" sz="1100" dirty="0"/>
          </a:p>
        </p:txBody>
      </p:sp>
      <p:sp>
        <p:nvSpPr>
          <p:cNvPr id="28" name="Shape 26"/>
          <p:cNvSpPr/>
          <p:nvPr/>
        </p:nvSpPr>
        <p:spPr>
          <a:xfrm>
            <a:off x="457200" y="3410712"/>
            <a:ext cx="5074920" cy="338328"/>
          </a:xfrm>
          <a:prstGeom prst="roundRect">
            <a:avLst>
              <a:gd name="adj" fmla="val 16216"/>
            </a:avLst>
          </a:prstGeom>
          <a:solidFill>
            <a:srgbClr val="E0EFED"/>
          </a:solidFill>
          <a:ln w="12700">
            <a:solidFill>
              <a:srgbClr val="E0EFED"/>
            </a:solidFill>
            <a:prstDash val="solid"/>
          </a:ln>
        </p:spPr>
      </p:sp>
      <p:sp>
        <p:nvSpPr>
          <p:cNvPr id="29" name="Text 27"/>
          <p:cNvSpPr txBox="1"/>
          <p:nvPr/>
        </p:nvSpPr>
        <p:spPr>
          <a:xfrm>
            <a:off x="594360" y="3410712"/>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Capstone &amp; presentation</a:t>
            </a:r>
            <a:endParaRPr lang="en-US" sz="1100" dirty="0"/>
          </a:p>
        </p:txBody>
      </p:sp>
      <p:sp>
        <p:nvSpPr>
          <p:cNvPr id="30" name="Text 28"/>
          <p:cNvSpPr txBox="1"/>
          <p:nvPr/>
        </p:nvSpPr>
        <p:spPr>
          <a:xfrm>
            <a:off x="2606040" y="3410712"/>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Rubric 3/4 or higher</a:t>
            </a:r>
            <a:endParaRPr lang="en-US" sz="1000" dirty="0"/>
          </a:p>
        </p:txBody>
      </p:sp>
      <p:sp>
        <p:nvSpPr>
          <p:cNvPr id="31" name="Text 29"/>
          <p:cNvSpPr txBox="1"/>
          <p:nvPr/>
        </p:nvSpPr>
        <p:spPr>
          <a:xfrm>
            <a:off x="4434840" y="3410712"/>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80% teams</a:t>
            </a:r>
            <a:endParaRPr lang="en-US" sz="1100" dirty="0"/>
          </a:p>
        </p:txBody>
      </p:sp>
      <p:sp>
        <p:nvSpPr>
          <p:cNvPr id="32" name="Shape 30"/>
          <p:cNvSpPr/>
          <p:nvPr/>
        </p:nvSpPr>
        <p:spPr>
          <a:xfrm>
            <a:off x="457200" y="3803904"/>
            <a:ext cx="5074920" cy="338328"/>
          </a:xfrm>
          <a:prstGeom prst="roundRect">
            <a:avLst>
              <a:gd name="adj" fmla="val 16216"/>
            </a:avLst>
          </a:prstGeom>
          <a:solidFill>
            <a:srgbClr val="FCEBD3"/>
          </a:solidFill>
          <a:ln w="12700">
            <a:solidFill>
              <a:srgbClr val="FCEBD3"/>
            </a:solidFill>
            <a:prstDash val="solid"/>
          </a:ln>
        </p:spPr>
      </p:sp>
      <p:sp>
        <p:nvSpPr>
          <p:cNvPr id="33" name="Text 31"/>
          <p:cNvSpPr txBox="1"/>
          <p:nvPr/>
        </p:nvSpPr>
        <p:spPr>
          <a:xfrm>
            <a:off x="594360" y="3803904"/>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Portfolio completion</a:t>
            </a:r>
            <a:endParaRPr lang="en-US" sz="1100" dirty="0"/>
          </a:p>
        </p:txBody>
      </p:sp>
      <p:sp>
        <p:nvSpPr>
          <p:cNvPr id="34" name="Text 32"/>
          <p:cNvSpPr txBox="1"/>
          <p:nvPr/>
        </p:nvSpPr>
        <p:spPr>
          <a:xfrm>
            <a:off x="2606040" y="3803904"/>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Page with 3+ pieces</a:t>
            </a:r>
            <a:endParaRPr lang="en-US" sz="1000" dirty="0"/>
          </a:p>
        </p:txBody>
      </p:sp>
      <p:sp>
        <p:nvSpPr>
          <p:cNvPr id="35" name="Text 33"/>
          <p:cNvSpPr txBox="1"/>
          <p:nvPr/>
        </p:nvSpPr>
        <p:spPr>
          <a:xfrm>
            <a:off x="4434840" y="3803904"/>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80%</a:t>
            </a:r>
            <a:endParaRPr lang="en-US" sz="1100" dirty="0"/>
          </a:p>
        </p:txBody>
      </p:sp>
      <p:sp>
        <p:nvSpPr>
          <p:cNvPr id="36" name="Shape 34"/>
          <p:cNvSpPr/>
          <p:nvPr/>
        </p:nvSpPr>
        <p:spPr>
          <a:xfrm>
            <a:off x="457200" y="4197096"/>
            <a:ext cx="5074920" cy="338328"/>
          </a:xfrm>
          <a:prstGeom prst="roundRect">
            <a:avLst>
              <a:gd name="adj" fmla="val 16216"/>
            </a:avLst>
          </a:prstGeom>
          <a:solidFill>
            <a:srgbClr val="FCEBD3"/>
          </a:solidFill>
          <a:ln w="12700">
            <a:solidFill>
              <a:srgbClr val="FCEBD3"/>
            </a:solidFill>
            <a:prstDash val="solid"/>
          </a:ln>
        </p:spPr>
      </p:sp>
      <p:sp>
        <p:nvSpPr>
          <p:cNvPr id="37" name="Text 35"/>
          <p:cNvSpPr txBox="1"/>
          <p:nvPr/>
        </p:nvSpPr>
        <p:spPr>
          <a:xfrm>
            <a:off x="594360" y="4197096"/>
            <a:ext cx="2011680" cy="338328"/>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Freelance readiness</a:t>
            </a:r>
            <a:endParaRPr lang="en-US" sz="1100" dirty="0"/>
          </a:p>
        </p:txBody>
      </p:sp>
      <p:sp>
        <p:nvSpPr>
          <p:cNvPr id="38" name="Text 36"/>
          <p:cNvSpPr txBox="1"/>
          <p:nvPr/>
        </p:nvSpPr>
        <p:spPr>
          <a:xfrm>
            <a:off x="2606040" y="4197096"/>
            <a:ext cx="1828800" cy="338328"/>
          </a:xfrm>
          <a:prstGeom prst="rect">
            <a:avLst/>
          </a:prstGeom>
          <a:noFill/>
          <a:ln/>
        </p:spPr>
        <p:txBody>
          <a:bodyPr wrap="square" lIns="0" tIns="0" rIns="0" bIns="0" rtlCol="0" anchor="ctr"/>
          <a:lstStyle/>
          <a:p>
            <a:pPr indent="0" marL="0">
              <a:buNone/>
            </a:pPr>
            <a:r>
              <a:rPr lang="en-US" sz="1000" dirty="0">
                <a:solidFill>
                  <a:srgbClr val="2B3A4A"/>
                </a:solidFill>
                <a:latin typeface="Calibri" pitchFamily="34" charset="0"/>
                <a:ea typeface="Calibri" pitchFamily="34" charset="-122"/>
                <a:cs typeface="Calibri" pitchFamily="34" charset="-120"/>
              </a:rPr>
              <a:t>Checklist completed</a:t>
            </a:r>
            <a:endParaRPr lang="en-US" sz="1000" dirty="0"/>
          </a:p>
        </p:txBody>
      </p:sp>
      <p:sp>
        <p:nvSpPr>
          <p:cNvPr id="39" name="Text 37"/>
          <p:cNvSpPr txBox="1"/>
          <p:nvPr/>
        </p:nvSpPr>
        <p:spPr>
          <a:xfrm>
            <a:off x="4434840" y="4197096"/>
            <a:ext cx="1005840" cy="338328"/>
          </a:xfrm>
          <a:prstGeom prst="rect">
            <a:avLst/>
          </a:prstGeom>
          <a:noFill/>
          <a:ln/>
        </p:spPr>
        <p:txBody>
          <a:bodyPr wrap="square" lIns="0" tIns="0" rIns="0" bIns="0" rtlCol="0" anchor="ctr"/>
          <a:lstStyle/>
          <a:p>
            <a:pPr algn="r" indent="0" marL="0">
              <a:buNone/>
            </a:pPr>
            <a:r>
              <a:rPr lang="en-US" sz="1100" b="1" dirty="0">
                <a:solidFill>
                  <a:srgbClr val="0A8577"/>
                </a:solidFill>
                <a:latin typeface="Calibri" pitchFamily="34" charset="0"/>
                <a:ea typeface="Calibri" pitchFamily="34" charset="-122"/>
                <a:cs typeface="Calibri" pitchFamily="34" charset="-120"/>
              </a:rPr>
              <a:t>75%</a:t>
            </a:r>
            <a:endParaRPr lang="en-US" sz="1100" dirty="0"/>
          </a:p>
        </p:txBody>
      </p:sp>
      <p:sp>
        <p:nvSpPr>
          <p:cNvPr id="40" name="Shape 38"/>
          <p:cNvSpPr/>
          <p:nvPr/>
        </p:nvSpPr>
        <p:spPr>
          <a:xfrm>
            <a:off x="5715000" y="1261872"/>
            <a:ext cx="2971800" cy="3355848"/>
          </a:xfrm>
          <a:prstGeom prst="roundRect">
            <a:avLst>
              <a:gd name="adj" fmla="val 1846"/>
            </a:avLst>
          </a:prstGeom>
          <a:solidFill>
            <a:srgbClr val="10233A"/>
          </a:solidFill>
          <a:ln w="12700">
            <a:solidFill>
              <a:srgbClr val="10233A"/>
            </a:solidFill>
            <a:prstDash val="solid"/>
          </a:ln>
        </p:spPr>
      </p:sp>
      <p:sp>
        <p:nvSpPr>
          <p:cNvPr id="41" name="Shape 39"/>
          <p:cNvSpPr/>
          <p:nvPr/>
        </p:nvSpPr>
        <p:spPr>
          <a:xfrm>
            <a:off x="5852160" y="1380744"/>
            <a:ext cx="384048" cy="384048"/>
          </a:xfrm>
          <a:prstGeom prst="ellipse">
            <a:avLst/>
          </a:prstGeom>
          <a:solidFill>
            <a:srgbClr val="F2A541"/>
          </a:solidFill>
          <a:ln w="12700">
            <a:solidFill>
              <a:srgbClr val="F2A541"/>
            </a:solidFill>
            <a:prstDash val="solid"/>
          </a:ln>
        </p:spPr>
      </p:sp>
      <p:sp>
        <p:nvSpPr>
          <p:cNvPr id="42" name="Text 40"/>
          <p:cNvSpPr txBox="1"/>
          <p:nvPr/>
        </p:nvSpPr>
        <p:spPr>
          <a:xfrm>
            <a:off x="6327648" y="1380744"/>
            <a:ext cx="2286000" cy="384048"/>
          </a:xfrm>
          <a:prstGeom prst="rect">
            <a:avLst/>
          </a:prstGeom>
          <a:noFill/>
          <a:ln/>
        </p:spPr>
        <p:txBody>
          <a:bodyPr wrap="square" lIns="0" tIns="0" rIns="0" bIns="0" rtlCol="0" anchor="ctr"/>
          <a:lstStyle/>
          <a:p>
            <a:pPr indent="0" marL="0">
              <a:buNone/>
            </a:pPr>
            <a:r>
              <a:rPr lang="en-US" sz="1300" b="1" dirty="0">
                <a:solidFill>
                  <a:srgbClr val="F2A541"/>
                </a:solidFill>
                <a:latin typeface="Calibri" pitchFamily="34" charset="0"/>
                <a:ea typeface="Calibri" pitchFamily="34" charset="-122"/>
                <a:cs typeface="Calibri" pitchFamily="34" charset="-120"/>
              </a:rPr>
              <a:t>Freelance readiness checklist</a:t>
            </a:r>
            <a:endParaRPr lang="en-US" sz="1300" dirty="0"/>
          </a:p>
        </p:txBody>
      </p:sp>
      <p:sp>
        <p:nvSpPr>
          <p:cNvPr id="43" name="Text 41"/>
          <p:cNvSpPr txBox="1"/>
          <p:nvPr/>
        </p:nvSpPr>
        <p:spPr>
          <a:xfrm>
            <a:off x="5870448" y="1874520"/>
            <a:ext cx="2724912" cy="237744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Published portfolio page with at least three pieces</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Three written service packages with scope and deliverables</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A reusable creative brief template</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Client message templates: first contact, scope, revisions, delivery</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Knows the rules of the platforms they may use</a:t>
            </a:r>
            <a:endParaRPr lang="en-US" sz="1050" dirty="0"/>
          </a:p>
          <a:p>
            <a:pPr marL="152400" indent="-1524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Has presented work to an audience</a:t>
            </a:r>
            <a:endParaRPr lang="en-US" sz="1050" dirty="0"/>
          </a:p>
        </p:txBody>
      </p:sp>
      <p:sp>
        <p:nvSpPr>
          <p:cNvPr id="44" name="Text 42"/>
          <p:cNvSpPr txBox="1"/>
          <p:nvPr/>
        </p:nvSpPr>
        <p:spPr>
          <a:xfrm>
            <a:off x="5870448" y="4279392"/>
            <a:ext cx="2743200" cy="274320"/>
          </a:xfrm>
          <a:prstGeom prst="rect">
            <a:avLst/>
          </a:prstGeom>
          <a:noFill/>
          <a:ln/>
        </p:spPr>
        <p:txBody>
          <a:bodyPr wrap="square" lIns="0" tIns="0" rIns="0" bIns="0" rtlCol="0" anchor="t"/>
          <a:lstStyle/>
          <a:p>
            <a:pPr indent="0" marL="0">
              <a:buNone/>
            </a:pPr>
            <a:r>
              <a:rPr lang="en-US" sz="950" i="1" dirty="0">
                <a:solidFill>
                  <a:srgbClr val="C9D1DA"/>
                </a:solidFill>
                <a:latin typeface="Calibri" pitchFamily="34" charset="0"/>
                <a:ea typeface="Calibri" pitchFamily="34" charset="-122"/>
                <a:cs typeface="Calibri" pitchFamily="34" charset="-120"/>
              </a:rPr>
              <a:t>Income is not used as a headline indicator.</a:t>
            </a:r>
            <a:endParaRPr lang="en-US" sz="950" dirty="0"/>
          </a:p>
        </p:txBody>
      </p:sp>
      <p:pic>
        <p:nvPicPr>
          <p:cNvPr id="45" name="Image 0" descr="preencoded.png">    </p:cNvPr>
          <p:cNvPicPr>
            <a:picLocks noChangeAspect="1"/>
          </p:cNvPicPr>
          <p:nvPr/>
        </p:nvPicPr>
        <p:blipFill>
          <a:blip r:embed="rId1"/>
          <a:stretch>
            <a:fillRect/>
          </a:stretch>
        </p:blipFill>
        <p:spPr>
          <a:xfrm>
            <a:off x="5948172" y="1476756"/>
            <a:ext cx="192024" cy="192024"/>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14  ·  RESPONSIBLE AI</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Responsible AI, built into every module</a:t>
            </a:r>
            <a:endParaRPr lang="en-US" sz="2500" dirty="0"/>
          </a:p>
        </p:txBody>
      </p:sp>
      <p:sp>
        <p:nvSpPr>
          <p:cNvPr id="5" name="Shape 3"/>
          <p:cNvSpPr/>
          <p:nvPr/>
        </p:nvSpPr>
        <p:spPr>
          <a:xfrm>
            <a:off x="457200" y="1298448"/>
            <a:ext cx="2651760" cy="1188720"/>
          </a:xfrm>
          <a:prstGeom prst="roundRect">
            <a:avLst>
              <a:gd name="adj" fmla="val 4615"/>
            </a:avLst>
          </a:prstGeom>
          <a:solidFill>
            <a:srgbClr val="F3F6F8"/>
          </a:solidFill>
          <a:ln w="12700">
            <a:solidFill>
              <a:srgbClr val="F3F6F8"/>
            </a:solidFill>
            <a:prstDash val="solid"/>
          </a:ln>
        </p:spPr>
      </p:sp>
      <p:sp>
        <p:nvSpPr>
          <p:cNvPr id="6" name="Shape 4"/>
          <p:cNvSpPr/>
          <p:nvPr/>
        </p:nvSpPr>
        <p:spPr>
          <a:xfrm>
            <a:off x="594360" y="1435608"/>
            <a:ext cx="402336" cy="402336"/>
          </a:xfrm>
          <a:prstGeom prst="ellipse">
            <a:avLst/>
          </a:prstGeom>
          <a:solidFill>
            <a:srgbClr val="0A8577"/>
          </a:solidFill>
          <a:ln w="12700">
            <a:solidFill>
              <a:srgbClr val="0A8577"/>
            </a:solidFill>
            <a:prstDash val="solid"/>
          </a:ln>
        </p:spPr>
      </p:sp>
      <p:sp>
        <p:nvSpPr>
          <p:cNvPr id="7" name="Text 5"/>
          <p:cNvSpPr txBox="1"/>
          <p:nvPr/>
        </p:nvSpPr>
        <p:spPr>
          <a:xfrm>
            <a:off x="1097280" y="1435608"/>
            <a:ext cx="1920240" cy="40233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Checked tools</a:t>
            </a:r>
            <a:endParaRPr lang="en-US" sz="1300" dirty="0"/>
          </a:p>
        </p:txBody>
      </p:sp>
      <p:sp>
        <p:nvSpPr>
          <p:cNvPr id="8" name="Text 6"/>
          <p:cNvSpPr txBox="1"/>
          <p:nvPr/>
        </p:nvSpPr>
        <p:spPr>
          <a:xfrm>
            <a:off x="594360" y="1938528"/>
            <a:ext cx="2395728" cy="50292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Every tool is checked against its terms before each cohort</a:t>
            </a:r>
            <a:endParaRPr lang="en-US" sz="1100" dirty="0"/>
          </a:p>
        </p:txBody>
      </p:sp>
      <p:sp>
        <p:nvSpPr>
          <p:cNvPr id="9" name="Shape 7"/>
          <p:cNvSpPr/>
          <p:nvPr/>
        </p:nvSpPr>
        <p:spPr>
          <a:xfrm>
            <a:off x="3246120" y="1298448"/>
            <a:ext cx="2651760" cy="1188720"/>
          </a:xfrm>
          <a:prstGeom prst="roundRect">
            <a:avLst>
              <a:gd name="adj" fmla="val 4615"/>
            </a:avLst>
          </a:prstGeom>
          <a:solidFill>
            <a:srgbClr val="F3F6F8"/>
          </a:solidFill>
          <a:ln w="12700">
            <a:solidFill>
              <a:srgbClr val="F3F6F8"/>
            </a:solidFill>
            <a:prstDash val="solid"/>
          </a:ln>
        </p:spPr>
      </p:sp>
      <p:sp>
        <p:nvSpPr>
          <p:cNvPr id="10" name="Shape 8"/>
          <p:cNvSpPr/>
          <p:nvPr/>
        </p:nvSpPr>
        <p:spPr>
          <a:xfrm>
            <a:off x="3383280" y="1435608"/>
            <a:ext cx="402336" cy="402336"/>
          </a:xfrm>
          <a:prstGeom prst="ellipse">
            <a:avLst/>
          </a:prstGeom>
          <a:solidFill>
            <a:srgbClr val="0A8577"/>
          </a:solidFill>
          <a:ln w="12700">
            <a:solidFill>
              <a:srgbClr val="0A8577"/>
            </a:solidFill>
            <a:prstDash val="solid"/>
          </a:ln>
        </p:spPr>
      </p:sp>
      <p:sp>
        <p:nvSpPr>
          <p:cNvPr id="11" name="Text 9"/>
          <p:cNvSpPr txBox="1"/>
          <p:nvPr/>
        </p:nvSpPr>
        <p:spPr>
          <a:xfrm>
            <a:off x="3886200" y="1435608"/>
            <a:ext cx="1920240" cy="40233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No real likeness</a:t>
            </a:r>
            <a:endParaRPr lang="en-US" sz="1300" dirty="0"/>
          </a:p>
        </p:txBody>
      </p:sp>
      <p:sp>
        <p:nvSpPr>
          <p:cNvPr id="12" name="Text 10"/>
          <p:cNvSpPr txBox="1"/>
          <p:nvPr/>
        </p:nvSpPr>
        <p:spPr>
          <a:xfrm>
            <a:off x="3383280" y="1938528"/>
            <a:ext cx="2395728" cy="50292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No real person's face or voice is generated without consent</a:t>
            </a:r>
            <a:endParaRPr lang="en-US" sz="1100" dirty="0"/>
          </a:p>
        </p:txBody>
      </p:sp>
      <p:sp>
        <p:nvSpPr>
          <p:cNvPr id="13" name="Shape 11"/>
          <p:cNvSpPr/>
          <p:nvPr/>
        </p:nvSpPr>
        <p:spPr>
          <a:xfrm>
            <a:off x="6035040" y="1298448"/>
            <a:ext cx="2651760" cy="1188720"/>
          </a:xfrm>
          <a:prstGeom prst="roundRect">
            <a:avLst>
              <a:gd name="adj" fmla="val 4615"/>
            </a:avLst>
          </a:prstGeom>
          <a:solidFill>
            <a:srgbClr val="F3F6F8"/>
          </a:solidFill>
          <a:ln w="12700">
            <a:solidFill>
              <a:srgbClr val="F3F6F8"/>
            </a:solidFill>
            <a:prstDash val="solid"/>
          </a:ln>
        </p:spPr>
      </p:sp>
      <p:sp>
        <p:nvSpPr>
          <p:cNvPr id="14" name="Shape 12"/>
          <p:cNvSpPr/>
          <p:nvPr/>
        </p:nvSpPr>
        <p:spPr>
          <a:xfrm>
            <a:off x="6172200" y="1435608"/>
            <a:ext cx="402336" cy="402336"/>
          </a:xfrm>
          <a:prstGeom prst="ellipse">
            <a:avLst/>
          </a:prstGeom>
          <a:solidFill>
            <a:srgbClr val="0A8577"/>
          </a:solidFill>
          <a:ln w="12700">
            <a:solidFill>
              <a:srgbClr val="0A8577"/>
            </a:solidFill>
            <a:prstDash val="solid"/>
          </a:ln>
        </p:spPr>
      </p:sp>
      <p:sp>
        <p:nvSpPr>
          <p:cNvPr id="15" name="Text 13"/>
          <p:cNvSpPr txBox="1"/>
          <p:nvPr/>
        </p:nvSpPr>
        <p:spPr>
          <a:xfrm>
            <a:off x="6675120" y="1435608"/>
            <a:ext cx="1920240" cy="40233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Protected credentials</a:t>
            </a:r>
            <a:endParaRPr lang="en-US" sz="1300" dirty="0"/>
          </a:p>
        </p:txBody>
      </p:sp>
      <p:sp>
        <p:nvSpPr>
          <p:cNvPr id="16" name="Text 14"/>
          <p:cNvSpPr txBox="1"/>
          <p:nvPr/>
        </p:nvSpPr>
        <p:spPr>
          <a:xfrm>
            <a:off x="6172200" y="1938528"/>
            <a:ext cx="2395728" cy="50292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API keys and logins are owned and managed by the program</a:t>
            </a:r>
            <a:endParaRPr lang="en-US" sz="1100" dirty="0"/>
          </a:p>
        </p:txBody>
      </p:sp>
      <p:sp>
        <p:nvSpPr>
          <p:cNvPr id="17" name="Shape 15"/>
          <p:cNvSpPr/>
          <p:nvPr/>
        </p:nvSpPr>
        <p:spPr>
          <a:xfrm>
            <a:off x="457200" y="2624328"/>
            <a:ext cx="2651760" cy="1188720"/>
          </a:xfrm>
          <a:prstGeom prst="roundRect">
            <a:avLst>
              <a:gd name="adj" fmla="val 4615"/>
            </a:avLst>
          </a:prstGeom>
          <a:solidFill>
            <a:srgbClr val="F3F6F8"/>
          </a:solidFill>
          <a:ln w="12700">
            <a:solidFill>
              <a:srgbClr val="F3F6F8"/>
            </a:solidFill>
            <a:prstDash val="solid"/>
          </a:ln>
        </p:spPr>
      </p:sp>
      <p:sp>
        <p:nvSpPr>
          <p:cNvPr id="18" name="Shape 16"/>
          <p:cNvSpPr/>
          <p:nvPr/>
        </p:nvSpPr>
        <p:spPr>
          <a:xfrm>
            <a:off x="594360" y="2761488"/>
            <a:ext cx="402336" cy="402336"/>
          </a:xfrm>
          <a:prstGeom prst="ellipse">
            <a:avLst/>
          </a:prstGeom>
          <a:solidFill>
            <a:srgbClr val="0A8577"/>
          </a:solidFill>
          <a:ln w="12700">
            <a:solidFill>
              <a:srgbClr val="0A8577"/>
            </a:solidFill>
            <a:prstDash val="solid"/>
          </a:ln>
        </p:spPr>
      </p:sp>
      <p:sp>
        <p:nvSpPr>
          <p:cNvPr id="19" name="Text 17"/>
          <p:cNvSpPr txBox="1"/>
          <p:nvPr/>
        </p:nvSpPr>
        <p:spPr>
          <a:xfrm>
            <a:off x="1097280" y="2761488"/>
            <a:ext cx="1920240" cy="40233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Verify before publishing</a:t>
            </a:r>
            <a:endParaRPr lang="en-US" sz="1300" dirty="0"/>
          </a:p>
        </p:txBody>
      </p:sp>
      <p:sp>
        <p:nvSpPr>
          <p:cNvPr id="20" name="Text 18"/>
          <p:cNvSpPr txBox="1"/>
          <p:nvPr/>
        </p:nvSpPr>
        <p:spPr>
          <a:xfrm>
            <a:off x="594360" y="3264408"/>
            <a:ext cx="2395728" cy="50292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Facts are checked against sources; AI content is labelled</a:t>
            </a:r>
            <a:endParaRPr lang="en-US" sz="1100" dirty="0"/>
          </a:p>
        </p:txBody>
      </p:sp>
      <p:sp>
        <p:nvSpPr>
          <p:cNvPr id="21" name="Shape 19"/>
          <p:cNvSpPr/>
          <p:nvPr/>
        </p:nvSpPr>
        <p:spPr>
          <a:xfrm>
            <a:off x="3246120" y="2624328"/>
            <a:ext cx="2651760" cy="1188720"/>
          </a:xfrm>
          <a:prstGeom prst="roundRect">
            <a:avLst>
              <a:gd name="adj" fmla="val 4615"/>
            </a:avLst>
          </a:prstGeom>
          <a:solidFill>
            <a:srgbClr val="F3F6F8"/>
          </a:solidFill>
          <a:ln w="12700">
            <a:solidFill>
              <a:srgbClr val="F3F6F8"/>
            </a:solidFill>
            <a:prstDash val="solid"/>
          </a:ln>
        </p:spPr>
      </p:sp>
      <p:sp>
        <p:nvSpPr>
          <p:cNvPr id="22" name="Shape 20"/>
          <p:cNvSpPr/>
          <p:nvPr/>
        </p:nvSpPr>
        <p:spPr>
          <a:xfrm>
            <a:off x="3383280" y="2761488"/>
            <a:ext cx="402336" cy="402336"/>
          </a:xfrm>
          <a:prstGeom prst="ellipse">
            <a:avLst/>
          </a:prstGeom>
          <a:solidFill>
            <a:srgbClr val="0A8577"/>
          </a:solidFill>
          <a:ln w="12700">
            <a:solidFill>
              <a:srgbClr val="0A8577"/>
            </a:solidFill>
            <a:prstDash val="solid"/>
          </a:ln>
        </p:spPr>
      </p:sp>
      <p:sp>
        <p:nvSpPr>
          <p:cNvPr id="23" name="Text 21"/>
          <p:cNvSpPr txBox="1"/>
          <p:nvPr/>
        </p:nvSpPr>
        <p:spPr>
          <a:xfrm>
            <a:off x="3886200" y="2761488"/>
            <a:ext cx="1920240" cy="40233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Privacy first</a:t>
            </a:r>
            <a:endParaRPr lang="en-US" sz="1300" dirty="0"/>
          </a:p>
        </p:txBody>
      </p:sp>
      <p:sp>
        <p:nvSpPr>
          <p:cNvPr id="24" name="Text 22"/>
          <p:cNvSpPr txBox="1"/>
          <p:nvPr/>
        </p:nvSpPr>
        <p:spPr>
          <a:xfrm>
            <a:off x="3383280" y="3264408"/>
            <a:ext cx="2395728" cy="50292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No personal data of participants or clients goes into AI tools</a:t>
            </a:r>
            <a:endParaRPr lang="en-US" sz="1100" dirty="0"/>
          </a:p>
        </p:txBody>
      </p:sp>
      <p:sp>
        <p:nvSpPr>
          <p:cNvPr id="25" name="Shape 23"/>
          <p:cNvSpPr/>
          <p:nvPr/>
        </p:nvSpPr>
        <p:spPr>
          <a:xfrm>
            <a:off x="6035040" y="2624328"/>
            <a:ext cx="2651760" cy="1188720"/>
          </a:xfrm>
          <a:prstGeom prst="roundRect">
            <a:avLst>
              <a:gd name="adj" fmla="val 4615"/>
            </a:avLst>
          </a:prstGeom>
          <a:solidFill>
            <a:srgbClr val="F3F6F8"/>
          </a:solidFill>
          <a:ln w="12700">
            <a:solidFill>
              <a:srgbClr val="F3F6F8"/>
            </a:solidFill>
            <a:prstDash val="solid"/>
          </a:ln>
        </p:spPr>
      </p:sp>
      <p:sp>
        <p:nvSpPr>
          <p:cNvPr id="26" name="Shape 24"/>
          <p:cNvSpPr/>
          <p:nvPr/>
        </p:nvSpPr>
        <p:spPr>
          <a:xfrm>
            <a:off x="6172200" y="2761488"/>
            <a:ext cx="402336" cy="402336"/>
          </a:xfrm>
          <a:prstGeom prst="ellipse">
            <a:avLst/>
          </a:prstGeom>
          <a:solidFill>
            <a:srgbClr val="0A8577"/>
          </a:solidFill>
          <a:ln w="12700">
            <a:solidFill>
              <a:srgbClr val="0A8577"/>
            </a:solidFill>
            <a:prstDash val="solid"/>
          </a:ln>
        </p:spPr>
      </p:sp>
      <p:sp>
        <p:nvSpPr>
          <p:cNvPr id="27" name="Text 25"/>
          <p:cNvSpPr txBox="1"/>
          <p:nvPr/>
        </p:nvSpPr>
        <p:spPr>
          <a:xfrm>
            <a:off x="6675120" y="2761488"/>
            <a:ext cx="1920240" cy="402336"/>
          </a:xfrm>
          <a:prstGeom prst="rect">
            <a:avLst/>
          </a:prstGeom>
          <a:noFill/>
          <a:ln/>
        </p:spPr>
        <p:txBody>
          <a:bodyPr wrap="square" lIns="0" tIns="0" rIns="0" bIns="0" rtlCol="0" anchor="ctr"/>
          <a:lstStyle/>
          <a:p>
            <a:pPr indent="0" marL="0">
              <a:buNone/>
            </a:pPr>
            <a:r>
              <a:rPr lang="en-US" sz="1300" b="1" dirty="0">
                <a:solidFill>
                  <a:srgbClr val="0A8577"/>
                </a:solidFill>
                <a:latin typeface="Calibri" pitchFamily="34" charset="0"/>
                <a:ea typeface="Calibri" pitchFamily="34" charset="-122"/>
                <a:cs typeface="Calibri" pitchFamily="34" charset="-120"/>
              </a:rPr>
              <a:t>Respect copyright</a:t>
            </a:r>
            <a:endParaRPr lang="en-US" sz="1300" dirty="0"/>
          </a:p>
        </p:txBody>
      </p:sp>
      <p:sp>
        <p:nvSpPr>
          <p:cNvPr id="28" name="Text 26"/>
          <p:cNvSpPr txBox="1"/>
          <p:nvPr/>
        </p:nvSpPr>
        <p:spPr>
          <a:xfrm>
            <a:off x="6172200" y="3264408"/>
            <a:ext cx="2395728" cy="502920"/>
          </a:xfrm>
          <a:prstGeom prst="rect">
            <a:avLst/>
          </a:prstGeom>
          <a:noFill/>
          <a:ln/>
        </p:spPr>
        <p:txBody>
          <a:bodyPr wrap="square" lIns="0" tIns="0" rIns="0" bIns="0" rtlCol="0" anchor="t"/>
          <a:lstStyle/>
          <a:p>
            <a:pPr indent="0" marL="0">
              <a:buNone/>
            </a:pPr>
            <a:r>
              <a:rPr lang="en-US" sz="1100" dirty="0">
                <a:solidFill>
                  <a:srgbClr val="2B3A4A"/>
                </a:solidFill>
                <a:latin typeface="Calibri" pitchFamily="34" charset="0"/>
                <a:ea typeface="Calibri" pitchFamily="34" charset="-122"/>
                <a:cs typeface="Calibri" pitchFamily="34" charset="-120"/>
              </a:rPr>
              <a:t>Licensed or self-made assets only, with sources credited</a:t>
            </a:r>
            <a:endParaRPr lang="en-US" sz="1100" dirty="0"/>
          </a:p>
        </p:txBody>
      </p:sp>
      <p:sp>
        <p:nvSpPr>
          <p:cNvPr id="29" name="Shape 27"/>
          <p:cNvSpPr/>
          <p:nvPr/>
        </p:nvSpPr>
        <p:spPr>
          <a:xfrm>
            <a:off x="457200" y="4005072"/>
            <a:ext cx="8229600" cy="612648"/>
          </a:xfrm>
          <a:prstGeom prst="roundRect">
            <a:avLst>
              <a:gd name="adj" fmla="val 8955"/>
            </a:avLst>
          </a:prstGeom>
          <a:solidFill>
            <a:srgbClr val="10233A"/>
          </a:solidFill>
          <a:ln w="12700">
            <a:solidFill>
              <a:srgbClr val="10233A"/>
            </a:solidFill>
            <a:prstDash val="solid"/>
          </a:ln>
        </p:spPr>
      </p:sp>
      <p:sp>
        <p:nvSpPr>
          <p:cNvPr id="30" name="Text 28"/>
          <p:cNvSpPr txBox="1"/>
          <p:nvPr/>
        </p:nvSpPr>
        <p:spPr>
          <a:xfrm>
            <a:off x="621792" y="4005072"/>
            <a:ext cx="7955280" cy="612648"/>
          </a:xfrm>
          <a:prstGeom prst="rect">
            <a:avLst/>
          </a:prstGeom>
          <a:noFill/>
          <a:ln/>
        </p:spPr>
        <p:txBody>
          <a:bodyPr wrap="square" lIns="0" tIns="0" rIns="0" bIns="0" rtlCol="0" anchor="ctr"/>
          <a:lstStyle/>
          <a:p>
            <a:pPr indent="0" marL="0">
              <a:buNone/>
            </a:pPr>
            <a:r>
              <a:rPr lang="en-US" sz="1200" b="1" dirty="0">
                <a:solidFill>
                  <a:srgbClr val="F2A541"/>
                </a:solidFill>
                <a:latin typeface="Calibri" pitchFamily="34" charset="0"/>
                <a:ea typeface="Calibri" pitchFamily="34" charset="-122"/>
                <a:cs typeface="Calibri" pitchFamily="34" charset="-120"/>
              </a:rPr>
              <a:t>be aware..be secure  </a:t>
            </a:r>
            <a:pPr indent="0" marL="0">
              <a:buNone/>
            </a:pPr>
            <a:r>
              <a:rPr lang="en-US" sz="1200" dirty="0">
                <a:solidFill>
                  <a:srgbClr val="FFFFFF"/>
                </a:solidFill>
                <a:latin typeface="Calibri" pitchFamily="34" charset="0"/>
                <a:ea typeface="Calibri" pitchFamily="34" charset="-122"/>
                <a:cs typeface="Calibri" pitchFamily="34" charset="-120"/>
              </a:rPr>
              <a:t>Green Circle's principle becomes working rules: a code of conduct, a consent form and a checklist in every module.</a:t>
            </a:r>
            <a:endParaRPr lang="en-US" sz="1200" dirty="0"/>
          </a:p>
        </p:txBody>
      </p:sp>
      <p:pic>
        <p:nvPicPr>
          <p:cNvPr id="31" name="Image 0" descr="preencoded.png">    </p:cNvPr>
          <p:cNvPicPr>
            <a:picLocks noChangeAspect="1"/>
          </p:cNvPicPr>
          <p:nvPr/>
        </p:nvPicPr>
        <p:blipFill>
          <a:blip r:embed="rId1"/>
          <a:stretch>
            <a:fillRect/>
          </a:stretch>
        </p:blipFill>
        <p:spPr>
          <a:xfrm>
            <a:off x="694944" y="1536192"/>
            <a:ext cx="201168" cy="201168"/>
          </a:xfrm>
          <a:prstGeom prst="rect">
            <a:avLst/>
          </a:prstGeom>
        </p:spPr>
      </p:pic>
      <p:pic>
        <p:nvPicPr>
          <p:cNvPr id="32" name="Image 1" descr="preencoded.png">    </p:cNvPr>
          <p:cNvPicPr>
            <a:picLocks noChangeAspect="1"/>
          </p:cNvPicPr>
          <p:nvPr/>
        </p:nvPicPr>
        <p:blipFill>
          <a:blip r:embed="rId2"/>
          <a:stretch>
            <a:fillRect/>
          </a:stretch>
        </p:blipFill>
        <p:spPr>
          <a:xfrm>
            <a:off x="3483864" y="1536192"/>
            <a:ext cx="201168" cy="201168"/>
          </a:xfrm>
          <a:prstGeom prst="rect">
            <a:avLst/>
          </a:prstGeom>
        </p:spPr>
      </p:pic>
      <p:pic>
        <p:nvPicPr>
          <p:cNvPr id="33" name="Image 2" descr="preencoded.png">    </p:cNvPr>
          <p:cNvPicPr>
            <a:picLocks noChangeAspect="1"/>
          </p:cNvPicPr>
          <p:nvPr/>
        </p:nvPicPr>
        <p:blipFill>
          <a:blip r:embed="rId3"/>
          <a:stretch>
            <a:fillRect/>
          </a:stretch>
        </p:blipFill>
        <p:spPr>
          <a:xfrm>
            <a:off x="6272784" y="1536192"/>
            <a:ext cx="201168" cy="201168"/>
          </a:xfrm>
          <a:prstGeom prst="rect">
            <a:avLst/>
          </a:prstGeom>
        </p:spPr>
      </p:pic>
      <p:pic>
        <p:nvPicPr>
          <p:cNvPr id="34" name="Image 3" descr="preencoded.png">    </p:cNvPr>
          <p:cNvPicPr>
            <a:picLocks noChangeAspect="1"/>
          </p:cNvPicPr>
          <p:nvPr/>
        </p:nvPicPr>
        <p:blipFill>
          <a:blip r:embed="rId4"/>
          <a:stretch>
            <a:fillRect/>
          </a:stretch>
        </p:blipFill>
        <p:spPr>
          <a:xfrm>
            <a:off x="3483864" y="2862072"/>
            <a:ext cx="201168" cy="201168"/>
          </a:xfrm>
          <a:prstGeom prst="rect">
            <a:avLst/>
          </a:prstGeom>
        </p:spPr>
      </p:pic>
      <p:pic>
        <p:nvPicPr>
          <p:cNvPr id="35" name="Image 4" descr="preencoded.png">    </p:cNvPr>
          <p:cNvPicPr>
            <a:picLocks noChangeAspect="1"/>
          </p:cNvPicPr>
          <p:nvPr/>
        </p:nvPicPr>
        <p:blipFill>
          <a:blip r:embed="rId5"/>
          <a:stretch>
            <a:fillRect/>
          </a:stretch>
        </p:blipFill>
        <p:spPr>
          <a:xfrm>
            <a:off x="694944" y="2862072"/>
            <a:ext cx="201168" cy="201168"/>
          </a:xfrm>
          <a:prstGeom prst="rect">
            <a:avLst/>
          </a:prstGeom>
        </p:spPr>
      </p:pic>
      <p:pic>
        <p:nvPicPr>
          <p:cNvPr id="36" name="Image 5" descr="preencoded.png">    </p:cNvPr>
          <p:cNvPicPr>
            <a:picLocks noChangeAspect="1"/>
          </p:cNvPicPr>
          <p:nvPr/>
        </p:nvPicPr>
        <p:blipFill>
          <a:blip r:embed="rId6"/>
          <a:stretch>
            <a:fillRect/>
          </a:stretch>
        </p:blipFill>
        <p:spPr>
          <a:xfrm>
            <a:off x="6272784" y="2862072"/>
            <a:ext cx="201168" cy="201168"/>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246888"/>
            <a:ext cx="2103120" cy="274320"/>
          </a:xfrm>
          <a:prstGeom prst="roundRect">
            <a:avLst>
              <a:gd name="adj" fmla="val 50000"/>
            </a:avLst>
          </a:prstGeom>
          <a:solidFill>
            <a:srgbClr val="10233A"/>
          </a:solidFill>
          <a:ln w="12700">
            <a:solidFill>
              <a:srgbClr val="10233A"/>
            </a:solidFill>
            <a:prstDash val="solid"/>
          </a:ln>
        </p:spPr>
      </p:sp>
      <p:sp>
        <p:nvSpPr>
          <p:cNvPr id="3" name="Text 1"/>
          <p:cNvSpPr txBox="1"/>
          <p:nvPr/>
        </p:nvSpPr>
        <p:spPr>
          <a:xfrm>
            <a:off x="457200" y="246888"/>
            <a:ext cx="2103120" cy="274320"/>
          </a:xfrm>
          <a:prstGeom prst="rect">
            <a:avLst/>
          </a:prstGeom>
          <a:noFill/>
          <a:ln/>
        </p:spPr>
        <p:txBody>
          <a:bodyPr wrap="square" lIns="0" tIns="0" rIns="0" bIns="0" rtlCol="0" anchor="ctr"/>
          <a:lstStyle/>
          <a:p>
            <a:pPr algn="ctr" indent="0" marL="0">
              <a:buNone/>
            </a:pPr>
            <a:r>
              <a:rPr lang="en-US" sz="1050" b="1" dirty="0">
                <a:solidFill>
                  <a:srgbClr val="F2A541"/>
                </a:solidFill>
                <a:latin typeface="Calibri" pitchFamily="34" charset="0"/>
                <a:ea typeface="Calibri" pitchFamily="34" charset="-122"/>
                <a:cs typeface="Calibri" pitchFamily="34" charset="-120"/>
              </a:rPr>
              <a:t>CH 15  ·  DELIVERY</a:t>
            </a:r>
            <a:endParaRPr lang="en-US" sz="1050" dirty="0"/>
          </a:p>
        </p:txBody>
      </p:sp>
      <p:sp>
        <p:nvSpPr>
          <p:cNvPr id="4" name="Text 2"/>
          <p:cNvSpPr txBox="1"/>
          <p:nvPr/>
        </p:nvSpPr>
        <p:spPr>
          <a:xfrm>
            <a:off x="457200" y="603504"/>
            <a:ext cx="6492240" cy="566928"/>
          </a:xfrm>
          <a:prstGeom prst="rect">
            <a:avLst/>
          </a:prstGeom>
          <a:noFill/>
          <a:ln/>
        </p:spPr>
        <p:txBody>
          <a:bodyPr wrap="square" lIns="0" tIns="0" rIns="0" bIns="0" rtlCol="0" anchor="ctr"/>
          <a:lstStyle/>
          <a:p>
            <a:pPr indent="0" marL="0">
              <a:buNone/>
            </a:pPr>
            <a:r>
              <a:rPr lang="en-US" sz="2500" b="1" dirty="0">
                <a:solidFill>
                  <a:srgbClr val="10233A"/>
                </a:solidFill>
                <a:latin typeface="Cambria" pitchFamily="34" charset="0"/>
                <a:ea typeface="Cambria" pitchFamily="34" charset="-122"/>
                <a:cs typeface="Cambria" pitchFamily="34" charset="-120"/>
              </a:rPr>
              <a:t>Delivery and what participants keep</a:t>
            </a:r>
            <a:endParaRPr lang="en-US" sz="2500" dirty="0"/>
          </a:p>
        </p:txBody>
      </p:sp>
      <p:sp>
        <p:nvSpPr>
          <p:cNvPr id="5" name="Shape 3"/>
          <p:cNvSpPr/>
          <p:nvPr/>
        </p:nvSpPr>
        <p:spPr>
          <a:xfrm>
            <a:off x="457200" y="1298448"/>
            <a:ext cx="4206240" cy="585216"/>
          </a:xfrm>
          <a:prstGeom prst="roundRect">
            <a:avLst>
              <a:gd name="adj" fmla="val 9375"/>
            </a:avLst>
          </a:prstGeom>
          <a:solidFill>
            <a:srgbClr val="F3F6F8"/>
          </a:solidFill>
          <a:ln w="12700">
            <a:solidFill>
              <a:srgbClr val="F3F6F8"/>
            </a:solidFill>
            <a:prstDash val="solid"/>
          </a:ln>
        </p:spPr>
      </p:sp>
      <p:sp>
        <p:nvSpPr>
          <p:cNvPr id="6" name="Shape 4"/>
          <p:cNvSpPr/>
          <p:nvPr/>
        </p:nvSpPr>
        <p:spPr>
          <a:xfrm>
            <a:off x="566928" y="1399032"/>
            <a:ext cx="384048" cy="384048"/>
          </a:xfrm>
          <a:prstGeom prst="ellipse">
            <a:avLst/>
          </a:prstGeom>
          <a:solidFill>
            <a:srgbClr val="0A8577"/>
          </a:solidFill>
          <a:ln w="12700">
            <a:solidFill>
              <a:srgbClr val="0A8577"/>
            </a:solidFill>
            <a:prstDash val="solid"/>
          </a:ln>
        </p:spPr>
      </p:sp>
      <p:sp>
        <p:nvSpPr>
          <p:cNvPr id="7" name="Text 5"/>
          <p:cNvSpPr txBox="1"/>
          <p:nvPr/>
        </p:nvSpPr>
        <p:spPr>
          <a:xfrm>
            <a:off x="1051560" y="1298448"/>
            <a:ext cx="868680" cy="585216"/>
          </a:xfrm>
          <a:prstGeom prst="rect">
            <a:avLst/>
          </a:prstGeom>
          <a:noFill/>
          <a:ln/>
        </p:spPr>
        <p:txBody>
          <a:bodyPr wrap="square" lIns="0" tIns="0" rIns="0" bIns="0" rtlCol="0" anchor="ctr"/>
          <a:lstStyle/>
          <a:p>
            <a:pPr indent="0" marL="0">
              <a:buNone/>
            </a:pPr>
            <a:r>
              <a:rPr lang="en-US" sz="1250" b="1" dirty="0">
                <a:solidFill>
                  <a:srgbClr val="0A8577"/>
                </a:solidFill>
                <a:latin typeface="Calibri" pitchFamily="34" charset="0"/>
                <a:ea typeface="Calibri" pitchFamily="34" charset="-122"/>
                <a:cs typeface="Calibri" pitchFamily="34" charset="-120"/>
              </a:rPr>
              <a:t>Venue</a:t>
            </a:r>
            <a:endParaRPr lang="en-US" sz="1250" dirty="0"/>
          </a:p>
        </p:txBody>
      </p:sp>
      <p:sp>
        <p:nvSpPr>
          <p:cNvPr id="8" name="Text 6"/>
          <p:cNvSpPr txBox="1"/>
          <p:nvPr/>
        </p:nvSpPr>
        <p:spPr>
          <a:xfrm>
            <a:off x="1920240" y="1298448"/>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In person, computer lab at Jubilee Institute*</a:t>
            </a:r>
            <a:endParaRPr lang="en-US" sz="1100" dirty="0"/>
          </a:p>
        </p:txBody>
      </p:sp>
      <p:sp>
        <p:nvSpPr>
          <p:cNvPr id="9" name="Shape 7"/>
          <p:cNvSpPr/>
          <p:nvPr/>
        </p:nvSpPr>
        <p:spPr>
          <a:xfrm>
            <a:off x="457200" y="1965960"/>
            <a:ext cx="4206240" cy="585216"/>
          </a:xfrm>
          <a:prstGeom prst="roundRect">
            <a:avLst>
              <a:gd name="adj" fmla="val 9375"/>
            </a:avLst>
          </a:prstGeom>
          <a:solidFill>
            <a:srgbClr val="F3F6F8"/>
          </a:solidFill>
          <a:ln w="12700">
            <a:solidFill>
              <a:srgbClr val="F3F6F8"/>
            </a:solidFill>
            <a:prstDash val="solid"/>
          </a:ln>
        </p:spPr>
      </p:sp>
      <p:sp>
        <p:nvSpPr>
          <p:cNvPr id="10" name="Shape 8"/>
          <p:cNvSpPr/>
          <p:nvPr/>
        </p:nvSpPr>
        <p:spPr>
          <a:xfrm>
            <a:off x="566928" y="2066544"/>
            <a:ext cx="384048" cy="384048"/>
          </a:xfrm>
          <a:prstGeom prst="ellipse">
            <a:avLst/>
          </a:prstGeom>
          <a:solidFill>
            <a:srgbClr val="0A8577"/>
          </a:solidFill>
          <a:ln w="12700">
            <a:solidFill>
              <a:srgbClr val="0A8577"/>
            </a:solidFill>
            <a:prstDash val="solid"/>
          </a:ln>
        </p:spPr>
      </p:sp>
      <p:sp>
        <p:nvSpPr>
          <p:cNvPr id="11" name="Text 9"/>
          <p:cNvSpPr txBox="1"/>
          <p:nvPr/>
        </p:nvSpPr>
        <p:spPr>
          <a:xfrm>
            <a:off x="1051560" y="1965960"/>
            <a:ext cx="868680" cy="585216"/>
          </a:xfrm>
          <a:prstGeom prst="rect">
            <a:avLst/>
          </a:prstGeom>
          <a:noFill/>
          <a:ln/>
        </p:spPr>
        <p:txBody>
          <a:bodyPr wrap="square" lIns="0" tIns="0" rIns="0" bIns="0" rtlCol="0" anchor="ctr"/>
          <a:lstStyle/>
          <a:p>
            <a:pPr indent="0" marL="0">
              <a:buNone/>
            </a:pPr>
            <a:r>
              <a:rPr lang="en-US" sz="1250" b="1" dirty="0">
                <a:solidFill>
                  <a:srgbClr val="0A8577"/>
                </a:solidFill>
                <a:latin typeface="Calibri" pitchFamily="34" charset="0"/>
                <a:ea typeface="Calibri" pitchFamily="34" charset="-122"/>
                <a:cs typeface="Calibri" pitchFamily="34" charset="-120"/>
              </a:rPr>
              <a:t>Rhythm</a:t>
            </a:r>
            <a:endParaRPr lang="en-US" sz="1250" dirty="0"/>
          </a:p>
        </p:txBody>
      </p:sp>
      <p:sp>
        <p:nvSpPr>
          <p:cNvPr id="12" name="Text 10"/>
          <p:cNvSpPr txBox="1"/>
          <p:nvPr/>
        </p:nvSpPr>
        <p:spPr>
          <a:xfrm>
            <a:off x="1920240" y="1965960"/>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3 sessions × 3 hours per week, 12 weeks</a:t>
            </a:r>
            <a:endParaRPr lang="en-US" sz="1100" dirty="0"/>
          </a:p>
        </p:txBody>
      </p:sp>
      <p:sp>
        <p:nvSpPr>
          <p:cNvPr id="13" name="Shape 11"/>
          <p:cNvSpPr/>
          <p:nvPr/>
        </p:nvSpPr>
        <p:spPr>
          <a:xfrm>
            <a:off x="457200" y="2633472"/>
            <a:ext cx="4206240" cy="585216"/>
          </a:xfrm>
          <a:prstGeom prst="roundRect">
            <a:avLst>
              <a:gd name="adj" fmla="val 9375"/>
            </a:avLst>
          </a:prstGeom>
          <a:solidFill>
            <a:srgbClr val="F3F6F8"/>
          </a:solidFill>
          <a:ln w="12700">
            <a:solidFill>
              <a:srgbClr val="F3F6F8"/>
            </a:solidFill>
            <a:prstDash val="solid"/>
          </a:ln>
        </p:spPr>
      </p:sp>
      <p:sp>
        <p:nvSpPr>
          <p:cNvPr id="14" name="Shape 12"/>
          <p:cNvSpPr/>
          <p:nvPr/>
        </p:nvSpPr>
        <p:spPr>
          <a:xfrm>
            <a:off x="566928" y="2734056"/>
            <a:ext cx="384048" cy="384048"/>
          </a:xfrm>
          <a:prstGeom prst="ellipse">
            <a:avLst/>
          </a:prstGeom>
          <a:solidFill>
            <a:srgbClr val="0A8577"/>
          </a:solidFill>
          <a:ln w="12700">
            <a:solidFill>
              <a:srgbClr val="0A8577"/>
            </a:solidFill>
            <a:prstDash val="solid"/>
          </a:ln>
        </p:spPr>
      </p:sp>
      <p:sp>
        <p:nvSpPr>
          <p:cNvPr id="15" name="Text 13"/>
          <p:cNvSpPr txBox="1"/>
          <p:nvPr/>
        </p:nvSpPr>
        <p:spPr>
          <a:xfrm>
            <a:off x="1051560" y="2633472"/>
            <a:ext cx="868680" cy="585216"/>
          </a:xfrm>
          <a:prstGeom prst="rect">
            <a:avLst/>
          </a:prstGeom>
          <a:noFill/>
          <a:ln/>
        </p:spPr>
        <p:txBody>
          <a:bodyPr wrap="square" lIns="0" tIns="0" rIns="0" bIns="0" rtlCol="0" anchor="ctr"/>
          <a:lstStyle/>
          <a:p>
            <a:pPr indent="0" marL="0">
              <a:buNone/>
            </a:pPr>
            <a:r>
              <a:rPr lang="en-US" sz="1250" b="1" dirty="0">
                <a:solidFill>
                  <a:srgbClr val="0A8577"/>
                </a:solidFill>
                <a:latin typeface="Calibri" pitchFamily="34" charset="0"/>
                <a:ea typeface="Calibri" pitchFamily="34" charset="-122"/>
                <a:cs typeface="Calibri" pitchFamily="34" charset="-120"/>
              </a:rPr>
              <a:t>Team</a:t>
            </a:r>
            <a:endParaRPr lang="en-US" sz="1250" dirty="0"/>
          </a:p>
        </p:txBody>
      </p:sp>
      <p:sp>
        <p:nvSpPr>
          <p:cNvPr id="16" name="Text 14"/>
          <p:cNvSpPr txBox="1"/>
          <p:nvPr/>
        </p:nvSpPr>
        <p:spPr>
          <a:xfrm>
            <a:off x="1920240" y="2633472"/>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Lead trainer (hands-on content, marketing, AI and n8n) + assistant</a:t>
            </a:r>
            <a:endParaRPr lang="en-US" sz="1100" dirty="0"/>
          </a:p>
        </p:txBody>
      </p:sp>
      <p:sp>
        <p:nvSpPr>
          <p:cNvPr id="17" name="Shape 15"/>
          <p:cNvSpPr/>
          <p:nvPr/>
        </p:nvSpPr>
        <p:spPr>
          <a:xfrm>
            <a:off x="457200" y="3300984"/>
            <a:ext cx="4206240" cy="585216"/>
          </a:xfrm>
          <a:prstGeom prst="roundRect">
            <a:avLst>
              <a:gd name="adj" fmla="val 9375"/>
            </a:avLst>
          </a:prstGeom>
          <a:solidFill>
            <a:srgbClr val="F3F6F8"/>
          </a:solidFill>
          <a:ln w="12700">
            <a:solidFill>
              <a:srgbClr val="F3F6F8"/>
            </a:solidFill>
            <a:prstDash val="solid"/>
          </a:ln>
        </p:spPr>
      </p:sp>
      <p:sp>
        <p:nvSpPr>
          <p:cNvPr id="18" name="Shape 16"/>
          <p:cNvSpPr/>
          <p:nvPr/>
        </p:nvSpPr>
        <p:spPr>
          <a:xfrm>
            <a:off x="566928" y="3401568"/>
            <a:ext cx="384048" cy="384048"/>
          </a:xfrm>
          <a:prstGeom prst="ellipse">
            <a:avLst/>
          </a:prstGeom>
          <a:solidFill>
            <a:srgbClr val="0A8577"/>
          </a:solidFill>
          <a:ln w="12700">
            <a:solidFill>
              <a:srgbClr val="0A8577"/>
            </a:solidFill>
            <a:prstDash val="solid"/>
          </a:ln>
        </p:spPr>
      </p:sp>
      <p:sp>
        <p:nvSpPr>
          <p:cNvPr id="19" name="Text 17"/>
          <p:cNvSpPr txBox="1"/>
          <p:nvPr/>
        </p:nvSpPr>
        <p:spPr>
          <a:xfrm>
            <a:off x="1051560" y="3300984"/>
            <a:ext cx="868680" cy="585216"/>
          </a:xfrm>
          <a:prstGeom prst="rect">
            <a:avLst/>
          </a:prstGeom>
          <a:noFill/>
          <a:ln/>
        </p:spPr>
        <p:txBody>
          <a:bodyPr wrap="square" lIns="0" tIns="0" rIns="0" bIns="0" rtlCol="0" anchor="ctr"/>
          <a:lstStyle/>
          <a:p>
            <a:pPr indent="0" marL="0">
              <a:buNone/>
            </a:pPr>
            <a:r>
              <a:rPr lang="en-US" sz="1250" b="1" dirty="0">
                <a:solidFill>
                  <a:srgbClr val="0A8577"/>
                </a:solidFill>
                <a:latin typeface="Calibri" pitchFamily="34" charset="0"/>
                <a:ea typeface="Calibri" pitchFamily="34" charset="-122"/>
                <a:cs typeface="Calibri" pitchFamily="34" charset="-120"/>
              </a:rPr>
              <a:t>Cohort</a:t>
            </a:r>
            <a:endParaRPr lang="en-US" sz="1250" dirty="0"/>
          </a:p>
        </p:txBody>
      </p:sp>
      <p:sp>
        <p:nvSpPr>
          <p:cNvPr id="20" name="Text 18"/>
          <p:cNvSpPr txBox="1"/>
          <p:nvPr/>
        </p:nvSpPr>
        <p:spPr>
          <a:xfrm>
            <a:off x="1920240" y="3300984"/>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20 participants (proposed)</a:t>
            </a:r>
            <a:endParaRPr lang="en-US" sz="1100" dirty="0"/>
          </a:p>
        </p:txBody>
      </p:sp>
      <p:sp>
        <p:nvSpPr>
          <p:cNvPr id="21" name="Shape 19"/>
          <p:cNvSpPr/>
          <p:nvPr/>
        </p:nvSpPr>
        <p:spPr>
          <a:xfrm>
            <a:off x="457200" y="3968496"/>
            <a:ext cx="4206240" cy="585216"/>
          </a:xfrm>
          <a:prstGeom prst="roundRect">
            <a:avLst>
              <a:gd name="adj" fmla="val 9375"/>
            </a:avLst>
          </a:prstGeom>
          <a:solidFill>
            <a:srgbClr val="F3F6F8"/>
          </a:solidFill>
          <a:ln w="12700">
            <a:solidFill>
              <a:srgbClr val="F3F6F8"/>
            </a:solidFill>
            <a:prstDash val="solid"/>
          </a:ln>
        </p:spPr>
      </p:sp>
      <p:sp>
        <p:nvSpPr>
          <p:cNvPr id="22" name="Shape 20"/>
          <p:cNvSpPr/>
          <p:nvPr/>
        </p:nvSpPr>
        <p:spPr>
          <a:xfrm>
            <a:off x="566928" y="4069080"/>
            <a:ext cx="384048" cy="384048"/>
          </a:xfrm>
          <a:prstGeom prst="ellipse">
            <a:avLst/>
          </a:prstGeom>
          <a:solidFill>
            <a:srgbClr val="0A8577"/>
          </a:solidFill>
          <a:ln w="12700">
            <a:solidFill>
              <a:srgbClr val="0A8577"/>
            </a:solidFill>
            <a:prstDash val="solid"/>
          </a:ln>
        </p:spPr>
      </p:sp>
      <p:sp>
        <p:nvSpPr>
          <p:cNvPr id="23" name="Text 21"/>
          <p:cNvSpPr txBox="1"/>
          <p:nvPr/>
        </p:nvSpPr>
        <p:spPr>
          <a:xfrm>
            <a:off x="1051560" y="3968496"/>
            <a:ext cx="868680" cy="585216"/>
          </a:xfrm>
          <a:prstGeom prst="rect">
            <a:avLst/>
          </a:prstGeom>
          <a:noFill/>
          <a:ln/>
        </p:spPr>
        <p:txBody>
          <a:bodyPr wrap="square" lIns="0" tIns="0" rIns="0" bIns="0" rtlCol="0" anchor="ctr"/>
          <a:lstStyle/>
          <a:p>
            <a:pPr indent="0" marL="0">
              <a:buNone/>
            </a:pPr>
            <a:r>
              <a:rPr lang="en-US" sz="1250" b="1" dirty="0">
                <a:solidFill>
                  <a:srgbClr val="0A8577"/>
                </a:solidFill>
                <a:latin typeface="Calibri" pitchFamily="34" charset="0"/>
                <a:ea typeface="Calibri" pitchFamily="34" charset="-122"/>
                <a:cs typeface="Calibri" pitchFamily="34" charset="-120"/>
              </a:rPr>
              <a:t>Set-up</a:t>
            </a:r>
            <a:endParaRPr lang="en-US" sz="1250" dirty="0"/>
          </a:p>
        </p:txBody>
      </p:sp>
      <p:sp>
        <p:nvSpPr>
          <p:cNvPr id="24" name="Text 22"/>
          <p:cNvSpPr txBox="1"/>
          <p:nvPr/>
        </p:nvSpPr>
        <p:spPr>
          <a:xfrm>
            <a:off x="1920240" y="3968496"/>
            <a:ext cx="2651760" cy="585216"/>
          </a:xfrm>
          <a:prstGeom prst="rect">
            <a:avLst/>
          </a:prstGeom>
          <a:noFill/>
          <a:ln/>
        </p:spPr>
        <p:txBody>
          <a:bodyPr wrap="square" lIns="0" tIns="0" rIns="0" bIns="0" rtlCol="0" anchor="ctr"/>
          <a:lstStyle/>
          <a:p>
            <a:pPr indent="0" marL="0">
              <a:buNone/>
            </a:pPr>
            <a:r>
              <a:rPr lang="en-US" sz="1100" dirty="0">
                <a:solidFill>
                  <a:srgbClr val="2B3A4A"/>
                </a:solidFill>
                <a:latin typeface="Calibri" pitchFamily="34" charset="0"/>
                <a:ea typeface="Calibri" pitchFamily="34" charset="-122"/>
                <a:cs typeface="Calibri" pitchFamily="34" charset="-120"/>
              </a:rPr>
              <a:t>Laptop per participant, stable internet, headsets, recording corner</a:t>
            </a:r>
            <a:endParaRPr lang="en-US" sz="1100" dirty="0"/>
          </a:p>
        </p:txBody>
      </p:sp>
      <p:sp>
        <p:nvSpPr>
          <p:cNvPr id="25" name="Shape 23"/>
          <p:cNvSpPr/>
          <p:nvPr/>
        </p:nvSpPr>
        <p:spPr>
          <a:xfrm>
            <a:off x="4846320" y="1298448"/>
            <a:ext cx="3840480" cy="3264408"/>
          </a:xfrm>
          <a:prstGeom prst="roundRect">
            <a:avLst>
              <a:gd name="adj" fmla="val 1681"/>
            </a:avLst>
          </a:prstGeom>
          <a:solidFill>
            <a:srgbClr val="10233A"/>
          </a:solidFill>
          <a:ln w="12700">
            <a:solidFill>
              <a:srgbClr val="10233A"/>
            </a:solidFill>
            <a:prstDash val="solid"/>
          </a:ln>
        </p:spPr>
      </p:sp>
      <p:sp>
        <p:nvSpPr>
          <p:cNvPr id="26" name="Shape 24"/>
          <p:cNvSpPr/>
          <p:nvPr/>
        </p:nvSpPr>
        <p:spPr>
          <a:xfrm>
            <a:off x="4983480" y="1435608"/>
            <a:ext cx="384048" cy="384048"/>
          </a:xfrm>
          <a:prstGeom prst="ellipse">
            <a:avLst/>
          </a:prstGeom>
          <a:solidFill>
            <a:srgbClr val="F2A541"/>
          </a:solidFill>
          <a:ln w="12700">
            <a:solidFill>
              <a:srgbClr val="F2A541"/>
            </a:solidFill>
            <a:prstDash val="solid"/>
          </a:ln>
        </p:spPr>
      </p:sp>
      <p:sp>
        <p:nvSpPr>
          <p:cNvPr id="27" name="Text 25"/>
          <p:cNvSpPr txBox="1"/>
          <p:nvPr/>
        </p:nvSpPr>
        <p:spPr>
          <a:xfrm>
            <a:off x="5458968" y="1435608"/>
            <a:ext cx="3108960" cy="384048"/>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Each participant leaves with</a:t>
            </a:r>
            <a:endParaRPr lang="en-US" sz="1400" dirty="0"/>
          </a:p>
        </p:txBody>
      </p:sp>
      <p:sp>
        <p:nvSpPr>
          <p:cNvPr id="28" name="Text 26"/>
          <p:cNvSpPr txBox="1"/>
          <p:nvPr/>
        </p:nvSpPr>
        <p:spPr>
          <a:xfrm>
            <a:off x="5001768" y="1938528"/>
            <a:ext cx="3611880" cy="2560320"/>
          </a:xfrm>
          <a:prstGeom prst="rect">
            <a:avLst/>
          </a:prstGeom>
          <a:noFill/>
          <a:ln/>
        </p:spPr>
        <p:txBody>
          <a:bodyPr wrap="square" lIns="0" tIns="0" rIns="0" bIns="0" rtlCol="0" anchor="t"/>
          <a:lstStyle/>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prompt library and context pack</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one-page creative brief</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carousel and five captions with CTAs</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character sheet and six-image set</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An edited 30–45 second video</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persona, calendar and campaign</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working n8n content workflow</a:t>
            </a:r>
            <a:endParaRPr lang="en-US" sz="1150" dirty="0"/>
          </a:p>
          <a:p>
            <a:pPr marL="152400" indent="-1524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A published portfolio page and case study</a:t>
            </a:r>
            <a:endParaRPr lang="en-US" sz="1150" dirty="0"/>
          </a:p>
        </p:txBody>
      </p:sp>
      <p:sp>
        <p:nvSpPr>
          <p:cNvPr id="29" name="Text 27"/>
          <p:cNvSpPr txBox="1"/>
          <p:nvPr/>
        </p:nvSpPr>
        <p:spPr>
          <a:xfrm>
            <a:off x="457200" y="4553712"/>
            <a:ext cx="4206240" cy="182880"/>
          </a:xfrm>
          <a:prstGeom prst="rect">
            <a:avLst/>
          </a:prstGeom>
          <a:noFill/>
          <a:ln/>
        </p:spPr>
        <p:txBody>
          <a:bodyPr wrap="square" lIns="0" tIns="0" rIns="0" bIns="0" rtlCol="0" anchor="t"/>
          <a:lstStyle/>
          <a:p>
            <a:pPr indent="0" marL="0">
              <a:buNone/>
            </a:pPr>
            <a:r>
              <a:rPr lang="en-US" sz="900" i="1" dirty="0">
                <a:solidFill>
                  <a:srgbClr val="586676"/>
                </a:solidFill>
                <a:latin typeface="Calibri" pitchFamily="34" charset="0"/>
                <a:ea typeface="Calibri" pitchFamily="34" charset="-122"/>
                <a:cs typeface="Calibri" pitchFamily="34" charset="-120"/>
              </a:rPr>
              <a:t>*Proposed host, subject to mutual agreement.</a:t>
            </a:r>
            <a:endParaRPr lang="en-US" sz="900" dirty="0"/>
          </a:p>
        </p:txBody>
      </p:sp>
      <p:pic>
        <p:nvPicPr>
          <p:cNvPr id="30" name="Image 0" descr="preencoded.png">    </p:cNvPr>
          <p:cNvPicPr>
            <a:picLocks noChangeAspect="1"/>
          </p:cNvPicPr>
          <p:nvPr/>
        </p:nvPicPr>
        <p:blipFill>
          <a:blip r:embed="rId1"/>
          <a:stretch>
            <a:fillRect/>
          </a:stretch>
        </p:blipFill>
        <p:spPr>
          <a:xfrm>
            <a:off x="662940" y="1495044"/>
            <a:ext cx="192024" cy="192024"/>
          </a:xfrm>
          <a:prstGeom prst="rect">
            <a:avLst/>
          </a:prstGeom>
        </p:spPr>
      </p:pic>
      <p:pic>
        <p:nvPicPr>
          <p:cNvPr id="31" name="Image 1" descr="preencoded.png">    </p:cNvPr>
          <p:cNvPicPr>
            <a:picLocks noChangeAspect="1"/>
          </p:cNvPicPr>
          <p:nvPr/>
        </p:nvPicPr>
        <p:blipFill>
          <a:blip r:embed="rId2"/>
          <a:stretch>
            <a:fillRect/>
          </a:stretch>
        </p:blipFill>
        <p:spPr>
          <a:xfrm>
            <a:off x="662940" y="2162556"/>
            <a:ext cx="192024" cy="192024"/>
          </a:xfrm>
          <a:prstGeom prst="rect">
            <a:avLst/>
          </a:prstGeom>
        </p:spPr>
      </p:pic>
      <p:pic>
        <p:nvPicPr>
          <p:cNvPr id="32" name="Image 2" descr="preencoded.png">    </p:cNvPr>
          <p:cNvPicPr>
            <a:picLocks noChangeAspect="1"/>
          </p:cNvPicPr>
          <p:nvPr/>
        </p:nvPicPr>
        <p:blipFill>
          <a:blip r:embed="rId3"/>
          <a:stretch>
            <a:fillRect/>
          </a:stretch>
        </p:blipFill>
        <p:spPr>
          <a:xfrm>
            <a:off x="662940" y="2830068"/>
            <a:ext cx="192024" cy="192024"/>
          </a:xfrm>
          <a:prstGeom prst="rect">
            <a:avLst/>
          </a:prstGeom>
        </p:spPr>
      </p:pic>
      <p:pic>
        <p:nvPicPr>
          <p:cNvPr id="33" name="Image 3" descr="preencoded.png">    </p:cNvPr>
          <p:cNvPicPr>
            <a:picLocks noChangeAspect="1"/>
          </p:cNvPicPr>
          <p:nvPr/>
        </p:nvPicPr>
        <p:blipFill>
          <a:blip r:embed="rId4"/>
          <a:stretch>
            <a:fillRect/>
          </a:stretch>
        </p:blipFill>
        <p:spPr>
          <a:xfrm>
            <a:off x="662940" y="4165092"/>
            <a:ext cx="192024" cy="192024"/>
          </a:xfrm>
          <a:prstGeom prst="rect">
            <a:avLst/>
          </a:prstGeom>
        </p:spPr>
      </p:pic>
      <p:pic>
        <p:nvPicPr>
          <p:cNvPr id="34" name="Image 4" descr="preencoded.png">    </p:cNvPr>
          <p:cNvPicPr>
            <a:picLocks noChangeAspect="1"/>
          </p:cNvPicPr>
          <p:nvPr/>
        </p:nvPicPr>
        <p:blipFill>
          <a:blip r:embed="rId5"/>
          <a:stretch>
            <a:fillRect/>
          </a:stretch>
        </p:blipFill>
        <p:spPr>
          <a:xfrm>
            <a:off x="662940" y="3497580"/>
            <a:ext cx="192024" cy="192024"/>
          </a:xfrm>
          <a:prstGeom prst="rect">
            <a:avLst/>
          </a:prstGeom>
        </p:spPr>
      </p:pic>
      <p:pic>
        <p:nvPicPr>
          <p:cNvPr id="35" name="Image 5" descr="preencoded.png">    </p:cNvPr>
          <p:cNvPicPr>
            <a:picLocks noChangeAspect="1"/>
          </p:cNvPicPr>
          <p:nvPr/>
        </p:nvPicPr>
        <p:blipFill>
          <a:blip r:embed="rId6"/>
          <a:stretch>
            <a:fillRect/>
          </a:stretch>
        </p:blipFill>
        <p:spPr>
          <a:xfrm>
            <a:off x="5079492" y="1531620"/>
            <a:ext cx="192024" cy="192024"/>
          </a:xfrm>
          <a:prstGeom prst="rect">
            <a:avLst/>
          </a:prstGeom>
        </p:spPr>
      </p:pic>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8667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I Creators">
  <a:themeElements>
    <a:clrScheme name="AI Creators">
      <a:dk1>
        <a:srgbClr val="10233A"/>
      </a:dk1>
      <a:lt1>
        <a:srgbClr val="FFFFFF"/>
      </a:lt1>
      <a:dk2>
        <a:srgbClr val="0A8577"/>
      </a:dk2>
      <a:lt2>
        <a:srgbClr val="F3F6F8"/>
      </a:lt2>
      <a:accent1>
        <a:srgbClr val="0A8577"/>
      </a:accent1>
      <a:accent2>
        <a:srgbClr val="F2A541"/>
      </a:accent2>
      <a:accent3>
        <a:srgbClr val="10233A"/>
      </a:accent3>
      <a:accent4>
        <a:srgbClr val="E4572E"/>
      </a:accent4>
      <a:accent5>
        <a:srgbClr val="586676"/>
      </a:accent5>
      <a:accent6>
        <a:srgbClr val="E0EFED"/>
      </a:accent6>
      <a:hlink>
        <a:srgbClr val="0A8577"/>
      </a:hlink>
      <a:folHlink>
        <a:srgbClr val="586676"/>
      </a:folHlink>
    </a:clrScheme>
    <a:fontScheme name="AI Creato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Green Circle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Creators: Training Proposal</dc:title>
  <dc:subject>PptxGenJS Presentation</dc:subject>
  <dc:creator>Green Circle</dc:creator>
  <cp:lastModifiedBy>Green Circle</cp:lastModifiedBy>
  <cp:revision>1</cp:revision>
  <dcterms:created xsi:type="dcterms:W3CDTF">2026-10-20T13:18:15Z</dcterms:created>
  <dcterms:modified xsi:type="dcterms:W3CDTF">2026-10-20T13:18:15Z</dcterms:modified>
</cp:coreProperties>
</file>