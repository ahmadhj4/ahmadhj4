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Hours</c:v>
                </c:pt>
              </c:strCache>
            </c:strRef>
          </c:tx>
          <c:spPr>
            <a:solidFill>
              <a:schemeClr val="accent1"/>
            </a:solidFill>
            <a:ln w="9525" cap="flat">
              <a:solidFill>
                <a:srgbClr val="F9F9F9"/>
              </a:solidFill>
              <a:prstDash val="solid"/>
              <a:round/>
            </a:ln>
            <a:effectLst/>
          </c:spPr>
          <c:dPt>
            <c:idx val="0"/>
            <c:bubble3D val="0"/>
            <c:spPr>
              <a:solidFill>
                <a:srgbClr val="727274"/>
              </a:solidFill>
              <a:ln w="25400" cap="flat">
                <a:solidFill>
                  <a:srgbClr val="FFFFFF"/>
                </a:solidFill>
                <a:prstDash val="solid"/>
                <a:round/>
              </a:ln>
              <a:effectLst/>
            </c:spPr>
          </c:dPt>
          <c:dPt>
            <c:idx val="1"/>
            <c:bubble3D val="0"/>
            <c:spPr>
              <a:solidFill>
                <a:srgbClr val="4DB449"/>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نظري</c:v>
                </c:pt>
                <c:pt idx="1">
                  <c:v>عملي</c:v>
                </c:pt>
              </c:strCache>
            </c:strRef>
          </c:cat>
          <c:val>
            <c:numRef>
              <c:f>Sheet1!$B$2:$B$3</c:f>
              <c:numCache>
                <c:ptCount val="2"/>
                <c:pt idx="0">
                  <c:v>28.5</c:v>
                </c:pt>
                <c:pt idx="1">
                  <c:v>67.5</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promise: in 96 hours, students go from a client's idea to a published, measured campaign. The ring shows the stages they will pass through; the capstone ties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without statistics: the starting point is our working assumption and the pre-assessment will confirm it. The right-hand column is the program's promise, and every row maps to a module and a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curriculum for everyone. The difference between the two groups is tool access, set by each tool's own age rules, and how real-client practice is arranged.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 hours = 32 sessions of 3 hours, three sessions a week for 11 weeks, plus one buffer week for make-ups and Demo Day logistics. Theory is 28.5 hours and practice 67.5 hours, roughly 30/70.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left to right, then back. The first four grey steps are the foundation; everything after is production, marketing, automation and launch, ending in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is drawn to scale. Production (characters, voice, video) is the largest block because it is the most hands-on and tool-heavy part of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core habit we teach: one well-briefed idea becomes several formats. Students edit every AI draft; nothing is published as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Flow requires users to be 18+ with age verification, a supported region and an eligible Google AI plan (Flow Help Center). Video generation in the Gemini app is also 18+. Under-18s still complete every step; only the generation step is demonstrated by the trainer.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planning steps students complete for their capstone client. Right: an illustrative calendar where each colour is a content pillar. The pattern is a sample, not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understanding Trigger, Process, AI, Action, not engineering. Each team builds the Content Idea Generator. Credentials live on the program's n8n instance; students learn what API keys, OAuth and tokens are and why they must stay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pricing is taught as a figure; students define scope and deliverables. Fiverr's minors policy is cited from its Help Center. Other platforms' rules should be checked before advising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by module sum to 28.5 theory and 67.5 hands-on. In each session the trainer talks for under an hour; the rest is building, then showing work for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deliverables in five phases. Each phase is started inside the matching module (brief in M3, video in M7, automation in M9), so the final studio sessions are for finishing and polishing, not starting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pieces form each student's portfolio. Highlighted tiles (video and automation) are the two items stakeholders most often ask to see in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Income is deliberately not a headline KPI: many students are under 18 and cannot contract independently. Every target is a proposal to be agreed with the program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are placed by session: three sessions per week, so modules start and end mid-week. Week 12 is held in reserve for make-up sessions, public holidays or exam clashes.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program to Green Circle's awareness focus. Each safeguard is an operating rule, not a slogan: it appears in the code of conduct, the consent form and the module checklists.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remains after the 12 weeks, then turn to the decisions the team needs to make so delivery can be scheduled. Every item on the right is marked TBD in the detailed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3.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slideLayout" Target="../slideLayouts/slideLayout3.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2.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7711135" y="502920"/>
            <a:ext cx="3931920" cy="1397336"/>
          </a:xfrm>
          <a:prstGeom prst="rect">
            <a:avLst/>
          </a:prstGeom>
        </p:spPr>
      </p:pic>
      <p:sp>
        <p:nvSpPr>
          <p:cNvPr id="3" name="Text 0"/>
          <p:cNvSpPr txBox="1"/>
          <p:nvPr/>
        </p:nvSpPr>
        <p:spPr>
          <a:xfrm>
            <a:off x="5333695" y="2240280"/>
            <a:ext cx="6309360"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A6D04B"/>
                </a:solidFill>
                <a:latin typeface="IBM Plex Sans Arabic" pitchFamily="34" charset="0"/>
                <a:ea typeface="IBM Plex Sans Arabic" pitchFamily="34" charset="-122"/>
                <a:cs typeface="IBM Plex Sans Arabic" pitchFamily="34" charset="-120"/>
              </a:rPr>
              <a:t>مذكرة مفاهيمية لبرنامج تدريبي · تشرين الأول (أكتوبر) 2026</a:t>
            </a:r>
            <a:endParaRPr lang="ar-SA" sz="1200" dirty="0"/>
          </a:p>
        </p:txBody>
      </p:sp>
      <p:sp>
        <p:nvSpPr>
          <p:cNvPr id="4" name="Text 1"/>
          <p:cNvSpPr txBox="1"/>
          <p:nvPr/>
        </p:nvSpPr>
        <p:spPr>
          <a:xfrm>
            <a:off x="5333695" y="2606040"/>
            <a:ext cx="6309360" cy="2011680"/>
          </a:xfrm>
          <a:prstGeom prst="rect">
            <a:avLst/>
          </a:prstGeom>
          <a:noFill/>
          <a:ln/>
        </p:spPr>
        <p:txBody>
          <a:bodyPr wrap="square" lIns="0" tIns="0" rIns="0" bIns="0" rtlCol="0" anchor="t"/>
          <a:lstStyle/>
          <a:p>
            <a:pPr rtl="1" algn="r" indent="0" marL="0">
              <a:lnSpc>
                <a:spcPct val="100000"/>
              </a:lnSpc>
              <a:buNone/>
            </a:pPr>
            <a:r>
              <a:rPr lang="ar-SA" altLang="en-US" sz="3200" b="1" dirty="0">
                <a:solidFill>
                  <a:srgbClr val="FFFFFF"/>
                </a:solidFill>
                <a:latin typeface="Cairo" pitchFamily="34" charset="0"/>
                <a:ea typeface="Cairo" pitchFamily="34" charset="-122"/>
                <a:cs typeface="Cairo" pitchFamily="34" charset="-120"/>
              </a:rPr>
              <a:t>صناعة المحتوى والتسويق الرقمي والأتمتة والعمل الحر بالذكاء الاصطناعي</a:t>
            </a:r>
            <a:endParaRPr lang="ar-SA" sz="3200" dirty="0"/>
          </a:p>
        </p:txBody>
      </p:sp>
      <p:sp>
        <p:nvSpPr>
          <p:cNvPr id="5" name="Text 2"/>
          <p:cNvSpPr txBox="1"/>
          <p:nvPr/>
        </p:nvSpPr>
        <p:spPr>
          <a:xfrm>
            <a:off x="5608015" y="4709160"/>
            <a:ext cx="6035040" cy="822960"/>
          </a:xfrm>
          <a:prstGeom prst="rect">
            <a:avLst/>
          </a:prstGeom>
          <a:noFill/>
          <a:ln/>
        </p:spPr>
        <p:txBody>
          <a:bodyPr wrap="square" lIns="0" tIns="0" rIns="0" bIns="0" rtlCol="0" anchor="t"/>
          <a:lstStyle/>
          <a:p>
            <a:pPr rtl="1" algn="r" indent="0" marL="0">
              <a:lnSpc>
                <a:spcPct val="105000"/>
              </a:lnSpc>
              <a:buNone/>
            </a:pPr>
            <a:r>
              <a:rPr lang="ar-SA" altLang="en-US" sz="1600" dirty="0">
                <a:solidFill>
                  <a:srgbClr val="D6D8D4"/>
                </a:solidFill>
                <a:latin typeface="IBM Plex Sans Arabic" pitchFamily="34" charset="0"/>
                <a:ea typeface="IBM Plex Sans Arabic" pitchFamily="34" charset="-122"/>
                <a:cs typeface="IBM Plex Sans Arabic" pitchFamily="34" charset="-120"/>
              </a:rPr>
              <a:t>برنامج عملي مدته 96 ساعة، يأخذ الشباب من عمر 15 إلى 19 سنة من فكرة العميل حتى حملة مكتملة ومنشورة.</a:t>
            </a:r>
            <a:endParaRPr lang="ar-SA" sz="1600" dirty="0"/>
          </a:p>
        </p:txBody>
      </p:sp>
      <p:sp>
        <p:nvSpPr>
          <p:cNvPr id="6" name="Text 3"/>
          <p:cNvSpPr txBox="1"/>
          <p:nvPr/>
        </p:nvSpPr>
        <p:spPr>
          <a:xfrm>
            <a:off x="5608015" y="5989320"/>
            <a:ext cx="6035040" cy="274320"/>
          </a:xfrm>
          <a:prstGeom prst="rect">
            <a:avLst/>
          </a:prstGeom>
          <a:noFill/>
          <a:ln/>
        </p:spPr>
        <p:txBody>
          <a:bodyPr wrap="square" lIns="0" tIns="0" rIns="0" bIns="0" rtlCol="0" anchor="t"/>
          <a:lstStyle/>
          <a:p>
            <a:pPr rtl="1" algn="r" indent="0" marL="0">
              <a:lnSpc>
                <a:spcPct val="100000"/>
              </a:lnSpc>
              <a:buNone/>
            </a:pPr>
            <a:r>
              <a:rPr lang="ar-SA" altLang="en-US" sz="1100" dirty="0">
                <a:solidFill>
                  <a:srgbClr val="8A8C88"/>
                </a:solidFill>
                <a:latin typeface="IBM Plex Sans Arabic" pitchFamily="34" charset="0"/>
                <a:ea typeface="IBM Plex Sans Arabic" pitchFamily="34" charset="-122"/>
                <a:cs typeface="IBM Plex Sans Arabic" pitchFamily="34" charset="-120"/>
              </a:rPr>
              <a:t>اسم مقترح: برنامج صُنّاع المحتوى بالذكاء الاصطناعي</a:t>
            </a:r>
            <a:endParaRPr lang="ar-SA" sz="1100" dirty="0"/>
          </a:p>
        </p:txBody>
      </p:sp>
      <p:sp>
        <p:nvSpPr>
          <p:cNvPr id="7" name="Shape 4"/>
          <p:cNvSpPr/>
          <p:nvPr/>
        </p:nvSpPr>
        <p:spPr>
          <a:xfrm>
            <a:off x="1005840" y="1691640"/>
            <a:ext cx="3931920" cy="3931920"/>
          </a:xfrm>
          <a:prstGeom prst="ellipse">
            <a:avLst/>
          </a:prstGeom>
          <a:solidFill>
            <a:srgbClr val="000000">
              <a:alpha val="0"/>
            </a:srgbClr>
          </a:solidFill>
          <a:ln w="15875">
            <a:solidFill>
              <a:srgbClr val="2F332E"/>
            </a:solidFill>
            <a:prstDash val="dash"/>
          </a:ln>
        </p:spPr>
      </p:sp>
      <p:sp>
        <p:nvSpPr>
          <p:cNvPr id="8" name="Shape 5"/>
          <p:cNvSpPr/>
          <p:nvPr/>
        </p:nvSpPr>
        <p:spPr>
          <a:xfrm>
            <a:off x="2816352" y="1536192"/>
            <a:ext cx="310896" cy="310896"/>
          </a:xfrm>
          <a:prstGeom prst="ellipse">
            <a:avLst/>
          </a:prstGeom>
          <a:solidFill>
            <a:srgbClr val="4DB449"/>
          </a:solidFill>
          <a:ln w="6350">
            <a:solidFill>
              <a:srgbClr val="4DB449"/>
            </a:solidFill>
            <a:prstDash val="solid"/>
          </a:ln>
        </p:spPr>
      </p:sp>
      <p:sp>
        <p:nvSpPr>
          <p:cNvPr id="9" name="Text 6"/>
          <p:cNvSpPr txBox="1"/>
          <p:nvPr/>
        </p:nvSpPr>
        <p:spPr>
          <a:xfrm>
            <a:off x="2240280" y="1124712"/>
            <a:ext cx="1463040" cy="329184"/>
          </a:xfrm>
          <a:prstGeom prst="rect">
            <a:avLst/>
          </a:prstGeom>
          <a:noFill/>
          <a:ln/>
        </p:spPr>
        <p:txBody>
          <a:bodyPr wrap="square" lIns="0" tIns="0" rIns="0" bIns="0" rtlCol="0" anchor="ctr"/>
          <a:lstStyle/>
          <a:p>
            <a:pPr rtl="1" algn="ctr"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الفكرة</a:t>
            </a:r>
            <a:endParaRPr lang="ar-SA" sz="1300" dirty="0"/>
          </a:p>
        </p:txBody>
      </p:sp>
      <p:sp>
        <p:nvSpPr>
          <p:cNvPr id="10" name="Shape 7"/>
          <p:cNvSpPr/>
          <p:nvPr/>
        </p:nvSpPr>
        <p:spPr>
          <a:xfrm>
            <a:off x="1426208" y="2112008"/>
            <a:ext cx="310896" cy="310896"/>
          </a:xfrm>
          <a:prstGeom prst="ellipse">
            <a:avLst/>
          </a:prstGeom>
          <a:solidFill>
            <a:srgbClr val="A6D04B"/>
          </a:solidFill>
          <a:ln w="6350">
            <a:solidFill>
              <a:srgbClr val="A6D04B"/>
            </a:solidFill>
            <a:prstDash val="solid"/>
          </a:ln>
        </p:spPr>
      </p:sp>
      <p:sp>
        <p:nvSpPr>
          <p:cNvPr id="11" name="Text 8"/>
          <p:cNvSpPr txBox="1"/>
          <p:nvPr/>
        </p:nvSpPr>
        <p:spPr>
          <a:xfrm>
            <a:off x="-137416" y="2102864"/>
            <a:ext cx="1463040" cy="329184"/>
          </a:xfrm>
          <a:prstGeom prst="rect">
            <a:avLst/>
          </a:prstGeom>
          <a:noFill/>
          <a:ln/>
        </p:spPr>
        <p:txBody>
          <a:bodyPr wrap="square" lIns="0" tIns="0" rIns="0" bIns="0" rtlCol="0" anchor="ctr"/>
          <a:lstStyle/>
          <a:p>
            <a:pPr rtl="1" algn="r"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البحث</a:t>
            </a:r>
            <a:endParaRPr lang="ar-SA" sz="1300" dirty="0"/>
          </a:p>
        </p:txBody>
      </p:sp>
      <p:sp>
        <p:nvSpPr>
          <p:cNvPr id="12" name="Shape 9"/>
          <p:cNvSpPr/>
          <p:nvPr/>
        </p:nvSpPr>
        <p:spPr>
          <a:xfrm>
            <a:off x="850392" y="3502152"/>
            <a:ext cx="310896" cy="310896"/>
          </a:xfrm>
          <a:prstGeom prst="ellipse">
            <a:avLst/>
          </a:prstGeom>
          <a:solidFill>
            <a:srgbClr val="4DB449"/>
          </a:solidFill>
          <a:ln w="6350">
            <a:solidFill>
              <a:srgbClr val="4DB449"/>
            </a:solidFill>
            <a:prstDash val="solid"/>
          </a:ln>
        </p:spPr>
      </p:sp>
      <p:sp>
        <p:nvSpPr>
          <p:cNvPr id="13" name="Text 10"/>
          <p:cNvSpPr txBox="1"/>
          <p:nvPr/>
        </p:nvSpPr>
        <p:spPr>
          <a:xfrm>
            <a:off x="-713232" y="3493008"/>
            <a:ext cx="1463040" cy="329184"/>
          </a:xfrm>
          <a:prstGeom prst="rect">
            <a:avLst/>
          </a:prstGeom>
          <a:noFill/>
          <a:ln/>
        </p:spPr>
        <p:txBody>
          <a:bodyPr wrap="square" lIns="0" tIns="0" rIns="0" bIns="0" rtlCol="0" anchor="ctr"/>
          <a:lstStyle/>
          <a:p>
            <a:pPr rtl="1" algn="r"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المحتوى</a:t>
            </a:r>
            <a:endParaRPr lang="ar-SA" sz="1300" dirty="0"/>
          </a:p>
        </p:txBody>
      </p:sp>
      <p:sp>
        <p:nvSpPr>
          <p:cNvPr id="14" name="Shape 11"/>
          <p:cNvSpPr/>
          <p:nvPr/>
        </p:nvSpPr>
        <p:spPr>
          <a:xfrm>
            <a:off x="1426208" y="4892296"/>
            <a:ext cx="310896" cy="310896"/>
          </a:xfrm>
          <a:prstGeom prst="ellipse">
            <a:avLst/>
          </a:prstGeom>
          <a:solidFill>
            <a:srgbClr val="A6D04B"/>
          </a:solidFill>
          <a:ln w="6350">
            <a:solidFill>
              <a:srgbClr val="A6D04B"/>
            </a:solidFill>
            <a:prstDash val="solid"/>
          </a:ln>
        </p:spPr>
      </p:sp>
      <p:sp>
        <p:nvSpPr>
          <p:cNvPr id="15" name="Text 12"/>
          <p:cNvSpPr txBox="1"/>
          <p:nvPr/>
        </p:nvSpPr>
        <p:spPr>
          <a:xfrm>
            <a:off x="-137416" y="4883152"/>
            <a:ext cx="1463040" cy="329184"/>
          </a:xfrm>
          <a:prstGeom prst="rect">
            <a:avLst/>
          </a:prstGeom>
          <a:noFill/>
          <a:ln/>
        </p:spPr>
        <p:txBody>
          <a:bodyPr wrap="square" lIns="0" tIns="0" rIns="0" bIns="0" rtlCol="0" anchor="ctr"/>
          <a:lstStyle/>
          <a:p>
            <a:pPr rtl="1" algn="r"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الشخصية</a:t>
            </a:r>
            <a:endParaRPr lang="ar-SA" sz="1300" dirty="0"/>
          </a:p>
        </p:txBody>
      </p:sp>
      <p:sp>
        <p:nvSpPr>
          <p:cNvPr id="16" name="Shape 13"/>
          <p:cNvSpPr/>
          <p:nvPr/>
        </p:nvSpPr>
        <p:spPr>
          <a:xfrm>
            <a:off x="2816352" y="5468112"/>
            <a:ext cx="310896" cy="310896"/>
          </a:xfrm>
          <a:prstGeom prst="ellipse">
            <a:avLst/>
          </a:prstGeom>
          <a:solidFill>
            <a:srgbClr val="4DB449"/>
          </a:solidFill>
          <a:ln w="6350">
            <a:solidFill>
              <a:srgbClr val="4DB449"/>
            </a:solidFill>
            <a:prstDash val="solid"/>
          </a:ln>
        </p:spPr>
      </p:sp>
      <p:sp>
        <p:nvSpPr>
          <p:cNvPr id="17" name="Text 14"/>
          <p:cNvSpPr txBox="1"/>
          <p:nvPr/>
        </p:nvSpPr>
        <p:spPr>
          <a:xfrm>
            <a:off x="2240280" y="5861304"/>
            <a:ext cx="1463040" cy="329184"/>
          </a:xfrm>
          <a:prstGeom prst="rect">
            <a:avLst/>
          </a:prstGeom>
          <a:noFill/>
          <a:ln/>
        </p:spPr>
        <p:txBody>
          <a:bodyPr wrap="square" lIns="0" tIns="0" rIns="0" bIns="0" rtlCol="0" anchor="ctr"/>
          <a:lstStyle/>
          <a:p>
            <a:pPr rtl="1" algn="ctr"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الفيديو</a:t>
            </a:r>
            <a:endParaRPr lang="ar-SA" sz="1300" dirty="0"/>
          </a:p>
        </p:txBody>
      </p:sp>
      <p:sp>
        <p:nvSpPr>
          <p:cNvPr id="18" name="Shape 15"/>
          <p:cNvSpPr/>
          <p:nvPr/>
        </p:nvSpPr>
        <p:spPr>
          <a:xfrm>
            <a:off x="4206496" y="4892296"/>
            <a:ext cx="310896" cy="310896"/>
          </a:xfrm>
          <a:prstGeom prst="ellipse">
            <a:avLst/>
          </a:prstGeom>
          <a:solidFill>
            <a:srgbClr val="A6D04B"/>
          </a:solidFill>
          <a:ln w="6350">
            <a:solidFill>
              <a:srgbClr val="A6D04B"/>
            </a:solidFill>
            <a:prstDash val="solid"/>
          </a:ln>
        </p:spPr>
      </p:sp>
      <p:sp>
        <p:nvSpPr>
          <p:cNvPr id="19" name="Text 16"/>
          <p:cNvSpPr txBox="1"/>
          <p:nvPr/>
        </p:nvSpPr>
        <p:spPr>
          <a:xfrm>
            <a:off x="4617976" y="4883152"/>
            <a:ext cx="1463040" cy="329184"/>
          </a:xfrm>
          <a:prstGeom prst="rect">
            <a:avLst/>
          </a:prstGeom>
          <a:noFill/>
          <a:ln/>
        </p:spPr>
        <p:txBody>
          <a:bodyPr wrap="square" lIns="0" tIns="0" rIns="0" bIns="0" rtlCol="0" anchor="ctr"/>
          <a:lstStyle/>
          <a:p>
            <a:pPr rtl="1" algn="l"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التسويق</a:t>
            </a:r>
            <a:endParaRPr lang="ar-SA" sz="1300" dirty="0"/>
          </a:p>
        </p:txBody>
      </p:sp>
      <p:sp>
        <p:nvSpPr>
          <p:cNvPr id="20" name="Shape 17"/>
          <p:cNvSpPr/>
          <p:nvPr/>
        </p:nvSpPr>
        <p:spPr>
          <a:xfrm>
            <a:off x="4782312" y="3502152"/>
            <a:ext cx="310896" cy="310896"/>
          </a:xfrm>
          <a:prstGeom prst="ellipse">
            <a:avLst/>
          </a:prstGeom>
          <a:solidFill>
            <a:srgbClr val="4DB449"/>
          </a:solidFill>
          <a:ln w="6350">
            <a:solidFill>
              <a:srgbClr val="4DB449"/>
            </a:solidFill>
            <a:prstDash val="solid"/>
          </a:ln>
        </p:spPr>
      </p:sp>
      <p:sp>
        <p:nvSpPr>
          <p:cNvPr id="21" name="Text 18"/>
          <p:cNvSpPr txBox="1"/>
          <p:nvPr/>
        </p:nvSpPr>
        <p:spPr>
          <a:xfrm>
            <a:off x="5193792" y="3493008"/>
            <a:ext cx="1463040" cy="329184"/>
          </a:xfrm>
          <a:prstGeom prst="rect">
            <a:avLst/>
          </a:prstGeom>
          <a:noFill/>
          <a:ln/>
        </p:spPr>
        <p:txBody>
          <a:bodyPr wrap="square" lIns="0" tIns="0" rIns="0" bIns="0" rtlCol="0" anchor="ctr"/>
          <a:lstStyle/>
          <a:p>
            <a:pPr rtl="1" algn="l"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الأتمتة</a:t>
            </a:r>
            <a:endParaRPr lang="ar-SA" sz="1300" dirty="0"/>
          </a:p>
        </p:txBody>
      </p:sp>
      <p:sp>
        <p:nvSpPr>
          <p:cNvPr id="22" name="Shape 19"/>
          <p:cNvSpPr/>
          <p:nvPr/>
        </p:nvSpPr>
        <p:spPr>
          <a:xfrm>
            <a:off x="4206496" y="2112008"/>
            <a:ext cx="310896" cy="310896"/>
          </a:xfrm>
          <a:prstGeom prst="ellipse">
            <a:avLst/>
          </a:prstGeom>
          <a:solidFill>
            <a:srgbClr val="A6D04B"/>
          </a:solidFill>
          <a:ln w="6350">
            <a:solidFill>
              <a:srgbClr val="A6D04B"/>
            </a:solidFill>
            <a:prstDash val="solid"/>
          </a:ln>
        </p:spPr>
      </p:sp>
      <p:sp>
        <p:nvSpPr>
          <p:cNvPr id="23" name="Text 20"/>
          <p:cNvSpPr txBox="1"/>
          <p:nvPr/>
        </p:nvSpPr>
        <p:spPr>
          <a:xfrm>
            <a:off x="4617976" y="2102864"/>
            <a:ext cx="1463040" cy="329184"/>
          </a:xfrm>
          <a:prstGeom prst="rect">
            <a:avLst/>
          </a:prstGeom>
          <a:noFill/>
          <a:ln/>
        </p:spPr>
        <p:txBody>
          <a:bodyPr wrap="square" lIns="0" tIns="0" rIns="0" bIns="0" rtlCol="0" anchor="ctr"/>
          <a:lstStyle/>
          <a:p>
            <a:pPr rtl="1" algn="l" indent="0" marL="0">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الملف المهني</a:t>
            </a:r>
            <a:endParaRPr lang="ar-SA" sz="1300" dirty="0"/>
          </a:p>
        </p:txBody>
      </p:sp>
      <p:sp>
        <p:nvSpPr>
          <p:cNvPr id="24" name="Shape 21"/>
          <p:cNvSpPr/>
          <p:nvPr/>
        </p:nvSpPr>
        <p:spPr>
          <a:xfrm>
            <a:off x="2103120" y="2788920"/>
            <a:ext cx="1737360" cy="1737360"/>
          </a:xfrm>
          <a:prstGeom prst="ellipse">
            <a:avLst/>
          </a:prstGeom>
          <a:solidFill>
            <a:srgbClr val="4DB449"/>
          </a:solidFill>
          <a:ln w="12700">
            <a:solidFill>
              <a:srgbClr val="4DB449"/>
            </a:solidFill>
            <a:prstDash val="solid"/>
          </a:ln>
        </p:spPr>
      </p:sp>
      <p:sp>
        <p:nvSpPr>
          <p:cNvPr id="25" name="Text 22"/>
          <p:cNvSpPr txBox="1"/>
          <p:nvPr/>
        </p:nvSpPr>
        <p:spPr>
          <a:xfrm>
            <a:off x="2148840" y="3200400"/>
            <a:ext cx="1645920" cy="914400"/>
          </a:xfrm>
          <a:prstGeom prst="rect">
            <a:avLst/>
          </a:prstGeom>
          <a:noFill/>
          <a:ln/>
        </p:spPr>
        <p:txBody>
          <a:bodyPr wrap="square" lIns="0" tIns="0" rIns="0" bIns="0" rtlCol="0" anchor="ctr"/>
          <a:lstStyle/>
          <a:p>
            <a:pPr rtl="1" algn="ctr" indent="0" marL="0">
              <a:buNone/>
            </a:pPr>
            <a:r>
              <a:rPr lang="ar-SA" altLang="en-US" sz="1500" b="1" dirty="0">
                <a:solidFill>
                  <a:srgbClr val="000000"/>
                </a:solidFill>
                <a:latin typeface="Cairo" pitchFamily="34" charset="0"/>
                <a:ea typeface="Cairo" pitchFamily="34" charset="-122"/>
                <a:cs typeface="Cairo" pitchFamily="34" charset="-120"/>
              </a:rPr>
              <a:t>المشروع الختامي</a:t>
            </a:r>
            <a:endParaRPr lang="ar-SA"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2</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01 · لماذا هذا البرنامج</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الشباب يستخدمون الذكاء الاصطناعي، لكن قليلين يستخدمونه لعمل حقيقي</a:t>
            </a:r>
            <a:endParaRPr lang="ar-SA" sz="2600" dirty="0"/>
          </a:p>
        </p:txBody>
      </p:sp>
      <p:sp>
        <p:nvSpPr>
          <p:cNvPr id="7" name="Text 4"/>
          <p:cNvSpPr txBox="1"/>
          <p:nvPr/>
        </p:nvSpPr>
        <p:spPr>
          <a:xfrm>
            <a:off x="6659575" y="1874520"/>
            <a:ext cx="4983480" cy="36576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727274"/>
                </a:solidFill>
                <a:latin typeface="Cairo" pitchFamily="34" charset="0"/>
                <a:ea typeface="Cairo" pitchFamily="34" charset="-122"/>
                <a:cs typeface="Cairo" pitchFamily="34" charset="-120"/>
              </a:rPr>
              <a:t>نقطة البداية المعتادة</a:t>
            </a:r>
            <a:endParaRPr lang="ar-SA" sz="1500" dirty="0"/>
          </a:p>
        </p:txBody>
      </p:sp>
      <p:sp>
        <p:nvSpPr>
          <p:cNvPr id="8" name="Text 5"/>
          <p:cNvSpPr txBox="1"/>
          <p:nvPr/>
        </p:nvSpPr>
        <p:spPr>
          <a:xfrm>
            <a:off x="551383" y="1874520"/>
            <a:ext cx="5349240" cy="36576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1A1A1A"/>
                </a:solidFill>
                <a:latin typeface="Cairo" pitchFamily="34" charset="0"/>
                <a:ea typeface="Cairo" pitchFamily="34" charset="-122"/>
                <a:cs typeface="Cairo" pitchFamily="34" charset="-120"/>
              </a:rPr>
              <a:t>ما يبنيه البرنامج</a:t>
            </a:r>
            <a:endParaRPr lang="ar-SA" sz="1500" dirty="0"/>
          </a:p>
        </p:txBody>
      </p:sp>
      <p:sp>
        <p:nvSpPr>
          <p:cNvPr id="9" name="Shape 6"/>
          <p:cNvSpPr/>
          <p:nvPr/>
        </p:nvSpPr>
        <p:spPr>
          <a:xfrm>
            <a:off x="6659575" y="2359152"/>
            <a:ext cx="4983480" cy="731520"/>
          </a:xfrm>
          <a:prstGeom prst="roundRect">
            <a:avLst>
              <a:gd name="adj" fmla="val 10000"/>
            </a:avLst>
          </a:prstGeom>
          <a:solidFill>
            <a:srgbClr val="F2F4F1"/>
          </a:solidFill>
          <a:ln w="12700">
            <a:solidFill>
              <a:srgbClr val="F2F4F1"/>
            </a:solidFill>
            <a:prstDash val="solid"/>
          </a:ln>
        </p:spPr>
      </p:sp>
      <p:sp>
        <p:nvSpPr>
          <p:cNvPr id="10" name="Text 7"/>
          <p:cNvSpPr txBox="1"/>
          <p:nvPr/>
        </p:nvSpPr>
        <p:spPr>
          <a:xfrm>
            <a:off x="6888175" y="2359152"/>
            <a:ext cx="4526280" cy="731520"/>
          </a:xfrm>
          <a:prstGeom prst="rect">
            <a:avLst/>
          </a:prstGeom>
          <a:noFill/>
          <a:ln/>
        </p:spPr>
        <p:txBody>
          <a:bodyPr wrap="square" lIns="0" tIns="0" rIns="0" bIns="0" rtlCol="0" anchor="ctr"/>
          <a:lstStyle/>
          <a:p>
            <a:pPr rtl="1" algn="r" indent="0" marL="0">
              <a:lnSpc>
                <a:spcPct val="100000"/>
              </a:lnSpc>
              <a:buNone/>
            </a:pPr>
            <a:r>
              <a:rPr lang="ar-SA" altLang="en-US" sz="1500" dirty="0">
                <a:solidFill>
                  <a:srgbClr val="4A4C49"/>
                </a:solidFill>
                <a:latin typeface="IBM Plex Sans Arabic" pitchFamily="34" charset="0"/>
                <a:ea typeface="IBM Plex Sans Arabic" pitchFamily="34" charset="-122"/>
                <a:cs typeface="IBM Plex Sans Arabic" pitchFamily="34" charset="-120"/>
              </a:rPr>
              <a:t>استخدام الذكاء الاصطناعي للحصول على إجابات سريعة</a:t>
            </a:r>
            <a:endParaRPr lang="ar-SA" sz="1500" dirty="0"/>
          </a:p>
        </p:txBody>
      </p:sp>
      <p:pic>
        <p:nvPicPr>
          <p:cNvPr id="11" name="Image 1" descr="preencoded.png">    </p:cNvPr>
          <p:cNvPicPr>
            <a:picLocks noChangeAspect="1"/>
          </p:cNvPicPr>
          <p:nvPr/>
        </p:nvPicPr>
        <p:blipFill>
          <a:blip r:embed="rId2"/>
          <a:stretch>
            <a:fillRect/>
          </a:stretch>
        </p:blipFill>
        <p:spPr>
          <a:xfrm>
            <a:off x="6156655" y="2542032"/>
            <a:ext cx="384048" cy="384048"/>
          </a:xfrm>
          <a:prstGeom prst="rect">
            <a:avLst/>
          </a:prstGeom>
        </p:spPr>
      </p:pic>
      <p:sp>
        <p:nvSpPr>
          <p:cNvPr id="12" name="Shape 8"/>
          <p:cNvSpPr/>
          <p:nvPr/>
        </p:nvSpPr>
        <p:spPr>
          <a:xfrm>
            <a:off x="551383" y="2359152"/>
            <a:ext cx="5349240" cy="731520"/>
          </a:xfrm>
          <a:prstGeom prst="roundRect">
            <a:avLst>
              <a:gd name="adj" fmla="val 10000"/>
            </a:avLst>
          </a:prstGeom>
          <a:solidFill>
            <a:srgbClr val="000000"/>
          </a:solidFill>
          <a:ln w="12700">
            <a:solidFill>
              <a:srgbClr val="000000"/>
            </a:solidFill>
            <a:prstDash val="solid"/>
          </a:ln>
        </p:spPr>
      </p:sp>
      <p:sp>
        <p:nvSpPr>
          <p:cNvPr id="13" name="Shape 9"/>
          <p:cNvSpPr/>
          <p:nvPr/>
        </p:nvSpPr>
        <p:spPr>
          <a:xfrm>
            <a:off x="5507431" y="2642616"/>
            <a:ext cx="164592" cy="164592"/>
          </a:xfrm>
          <a:prstGeom prst="ellipse">
            <a:avLst/>
          </a:prstGeom>
          <a:solidFill>
            <a:srgbClr val="A6D04B"/>
          </a:solidFill>
          <a:ln w="6350">
            <a:solidFill>
              <a:srgbClr val="A6D04B"/>
            </a:solidFill>
            <a:prstDash val="solid"/>
          </a:ln>
        </p:spPr>
      </p:sp>
      <p:sp>
        <p:nvSpPr>
          <p:cNvPr id="14" name="Text 10"/>
          <p:cNvSpPr txBox="1"/>
          <p:nvPr/>
        </p:nvSpPr>
        <p:spPr>
          <a:xfrm>
            <a:off x="779983" y="2359152"/>
            <a:ext cx="4572000" cy="731520"/>
          </a:xfrm>
          <a:prstGeom prst="rect">
            <a:avLst/>
          </a:prstGeom>
          <a:noFill/>
          <a:ln/>
        </p:spPr>
        <p:txBody>
          <a:bodyPr wrap="square" lIns="0" tIns="0" rIns="0" bIns="0" rtlCol="0" anchor="ctr"/>
          <a:lstStyle/>
          <a:p>
            <a:pPr rtl="1" algn="r" indent="0" marL="0">
              <a:lnSpc>
                <a:spcPct val="100000"/>
              </a:lnSpc>
              <a:buNone/>
            </a:pPr>
            <a:r>
              <a:rPr lang="ar-SA" altLang="en-US" sz="1500" b="1" dirty="0">
                <a:solidFill>
                  <a:srgbClr val="FFFFFF"/>
                </a:solidFill>
                <a:latin typeface="IBM Plex Sans Arabic" pitchFamily="34" charset="0"/>
                <a:ea typeface="IBM Plex Sans Arabic" pitchFamily="34" charset="-122"/>
                <a:cs typeface="IBM Plex Sans Arabic" pitchFamily="34" charset="-120"/>
              </a:rPr>
              <a:t>استخدامه لإنتاج عمل يصلح أن يُسلَّم لعميل</a:t>
            </a:r>
            <a:endParaRPr lang="ar-SA" sz="1500" dirty="0"/>
          </a:p>
        </p:txBody>
      </p:sp>
      <p:sp>
        <p:nvSpPr>
          <p:cNvPr id="15" name="Shape 11"/>
          <p:cNvSpPr/>
          <p:nvPr/>
        </p:nvSpPr>
        <p:spPr>
          <a:xfrm>
            <a:off x="6659575" y="3227832"/>
            <a:ext cx="4983480" cy="731520"/>
          </a:xfrm>
          <a:prstGeom prst="roundRect">
            <a:avLst>
              <a:gd name="adj" fmla="val 10000"/>
            </a:avLst>
          </a:prstGeom>
          <a:solidFill>
            <a:srgbClr val="F2F4F1"/>
          </a:solidFill>
          <a:ln w="12700">
            <a:solidFill>
              <a:srgbClr val="F2F4F1"/>
            </a:solidFill>
            <a:prstDash val="solid"/>
          </a:ln>
        </p:spPr>
      </p:sp>
      <p:sp>
        <p:nvSpPr>
          <p:cNvPr id="16" name="Text 12"/>
          <p:cNvSpPr txBox="1"/>
          <p:nvPr/>
        </p:nvSpPr>
        <p:spPr>
          <a:xfrm>
            <a:off x="6888175" y="3227832"/>
            <a:ext cx="4526280" cy="731520"/>
          </a:xfrm>
          <a:prstGeom prst="rect">
            <a:avLst/>
          </a:prstGeom>
          <a:noFill/>
          <a:ln/>
        </p:spPr>
        <p:txBody>
          <a:bodyPr wrap="square" lIns="0" tIns="0" rIns="0" bIns="0" rtlCol="0" anchor="ctr"/>
          <a:lstStyle/>
          <a:p>
            <a:pPr rtl="1" algn="r" indent="0" marL="0">
              <a:lnSpc>
                <a:spcPct val="100000"/>
              </a:lnSpc>
              <a:buNone/>
            </a:pPr>
            <a:r>
              <a:rPr lang="ar-SA" altLang="en-US" sz="1500" dirty="0">
                <a:solidFill>
                  <a:srgbClr val="4A4C49"/>
                </a:solidFill>
                <a:latin typeface="IBM Plex Sans Arabic" pitchFamily="34" charset="0"/>
                <a:ea typeface="IBM Plex Sans Arabic" pitchFamily="34" charset="-122"/>
                <a:cs typeface="IBM Plex Sans Arabic" pitchFamily="34" charset="-120"/>
              </a:rPr>
              <a:t>نصائح متفرقة عن الأدوات من مواقع التواصل</a:t>
            </a:r>
            <a:endParaRPr lang="ar-SA" sz="1500" dirty="0"/>
          </a:p>
        </p:txBody>
      </p:sp>
      <p:pic>
        <p:nvPicPr>
          <p:cNvPr id="17" name="Image 2" descr="preencoded.png">    </p:cNvPr>
          <p:cNvPicPr>
            <a:picLocks noChangeAspect="1"/>
          </p:cNvPicPr>
          <p:nvPr/>
        </p:nvPicPr>
        <p:blipFill>
          <a:blip r:embed="rId3"/>
          <a:stretch>
            <a:fillRect/>
          </a:stretch>
        </p:blipFill>
        <p:spPr>
          <a:xfrm>
            <a:off x="6156655" y="3410712"/>
            <a:ext cx="384048" cy="384048"/>
          </a:xfrm>
          <a:prstGeom prst="rect">
            <a:avLst/>
          </a:prstGeom>
        </p:spPr>
      </p:pic>
      <p:sp>
        <p:nvSpPr>
          <p:cNvPr id="18" name="Shape 13"/>
          <p:cNvSpPr/>
          <p:nvPr/>
        </p:nvSpPr>
        <p:spPr>
          <a:xfrm>
            <a:off x="551383" y="3227832"/>
            <a:ext cx="5349240" cy="731520"/>
          </a:xfrm>
          <a:prstGeom prst="roundRect">
            <a:avLst>
              <a:gd name="adj" fmla="val 10000"/>
            </a:avLst>
          </a:prstGeom>
          <a:solidFill>
            <a:srgbClr val="000000"/>
          </a:solidFill>
          <a:ln w="12700">
            <a:solidFill>
              <a:srgbClr val="000000"/>
            </a:solidFill>
            <a:prstDash val="solid"/>
          </a:ln>
        </p:spPr>
      </p:sp>
      <p:sp>
        <p:nvSpPr>
          <p:cNvPr id="19" name="Shape 14"/>
          <p:cNvSpPr/>
          <p:nvPr/>
        </p:nvSpPr>
        <p:spPr>
          <a:xfrm>
            <a:off x="5507431" y="3511296"/>
            <a:ext cx="164592" cy="164592"/>
          </a:xfrm>
          <a:prstGeom prst="ellipse">
            <a:avLst/>
          </a:prstGeom>
          <a:solidFill>
            <a:srgbClr val="A6D04B"/>
          </a:solidFill>
          <a:ln w="6350">
            <a:solidFill>
              <a:srgbClr val="A6D04B"/>
            </a:solidFill>
            <a:prstDash val="solid"/>
          </a:ln>
        </p:spPr>
      </p:sp>
      <p:sp>
        <p:nvSpPr>
          <p:cNvPr id="20" name="Text 15"/>
          <p:cNvSpPr txBox="1"/>
          <p:nvPr/>
        </p:nvSpPr>
        <p:spPr>
          <a:xfrm>
            <a:off x="779983" y="3227832"/>
            <a:ext cx="4572000" cy="731520"/>
          </a:xfrm>
          <a:prstGeom prst="rect">
            <a:avLst/>
          </a:prstGeom>
          <a:noFill/>
          <a:ln/>
        </p:spPr>
        <p:txBody>
          <a:bodyPr wrap="square" lIns="0" tIns="0" rIns="0" bIns="0" rtlCol="0" anchor="ctr"/>
          <a:lstStyle/>
          <a:p>
            <a:pPr rtl="1" algn="r" indent="0" marL="0">
              <a:lnSpc>
                <a:spcPct val="100000"/>
              </a:lnSpc>
              <a:buNone/>
            </a:pPr>
            <a:r>
              <a:rPr lang="ar-SA" altLang="en-US" sz="1500" b="1" dirty="0">
                <a:solidFill>
                  <a:srgbClr val="FFFFFF"/>
                </a:solidFill>
                <a:latin typeface="IBM Plex Sans Arabic" pitchFamily="34" charset="0"/>
                <a:ea typeface="IBM Plex Sans Arabic" pitchFamily="34" charset="-122"/>
                <a:cs typeface="IBM Plex Sans Arabic" pitchFamily="34" charset="-120"/>
              </a:rPr>
              <a:t>مسار منظّم من الفكرة حتى حملة منشورة</a:t>
            </a:r>
            <a:endParaRPr lang="ar-SA" sz="1500" dirty="0"/>
          </a:p>
        </p:txBody>
      </p:sp>
      <p:sp>
        <p:nvSpPr>
          <p:cNvPr id="21" name="Shape 16"/>
          <p:cNvSpPr/>
          <p:nvPr/>
        </p:nvSpPr>
        <p:spPr>
          <a:xfrm>
            <a:off x="6659575" y="4096512"/>
            <a:ext cx="4983480" cy="731520"/>
          </a:xfrm>
          <a:prstGeom prst="roundRect">
            <a:avLst>
              <a:gd name="adj" fmla="val 10000"/>
            </a:avLst>
          </a:prstGeom>
          <a:solidFill>
            <a:srgbClr val="F2F4F1"/>
          </a:solidFill>
          <a:ln w="12700">
            <a:solidFill>
              <a:srgbClr val="F2F4F1"/>
            </a:solidFill>
            <a:prstDash val="solid"/>
          </a:ln>
        </p:spPr>
      </p:sp>
      <p:sp>
        <p:nvSpPr>
          <p:cNvPr id="22" name="Text 17"/>
          <p:cNvSpPr txBox="1"/>
          <p:nvPr/>
        </p:nvSpPr>
        <p:spPr>
          <a:xfrm>
            <a:off x="6888175" y="4096512"/>
            <a:ext cx="4526280" cy="731520"/>
          </a:xfrm>
          <a:prstGeom prst="rect">
            <a:avLst/>
          </a:prstGeom>
          <a:noFill/>
          <a:ln/>
        </p:spPr>
        <p:txBody>
          <a:bodyPr wrap="square" lIns="0" tIns="0" rIns="0" bIns="0" rtlCol="0" anchor="ctr"/>
          <a:lstStyle/>
          <a:p>
            <a:pPr rtl="1" algn="r" indent="0" marL="0">
              <a:lnSpc>
                <a:spcPct val="100000"/>
              </a:lnSpc>
              <a:buNone/>
            </a:pPr>
            <a:r>
              <a:rPr lang="ar-SA" altLang="en-US" sz="1500" dirty="0">
                <a:solidFill>
                  <a:srgbClr val="4A4C49"/>
                </a:solidFill>
                <a:latin typeface="IBM Plex Sans Arabic" pitchFamily="34" charset="0"/>
                <a:ea typeface="IBM Plex Sans Arabic" pitchFamily="34" charset="-122"/>
                <a:cs typeface="IBM Plex Sans Arabic" pitchFamily="34" charset="-120"/>
              </a:rPr>
              <a:t>قبول أي نتيجة تعطيها الأداة كما هي</a:t>
            </a:r>
            <a:endParaRPr lang="ar-SA" sz="1500" dirty="0"/>
          </a:p>
        </p:txBody>
      </p:sp>
      <p:pic>
        <p:nvPicPr>
          <p:cNvPr id="23" name="Image 3" descr="preencoded.png">    </p:cNvPr>
          <p:cNvPicPr>
            <a:picLocks noChangeAspect="1"/>
          </p:cNvPicPr>
          <p:nvPr/>
        </p:nvPicPr>
        <p:blipFill>
          <a:blip r:embed="rId4"/>
          <a:stretch>
            <a:fillRect/>
          </a:stretch>
        </p:blipFill>
        <p:spPr>
          <a:xfrm>
            <a:off x="6156655" y="4279392"/>
            <a:ext cx="384048" cy="384048"/>
          </a:xfrm>
          <a:prstGeom prst="rect">
            <a:avLst/>
          </a:prstGeom>
        </p:spPr>
      </p:pic>
      <p:sp>
        <p:nvSpPr>
          <p:cNvPr id="24" name="Shape 18"/>
          <p:cNvSpPr/>
          <p:nvPr/>
        </p:nvSpPr>
        <p:spPr>
          <a:xfrm>
            <a:off x="551383" y="4096512"/>
            <a:ext cx="5349240" cy="731520"/>
          </a:xfrm>
          <a:prstGeom prst="roundRect">
            <a:avLst>
              <a:gd name="adj" fmla="val 10000"/>
            </a:avLst>
          </a:prstGeom>
          <a:solidFill>
            <a:srgbClr val="000000"/>
          </a:solidFill>
          <a:ln w="12700">
            <a:solidFill>
              <a:srgbClr val="000000"/>
            </a:solidFill>
            <a:prstDash val="solid"/>
          </a:ln>
        </p:spPr>
      </p:sp>
      <p:sp>
        <p:nvSpPr>
          <p:cNvPr id="25" name="Shape 19"/>
          <p:cNvSpPr/>
          <p:nvPr/>
        </p:nvSpPr>
        <p:spPr>
          <a:xfrm>
            <a:off x="5507431" y="4379976"/>
            <a:ext cx="164592" cy="164592"/>
          </a:xfrm>
          <a:prstGeom prst="ellipse">
            <a:avLst/>
          </a:prstGeom>
          <a:solidFill>
            <a:srgbClr val="A6D04B"/>
          </a:solidFill>
          <a:ln w="6350">
            <a:solidFill>
              <a:srgbClr val="A6D04B"/>
            </a:solidFill>
            <a:prstDash val="solid"/>
          </a:ln>
        </p:spPr>
      </p:sp>
      <p:sp>
        <p:nvSpPr>
          <p:cNvPr id="26" name="Text 20"/>
          <p:cNvSpPr txBox="1"/>
          <p:nvPr/>
        </p:nvSpPr>
        <p:spPr>
          <a:xfrm>
            <a:off x="779983" y="4096512"/>
            <a:ext cx="4572000" cy="731520"/>
          </a:xfrm>
          <a:prstGeom prst="rect">
            <a:avLst/>
          </a:prstGeom>
          <a:noFill/>
          <a:ln/>
        </p:spPr>
        <p:txBody>
          <a:bodyPr wrap="square" lIns="0" tIns="0" rIns="0" bIns="0" rtlCol="0" anchor="ctr"/>
          <a:lstStyle/>
          <a:p>
            <a:pPr rtl="1" algn="r" indent="0" marL="0">
              <a:lnSpc>
                <a:spcPct val="100000"/>
              </a:lnSpc>
              <a:buNone/>
            </a:pPr>
            <a:r>
              <a:rPr lang="ar-SA" altLang="en-US" sz="1500" b="1" dirty="0">
                <a:solidFill>
                  <a:srgbClr val="FFFFFF"/>
                </a:solidFill>
                <a:latin typeface="IBM Plex Sans Arabic" pitchFamily="34" charset="0"/>
                <a:ea typeface="IBM Plex Sans Arabic" pitchFamily="34" charset="-122"/>
                <a:cs typeface="IBM Plex Sans Arabic" pitchFamily="34" charset="-120"/>
              </a:rPr>
              <a:t>التحقق من المعلومات وتحرير المسودات والإفصاح عن المحتوى المولَّد</a:t>
            </a:r>
            <a:endParaRPr lang="ar-SA" sz="1500" dirty="0"/>
          </a:p>
        </p:txBody>
      </p:sp>
      <p:sp>
        <p:nvSpPr>
          <p:cNvPr id="27" name="Shape 21"/>
          <p:cNvSpPr/>
          <p:nvPr/>
        </p:nvSpPr>
        <p:spPr>
          <a:xfrm>
            <a:off x="6659575" y="4965192"/>
            <a:ext cx="4983480" cy="731520"/>
          </a:xfrm>
          <a:prstGeom prst="roundRect">
            <a:avLst>
              <a:gd name="adj" fmla="val 10000"/>
            </a:avLst>
          </a:prstGeom>
          <a:solidFill>
            <a:srgbClr val="F2F4F1"/>
          </a:solidFill>
          <a:ln w="12700">
            <a:solidFill>
              <a:srgbClr val="F2F4F1"/>
            </a:solidFill>
            <a:prstDash val="solid"/>
          </a:ln>
        </p:spPr>
      </p:sp>
      <p:sp>
        <p:nvSpPr>
          <p:cNvPr id="28" name="Text 22"/>
          <p:cNvSpPr txBox="1"/>
          <p:nvPr/>
        </p:nvSpPr>
        <p:spPr>
          <a:xfrm>
            <a:off x="6888175" y="4965192"/>
            <a:ext cx="4526280" cy="731520"/>
          </a:xfrm>
          <a:prstGeom prst="rect">
            <a:avLst/>
          </a:prstGeom>
          <a:noFill/>
          <a:ln/>
        </p:spPr>
        <p:txBody>
          <a:bodyPr wrap="square" lIns="0" tIns="0" rIns="0" bIns="0" rtlCol="0" anchor="ctr"/>
          <a:lstStyle/>
          <a:p>
            <a:pPr rtl="1" algn="r" indent="0" marL="0">
              <a:lnSpc>
                <a:spcPct val="100000"/>
              </a:lnSpc>
              <a:buNone/>
            </a:pPr>
            <a:r>
              <a:rPr lang="ar-SA" altLang="en-US" sz="1500" dirty="0">
                <a:solidFill>
                  <a:srgbClr val="4A4C49"/>
                </a:solidFill>
                <a:latin typeface="IBM Plex Sans Arabic" pitchFamily="34" charset="0"/>
                <a:ea typeface="IBM Plex Sans Arabic" pitchFamily="34" charset="-122"/>
                <a:cs typeface="IBM Plex Sans Arabic" pitchFamily="34" charset="-120"/>
              </a:rPr>
              <a:t>لا دليل على ما يستطيع الطالب فعله</a:t>
            </a:r>
            <a:endParaRPr lang="ar-SA" sz="1500" dirty="0"/>
          </a:p>
        </p:txBody>
      </p:sp>
      <p:pic>
        <p:nvPicPr>
          <p:cNvPr id="29" name="Image 4" descr="preencoded.png">    </p:cNvPr>
          <p:cNvPicPr>
            <a:picLocks noChangeAspect="1"/>
          </p:cNvPicPr>
          <p:nvPr/>
        </p:nvPicPr>
        <p:blipFill>
          <a:blip r:embed="rId5"/>
          <a:stretch>
            <a:fillRect/>
          </a:stretch>
        </p:blipFill>
        <p:spPr>
          <a:xfrm>
            <a:off x="6156655" y="5148072"/>
            <a:ext cx="384048" cy="384048"/>
          </a:xfrm>
          <a:prstGeom prst="rect">
            <a:avLst/>
          </a:prstGeom>
        </p:spPr>
      </p:pic>
      <p:sp>
        <p:nvSpPr>
          <p:cNvPr id="30" name="Shape 23"/>
          <p:cNvSpPr/>
          <p:nvPr/>
        </p:nvSpPr>
        <p:spPr>
          <a:xfrm>
            <a:off x="551383" y="4965192"/>
            <a:ext cx="5349240" cy="731520"/>
          </a:xfrm>
          <a:prstGeom prst="roundRect">
            <a:avLst>
              <a:gd name="adj" fmla="val 10000"/>
            </a:avLst>
          </a:prstGeom>
          <a:solidFill>
            <a:srgbClr val="000000"/>
          </a:solidFill>
          <a:ln w="12700">
            <a:solidFill>
              <a:srgbClr val="000000"/>
            </a:solidFill>
            <a:prstDash val="solid"/>
          </a:ln>
        </p:spPr>
      </p:sp>
      <p:sp>
        <p:nvSpPr>
          <p:cNvPr id="31" name="Shape 24"/>
          <p:cNvSpPr/>
          <p:nvPr/>
        </p:nvSpPr>
        <p:spPr>
          <a:xfrm>
            <a:off x="5507431" y="5248656"/>
            <a:ext cx="164592" cy="164592"/>
          </a:xfrm>
          <a:prstGeom prst="ellipse">
            <a:avLst/>
          </a:prstGeom>
          <a:solidFill>
            <a:srgbClr val="A6D04B"/>
          </a:solidFill>
          <a:ln w="6350">
            <a:solidFill>
              <a:srgbClr val="A6D04B"/>
            </a:solidFill>
            <a:prstDash val="solid"/>
          </a:ln>
        </p:spPr>
      </p:sp>
      <p:sp>
        <p:nvSpPr>
          <p:cNvPr id="32" name="Text 25"/>
          <p:cNvSpPr txBox="1"/>
          <p:nvPr/>
        </p:nvSpPr>
        <p:spPr>
          <a:xfrm>
            <a:off x="779983" y="4965192"/>
            <a:ext cx="4572000" cy="731520"/>
          </a:xfrm>
          <a:prstGeom prst="rect">
            <a:avLst/>
          </a:prstGeom>
          <a:noFill/>
          <a:ln/>
        </p:spPr>
        <p:txBody>
          <a:bodyPr wrap="square" lIns="0" tIns="0" rIns="0" bIns="0" rtlCol="0" anchor="ctr"/>
          <a:lstStyle/>
          <a:p>
            <a:pPr rtl="1" algn="r" indent="0" marL="0">
              <a:lnSpc>
                <a:spcPct val="100000"/>
              </a:lnSpc>
              <a:buNone/>
            </a:pPr>
            <a:r>
              <a:rPr lang="ar-SA" altLang="en-US" sz="1500" b="1" dirty="0">
                <a:solidFill>
                  <a:srgbClr val="FFFFFF"/>
                </a:solidFill>
                <a:latin typeface="IBM Plex Sans Arabic" pitchFamily="34" charset="0"/>
                <a:ea typeface="IBM Plex Sans Arabic" pitchFamily="34" charset="-122"/>
                <a:cs typeface="IBM Plex Sans Arabic" pitchFamily="34" charset="-120"/>
              </a:rPr>
              <a:t>ملف أعمال ومشروع ختامي وعرض أمام جمهور</a:t>
            </a:r>
            <a:endParaRPr lang="ar-SA" sz="1500" dirty="0"/>
          </a:p>
        </p:txBody>
      </p:sp>
      <p:sp>
        <p:nvSpPr>
          <p:cNvPr id="33" name="Text 26"/>
          <p:cNvSpPr txBox="1"/>
          <p:nvPr/>
        </p:nvSpPr>
        <p:spPr>
          <a:xfrm>
            <a:off x="578815" y="5925312"/>
            <a:ext cx="11064240" cy="320040"/>
          </a:xfrm>
          <a:prstGeom prst="rect">
            <a:avLst/>
          </a:prstGeom>
          <a:noFill/>
          <a:ln/>
        </p:spPr>
        <p:txBody>
          <a:bodyPr wrap="square" lIns="0" tIns="0" rIns="0" bIns="0" rtlCol="0" anchor="t"/>
          <a:lstStyle/>
          <a:p>
            <a:pPr rtl="1" algn="r" indent="0" marL="0">
              <a:lnSpc>
                <a:spcPct val="100000"/>
              </a:lnSpc>
              <a:buNone/>
            </a:pPr>
            <a:r>
              <a:rPr lang="ar-SA" altLang="en-US" sz="1100" dirty="0">
                <a:solidFill>
                  <a:srgbClr val="727274"/>
                </a:solidFill>
                <a:latin typeface="IBM Plex Sans Arabic" pitchFamily="34" charset="0"/>
                <a:ea typeface="IBM Plex Sans Arabic" pitchFamily="34" charset="-122"/>
                <a:cs typeface="IBM Plex Sans Arabic" pitchFamily="34" charset="-120"/>
              </a:rPr>
              <a:t>نقطة البداية أعلاه افتراض، يتأكد منه التقييم القبلي في الجلسة الأولى لكل مجموعة.</a:t>
            </a:r>
            <a:endParaRPr lang="ar-SA"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3</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02 · الفئة المستهدفة</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مصمَّم للفئة من 15 إلى 19 سنة، ولا يتطلب أي خلفية تقنية</a:t>
            </a:r>
            <a:endParaRPr lang="ar-SA" sz="2600" dirty="0"/>
          </a:p>
        </p:txBody>
      </p:sp>
      <p:sp>
        <p:nvSpPr>
          <p:cNvPr id="7" name="Shape 4"/>
          <p:cNvSpPr/>
          <p:nvPr/>
        </p:nvSpPr>
        <p:spPr>
          <a:xfrm>
            <a:off x="7939735" y="1874520"/>
            <a:ext cx="3703320" cy="4343400"/>
          </a:xfrm>
          <a:prstGeom prst="roundRect">
            <a:avLst>
              <a:gd name="adj" fmla="val 2963"/>
            </a:avLst>
          </a:prstGeom>
          <a:solidFill>
            <a:srgbClr val="000000"/>
          </a:solidFill>
          <a:ln w="12700">
            <a:solidFill>
              <a:srgbClr val="000000"/>
            </a:solidFill>
            <a:prstDash val="solid"/>
          </a:ln>
        </p:spPr>
      </p:sp>
      <p:sp>
        <p:nvSpPr>
          <p:cNvPr id="8" name="Text 5"/>
          <p:cNvSpPr txBox="1"/>
          <p:nvPr/>
        </p:nvSpPr>
        <p:spPr>
          <a:xfrm>
            <a:off x="8214055" y="2148840"/>
            <a:ext cx="3108960" cy="822960"/>
          </a:xfrm>
          <a:prstGeom prst="rect">
            <a:avLst/>
          </a:prstGeom>
          <a:noFill/>
          <a:ln/>
        </p:spPr>
        <p:txBody>
          <a:bodyPr wrap="square" lIns="0" tIns="0" rIns="0" bIns="0" rtlCol="0" anchor="t"/>
          <a:lstStyle/>
          <a:p>
            <a:pPr algn="r" indent="0" marL="0">
              <a:lnSpc>
                <a:spcPct val="100000"/>
              </a:lnSpc>
              <a:buNone/>
            </a:pPr>
            <a:r>
              <a:rPr lang="ar-SA" altLang="en-US" sz="4600" b="1" dirty="0">
                <a:solidFill>
                  <a:srgbClr val="A6D04B"/>
                </a:solidFill>
                <a:latin typeface="Cairo" pitchFamily="34" charset="0"/>
                <a:ea typeface="Cairo" pitchFamily="34" charset="-122"/>
                <a:cs typeface="Cairo" pitchFamily="34" charset="-120"/>
              </a:rPr>
              <a:t>15–17</a:t>
            </a:r>
            <a:endParaRPr lang="ar-SA" sz="4600" dirty="0"/>
          </a:p>
        </p:txBody>
      </p:sp>
      <p:sp>
        <p:nvSpPr>
          <p:cNvPr id="9" name="Text 6"/>
          <p:cNvSpPr txBox="1"/>
          <p:nvPr/>
        </p:nvSpPr>
        <p:spPr>
          <a:xfrm>
            <a:off x="8214055" y="2971800"/>
            <a:ext cx="3108960" cy="36576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FFFFFF"/>
                </a:solidFill>
                <a:latin typeface="IBM Plex Sans Arabic" pitchFamily="34" charset="0"/>
                <a:ea typeface="IBM Plex Sans Arabic" pitchFamily="34" charset="-122"/>
                <a:cs typeface="IBM Plex Sans Arabic" pitchFamily="34" charset="-120"/>
              </a:rPr>
              <a:t>المسار الأساسي</a:t>
            </a:r>
            <a:endParaRPr lang="ar-SA" sz="1500" dirty="0"/>
          </a:p>
        </p:txBody>
      </p:sp>
      <p:sp>
        <p:nvSpPr>
          <p:cNvPr id="10" name="Text 7"/>
          <p:cNvSpPr txBox="1"/>
          <p:nvPr/>
        </p:nvSpPr>
        <p:spPr>
          <a:xfrm>
            <a:off x="8214055" y="3520440"/>
            <a:ext cx="3108960" cy="2560320"/>
          </a:xfrm>
          <a:prstGeom prst="rect">
            <a:avLst/>
          </a:prstGeom>
          <a:noFill/>
          <a:ln/>
        </p:spPr>
        <p:txBody>
          <a:bodyPr wrap="square" lIns="0" tIns="0" rIns="0" bIns="0" rtlCol="0" anchor="t"/>
          <a:lstStyle/>
          <a:p>
            <a:pPr rtl="1" algn="r" marL="177800" indent="-177800">
              <a:lnSpc>
                <a:spcPct val="100000"/>
              </a:lnSpc>
              <a:spcAft>
                <a:spcPts val="800"/>
              </a:spcAft>
              <a:buSzPct val="100000"/>
              <a:buChar char="•"/>
            </a:pPr>
            <a:r>
              <a:rPr lang="ar-SA" altLang="en-US" sz="1400" dirty="0">
                <a:solidFill>
                  <a:srgbClr val="E4E6E2"/>
                </a:solidFill>
                <a:latin typeface="IBM Plex Sans Arabic" pitchFamily="34" charset="0"/>
                <a:ea typeface="IBM Plex Sans Arabic" pitchFamily="34" charset="-122"/>
                <a:cs typeface="IBM Plex Sans Arabic" pitchFamily="34" charset="-120"/>
              </a:rPr>
              <a:t>موافقة موقّعة من وليّ الأمر قبل استخدام الأدوات</a:t>
            </a:r>
            <a:endParaRPr lang="ar-SA" sz="1400" dirty="0"/>
          </a:p>
          <a:p>
            <a:pPr rtl="1" algn="r" marL="177800" indent="-177800">
              <a:lnSpc>
                <a:spcPct val="100000"/>
              </a:lnSpc>
              <a:spcAft>
                <a:spcPts val="800"/>
              </a:spcAft>
              <a:buSzPct val="100000"/>
              <a:buChar char="•"/>
            </a:pPr>
            <a:r>
              <a:rPr lang="ar-SA" altLang="en-US" sz="1400" dirty="0">
                <a:solidFill>
                  <a:srgbClr val="E4E6E2"/>
                </a:solidFill>
                <a:latin typeface="IBM Plex Sans Arabic" pitchFamily="34" charset="0"/>
                <a:ea typeface="IBM Plex Sans Arabic" pitchFamily="34" charset="-122"/>
                <a:cs typeface="IBM Plex Sans Arabic" pitchFamily="34" charset="-120"/>
              </a:rPr>
              <a:t>تطبيق عملي على الأدوات المسموحة لهذه الفئة العمرية</a:t>
            </a:r>
            <a:endParaRPr lang="ar-SA" sz="1400" dirty="0"/>
          </a:p>
          <a:p>
            <a:pPr rtl="1" algn="r" marL="177800" indent="-177800">
              <a:lnSpc>
                <a:spcPct val="100000"/>
              </a:lnSpc>
              <a:spcAft>
                <a:spcPts val="800"/>
              </a:spcAft>
              <a:buSzPct val="100000"/>
              <a:buChar char="•"/>
            </a:pPr>
            <a:r>
              <a:rPr lang="ar-SA" altLang="en-US" sz="1400" dirty="0">
                <a:solidFill>
                  <a:srgbClr val="E4E6E2"/>
                </a:solidFill>
                <a:latin typeface="IBM Plex Sans Arabic" pitchFamily="34" charset="0"/>
                <a:ea typeface="IBM Plex Sans Arabic" pitchFamily="34" charset="-122"/>
                <a:cs typeface="IBM Plex Sans Arabic" pitchFamily="34" charset="-120"/>
              </a:rPr>
              <a:t>عروض يقدّمها المدرب للأدوات المخصّصة لمن هم 18+ (الفيديو والصوت)</a:t>
            </a:r>
            <a:endParaRPr lang="ar-SA" sz="1400" dirty="0"/>
          </a:p>
          <a:p>
            <a:pPr rtl="1" algn="r" marL="177800" indent="-177800">
              <a:lnSpc>
                <a:spcPct val="100000"/>
              </a:lnSpc>
              <a:spcAft>
                <a:spcPts val="800"/>
              </a:spcAft>
              <a:buSzPct val="100000"/>
              <a:buChar char="•"/>
            </a:pPr>
            <a:r>
              <a:rPr lang="ar-SA" altLang="en-US" sz="1400" dirty="0">
                <a:solidFill>
                  <a:srgbClr val="E4E6E2"/>
                </a:solidFill>
                <a:latin typeface="IBM Plex Sans Arabic" pitchFamily="34" charset="0"/>
                <a:ea typeface="IBM Plex Sans Arabic" pitchFamily="34" charset="-122"/>
                <a:cs typeface="IBM Plex Sans Arabic" pitchFamily="34" charset="-120"/>
              </a:rPr>
              <a:t>التدرّب مع عملاء حقيقيين عبر شركاء مجتمعيين يرتّبهم البرنامج</a:t>
            </a:r>
            <a:endParaRPr lang="ar-SA" sz="1400" dirty="0"/>
          </a:p>
        </p:txBody>
      </p:sp>
      <p:sp>
        <p:nvSpPr>
          <p:cNvPr id="11" name="Shape 8"/>
          <p:cNvSpPr/>
          <p:nvPr/>
        </p:nvSpPr>
        <p:spPr>
          <a:xfrm>
            <a:off x="4007815" y="1874520"/>
            <a:ext cx="3703320" cy="4343400"/>
          </a:xfrm>
          <a:prstGeom prst="roundRect">
            <a:avLst>
              <a:gd name="adj" fmla="val 2963"/>
            </a:avLst>
          </a:prstGeom>
          <a:solidFill>
            <a:srgbClr val="EAF5E8"/>
          </a:solidFill>
          <a:ln w="12700">
            <a:solidFill>
              <a:srgbClr val="EAF5E8"/>
            </a:solidFill>
            <a:prstDash val="solid"/>
          </a:ln>
        </p:spPr>
      </p:sp>
      <p:sp>
        <p:nvSpPr>
          <p:cNvPr id="12" name="Text 9"/>
          <p:cNvSpPr txBox="1"/>
          <p:nvPr/>
        </p:nvSpPr>
        <p:spPr>
          <a:xfrm>
            <a:off x="4282135" y="2148840"/>
            <a:ext cx="3108960" cy="822960"/>
          </a:xfrm>
          <a:prstGeom prst="rect">
            <a:avLst/>
          </a:prstGeom>
          <a:noFill/>
          <a:ln/>
        </p:spPr>
        <p:txBody>
          <a:bodyPr wrap="square" lIns="0" tIns="0" rIns="0" bIns="0" rtlCol="0" anchor="t"/>
          <a:lstStyle/>
          <a:p>
            <a:pPr algn="r" indent="0" marL="0">
              <a:lnSpc>
                <a:spcPct val="100000"/>
              </a:lnSpc>
              <a:buNone/>
            </a:pPr>
            <a:r>
              <a:rPr lang="ar-SA" altLang="en-US" sz="4600" b="1" dirty="0">
                <a:solidFill>
                  <a:srgbClr val="1A1A1A"/>
                </a:solidFill>
                <a:latin typeface="Cairo" pitchFamily="34" charset="0"/>
                <a:ea typeface="Cairo" pitchFamily="34" charset="-122"/>
                <a:cs typeface="Cairo" pitchFamily="34" charset="-120"/>
              </a:rPr>
              <a:t>18–19</a:t>
            </a:r>
            <a:endParaRPr lang="ar-SA" sz="4600" dirty="0"/>
          </a:p>
        </p:txBody>
      </p:sp>
      <p:sp>
        <p:nvSpPr>
          <p:cNvPr id="13" name="Text 10"/>
          <p:cNvSpPr txBox="1"/>
          <p:nvPr/>
        </p:nvSpPr>
        <p:spPr>
          <a:xfrm>
            <a:off x="4282135" y="2971800"/>
            <a:ext cx="3108960" cy="36576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3C3E3B"/>
                </a:solidFill>
                <a:latin typeface="IBM Plex Sans Arabic" pitchFamily="34" charset="0"/>
                <a:ea typeface="IBM Plex Sans Arabic" pitchFamily="34" charset="-122"/>
                <a:cs typeface="IBM Plex Sans Arabic" pitchFamily="34" charset="-120"/>
              </a:rPr>
              <a:t>المسار الأساسي + مسار 18+</a:t>
            </a:r>
            <a:endParaRPr lang="ar-SA" sz="1500" dirty="0"/>
          </a:p>
        </p:txBody>
      </p:sp>
      <p:sp>
        <p:nvSpPr>
          <p:cNvPr id="14" name="Text 11"/>
          <p:cNvSpPr txBox="1"/>
          <p:nvPr/>
        </p:nvSpPr>
        <p:spPr>
          <a:xfrm>
            <a:off x="4282135" y="3520440"/>
            <a:ext cx="3108960" cy="2560320"/>
          </a:xfrm>
          <a:prstGeom prst="rect">
            <a:avLst/>
          </a:prstGeom>
          <a:noFill/>
          <a:ln/>
        </p:spPr>
        <p:txBody>
          <a:bodyPr wrap="square" lIns="0" tIns="0" rIns="0" bIns="0" rtlCol="0" anchor="t"/>
          <a:lstStyle/>
          <a:p>
            <a:pPr rtl="1" algn="r" marL="177800" indent="-177800">
              <a:lnSpc>
                <a:spcPct val="100000"/>
              </a:lnSpc>
              <a:spcAft>
                <a:spcPts val="800"/>
              </a:spcAft>
              <a:buSzPct val="100000"/>
              <a:buChar char="•"/>
            </a:pPr>
            <a:r>
              <a:rPr lang="ar-SA" altLang="en-US" sz="1400" dirty="0">
                <a:solidFill>
                  <a:srgbClr val="1A1A1A"/>
                </a:solidFill>
                <a:latin typeface="IBM Plex Sans Arabic" pitchFamily="34" charset="0"/>
                <a:ea typeface="IBM Plex Sans Arabic" pitchFamily="34" charset="-122"/>
                <a:cs typeface="IBM Plex Sans Arabic" pitchFamily="34" charset="-120"/>
              </a:rPr>
              <a:t>المنهاج نفسه وعدد الساعات نفسه</a:t>
            </a:r>
            <a:endParaRPr lang="ar-SA" sz="1400" dirty="0"/>
          </a:p>
          <a:p>
            <a:pPr rtl="1" algn="r" marL="177800" indent="-177800">
              <a:lnSpc>
                <a:spcPct val="100000"/>
              </a:lnSpc>
              <a:spcAft>
                <a:spcPts val="800"/>
              </a:spcAft>
              <a:buSzPct val="100000"/>
              <a:buChar char="•"/>
            </a:pPr>
            <a:r>
              <a:rPr lang="ar-SA" altLang="en-US" sz="1400" dirty="0">
                <a:solidFill>
                  <a:srgbClr val="1A1A1A"/>
                </a:solidFill>
                <a:latin typeface="IBM Plex Sans Arabic" pitchFamily="34" charset="0"/>
                <a:ea typeface="IBM Plex Sans Arabic" pitchFamily="34" charset="-122"/>
                <a:cs typeface="IBM Plex Sans Arabic" pitchFamily="34" charset="-120"/>
              </a:rPr>
              <a:t>تطبيق عملي على أدوات 18+ حين يوفّر البرنامج الوصول إليها</a:t>
            </a:r>
            <a:endParaRPr lang="ar-SA" sz="1400" dirty="0"/>
          </a:p>
          <a:p>
            <a:pPr rtl="1" algn="r" marL="177800" indent="-177800">
              <a:lnSpc>
                <a:spcPct val="100000"/>
              </a:lnSpc>
              <a:spcAft>
                <a:spcPts val="800"/>
              </a:spcAft>
              <a:buSzPct val="100000"/>
              <a:buChar char="•"/>
            </a:pPr>
            <a:r>
              <a:rPr lang="ar-SA" altLang="en-US" sz="1400" dirty="0">
                <a:solidFill>
                  <a:srgbClr val="1A1A1A"/>
                </a:solidFill>
                <a:latin typeface="IBM Plex Sans Arabic" pitchFamily="34" charset="0"/>
                <a:ea typeface="IBM Plex Sans Arabic" pitchFamily="34" charset="-122"/>
                <a:cs typeface="IBM Plex Sans Arabic" pitchFamily="34" charset="-120"/>
              </a:rPr>
              <a:t>تدريب أعمق اختياري على الفيديو والصوت بالذكاء الاصطناعي</a:t>
            </a:r>
            <a:endParaRPr lang="ar-SA" sz="1400" dirty="0"/>
          </a:p>
          <a:p>
            <a:pPr rtl="1" algn="r" marL="177800" indent="-177800">
              <a:lnSpc>
                <a:spcPct val="100000"/>
              </a:lnSpc>
              <a:spcAft>
                <a:spcPts val="800"/>
              </a:spcAft>
              <a:buSzPct val="100000"/>
              <a:buChar char="•"/>
            </a:pPr>
            <a:r>
              <a:rPr lang="ar-SA" altLang="en-US" sz="1400" dirty="0">
                <a:solidFill>
                  <a:srgbClr val="1A1A1A"/>
                </a:solidFill>
                <a:latin typeface="IBM Plex Sans Arabic" pitchFamily="34" charset="0"/>
                <a:ea typeface="IBM Plex Sans Arabic" pitchFamily="34" charset="-122"/>
                <a:cs typeface="IBM Plex Sans Arabic" pitchFamily="34" charset="-120"/>
              </a:rPr>
              <a:t>إرشاد لفتح حسابات العمل الحر الخاصة بهم</a:t>
            </a:r>
            <a:endParaRPr lang="ar-SA" sz="1400" dirty="0"/>
          </a:p>
        </p:txBody>
      </p:sp>
      <p:sp>
        <p:nvSpPr>
          <p:cNvPr id="15" name="Shape 12"/>
          <p:cNvSpPr/>
          <p:nvPr/>
        </p:nvSpPr>
        <p:spPr>
          <a:xfrm>
            <a:off x="3120847" y="1965960"/>
            <a:ext cx="566928" cy="566928"/>
          </a:xfrm>
          <a:prstGeom prst="ellipse">
            <a:avLst/>
          </a:prstGeom>
          <a:solidFill>
            <a:srgbClr val="4DB449"/>
          </a:solidFill>
          <a:ln w="6350">
            <a:solidFill>
              <a:srgbClr val="4DB449"/>
            </a:solidFill>
            <a:prstDash val="solid"/>
          </a:ln>
        </p:spPr>
      </p:sp>
      <p:pic>
        <p:nvPicPr>
          <p:cNvPr id="16" name="Image 1" descr="preencoded.png">    </p:cNvPr>
          <p:cNvPicPr>
            <a:picLocks noChangeAspect="1"/>
          </p:cNvPicPr>
          <p:nvPr/>
        </p:nvPicPr>
        <p:blipFill>
          <a:blip r:embed="rId2"/>
          <a:stretch>
            <a:fillRect/>
          </a:stretch>
        </p:blipFill>
        <p:spPr>
          <a:xfrm>
            <a:off x="3248863" y="2093976"/>
            <a:ext cx="310896" cy="310896"/>
          </a:xfrm>
          <a:prstGeom prst="rect">
            <a:avLst/>
          </a:prstGeom>
        </p:spPr>
      </p:pic>
      <p:sp>
        <p:nvSpPr>
          <p:cNvPr id="17" name="Text 13"/>
          <p:cNvSpPr txBox="1"/>
          <p:nvPr/>
        </p:nvSpPr>
        <p:spPr>
          <a:xfrm>
            <a:off x="551383" y="1947672"/>
            <a:ext cx="2404872" cy="32004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1A1A1A"/>
                </a:solidFill>
                <a:latin typeface="Cairo" pitchFamily="34" charset="0"/>
                <a:ea typeface="Cairo" pitchFamily="34" charset="-122"/>
                <a:cs typeface="Cairo" pitchFamily="34" charset="-120"/>
              </a:rPr>
              <a:t>الخبرة السابقة</a:t>
            </a:r>
            <a:endParaRPr lang="ar-SA" sz="1500" dirty="0"/>
          </a:p>
        </p:txBody>
      </p:sp>
      <p:sp>
        <p:nvSpPr>
          <p:cNvPr id="18" name="Text 14"/>
          <p:cNvSpPr txBox="1"/>
          <p:nvPr/>
        </p:nvSpPr>
        <p:spPr>
          <a:xfrm>
            <a:off x="551383" y="2295144"/>
            <a:ext cx="2404872" cy="914400"/>
          </a:xfrm>
          <a:prstGeom prst="rect">
            <a:avLst/>
          </a:prstGeom>
          <a:noFill/>
          <a:ln/>
        </p:spPr>
        <p:txBody>
          <a:bodyPr wrap="square" lIns="0" tIns="0" rIns="0" bIns="0" rtlCol="0" anchor="t"/>
          <a:lstStyle/>
          <a:p>
            <a:pPr rtl="1" algn="r" indent="0" marL="0">
              <a:lnSpc>
                <a:spcPct val="100000"/>
              </a:lnSpc>
              <a:buNone/>
            </a:pPr>
            <a:r>
              <a:rPr lang="ar-SA" altLang="en-US" sz="1400" dirty="0">
                <a:solidFill>
                  <a:srgbClr val="3C3E3B"/>
                </a:solidFill>
                <a:latin typeface="IBM Plex Sans Arabic" pitchFamily="34" charset="0"/>
                <a:ea typeface="IBM Plex Sans Arabic" pitchFamily="34" charset="-122"/>
                <a:cs typeface="IBM Plex Sans Arabic" pitchFamily="34" charset="-120"/>
              </a:rPr>
              <a:t>لا يُشترط شيء: حاسوب محمول، وفضول، واستعداد للتجربة</a:t>
            </a:r>
            <a:endParaRPr lang="ar-SA" sz="1400" dirty="0"/>
          </a:p>
        </p:txBody>
      </p:sp>
      <p:sp>
        <p:nvSpPr>
          <p:cNvPr id="19" name="Shape 15"/>
          <p:cNvSpPr/>
          <p:nvPr/>
        </p:nvSpPr>
        <p:spPr>
          <a:xfrm>
            <a:off x="3120847" y="3429000"/>
            <a:ext cx="566928" cy="566928"/>
          </a:xfrm>
          <a:prstGeom prst="ellipse">
            <a:avLst/>
          </a:prstGeom>
          <a:solidFill>
            <a:srgbClr val="4DB449"/>
          </a:solidFill>
          <a:ln w="6350">
            <a:solidFill>
              <a:srgbClr val="4DB449"/>
            </a:solidFill>
            <a:prstDash val="solid"/>
          </a:ln>
        </p:spPr>
      </p:sp>
      <p:pic>
        <p:nvPicPr>
          <p:cNvPr id="20" name="Image 2" descr="preencoded.png">    </p:cNvPr>
          <p:cNvPicPr>
            <a:picLocks noChangeAspect="1"/>
          </p:cNvPicPr>
          <p:nvPr/>
        </p:nvPicPr>
        <p:blipFill>
          <a:blip r:embed="rId3"/>
          <a:stretch>
            <a:fillRect/>
          </a:stretch>
        </p:blipFill>
        <p:spPr>
          <a:xfrm>
            <a:off x="3248863" y="3557016"/>
            <a:ext cx="310896" cy="310896"/>
          </a:xfrm>
          <a:prstGeom prst="rect">
            <a:avLst/>
          </a:prstGeom>
        </p:spPr>
      </p:pic>
      <p:sp>
        <p:nvSpPr>
          <p:cNvPr id="21" name="Text 16"/>
          <p:cNvSpPr txBox="1"/>
          <p:nvPr/>
        </p:nvSpPr>
        <p:spPr>
          <a:xfrm>
            <a:off x="551383" y="3410712"/>
            <a:ext cx="2404872" cy="32004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1A1A1A"/>
                </a:solidFill>
                <a:latin typeface="Cairo" pitchFamily="34" charset="0"/>
                <a:ea typeface="Cairo" pitchFamily="34" charset="-122"/>
                <a:cs typeface="Cairo" pitchFamily="34" charset="-120"/>
              </a:rPr>
              <a:t>حجم المجموعة</a:t>
            </a:r>
            <a:endParaRPr lang="ar-SA" sz="1500" dirty="0"/>
          </a:p>
        </p:txBody>
      </p:sp>
      <p:sp>
        <p:nvSpPr>
          <p:cNvPr id="22" name="Text 17"/>
          <p:cNvSpPr txBox="1"/>
          <p:nvPr/>
        </p:nvSpPr>
        <p:spPr>
          <a:xfrm>
            <a:off x="551383" y="3758184"/>
            <a:ext cx="2404872" cy="914400"/>
          </a:xfrm>
          <a:prstGeom prst="rect">
            <a:avLst/>
          </a:prstGeom>
          <a:noFill/>
          <a:ln/>
        </p:spPr>
        <p:txBody>
          <a:bodyPr wrap="square" lIns="0" tIns="0" rIns="0" bIns="0" rtlCol="0" anchor="t"/>
          <a:lstStyle/>
          <a:p>
            <a:pPr rtl="1" algn="r" indent="0" marL="0">
              <a:lnSpc>
                <a:spcPct val="100000"/>
              </a:lnSpc>
              <a:buNone/>
            </a:pPr>
            <a:r>
              <a:rPr lang="ar-SA" altLang="en-US" sz="1400" dirty="0">
                <a:solidFill>
                  <a:srgbClr val="3C3E3B"/>
                </a:solidFill>
                <a:latin typeface="IBM Plex Sans Arabic" pitchFamily="34" charset="0"/>
                <a:ea typeface="IBM Plex Sans Arabic" pitchFamily="34" charset="-122"/>
                <a:cs typeface="IBM Plex Sans Arabic" pitchFamily="34" charset="-120"/>
              </a:rPr>
              <a:t>20 طالباً وطالبة (مقترح)</a:t>
            </a:r>
            <a:endParaRPr lang="ar-SA" sz="1400" dirty="0"/>
          </a:p>
        </p:txBody>
      </p:sp>
      <p:sp>
        <p:nvSpPr>
          <p:cNvPr id="23" name="Shape 18"/>
          <p:cNvSpPr/>
          <p:nvPr/>
        </p:nvSpPr>
        <p:spPr>
          <a:xfrm>
            <a:off x="3120847" y="4892040"/>
            <a:ext cx="566928" cy="566928"/>
          </a:xfrm>
          <a:prstGeom prst="ellipse">
            <a:avLst/>
          </a:prstGeom>
          <a:solidFill>
            <a:srgbClr val="4DB449"/>
          </a:solidFill>
          <a:ln w="6350">
            <a:solidFill>
              <a:srgbClr val="4DB449"/>
            </a:solidFill>
            <a:prstDash val="solid"/>
          </a:ln>
        </p:spPr>
      </p:sp>
      <p:pic>
        <p:nvPicPr>
          <p:cNvPr id="24" name="Image 3" descr="preencoded.png">    </p:cNvPr>
          <p:cNvPicPr>
            <a:picLocks noChangeAspect="1"/>
          </p:cNvPicPr>
          <p:nvPr/>
        </p:nvPicPr>
        <p:blipFill>
          <a:blip r:embed="rId4"/>
          <a:stretch>
            <a:fillRect/>
          </a:stretch>
        </p:blipFill>
        <p:spPr>
          <a:xfrm>
            <a:off x="3248863" y="5020056"/>
            <a:ext cx="310896" cy="310896"/>
          </a:xfrm>
          <a:prstGeom prst="rect">
            <a:avLst/>
          </a:prstGeom>
        </p:spPr>
      </p:pic>
      <p:sp>
        <p:nvSpPr>
          <p:cNvPr id="25" name="Text 19"/>
          <p:cNvSpPr txBox="1"/>
          <p:nvPr/>
        </p:nvSpPr>
        <p:spPr>
          <a:xfrm>
            <a:off x="551383" y="4873752"/>
            <a:ext cx="2404872" cy="32004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1A1A1A"/>
                </a:solidFill>
                <a:latin typeface="Cairo" pitchFamily="34" charset="0"/>
                <a:ea typeface="Cairo" pitchFamily="34" charset="-122"/>
                <a:cs typeface="Cairo" pitchFamily="34" charset="-120"/>
              </a:rPr>
              <a:t>اللغة</a:t>
            </a:r>
            <a:endParaRPr lang="ar-SA" sz="1500" dirty="0"/>
          </a:p>
        </p:txBody>
      </p:sp>
      <p:sp>
        <p:nvSpPr>
          <p:cNvPr id="26" name="Text 20"/>
          <p:cNvSpPr txBox="1"/>
          <p:nvPr/>
        </p:nvSpPr>
        <p:spPr>
          <a:xfrm>
            <a:off x="551383" y="5221224"/>
            <a:ext cx="2404872" cy="914400"/>
          </a:xfrm>
          <a:prstGeom prst="rect">
            <a:avLst/>
          </a:prstGeom>
          <a:noFill/>
          <a:ln/>
        </p:spPr>
        <p:txBody>
          <a:bodyPr wrap="square" lIns="0" tIns="0" rIns="0" bIns="0" rtlCol="0" anchor="t"/>
          <a:lstStyle/>
          <a:p>
            <a:pPr rtl="1" algn="r" indent="0" marL="0">
              <a:lnSpc>
                <a:spcPct val="100000"/>
              </a:lnSpc>
              <a:buNone/>
            </a:pPr>
            <a:r>
              <a:rPr lang="ar-SA" altLang="en-US" sz="1400" dirty="0">
                <a:solidFill>
                  <a:srgbClr val="3C3E3B"/>
                </a:solidFill>
                <a:latin typeface="IBM Plex Sans Arabic" pitchFamily="34" charset="0"/>
                <a:ea typeface="IBM Plex Sans Arabic" pitchFamily="34" charset="-122"/>
                <a:cs typeface="IBM Plex Sans Arabic" pitchFamily="34" charset="-120"/>
              </a:rPr>
              <a:t>التدريب بالعربية (مقترح)، ومعظم واجهات الأدوات بالإنجليزية</a:t>
            </a:r>
            <a:endParaRPr lang="ar-SA"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3"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4</a:t>
            </a:r>
            <a:endParaRPr lang="ar-SA" sz="900" dirty="0"/>
          </a:p>
        </p:txBody>
      </p:sp>
      <p:pic>
        <p:nvPicPr>
          <p:cNvPr id="4" name="Image 0" descr="/tmp/claude-0/-home-user-Ahmadhj4/8033014c-23ac-596c-be21-c24cf3e8b75e/scratchpad/build/assets/green-circle-logo.png">    </p:cNvPr>
          <p:cNvPicPr>
            <a:picLocks noChangeAspect="1"/>
          </p:cNvPicPr>
          <p:nvPr/>
        </p:nvPicPr>
        <p:blipFill>
          <a:blip r:embed="rId1"/>
          <a:stretch>
            <a:fillRect/>
          </a:stretch>
        </p:blipFill>
        <p:spPr>
          <a:xfrm>
            <a:off x="548640" y="384048"/>
            <a:ext cx="1417320" cy="503691"/>
          </a:xfrm>
          <a:prstGeom prst="rect">
            <a:avLst/>
          </a:prstGeom>
        </p:spPr>
      </p:pic>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03 · البرنامج في سطور</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FFFFFF"/>
                </a:solidFill>
                <a:latin typeface="Cairo" pitchFamily="34" charset="0"/>
                <a:ea typeface="Cairo" pitchFamily="34" charset="-122"/>
                <a:cs typeface="Cairo" pitchFamily="34" charset="-120"/>
              </a:rPr>
              <a:t>قصير بما يكفي لإنهائه في فصل واحد، وطويل بما يكفي لبناء مهارة حقيقية</a:t>
            </a:r>
            <a:endParaRPr lang="ar-SA" sz="2600" dirty="0"/>
          </a:p>
        </p:txBody>
      </p:sp>
      <p:sp>
        <p:nvSpPr>
          <p:cNvPr id="7" name="Text 4"/>
          <p:cNvSpPr txBox="1"/>
          <p:nvPr/>
        </p:nvSpPr>
        <p:spPr>
          <a:xfrm>
            <a:off x="8168335" y="2011680"/>
            <a:ext cx="3474720" cy="1051560"/>
          </a:xfrm>
          <a:prstGeom prst="rect">
            <a:avLst/>
          </a:prstGeom>
          <a:noFill/>
          <a:ln/>
        </p:spPr>
        <p:txBody>
          <a:bodyPr wrap="square" lIns="0" tIns="0" rIns="0" bIns="0" rtlCol="0" anchor="b"/>
          <a:lstStyle/>
          <a:p>
            <a:pPr rtl="1" algn="r" indent="0" marL="0">
              <a:lnSpc>
                <a:spcPct val="100000"/>
              </a:lnSpc>
              <a:buNone/>
            </a:pPr>
            <a:r>
              <a:rPr lang="ar-SA" altLang="en-US" sz="6400" b="1" dirty="0">
                <a:solidFill>
                  <a:srgbClr val="A6D04B"/>
                </a:solidFill>
                <a:latin typeface="Cairo" pitchFamily="34" charset="0"/>
                <a:ea typeface="Cairo" pitchFamily="34" charset="-122"/>
                <a:cs typeface="Cairo" pitchFamily="34" charset="-120"/>
              </a:rPr>
              <a:t>96</a:t>
            </a:r>
            <a:endParaRPr lang="ar-SA" sz="6400" dirty="0"/>
          </a:p>
        </p:txBody>
      </p:sp>
      <p:sp>
        <p:nvSpPr>
          <p:cNvPr id="8" name="Text 5"/>
          <p:cNvSpPr txBox="1"/>
          <p:nvPr/>
        </p:nvSpPr>
        <p:spPr>
          <a:xfrm>
            <a:off x="8168335" y="3108960"/>
            <a:ext cx="3474720" cy="411480"/>
          </a:xfrm>
          <a:prstGeom prst="rect">
            <a:avLst/>
          </a:prstGeom>
          <a:noFill/>
          <a:ln/>
        </p:spPr>
        <p:txBody>
          <a:bodyPr wrap="square" lIns="0" tIns="0" rIns="0" bIns="0" rtlCol="0" anchor="t"/>
          <a:lstStyle/>
          <a:p>
            <a:pPr rtl="1" algn="r" indent="0" marL="0">
              <a:lnSpc>
                <a:spcPct val="100000"/>
              </a:lnSpc>
              <a:buNone/>
            </a:pPr>
            <a:r>
              <a:rPr lang="ar-SA" altLang="en-US" sz="1700" dirty="0">
                <a:solidFill>
                  <a:srgbClr val="FFFFFF"/>
                </a:solidFill>
                <a:latin typeface="IBM Plex Sans Arabic" pitchFamily="34" charset="0"/>
                <a:ea typeface="IBM Plex Sans Arabic" pitchFamily="34" charset="-122"/>
                <a:cs typeface="IBM Plex Sans Arabic" pitchFamily="34" charset="-120"/>
              </a:rPr>
              <a:t>ساعة تدريبية</a:t>
            </a:r>
            <a:endParaRPr lang="ar-SA" sz="1700" dirty="0"/>
          </a:p>
        </p:txBody>
      </p:sp>
      <p:sp>
        <p:nvSpPr>
          <p:cNvPr id="9" name="Text 6"/>
          <p:cNvSpPr txBox="1"/>
          <p:nvPr/>
        </p:nvSpPr>
        <p:spPr>
          <a:xfrm>
            <a:off x="4419295" y="2011680"/>
            <a:ext cx="3474720" cy="1051560"/>
          </a:xfrm>
          <a:prstGeom prst="rect">
            <a:avLst/>
          </a:prstGeom>
          <a:noFill/>
          <a:ln/>
        </p:spPr>
        <p:txBody>
          <a:bodyPr wrap="square" lIns="0" tIns="0" rIns="0" bIns="0" rtlCol="0" anchor="b"/>
          <a:lstStyle/>
          <a:p>
            <a:pPr rtl="1" algn="r" indent="0" marL="0">
              <a:lnSpc>
                <a:spcPct val="100000"/>
              </a:lnSpc>
              <a:buNone/>
            </a:pPr>
            <a:r>
              <a:rPr lang="ar-SA" altLang="en-US" sz="6400" b="1" dirty="0">
                <a:solidFill>
                  <a:srgbClr val="4DB449"/>
                </a:solidFill>
                <a:latin typeface="Cairo" pitchFamily="34" charset="0"/>
                <a:ea typeface="Cairo" pitchFamily="34" charset="-122"/>
                <a:cs typeface="Cairo" pitchFamily="34" charset="-120"/>
              </a:rPr>
              <a:t>32</a:t>
            </a:r>
            <a:endParaRPr lang="ar-SA" sz="6400" dirty="0"/>
          </a:p>
        </p:txBody>
      </p:sp>
      <p:sp>
        <p:nvSpPr>
          <p:cNvPr id="10" name="Text 7"/>
          <p:cNvSpPr txBox="1"/>
          <p:nvPr/>
        </p:nvSpPr>
        <p:spPr>
          <a:xfrm>
            <a:off x="4419295" y="3108960"/>
            <a:ext cx="3474720" cy="411480"/>
          </a:xfrm>
          <a:prstGeom prst="rect">
            <a:avLst/>
          </a:prstGeom>
          <a:noFill/>
          <a:ln/>
        </p:spPr>
        <p:txBody>
          <a:bodyPr wrap="square" lIns="0" tIns="0" rIns="0" bIns="0" rtlCol="0" anchor="t"/>
          <a:lstStyle/>
          <a:p>
            <a:pPr rtl="1" algn="r" indent="0" marL="0">
              <a:lnSpc>
                <a:spcPct val="100000"/>
              </a:lnSpc>
              <a:buNone/>
            </a:pPr>
            <a:r>
              <a:rPr lang="ar-SA" altLang="en-US" sz="1700" dirty="0">
                <a:solidFill>
                  <a:srgbClr val="FFFFFF"/>
                </a:solidFill>
                <a:latin typeface="IBM Plex Sans Arabic" pitchFamily="34" charset="0"/>
                <a:ea typeface="IBM Plex Sans Arabic" pitchFamily="34" charset="-122"/>
                <a:cs typeface="IBM Plex Sans Arabic" pitchFamily="34" charset="-120"/>
              </a:rPr>
              <a:t>جلسة، مدة كل منها 3 ساعات</a:t>
            </a:r>
            <a:endParaRPr lang="ar-SA" sz="1700" dirty="0"/>
          </a:p>
        </p:txBody>
      </p:sp>
      <p:sp>
        <p:nvSpPr>
          <p:cNvPr id="11" name="Text 8"/>
          <p:cNvSpPr txBox="1"/>
          <p:nvPr/>
        </p:nvSpPr>
        <p:spPr>
          <a:xfrm>
            <a:off x="670255" y="2011680"/>
            <a:ext cx="3474720" cy="1051560"/>
          </a:xfrm>
          <a:prstGeom prst="rect">
            <a:avLst/>
          </a:prstGeom>
          <a:noFill/>
          <a:ln/>
        </p:spPr>
        <p:txBody>
          <a:bodyPr wrap="square" lIns="0" tIns="0" rIns="0" bIns="0" rtlCol="0" anchor="b"/>
          <a:lstStyle/>
          <a:p>
            <a:pPr rtl="1" algn="r" indent="0" marL="0">
              <a:lnSpc>
                <a:spcPct val="100000"/>
              </a:lnSpc>
              <a:buNone/>
            </a:pPr>
            <a:r>
              <a:rPr lang="ar-SA" altLang="en-US" sz="6400" b="1" dirty="0">
                <a:solidFill>
                  <a:srgbClr val="A6D04B"/>
                </a:solidFill>
                <a:latin typeface="Cairo" pitchFamily="34" charset="0"/>
                <a:ea typeface="Cairo" pitchFamily="34" charset="-122"/>
                <a:cs typeface="Cairo" pitchFamily="34" charset="-120"/>
              </a:rPr>
              <a:t>11</a:t>
            </a:r>
            <a:endParaRPr lang="ar-SA" sz="6400" dirty="0"/>
          </a:p>
        </p:txBody>
      </p:sp>
      <p:sp>
        <p:nvSpPr>
          <p:cNvPr id="12" name="Text 9"/>
          <p:cNvSpPr txBox="1"/>
          <p:nvPr/>
        </p:nvSpPr>
        <p:spPr>
          <a:xfrm>
            <a:off x="670255" y="3108960"/>
            <a:ext cx="3474720" cy="411480"/>
          </a:xfrm>
          <a:prstGeom prst="rect">
            <a:avLst/>
          </a:prstGeom>
          <a:noFill/>
          <a:ln/>
        </p:spPr>
        <p:txBody>
          <a:bodyPr wrap="square" lIns="0" tIns="0" rIns="0" bIns="0" rtlCol="0" anchor="t"/>
          <a:lstStyle/>
          <a:p>
            <a:pPr rtl="1" algn="r" indent="0" marL="0">
              <a:lnSpc>
                <a:spcPct val="100000"/>
              </a:lnSpc>
              <a:buNone/>
            </a:pPr>
            <a:r>
              <a:rPr lang="ar-SA" altLang="en-US" sz="1700" dirty="0">
                <a:solidFill>
                  <a:srgbClr val="FFFFFF"/>
                </a:solidFill>
                <a:latin typeface="IBM Plex Sans Arabic" pitchFamily="34" charset="0"/>
                <a:ea typeface="IBM Plex Sans Arabic" pitchFamily="34" charset="-122"/>
                <a:cs typeface="IBM Plex Sans Arabic" pitchFamily="34" charset="-120"/>
              </a:rPr>
              <a:t>أسبوعاً + أسبوع احتياطي</a:t>
            </a:r>
            <a:endParaRPr lang="ar-SA" sz="1700" dirty="0"/>
          </a:p>
        </p:txBody>
      </p:sp>
      <p:sp>
        <p:nvSpPr>
          <p:cNvPr id="13" name="Text 10"/>
          <p:cNvSpPr txBox="1"/>
          <p:nvPr/>
        </p:nvSpPr>
        <p:spPr>
          <a:xfrm>
            <a:off x="8168335" y="3931920"/>
            <a:ext cx="3474720" cy="1051560"/>
          </a:xfrm>
          <a:prstGeom prst="rect">
            <a:avLst/>
          </a:prstGeom>
          <a:noFill/>
          <a:ln/>
        </p:spPr>
        <p:txBody>
          <a:bodyPr wrap="square" lIns="0" tIns="0" rIns="0" bIns="0" rtlCol="0" anchor="b"/>
          <a:lstStyle/>
          <a:p>
            <a:pPr rtl="1" algn="r" indent="0" marL="0">
              <a:lnSpc>
                <a:spcPct val="100000"/>
              </a:lnSpc>
              <a:buNone/>
            </a:pPr>
            <a:r>
              <a:rPr lang="ar-SA" altLang="en-US" sz="6400" b="1" dirty="0">
                <a:solidFill>
                  <a:srgbClr val="4DB449"/>
                </a:solidFill>
                <a:latin typeface="Cairo" pitchFamily="34" charset="0"/>
                <a:ea typeface="Cairo" pitchFamily="34" charset="-122"/>
                <a:cs typeface="Cairo" pitchFamily="34" charset="-120"/>
              </a:rPr>
              <a:t>70%</a:t>
            </a:r>
            <a:endParaRPr lang="ar-SA" sz="6400" dirty="0"/>
          </a:p>
        </p:txBody>
      </p:sp>
      <p:sp>
        <p:nvSpPr>
          <p:cNvPr id="14" name="Text 11"/>
          <p:cNvSpPr txBox="1"/>
          <p:nvPr/>
        </p:nvSpPr>
        <p:spPr>
          <a:xfrm>
            <a:off x="8168335" y="5029200"/>
            <a:ext cx="3474720" cy="411480"/>
          </a:xfrm>
          <a:prstGeom prst="rect">
            <a:avLst/>
          </a:prstGeom>
          <a:noFill/>
          <a:ln/>
        </p:spPr>
        <p:txBody>
          <a:bodyPr wrap="square" lIns="0" tIns="0" rIns="0" bIns="0" rtlCol="0" anchor="t"/>
          <a:lstStyle/>
          <a:p>
            <a:pPr rtl="1" algn="r" indent="0" marL="0">
              <a:lnSpc>
                <a:spcPct val="100000"/>
              </a:lnSpc>
              <a:buNone/>
            </a:pPr>
            <a:r>
              <a:rPr lang="ar-SA" altLang="en-US" sz="1700" dirty="0">
                <a:solidFill>
                  <a:srgbClr val="FFFFFF"/>
                </a:solidFill>
                <a:latin typeface="IBM Plex Sans Arabic" pitchFamily="34" charset="0"/>
                <a:ea typeface="IBM Plex Sans Arabic" pitchFamily="34" charset="-122"/>
                <a:cs typeface="IBM Plex Sans Arabic" pitchFamily="34" charset="-120"/>
              </a:rPr>
              <a:t>تطبيق عملي</a:t>
            </a:r>
            <a:endParaRPr lang="ar-SA" sz="1700" dirty="0"/>
          </a:p>
        </p:txBody>
      </p:sp>
      <p:sp>
        <p:nvSpPr>
          <p:cNvPr id="15" name="Text 12"/>
          <p:cNvSpPr txBox="1"/>
          <p:nvPr/>
        </p:nvSpPr>
        <p:spPr>
          <a:xfrm>
            <a:off x="4419295" y="3931920"/>
            <a:ext cx="3474720" cy="1051560"/>
          </a:xfrm>
          <a:prstGeom prst="rect">
            <a:avLst/>
          </a:prstGeom>
          <a:noFill/>
          <a:ln/>
        </p:spPr>
        <p:txBody>
          <a:bodyPr wrap="square" lIns="0" tIns="0" rIns="0" bIns="0" rtlCol="0" anchor="b"/>
          <a:lstStyle/>
          <a:p>
            <a:pPr rtl="1" algn="r" indent="0" marL="0">
              <a:lnSpc>
                <a:spcPct val="100000"/>
              </a:lnSpc>
              <a:buNone/>
            </a:pPr>
            <a:r>
              <a:rPr lang="ar-SA" altLang="en-US" sz="6400" b="1" dirty="0">
                <a:solidFill>
                  <a:srgbClr val="A6D04B"/>
                </a:solidFill>
                <a:latin typeface="Cairo" pitchFamily="34" charset="0"/>
                <a:ea typeface="Cairo" pitchFamily="34" charset="-122"/>
                <a:cs typeface="Cairo" pitchFamily="34" charset="-120"/>
              </a:rPr>
              <a:t>11</a:t>
            </a:r>
            <a:endParaRPr lang="ar-SA" sz="6400" dirty="0"/>
          </a:p>
        </p:txBody>
      </p:sp>
      <p:sp>
        <p:nvSpPr>
          <p:cNvPr id="16" name="Text 13"/>
          <p:cNvSpPr txBox="1"/>
          <p:nvPr/>
        </p:nvSpPr>
        <p:spPr>
          <a:xfrm>
            <a:off x="4419295" y="5029200"/>
            <a:ext cx="3474720" cy="411480"/>
          </a:xfrm>
          <a:prstGeom prst="rect">
            <a:avLst/>
          </a:prstGeom>
          <a:noFill/>
          <a:ln/>
        </p:spPr>
        <p:txBody>
          <a:bodyPr wrap="square" lIns="0" tIns="0" rIns="0" bIns="0" rtlCol="0" anchor="t"/>
          <a:lstStyle/>
          <a:p>
            <a:pPr rtl="1" algn="r" indent="0" marL="0">
              <a:lnSpc>
                <a:spcPct val="100000"/>
              </a:lnSpc>
              <a:buNone/>
            </a:pPr>
            <a:r>
              <a:rPr lang="ar-SA" altLang="en-US" sz="1700" dirty="0">
                <a:solidFill>
                  <a:srgbClr val="FFFFFF"/>
                </a:solidFill>
                <a:latin typeface="IBM Plex Sans Arabic" pitchFamily="34" charset="0"/>
                <a:ea typeface="IBM Plex Sans Arabic" pitchFamily="34" charset="-122"/>
                <a:cs typeface="IBM Plex Sans Arabic" pitchFamily="34" charset="-120"/>
              </a:rPr>
              <a:t>وحدة تدريبية</a:t>
            </a:r>
            <a:endParaRPr lang="ar-SA" sz="1700" dirty="0"/>
          </a:p>
        </p:txBody>
      </p:sp>
      <p:sp>
        <p:nvSpPr>
          <p:cNvPr id="17" name="Text 14"/>
          <p:cNvSpPr txBox="1"/>
          <p:nvPr/>
        </p:nvSpPr>
        <p:spPr>
          <a:xfrm>
            <a:off x="670255" y="3931920"/>
            <a:ext cx="3474720" cy="1051560"/>
          </a:xfrm>
          <a:prstGeom prst="rect">
            <a:avLst/>
          </a:prstGeom>
          <a:noFill/>
          <a:ln/>
        </p:spPr>
        <p:txBody>
          <a:bodyPr wrap="square" lIns="0" tIns="0" rIns="0" bIns="0" rtlCol="0" anchor="b"/>
          <a:lstStyle/>
          <a:p>
            <a:pPr rtl="1" algn="r" indent="0" marL="0">
              <a:lnSpc>
                <a:spcPct val="100000"/>
              </a:lnSpc>
              <a:buNone/>
            </a:pPr>
            <a:r>
              <a:rPr lang="ar-SA" altLang="en-US" sz="6400" b="1" dirty="0">
                <a:solidFill>
                  <a:srgbClr val="4DB449"/>
                </a:solidFill>
                <a:latin typeface="Cairo" pitchFamily="34" charset="0"/>
                <a:ea typeface="Cairo" pitchFamily="34" charset="-122"/>
                <a:cs typeface="Cairo" pitchFamily="34" charset="-120"/>
              </a:rPr>
              <a:t>1</a:t>
            </a:r>
            <a:endParaRPr lang="ar-SA" sz="6400" dirty="0"/>
          </a:p>
        </p:txBody>
      </p:sp>
      <p:sp>
        <p:nvSpPr>
          <p:cNvPr id="18" name="Text 15"/>
          <p:cNvSpPr txBox="1"/>
          <p:nvPr/>
        </p:nvSpPr>
        <p:spPr>
          <a:xfrm>
            <a:off x="670255" y="5029200"/>
            <a:ext cx="3474720" cy="411480"/>
          </a:xfrm>
          <a:prstGeom prst="rect">
            <a:avLst/>
          </a:prstGeom>
          <a:noFill/>
          <a:ln/>
        </p:spPr>
        <p:txBody>
          <a:bodyPr wrap="square" lIns="0" tIns="0" rIns="0" bIns="0" rtlCol="0" anchor="t"/>
          <a:lstStyle/>
          <a:p>
            <a:pPr rtl="1" algn="r" indent="0" marL="0">
              <a:lnSpc>
                <a:spcPct val="100000"/>
              </a:lnSpc>
              <a:buNone/>
            </a:pPr>
            <a:r>
              <a:rPr lang="ar-SA" altLang="en-US" sz="1700" dirty="0">
                <a:solidFill>
                  <a:srgbClr val="FFFFFF"/>
                </a:solidFill>
                <a:latin typeface="IBM Plex Sans Arabic" pitchFamily="34" charset="0"/>
                <a:ea typeface="IBM Plex Sans Arabic" pitchFamily="34" charset="-122"/>
                <a:cs typeface="IBM Plex Sans Arabic" pitchFamily="34" charset="-120"/>
              </a:rPr>
              <a:t>مشروع ختامي جماعي</a:t>
            </a:r>
            <a:endParaRPr lang="ar-SA" sz="1700" dirty="0"/>
          </a:p>
        </p:txBody>
      </p:sp>
      <p:sp>
        <p:nvSpPr>
          <p:cNvPr id="19" name="Text 16"/>
          <p:cNvSpPr txBox="1"/>
          <p:nvPr/>
        </p:nvSpPr>
        <p:spPr>
          <a:xfrm>
            <a:off x="670255" y="5989320"/>
            <a:ext cx="10972800" cy="274320"/>
          </a:xfrm>
          <a:prstGeom prst="rect">
            <a:avLst/>
          </a:prstGeom>
          <a:noFill/>
          <a:ln/>
        </p:spPr>
        <p:txBody>
          <a:bodyPr wrap="square" lIns="0" tIns="0" rIns="0" bIns="0" rtlCol="0" anchor="t"/>
          <a:lstStyle/>
          <a:p>
            <a:pPr rtl="1" algn="r" indent="0" marL="0">
              <a:lnSpc>
                <a:spcPct val="100000"/>
              </a:lnSpc>
              <a:buNone/>
            </a:pPr>
            <a:r>
              <a:rPr lang="ar-SA" altLang="en-US" sz="1100" dirty="0">
                <a:solidFill>
                  <a:srgbClr val="8A8C88"/>
                </a:solidFill>
                <a:latin typeface="IBM Plex Sans Arabic" pitchFamily="34" charset="0"/>
                <a:ea typeface="IBM Plex Sans Arabic" pitchFamily="34" charset="-122"/>
                <a:cs typeface="IBM Plex Sans Arabic" pitchFamily="34" charset="-120"/>
              </a:rPr>
              <a:t>جميع الأرقام معايير تصميم مقترحة لهذا البرنامج، وليست نتائج.</a:t>
            </a:r>
            <a:endParaRPr lang="ar-SA"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5</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04 · رحلة الطالب</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كل مهارة تُبنى على المهارة التي قبلها</a:t>
            </a:r>
            <a:endParaRPr lang="ar-SA" sz="2600" dirty="0"/>
          </a:p>
        </p:txBody>
      </p:sp>
      <p:sp>
        <p:nvSpPr>
          <p:cNvPr id="7" name="Text 4"/>
          <p:cNvSpPr txBox="1"/>
          <p:nvPr/>
        </p:nvSpPr>
        <p:spPr>
          <a:xfrm>
            <a:off x="2499055" y="1417320"/>
            <a:ext cx="9144000" cy="365760"/>
          </a:xfrm>
          <a:prstGeom prst="rect">
            <a:avLst/>
          </a:prstGeom>
          <a:noFill/>
          <a:ln/>
        </p:spPr>
        <p:txBody>
          <a:bodyPr wrap="square" lIns="0" tIns="0" rIns="0" bIns="0" rtlCol="0" anchor="t"/>
          <a:lstStyle/>
          <a:p>
            <a:pPr rtl="1" algn="r" indent="0" marL="0">
              <a:lnSpc>
                <a:spcPct val="100000"/>
              </a:lnSpc>
              <a:buNone/>
            </a:pPr>
            <a:r>
              <a:rPr lang="ar-SA" altLang="en-US" sz="1500" dirty="0">
                <a:solidFill>
                  <a:srgbClr val="3C3E3B"/>
                </a:solidFill>
                <a:latin typeface="IBM Plex Sans Arabic" pitchFamily="34" charset="0"/>
                <a:ea typeface="IBM Plex Sans Arabic" pitchFamily="34" charset="-122"/>
                <a:cs typeface="IBM Plex Sans Arabic" pitchFamily="34" charset="-120"/>
              </a:rPr>
              <a:t>يسير الطالب في المسار نفسه الذي تسلكه وكالة صغيرة مع عميل حقيقي.</a:t>
            </a:r>
            <a:endParaRPr lang="ar-SA" sz="1500" dirty="0"/>
          </a:p>
        </p:txBody>
      </p:sp>
      <p:sp>
        <p:nvSpPr>
          <p:cNvPr id="8" name="Shape 5"/>
          <p:cNvSpPr/>
          <p:nvPr/>
        </p:nvSpPr>
        <p:spPr>
          <a:xfrm>
            <a:off x="9533900" y="2377440"/>
            <a:ext cx="1560515" cy="0"/>
          </a:xfrm>
          <a:prstGeom prst="line">
            <a:avLst/>
          </a:prstGeom>
          <a:noFill/>
          <a:ln w="25400">
            <a:solidFill>
              <a:srgbClr val="C9CCC8"/>
            </a:solidFill>
            <a:prstDash val="dash"/>
          </a:ln>
        </p:spPr>
      </p:sp>
      <p:sp>
        <p:nvSpPr>
          <p:cNvPr id="9" name="Shape 6"/>
          <p:cNvSpPr/>
          <p:nvPr/>
        </p:nvSpPr>
        <p:spPr>
          <a:xfrm>
            <a:off x="7424745" y="2377440"/>
            <a:ext cx="1560515" cy="0"/>
          </a:xfrm>
          <a:prstGeom prst="line">
            <a:avLst/>
          </a:prstGeom>
          <a:noFill/>
          <a:ln w="25400">
            <a:solidFill>
              <a:srgbClr val="C9CCC8"/>
            </a:solidFill>
            <a:prstDash val="dash"/>
          </a:ln>
        </p:spPr>
      </p:sp>
      <p:sp>
        <p:nvSpPr>
          <p:cNvPr id="10" name="Shape 7"/>
          <p:cNvSpPr/>
          <p:nvPr/>
        </p:nvSpPr>
        <p:spPr>
          <a:xfrm>
            <a:off x="5315590" y="2377440"/>
            <a:ext cx="1560515" cy="0"/>
          </a:xfrm>
          <a:prstGeom prst="line">
            <a:avLst/>
          </a:prstGeom>
          <a:noFill/>
          <a:ln w="25400">
            <a:solidFill>
              <a:srgbClr val="C9CCC8"/>
            </a:solidFill>
            <a:prstDash val="dash"/>
          </a:ln>
        </p:spPr>
      </p:sp>
      <p:sp>
        <p:nvSpPr>
          <p:cNvPr id="11" name="Shape 8"/>
          <p:cNvSpPr/>
          <p:nvPr/>
        </p:nvSpPr>
        <p:spPr>
          <a:xfrm>
            <a:off x="3206435" y="2377440"/>
            <a:ext cx="1560515" cy="0"/>
          </a:xfrm>
          <a:prstGeom prst="line">
            <a:avLst/>
          </a:prstGeom>
          <a:noFill/>
          <a:ln w="25400">
            <a:solidFill>
              <a:srgbClr val="C9CCC8"/>
            </a:solidFill>
            <a:prstDash val="dash"/>
          </a:ln>
        </p:spPr>
      </p:sp>
      <p:sp>
        <p:nvSpPr>
          <p:cNvPr id="12" name="Shape 9"/>
          <p:cNvSpPr/>
          <p:nvPr/>
        </p:nvSpPr>
        <p:spPr>
          <a:xfrm>
            <a:off x="1097280" y="2377440"/>
            <a:ext cx="1560515" cy="0"/>
          </a:xfrm>
          <a:prstGeom prst="line">
            <a:avLst/>
          </a:prstGeom>
          <a:noFill/>
          <a:ln w="25400">
            <a:solidFill>
              <a:srgbClr val="C9CCC8"/>
            </a:solidFill>
            <a:prstDash val="dash"/>
          </a:ln>
        </p:spPr>
      </p:sp>
      <p:sp>
        <p:nvSpPr>
          <p:cNvPr id="13" name="Shape 10"/>
          <p:cNvSpPr/>
          <p:nvPr/>
        </p:nvSpPr>
        <p:spPr>
          <a:xfrm>
            <a:off x="822960" y="3108960"/>
            <a:ext cx="0" cy="457200"/>
          </a:xfrm>
          <a:prstGeom prst="line">
            <a:avLst/>
          </a:prstGeom>
          <a:noFill/>
          <a:ln w="25400">
            <a:solidFill>
              <a:srgbClr val="C9CCC8"/>
            </a:solidFill>
            <a:prstDash val="dash"/>
          </a:ln>
        </p:spPr>
      </p:sp>
      <p:sp>
        <p:nvSpPr>
          <p:cNvPr id="14" name="Shape 11"/>
          <p:cNvSpPr/>
          <p:nvPr/>
        </p:nvSpPr>
        <p:spPr>
          <a:xfrm>
            <a:off x="1097280" y="3886200"/>
            <a:ext cx="1560515" cy="0"/>
          </a:xfrm>
          <a:prstGeom prst="line">
            <a:avLst/>
          </a:prstGeom>
          <a:noFill/>
          <a:ln w="25400">
            <a:solidFill>
              <a:srgbClr val="C9CCC8"/>
            </a:solidFill>
            <a:prstDash val="dash"/>
          </a:ln>
        </p:spPr>
      </p:sp>
      <p:sp>
        <p:nvSpPr>
          <p:cNvPr id="15" name="Shape 12"/>
          <p:cNvSpPr/>
          <p:nvPr/>
        </p:nvSpPr>
        <p:spPr>
          <a:xfrm>
            <a:off x="3206435" y="3886200"/>
            <a:ext cx="1560515" cy="0"/>
          </a:xfrm>
          <a:prstGeom prst="line">
            <a:avLst/>
          </a:prstGeom>
          <a:noFill/>
          <a:ln w="25400">
            <a:solidFill>
              <a:srgbClr val="C9CCC8"/>
            </a:solidFill>
            <a:prstDash val="dash"/>
          </a:ln>
        </p:spPr>
      </p:sp>
      <p:sp>
        <p:nvSpPr>
          <p:cNvPr id="16" name="Shape 13"/>
          <p:cNvSpPr/>
          <p:nvPr/>
        </p:nvSpPr>
        <p:spPr>
          <a:xfrm>
            <a:off x="5315590" y="3886200"/>
            <a:ext cx="1560515" cy="0"/>
          </a:xfrm>
          <a:prstGeom prst="line">
            <a:avLst/>
          </a:prstGeom>
          <a:noFill/>
          <a:ln w="25400">
            <a:solidFill>
              <a:srgbClr val="C9CCC8"/>
            </a:solidFill>
            <a:prstDash val="dash"/>
          </a:ln>
        </p:spPr>
      </p:sp>
      <p:sp>
        <p:nvSpPr>
          <p:cNvPr id="17" name="Shape 14"/>
          <p:cNvSpPr/>
          <p:nvPr/>
        </p:nvSpPr>
        <p:spPr>
          <a:xfrm>
            <a:off x="7424745" y="3886200"/>
            <a:ext cx="1560515" cy="0"/>
          </a:xfrm>
          <a:prstGeom prst="line">
            <a:avLst/>
          </a:prstGeom>
          <a:noFill/>
          <a:ln w="25400">
            <a:solidFill>
              <a:srgbClr val="C9CCC8"/>
            </a:solidFill>
            <a:prstDash val="dash"/>
          </a:ln>
        </p:spPr>
      </p:sp>
      <p:sp>
        <p:nvSpPr>
          <p:cNvPr id="18" name="Shape 15"/>
          <p:cNvSpPr/>
          <p:nvPr/>
        </p:nvSpPr>
        <p:spPr>
          <a:xfrm>
            <a:off x="9533900" y="3886200"/>
            <a:ext cx="1560515" cy="0"/>
          </a:xfrm>
          <a:prstGeom prst="line">
            <a:avLst/>
          </a:prstGeom>
          <a:noFill/>
          <a:ln w="25400">
            <a:solidFill>
              <a:srgbClr val="C9CCC8"/>
            </a:solidFill>
            <a:prstDash val="dash"/>
          </a:ln>
        </p:spPr>
      </p:sp>
      <p:sp>
        <p:nvSpPr>
          <p:cNvPr id="19" name="Shape 16"/>
          <p:cNvSpPr/>
          <p:nvPr/>
        </p:nvSpPr>
        <p:spPr>
          <a:xfrm>
            <a:off x="11368735" y="4617720"/>
            <a:ext cx="0" cy="457200"/>
          </a:xfrm>
          <a:prstGeom prst="line">
            <a:avLst/>
          </a:prstGeom>
          <a:noFill/>
          <a:ln w="25400">
            <a:solidFill>
              <a:srgbClr val="C9CCC8"/>
            </a:solidFill>
            <a:prstDash val="dash"/>
          </a:ln>
        </p:spPr>
      </p:sp>
      <p:sp>
        <p:nvSpPr>
          <p:cNvPr id="20" name="Shape 17"/>
          <p:cNvSpPr/>
          <p:nvPr/>
        </p:nvSpPr>
        <p:spPr>
          <a:xfrm>
            <a:off x="9533900" y="5394960"/>
            <a:ext cx="1560515" cy="0"/>
          </a:xfrm>
          <a:prstGeom prst="line">
            <a:avLst/>
          </a:prstGeom>
          <a:noFill/>
          <a:ln w="25400">
            <a:solidFill>
              <a:srgbClr val="C9CCC8"/>
            </a:solidFill>
            <a:prstDash val="dash"/>
          </a:ln>
        </p:spPr>
      </p:sp>
      <p:sp>
        <p:nvSpPr>
          <p:cNvPr id="21" name="Shape 18"/>
          <p:cNvSpPr/>
          <p:nvPr/>
        </p:nvSpPr>
        <p:spPr>
          <a:xfrm>
            <a:off x="7424745" y="5394960"/>
            <a:ext cx="1560515" cy="0"/>
          </a:xfrm>
          <a:prstGeom prst="line">
            <a:avLst/>
          </a:prstGeom>
          <a:noFill/>
          <a:ln w="25400">
            <a:solidFill>
              <a:srgbClr val="C9CCC8"/>
            </a:solidFill>
            <a:prstDash val="dash"/>
          </a:ln>
        </p:spPr>
      </p:sp>
      <p:sp>
        <p:nvSpPr>
          <p:cNvPr id="22" name="Shape 19"/>
          <p:cNvSpPr/>
          <p:nvPr/>
        </p:nvSpPr>
        <p:spPr>
          <a:xfrm>
            <a:off x="5315590" y="5394960"/>
            <a:ext cx="1560515" cy="0"/>
          </a:xfrm>
          <a:prstGeom prst="line">
            <a:avLst/>
          </a:prstGeom>
          <a:noFill/>
          <a:ln w="25400">
            <a:solidFill>
              <a:srgbClr val="C9CCC8"/>
            </a:solidFill>
            <a:prstDash val="dash"/>
          </a:ln>
        </p:spPr>
      </p:sp>
      <p:sp>
        <p:nvSpPr>
          <p:cNvPr id="23" name="Shape 20"/>
          <p:cNvSpPr/>
          <p:nvPr/>
        </p:nvSpPr>
        <p:spPr>
          <a:xfrm>
            <a:off x="3206435" y="5394960"/>
            <a:ext cx="1560515" cy="0"/>
          </a:xfrm>
          <a:prstGeom prst="line">
            <a:avLst/>
          </a:prstGeom>
          <a:noFill/>
          <a:ln w="25400">
            <a:solidFill>
              <a:srgbClr val="C9CCC8"/>
            </a:solidFill>
            <a:prstDash val="dash"/>
          </a:ln>
        </p:spPr>
      </p:sp>
      <p:sp>
        <p:nvSpPr>
          <p:cNvPr id="24" name="Shape 21"/>
          <p:cNvSpPr/>
          <p:nvPr/>
        </p:nvSpPr>
        <p:spPr>
          <a:xfrm>
            <a:off x="11094415" y="2103120"/>
            <a:ext cx="548640" cy="548640"/>
          </a:xfrm>
          <a:prstGeom prst="ellipse">
            <a:avLst/>
          </a:prstGeom>
          <a:solidFill>
            <a:srgbClr val="727274"/>
          </a:solidFill>
          <a:ln w="6350">
            <a:solidFill>
              <a:srgbClr val="727274"/>
            </a:solidFill>
            <a:prstDash val="solid"/>
          </a:ln>
        </p:spPr>
      </p:sp>
      <p:sp>
        <p:nvSpPr>
          <p:cNvPr id="25" name="Text 22"/>
          <p:cNvSpPr txBox="1"/>
          <p:nvPr/>
        </p:nvSpPr>
        <p:spPr>
          <a:xfrm>
            <a:off x="11094415" y="210312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FFFFFF"/>
                </a:solidFill>
                <a:latin typeface="Cairo" pitchFamily="34" charset="0"/>
                <a:ea typeface="Cairo" pitchFamily="34" charset="-122"/>
                <a:cs typeface="Cairo" pitchFamily="34" charset="-120"/>
              </a:rPr>
              <a:t>1</a:t>
            </a:r>
            <a:endParaRPr lang="ar-SA" sz="1500" dirty="0"/>
          </a:p>
        </p:txBody>
      </p:sp>
      <p:sp>
        <p:nvSpPr>
          <p:cNvPr id="26" name="Text 23"/>
          <p:cNvSpPr txBox="1"/>
          <p:nvPr/>
        </p:nvSpPr>
        <p:spPr>
          <a:xfrm>
            <a:off x="10408615" y="272491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طلب العميل</a:t>
            </a:r>
            <a:endParaRPr lang="ar-SA" sz="1400" dirty="0"/>
          </a:p>
        </p:txBody>
      </p:sp>
      <p:sp>
        <p:nvSpPr>
          <p:cNvPr id="27" name="Shape 24"/>
          <p:cNvSpPr/>
          <p:nvPr/>
        </p:nvSpPr>
        <p:spPr>
          <a:xfrm>
            <a:off x="8985260" y="2103120"/>
            <a:ext cx="548640" cy="548640"/>
          </a:xfrm>
          <a:prstGeom prst="ellipse">
            <a:avLst/>
          </a:prstGeom>
          <a:solidFill>
            <a:srgbClr val="727274"/>
          </a:solidFill>
          <a:ln w="6350">
            <a:solidFill>
              <a:srgbClr val="727274"/>
            </a:solidFill>
            <a:prstDash val="solid"/>
          </a:ln>
        </p:spPr>
      </p:sp>
      <p:sp>
        <p:nvSpPr>
          <p:cNvPr id="28" name="Text 25"/>
          <p:cNvSpPr txBox="1"/>
          <p:nvPr/>
        </p:nvSpPr>
        <p:spPr>
          <a:xfrm>
            <a:off x="8985260" y="210312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FFFFFF"/>
                </a:solidFill>
                <a:latin typeface="Cairo" pitchFamily="34" charset="0"/>
                <a:ea typeface="Cairo" pitchFamily="34" charset="-122"/>
                <a:cs typeface="Cairo" pitchFamily="34" charset="-120"/>
              </a:rPr>
              <a:t>2</a:t>
            </a:r>
            <a:endParaRPr lang="ar-SA" sz="1500" dirty="0"/>
          </a:p>
        </p:txBody>
      </p:sp>
      <p:sp>
        <p:nvSpPr>
          <p:cNvPr id="29" name="Text 26"/>
          <p:cNvSpPr txBox="1"/>
          <p:nvPr/>
        </p:nvSpPr>
        <p:spPr>
          <a:xfrm>
            <a:off x="8299460" y="272491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البحث</a:t>
            </a:r>
            <a:endParaRPr lang="ar-SA" sz="1400" dirty="0"/>
          </a:p>
        </p:txBody>
      </p:sp>
      <p:sp>
        <p:nvSpPr>
          <p:cNvPr id="30" name="Shape 27"/>
          <p:cNvSpPr/>
          <p:nvPr/>
        </p:nvSpPr>
        <p:spPr>
          <a:xfrm>
            <a:off x="6876105" y="2103120"/>
            <a:ext cx="548640" cy="548640"/>
          </a:xfrm>
          <a:prstGeom prst="ellipse">
            <a:avLst/>
          </a:prstGeom>
          <a:solidFill>
            <a:srgbClr val="727274"/>
          </a:solidFill>
          <a:ln w="6350">
            <a:solidFill>
              <a:srgbClr val="727274"/>
            </a:solidFill>
            <a:prstDash val="solid"/>
          </a:ln>
        </p:spPr>
      </p:sp>
      <p:sp>
        <p:nvSpPr>
          <p:cNvPr id="31" name="Text 28"/>
          <p:cNvSpPr txBox="1"/>
          <p:nvPr/>
        </p:nvSpPr>
        <p:spPr>
          <a:xfrm>
            <a:off x="6876105" y="210312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FFFFFF"/>
                </a:solidFill>
                <a:latin typeface="Cairo" pitchFamily="34" charset="0"/>
                <a:ea typeface="Cairo" pitchFamily="34" charset="-122"/>
                <a:cs typeface="Cairo" pitchFamily="34" charset="-120"/>
              </a:rPr>
              <a:t>3</a:t>
            </a:r>
            <a:endParaRPr lang="ar-SA" sz="1500" dirty="0"/>
          </a:p>
        </p:txBody>
      </p:sp>
      <p:sp>
        <p:nvSpPr>
          <p:cNvPr id="32" name="Text 29"/>
          <p:cNvSpPr txBox="1"/>
          <p:nvPr/>
        </p:nvSpPr>
        <p:spPr>
          <a:xfrm>
            <a:off x="6190305" y="272491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المتطلبات</a:t>
            </a:r>
            <a:endParaRPr lang="ar-SA" sz="1400" dirty="0"/>
          </a:p>
        </p:txBody>
      </p:sp>
      <p:sp>
        <p:nvSpPr>
          <p:cNvPr id="33" name="Shape 30"/>
          <p:cNvSpPr/>
          <p:nvPr/>
        </p:nvSpPr>
        <p:spPr>
          <a:xfrm>
            <a:off x="4766950" y="2103120"/>
            <a:ext cx="548640" cy="548640"/>
          </a:xfrm>
          <a:prstGeom prst="ellipse">
            <a:avLst/>
          </a:prstGeom>
          <a:solidFill>
            <a:srgbClr val="727274"/>
          </a:solidFill>
          <a:ln w="6350">
            <a:solidFill>
              <a:srgbClr val="727274"/>
            </a:solidFill>
            <a:prstDash val="solid"/>
          </a:ln>
        </p:spPr>
      </p:sp>
      <p:sp>
        <p:nvSpPr>
          <p:cNvPr id="34" name="Text 31"/>
          <p:cNvSpPr txBox="1"/>
          <p:nvPr/>
        </p:nvSpPr>
        <p:spPr>
          <a:xfrm>
            <a:off x="4766950" y="210312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FFFFFF"/>
                </a:solidFill>
                <a:latin typeface="Cairo" pitchFamily="34" charset="0"/>
                <a:ea typeface="Cairo" pitchFamily="34" charset="-122"/>
                <a:cs typeface="Cairo" pitchFamily="34" charset="-120"/>
              </a:rPr>
              <a:t>4</a:t>
            </a:r>
            <a:endParaRPr lang="ar-SA" sz="1500" dirty="0"/>
          </a:p>
        </p:txBody>
      </p:sp>
      <p:sp>
        <p:nvSpPr>
          <p:cNvPr id="35" name="Text 32"/>
          <p:cNvSpPr txBox="1"/>
          <p:nvPr/>
        </p:nvSpPr>
        <p:spPr>
          <a:xfrm>
            <a:off x="4081150" y="272491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كتابة الأوامر</a:t>
            </a:r>
            <a:endParaRPr lang="ar-SA" sz="1400" dirty="0"/>
          </a:p>
        </p:txBody>
      </p:sp>
      <p:sp>
        <p:nvSpPr>
          <p:cNvPr id="36" name="Shape 33"/>
          <p:cNvSpPr/>
          <p:nvPr/>
        </p:nvSpPr>
        <p:spPr>
          <a:xfrm>
            <a:off x="2657795" y="2103120"/>
            <a:ext cx="548640" cy="548640"/>
          </a:xfrm>
          <a:prstGeom prst="ellipse">
            <a:avLst/>
          </a:prstGeom>
          <a:solidFill>
            <a:srgbClr val="4DB449"/>
          </a:solidFill>
          <a:ln w="6350">
            <a:solidFill>
              <a:srgbClr val="4DB449"/>
            </a:solidFill>
            <a:prstDash val="solid"/>
          </a:ln>
        </p:spPr>
      </p:sp>
      <p:sp>
        <p:nvSpPr>
          <p:cNvPr id="37" name="Text 34"/>
          <p:cNvSpPr txBox="1"/>
          <p:nvPr/>
        </p:nvSpPr>
        <p:spPr>
          <a:xfrm>
            <a:off x="2657795" y="210312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5</a:t>
            </a:r>
            <a:endParaRPr lang="ar-SA" sz="1500" dirty="0"/>
          </a:p>
        </p:txBody>
      </p:sp>
      <p:sp>
        <p:nvSpPr>
          <p:cNvPr id="38" name="Text 35"/>
          <p:cNvSpPr txBox="1"/>
          <p:nvPr/>
        </p:nvSpPr>
        <p:spPr>
          <a:xfrm>
            <a:off x="1971995" y="272491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المحتوى</a:t>
            </a:r>
            <a:endParaRPr lang="ar-SA" sz="1400" dirty="0"/>
          </a:p>
        </p:txBody>
      </p:sp>
      <p:sp>
        <p:nvSpPr>
          <p:cNvPr id="39" name="Shape 36"/>
          <p:cNvSpPr/>
          <p:nvPr/>
        </p:nvSpPr>
        <p:spPr>
          <a:xfrm>
            <a:off x="548640" y="2103120"/>
            <a:ext cx="548640" cy="548640"/>
          </a:xfrm>
          <a:prstGeom prst="ellipse">
            <a:avLst/>
          </a:prstGeom>
          <a:solidFill>
            <a:srgbClr val="A6D04B"/>
          </a:solidFill>
          <a:ln w="6350">
            <a:solidFill>
              <a:srgbClr val="A6D04B"/>
            </a:solidFill>
            <a:prstDash val="solid"/>
          </a:ln>
        </p:spPr>
      </p:sp>
      <p:sp>
        <p:nvSpPr>
          <p:cNvPr id="40" name="Text 37"/>
          <p:cNvSpPr txBox="1"/>
          <p:nvPr/>
        </p:nvSpPr>
        <p:spPr>
          <a:xfrm>
            <a:off x="548640" y="210312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6</a:t>
            </a:r>
            <a:endParaRPr lang="ar-SA" sz="1500" dirty="0"/>
          </a:p>
        </p:txBody>
      </p:sp>
      <p:sp>
        <p:nvSpPr>
          <p:cNvPr id="41" name="Text 38"/>
          <p:cNvSpPr txBox="1"/>
          <p:nvPr/>
        </p:nvSpPr>
        <p:spPr>
          <a:xfrm>
            <a:off x="-137160" y="272491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الشخصية</a:t>
            </a:r>
            <a:endParaRPr lang="ar-SA" sz="1400" dirty="0"/>
          </a:p>
        </p:txBody>
      </p:sp>
      <p:sp>
        <p:nvSpPr>
          <p:cNvPr id="42" name="Shape 39"/>
          <p:cNvSpPr/>
          <p:nvPr/>
        </p:nvSpPr>
        <p:spPr>
          <a:xfrm>
            <a:off x="548640" y="3611880"/>
            <a:ext cx="548640" cy="548640"/>
          </a:xfrm>
          <a:prstGeom prst="ellipse">
            <a:avLst/>
          </a:prstGeom>
          <a:solidFill>
            <a:srgbClr val="4DB449"/>
          </a:solidFill>
          <a:ln w="6350">
            <a:solidFill>
              <a:srgbClr val="4DB449"/>
            </a:solidFill>
            <a:prstDash val="solid"/>
          </a:ln>
        </p:spPr>
      </p:sp>
      <p:sp>
        <p:nvSpPr>
          <p:cNvPr id="43" name="Text 40"/>
          <p:cNvSpPr txBox="1"/>
          <p:nvPr/>
        </p:nvSpPr>
        <p:spPr>
          <a:xfrm>
            <a:off x="548640" y="361188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7</a:t>
            </a:r>
            <a:endParaRPr lang="ar-SA" sz="1500" dirty="0"/>
          </a:p>
        </p:txBody>
      </p:sp>
      <p:sp>
        <p:nvSpPr>
          <p:cNvPr id="44" name="Text 41"/>
          <p:cNvSpPr txBox="1"/>
          <p:nvPr/>
        </p:nvSpPr>
        <p:spPr>
          <a:xfrm>
            <a:off x="-137160" y="423367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الصوت</a:t>
            </a:r>
            <a:endParaRPr lang="ar-SA" sz="1400" dirty="0"/>
          </a:p>
        </p:txBody>
      </p:sp>
      <p:sp>
        <p:nvSpPr>
          <p:cNvPr id="45" name="Shape 42"/>
          <p:cNvSpPr/>
          <p:nvPr/>
        </p:nvSpPr>
        <p:spPr>
          <a:xfrm>
            <a:off x="2657795" y="3611880"/>
            <a:ext cx="548640" cy="548640"/>
          </a:xfrm>
          <a:prstGeom prst="ellipse">
            <a:avLst/>
          </a:prstGeom>
          <a:solidFill>
            <a:srgbClr val="A6D04B"/>
          </a:solidFill>
          <a:ln w="6350">
            <a:solidFill>
              <a:srgbClr val="A6D04B"/>
            </a:solidFill>
            <a:prstDash val="solid"/>
          </a:ln>
        </p:spPr>
      </p:sp>
      <p:sp>
        <p:nvSpPr>
          <p:cNvPr id="46" name="Text 43"/>
          <p:cNvSpPr txBox="1"/>
          <p:nvPr/>
        </p:nvSpPr>
        <p:spPr>
          <a:xfrm>
            <a:off x="2657795" y="361188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8</a:t>
            </a:r>
            <a:endParaRPr lang="ar-SA" sz="1500" dirty="0"/>
          </a:p>
        </p:txBody>
      </p:sp>
      <p:sp>
        <p:nvSpPr>
          <p:cNvPr id="47" name="Text 44"/>
          <p:cNvSpPr txBox="1"/>
          <p:nvPr/>
        </p:nvSpPr>
        <p:spPr>
          <a:xfrm>
            <a:off x="1971995" y="423367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الصور</a:t>
            </a:r>
            <a:endParaRPr lang="ar-SA" sz="1400" dirty="0"/>
          </a:p>
        </p:txBody>
      </p:sp>
      <p:sp>
        <p:nvSpPr>
          <p:cNvPr id="48" name="Shape 45"/>
          <p:cNvSpPr/>
          <p:nvPr/>
        </p:nvSpPr>
        <p:spPr>
          <a:xfrm>
            <a:off x="4766950" y="3611880"/>
            <a:ext cx="548640" cy="548640"/>
          </a:xfrm>
          <a:prstGeom prst="ellipse">
            <a:avLst/>
          </a:prstGeom>
          <a:solidFill>
            <a:srgbClr val="4DB449"/>
          </a:solidFill>
          <a:ln w="6350">
            <a:solidFill>
              <a:srgbClr val="4DB449"/>
            </a:solidFill>
            <a:prstDash val="solid"/>
          </a:ln>
        </p:spPr>
      </p:sp>
      <p:sp>
        <p:nvSpPr>
          <p:cNvPr id="49" name="Text 46"/>
          <p:cNvSpPr txBox="1"/>
          <p:nvPr/>
        </p:nvSpPr>
        <p:spPr>
          <a:xfrm>
            <a:off x="4766950" y="361188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9</a:t>
            </a:r>
            <a:endParaRPr lang="ar-SA" sz="1500" dirty="0"/>
          </a:p>
        </p:txBody>
      </p:sp>
      <p:sp>
        <p:nvSpPr>
          <p:cNvPr id="50" name="Text 47"/>
          <p:cNvSpPr txBox="1"/>
          <p:nvPr/>
        </p:nvSpPr>
        <p:spPr>
          <a:xfrm>
            <a:off x="4081150" y="423367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السيناريو</a:t>
            </a:r>
            <a:endParaRPr lang="ar-SA" sz="1400" dirty="0"/>
          </a:p>
        </p:txBody>
      </p:sp>
      <p:sp>
        <p:nvSpPr>
          <p:cNvPr id="51" name="Shape 48"/>
          <p:cNvSpPr/>
          <p:nvPr/>
        </p:nvSpPr>
        <p:spPr>
          <a:xfrm>
            <a:off x="6876105" y="3611880"/>
            <a:ext cx="548640" cy="548640"/>
          </a:xfrm>
          <a:prstGeom prst="ellipse">
            <a:avLst/>
          </a:prstGeom>
          <a:solidFill>
            <a:srgbClr val="A6D04B"/>
          </a:solidFill>
          <a:ln w="6350">
            <a:solidFill>
              <a:srgbClr val="A6D04B"/>
            </a:solidFill>
            <a:prstDash val="solid"/>
          </a:ln>
        </p:spPr>
      </p:sp>
      <p:sp>
        <p:nvSpPr>
          <p:cNvPr id="52" name="Text 49"/>
          <p:cNvSpPr txBox="1"/>
          <p:nvPr/>
        </p:nvSpPr>
        <p:spPr>
          <a:xfrm>
            <a:off x="6876105" y="361188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10</a:t>
            </a:r>
            <a:endParaRPr lang="ar-SA" sz="1500" dirty="0"/>
          </a:p>
        </p:txBody>
      </p:sp>
      <p:sp>
        <p:nvSpPr>
          <p:cNvPr id="53" name="Text 50"/>
          <p:cNvSpPr txBox="1"/>
          <p:nvPr/>
        </p:nvSpPr>
        <p:spPr>
          <a:xfrm>
            <a:off x="6190305" y="423367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اللوحة المصوّرة</a:t>
            </a:r>
            <a:endParaRPr lang="ar-SA" sz="1400" dirty="0"/>
          </a:p>
        </p:txBody>
      </p:sp>
      <p:sp>
        <p:nvSpPr>
          <p:cNvPr id="54" name="Shape 51"/>
          <p:cNvSpPr/>
          <p:nvPr/>
        </p:nvSpPr>
        <p:spPr>
          <a:xfrm>
            <a:off x="8985260" y="3611880"/>
            <a:ext cx="548640" cy="548640"/>
          </a:xfrm>
          <a:prstGeom prst="ellipse">
            <a:avLst/>
          </a:prstGeom>
          <a:solidFill>
            <a:srgbClr val="4DB449"/>
          </a:solidFill>
          <a:ln w="6350">
            <a:solidFill>
              <a:srgbClr val="4DB449"/>
            </a:solidFill>
            <a:prstDash val="solid"/>
          </a:ln>
        </p:spPr>
      </p:sp>
      <p:sp>
        <p:nvSpPr>
          <p:cNvPr id="55" name="Text 52"/>
          <p:cNvSpPr txBox="1"/>
          <p:nvPr/>
        </p:nvSpPr>
        <p:spPr>
          <a:xfrm>
            <a:off x="8985260" y="361188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11</a:t>
            </a:r>
            <a:endParaRPr lang="ar-SA" sz="1500" dirty="0"/>
          </a:p>
        </p:txBody>
      </p:sp>
      <p:sp>
        <p:nvSpPr>
          <p:cNvPr id="56" name="Text 53"/>
          <p:cNvSpPr txBox="1"/>
          <p:nvPr/>
        </p:nvSpPr>
        <p:spPr>
          <a:xfrm>
            <a:off x="8299460" y="423367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الفيديو بالذكاء الاصطناعي</a:t>
            </a:r>
            <a:endParaRPr lang="ar-SA" sz="1400" dirty="0"/>
          </a:p>
        </p:txBody>
      </p:sp>
      <p:sp>
        <p:nvSpPr>
          <p:cNvPr id="57" name="Shape 54"/>
          <p:cNvSpPr/>
          <p:nvPr/>
        </p:nvSpPr>
        <p:spPr>
          <a:xfrm>
            <a:off x="11094415" y="3611880"/>
            <a:ext cx="548640" cy="548640"/>
          </a:xfrm>
          <a:prstGeom prst="ellipse">
            <a:avLst/>
          </a:prstGeom>
          <a:solidFill>
            <a:srgbClr val="A6D04B"/>
          </a:solidFill>
          <a:ln w="6350">
            <a:solidFill>
              <a:srgbClr val="A6D04B"/>
            </a:solidFill>
            <a:prstDash val="solid"/>
          </a:ln>
        </p:spPr>
      </p:sp>
      <p:sp>
        <p:nvSpPr>
          <p:cNvPr id="58" name="Text 55"/>
          <p:cNvSpPr txBox="1"/>
          <p:nvPr/>
        </p:nvSpPr>
        <p:spPr>
          <a:xfrm>
            <a:off x="11094415" y="361188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12</a:t>
            </a:r>
            <a:endParaRPr lang="ar-SA" sz="1500" dirty="0"/>
          </a:p>
        </p:txBody>
      </p:sp>
      <p:sp>
        <p:nvSpPr>
          <p:cNvPr id="59" name="Text 56"/>
          <p:cNvSpPr txBox="1"/>
          <p:nvPr/>
        </p:nvSpPr>
        <p:spPr>
          <a:xfrm>
            <a:off x="10408615" y="423367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المونتاج</a:t>
            </a:r>
            <a:endParaRPr lang="ar-SA" sz="1400" dirty="0"/>
          </a:p>
        </p:txBody>
      </p:sp>
      <p:sp>
        <p:nvSpPr>
          <p:cNvPr id="60" name="Shape 57"/>
          <p:cNvSpPr/>
          <p:nvPr/>
        </p:nvSpPr>
        <p:spPr>
          <a:xfrm>
            <a:off x="11094415" y="5120640"/>
            <a:ext cx="548640" cy="548640"/>
          </a:xfrm>
          <a:prstGeom prst="ellipse">
            <a:avLst/>
          </a:prstGeom>
          <a:solidFill>
            <a:srgbClr val="4DB449"/>
          </a:solidFill>
          <a:ln w="6350">
            <a:solidFill>
              <a:srgbClr val="4DB449"/>
            </a:solidFill>
            <a:prstDash val="solid"/>
          </a:ln>
        </p:spPr>
      </p:sp>
      <p:sp>
        <p:nvSpPr>
          <p:cNvPr id="61" name="Text 58"/>
          <p:cNvSpPr txBox="1"/>
          <p:nvPr/>
        </p:nvSpPr>
        <p:spPr>
          <a:xfrm>
            <a:off x="11094415" y="512064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13</a:t>
            </a:r>
            <a:endParaRPr lang="ar-SA" sz="1500" dirty="0"/>
          </a:p>
        </p:txBody>
      </p:sp>
      <p:sp>
        <p:nvSpPr>
          <p:cNvPr id="62" name="Text 59"/>
          <p:cNvSpPr txBox="1"/>
          <p:nvPr/>
        </p:nvSpPr>
        <p:spPr>
          <a:xfrm>
            <a:off x="10408615" y="574243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التسويق</a:t>
            </a:r>
            <a:endParaRPr lang="ar-SA" sz="1400" dirty="0"/>
          </a:p>
        </p:txBody>
      </p:sp>
      <p:sp>
        <p:nvSpPr>
          <p:cNvPr id="63" name="Shape 60"/>
          <p:cNvSpPr/>
          <p:nvPr/>
        </p:nvSpPr>
        <p:spPr>
          <a:xfrm>
            <a:off x="8985260" y="5120640"/>
            <a:ext cx="548640" cy="548640"/>
          </a:xfrm>
          <a:prstGeom prst="ellipse">
            <a:avLst/>
          </a:prstGeom>
          <a:solidFill>
            <a:srgbClr val="A6D04B"/>
          </a:solidFill>
          <a:ln w="6350">
            <a:solidFill>
              <a:srgbClr val="A6D04B"/>
            </a:solidFill>
            <a:prstDash val="solid"/>
          </a:ln>
        </p:spPr>
      </p:sp>
      <p:sp>
        <p:nvSpPr>
          <p:cNvPr id="64" name="Text 61"/>
          <p:cNvSpPr txBox="1"/>
          <p:nvPr/>
        </p:nvSpPr>
        <p:spPr>
          <a:xfrm>
            <a:off x="8985260" y="512064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14</a:t>
            </a:r>
            <a:endParaRPr lang="ar-SA" sz="1500" dirty="0"/>
          </a:p>
        </p:txBody>
      </p:sp>
      <p:sp>
        <p:nvSpPr>
          <p:cNvPr id="65" name="Text 62"/>
          <p:cNvSpPr txBox="1"/>
          <p:nvPr/>
        </p:nvSpPr>
        <p:spPr>
          <a:xfrm>
            <a:off x="8299460" y="574243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أتمتة n8n</a:t>
            </a:r>
            <a:endParaRPr lang="ar-SA" sz="1400" dirty="0"/>
          </a:p>
        </p:txBody>
      </p:sp>
      <p:sp>
        <p:nvSpPr>
          <p:cNvPr id="66" name="Shape 63"/>
          <p:cNvSpPr/>
          <p:nvPr/>
        </p:nvSpPr>
        <p:spPr>
          <a:xfrm>
            <a:off x="6876105" y="5120640"/>
            <a:ext cx="548640" cy="548640"/>
          </a:xfrm>
          <a:prstGeom prst="ellipse">
            <a:avLst/>
          </a:prstGeom>
          <a:solidFill>
            <a:srgbClr val="4DB449"/>
          </a:solidFill>
          <a:ln w="6350">
            <a:solidFill>
              <a:srgbClr val="4DB449"/>
            </a:solidFill>
            <a:prstDash val="solid"/>
          </a:ln>
        </p:spPr>
      </p:sp>
      <p:sp>
        <p:nvSpPr>
          <p:cNvPr id="67" name="Text 64"/>
          <p:cNvSpPr txBox="1"/>
          <p:nvPr/>
        </p:nvSpPr>
        <p:spPr>
          <a:xfrm>
            <a:off x="6876105" y="512064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15</a:t>
            </a:r>
            <a:endParaRPr lang="ar-SA" sz="1500" dirty="0"/>
          </a:p>
        </p:txBody>
      </p:sp>
      <p:sp>
        <p:nvSpPr>
          <p:cNvPr id="68" name="Text 65"/>
          <p:cNvSpPr txBox="1"/>
          <p:nvPr/>
        </p:nvSpPr>
        <p:spPr>
          <a:xfrm>
            <a:off x="6190305" y="574243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الملف المهني</a:t>
            </a:r>
            <a:endParaRPr lang="ar-SA" sz="1400" dirty="0"/>
          </a:p>
        </p:txBody>
      </p:sp>
      <p:sp>
        <p:nvSpPr>
          <p:cNvPr id="69" name="Shape 66"/>
          <p:cNvSpPr/>
          <p:nvPr/>
        </p:nvSpPr>
        <p:spPr>
          <a:xfrm>
            <a:off x="4766950" y="5120640"/>
            <a:ext cx="548640" cy="548640"/>
          </a:xfrm>
          <a:prstGeom prst="ellipse">
            <a:avLst/>
          </a:prstGeom>
          <a:solidFill>
            <a:srgbClr val="A6D04B"/>
          </a:solidFill>
          <a:ln w="6350">
            <a:solidFill>
              <a:srgbClr val="A6D04B"/>
            </a:solidFill>
            <a:prstDash val="solid"/>
          </a:ln>
        </p:spPr>
      </p:sp>
      <p:sp>
        <p:nvSpPr>
          <p:cNvPr id="70" name="Text 67"/>
          <p:cNvSpPr txBox="1"/>
          <p:nvPr/>
        </p:nvSpPr>
        <p:spPr>
          <a:xfrm>
            <a:off x="4766950" y="5120640"/>
            <a:ext cx="548640" cy="54864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000000"/>
                </a:solidFill>
                <a:latin typeface="Cairo" pitchFamily="34" charset="0"/>
                <a:ea typeface="Cairo" pitchFamily="34" charset="-122"/>
                <a:cs typeface="Cairo" pitchFamily="34" charset="-120"/>
              </a:rPr>
              <a:t>16</a:t>
            </a:r>
            <a:endParaRPr lang="ar-SA" sz="1500" dirty="0"/>
          </a:p>
        </p:txBody>
      </p:sp>
      <p:sp>
        <p:nvSpPr>
          <p:cNvPr id="71" name="Text 68"/>
          <p:cNvSpPr txBox="1"/>
          <p:nvPr/>
        </p:nvSpPr>
        <p:spPr>
          <a:xfrm>
            <a:off x="4081150" y="5742432"/>
            <a:ext cx="1920240" cy="347472"/>
          </a:xfrm>
          <a:prstGeom prst="rect">
            <a:avLst/>
          </a:prstGeom>
          <a:noFill/>
          <a:ln/>
        </p:spPr>
        <p:txBody>
          <a:bodyPr wrap="square" lIns="0" tIns="0" rIns="0" bIns="0" rtlCol="0" anchor="t"/>
          <a:lstStyle/>
          <a:p>
            <a:pPr rtl="1" algn="ctr" indent="0" marL="0">
              <a:lnSpc>
                <a:spcPct val="95000"/>
              </a:lnSpc>
              <a:buNone/>
            </a:pPr>
            <a:r>
              <a:rPr lang="ar-SA" altLang="en-US" sz="1400" dirty="0">
                <a:solidFill>
                  <a:srgbClr val="1A1A1A"/>
                </a:solidFill>
                <a:latin typeface="IBM Plex Sans Arabic" pitchFamily="34" charset="0"/>
                <a:ea typeface="IBM Plex Sans Arabic" pitchFamily="34" charset="-122"/>
                <a:cs typeface="IBM Plex Sans Arabic" pitchFamily="34" charset="-120"/>
              </a:rPr>
              <a:t>العمل الحر</a:t>
            </a:r>
            <a:endParaRPr lang="ar-SA" sz="1400" dirty="0"/>
          </a:p>
        </p:txBody>
      </p:sp>
      <p:sp>
        <p:nvSpPr>
          <p:cNvPr id="72" name="Shape 69"/>
          <p:cNvSpPr/>
          <p:nvPr/>
        </p:nvSpPr>
        <p:spPr>
          <a:xfrm>
            <a:off x="2593787" y="5056632"/>
            <a:ext cx="676656" cy="676656"/>
          </a:xfrm>
          <a:prstGeom prst="ellipse">
            <a:avLst/>
          </a:prstGeom>
          <a:solidFill>
            <a:srgbClr val="000000"/>
          </a:solidFill>
          <a:ln w="31750">
            <a:solidFill>
              <a:srgbClr val="A6D04B"/>
            </a:solidFill>
            <a:prstDash val="solid"/>
          </a:ln>
        </p:spPr>
      </p:sp>
      <p:sp>
        <p:nvSpPr>
          <p:cNvPr id="73" name="Text 70"/>
          <p:cNvSpPr txBox="1"/>
          <p:nvPr/>
        </p:nvSpPr>
        <p:spPr>
          <a:xfrm>
            <a:off x="2593787" y="5056632"/>
            <a:ext cx="676656" cy="676656"/>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FFFFFF"/>
                </a:solidFill>
                <a:latin typeface="Cairo" pitchFamily="34" charset="0"/>
                <a:ea typeface="Cairo" pitchFamily="34" charset="-122"/>
                <a:cs typeface="Cairo" pitchFamily="34" charset="-120"/>
              </a:rPr>
              <a:t>17</a:t>
            </a:r>
            <a:endParaRPr lang="ar-SA" sz="1500" dirty="0"/>
          </a:p>
        </p:txBody>
      </p:sp>
      <p:sp>
        <p:nvSpPr>
          <p:cNvPr id="74" name="Text 71"/>
          <p:cNvSpPr txBox="1"/>
          <p:nvPr/>
        </p:nvSpPr>
        <p:spPr>
          <a:xfrm>
            <a:off x="1971995" y="5742432"/>
            <a:ext cx="1920240" cy="347472"/>
          </a:xfrm>
          <a:prstGeom prst="rect">
            <a:avLst/>
          </a:prstGeom>
          <a:noFill/>
          <a:ln/>
        </p:spPr>
        <p:txBody>
          <a:bodyPr wrap="square" lIns="0" tIns="0" rIns="0" bIns="0" rtlCol="0" anchor="t"/>
          <a:lstStyle/>
          <a:p>
            <a:pPr rtl="1" algn="ctr" indent="0" marL="0">
              <a:lnSpc>
                <a:spcPct val="95000"/>
              </a:lnSpc>
              <a:buNone/>
            </a:pPr>
            <a:r>
              <a:rPr lang="ar-SA" altLang="en-US" sz="1400" b="1" dirty="0">
                <a:solidFill>
                  <a:srgbClr val="1A1A1A"/>
                </a:solidFill>
                <a:latin typeface="IBM Plex Sans Arabic" pitchFamily="34" charset="0"/>
                <a:ea typeface="IBM Plex Sans Arabic" pitchFamily="34" charset="-122"/>
                <a:cs typeface="IBM Plex Sans Arabic" pitchFamily="34" charset="-120"/>
              </a:rPr>
              <a:t>المشروع الختامي</a:t>
            </a:r>
            <a:endParaRPr lang="ar-SA"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6</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05 · المسارات التعليمية</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سبعة مسارات في برنامج واحد مترابط</a:t>
            </a:r>
            <a:endParaRPr lang="ar-SA" sz="2600" dirty="0"/>
          </a:p>
        </p:txBody>
      </p:sp>
      <p:sp>
        <p:nvSpPr>
          <p:cNvPr id="7" name="Shape 4"/>
          <p:cNvSpPr/>
          <p:nvPr/>
        </p:nvSpPr>
        <p:spPr>
          <a:xfrm>
            <a:off x="9599428" y="1783080"/>
            <a:ext cx="2043627" cy="502920"/>
          </a:xfrm>
          <a:prstGeom prst="rect">
            <a:avLst/>
          </a:prstGeom>
          <a:solidFill>
            <a:srgbClr val="727274"/>
          </a:solidFill>
          <a:ln w="12700">
            <a:solidFill>
              <a:srgbClr val="727274"/>
            </a:solidFill>
            <a:prstDash val="solid"/>
          </a:ln>
        </p:spPr>
      </p:sp>
      <p:sp>
        <p:nvSpPr>
          <p:cNvPr id="8" name="Text 5"/>
          <p:cNvSpPr txBox="1"/>
          <p:nvPr/>
        </p:nvSpPr>
        <p:spPr>
          <a:xfrm>
            <a:off x="9599428" y="1783080"/>
            <a:ext cx="2043627" cy="502920"/>
          </a:xfrm>
          <a:prstGeom prst="rect">
            <a:avLst/>
          </a:prstGeom>
          <a:noFill/>
          <a:ln/>
        </p:spPr>
        <p:txBody>
          <a:bodyPr wrap="square" lIns="0" tIns="0" rIns="0" bIns="0" rtlCol="0" anchor="ctr"/>
          <a:lstStyle/>
          <a:p>
            <a:pPr rtl="1" algn="ctr" indent="0" marL="0">
              <a:lnSpc>
                <a:spcPct val="100000"/>
              </a:lnSpc>
              <a:buNone/>
            </a:pPr>
            <a:r>
              <a:rPr lang="ar-SA" altLang="en-US" sz="1400" b="1" dirty="0">
                <a:solidFill>
                  <a:srgbClr val="FFFFFF"/>
                </a:solidFill>
                <a:latin typeface="Cairo" pitchFamily="34" charset="0"/>
                <a:ea typeface="Cairo" pitchFamily="34" charset="-122"/>
                <a:cs typeface="Cairo" pitchFamily="34" charset="-120"/>
              </a:rPr>
              <a:t>18</a:t>
            </a:r>
            <a:endParaRPr lang="ar-SA" sz="1400" dirty="0"/>
          </a:p>
        </p:txBody>
      </p:sp>
      <p:sp>
        <p:nvSpPr>
          <p:cNvPr id="9" name="Shape 6"/>
          <p:cNvSpPr/>
          <p:nvPr/>
        </p:nvSpPr>
        <p:spPr>
          <a:xfrm>
            <a:off x="8559327" y="1783080"/>
            <a:ext cx="1003525" cy="502920"/>
          </a:xfrm>
          <a:prstGeom prst="rect">
            <a:avLst/>
          </a:prstGeom>
          <a:solidFill>
            <a:srgbClr val="4DB449"/>
          </a:solidFill>
          <a:ln w="12700">
            <a:solidFill>
              <a:srgbClr val="4DB449"/>
            </a:solidFill>
            <a:prstDash val="solid"/>
          </a:ln>
        </p:spPr>
      </p:sp>
      <p:sp>
        <p:nvSpPr>
          <p:cNvPr id="10" name="Text 7"/>
          <p:cNvSpPr txBox="1"/>
          <p:nvPr/>
        </p:nvSpPr>
        <p:spPr>
          <a:xfrm>
            <a:off x="8559327" y="1783080"/>
            <a:ext cx="1003525" cy="502920"/>
          </a:xfrm>
          <a:prstGeom prst="rect">
            <a:avLst/>
          </a:prstGeom>
          <a:noFill/>
          <a:ln/>
        </p:spPr>
        <p:txBody>
          <a:bodyPr wrap="square" lIns="0" tIns="0" rIns="0" bIns="0" rtlCol="0" anchor="ctr"/>
          <a:lstStyle/>
          <a:p>
            <a:pPr rtl="1" algn="ctr" indent="0" marL="0">
              <a:lnSpc>
                <a:spcPct val="100000"/>
              </a:lnSpc>
              <a:buNone/>
            </a:pPr>
            <a:r>
              <a:rPr lang="ar-SA" altLang="en-US" sz="1400" b="1" dirty="0">
                <a:solidFill>
                  <a:srgbClr val="1A1A1A"/>
                </a:solidFill>
                <a:latin typeface="Cairo" pitchFamily="34" charset="0"/>
                <a:ea typeface="Cairo" pitchFamily="34" charset="-122"/>
                <a:cs typeface="Cairo" pitchFamily="34" charset="-120"/>
              </a:rPr>
              <a:t>9</a:t>
            </a:r>
            <a:endParaRPr lang="ar-SA" sz="1400" dirty="0"/>
          </a:p>
        </p:txBody>
      </p:sp>
      <p:sp>
        <p:nvSpPr>
          <p:cNvPr id="11" name="Shape 8"/>
          <p:cNvSpPr/>
          <p:nvPr/>
        </p:nvSpPr>
        <p:spPr>
          <a:xfrm>
            <a:off x="4745622" y="1783080"/>
            <a:ext cx="3777129" cy="502920"/>
          </a:xfrm>
          <a:prstGeom prst="rect">
            <a:avLst/>
          </a:prstGeom>
          <a:solidFill>
            <a:srgbClr val="A6D04B"/>
          </a:solidFill>
          <a:ln w="12700">
            <a:solidFill>
              <a:srgbClr val="A6D04B"/>
            </a:solidFill>
            <a:prstDash val="solid"/>
          </a:ln>
        </p:spPr>
      </p:sp>
      <p:sp>
        <p:nvSpPr>
          <p:cNvPr id="12" name="Text 9"/>
          <p:cNvSpPr txBox="1"/>
          <p:nvPr/>
        </p:nvSpPr>
        <p:spPr>
          <a:xfrm>
            <a:off x="4745622" y="1783080"/>
            <a:ext cx="3777129" cy="502920"/>
          </a:xfrm>
          <a:prstGeom prst="rect">
            <a:avLst/>
          </a:prstGeom>
          <a:noFill/>
          <a:ln/>
        </p:spPr>
        <p:txBody>
          <a:bodyPr wrap="square" lIns="0" tIns="0" rIns="0" bIns="0" rtlCol="0" anchor="ctr"/>
          <a:lstStyle/>
          <a:p>
            <a:pPr rtl="1" algn="ctr" indent="0" marL="0">
              <a:lnSpc>
                <a:spcPct val="100000"/>
              </a:lnSpc>
              <a:buNone/>
            </a:pPr>
            <a:r>
              <a:rPr lang="ar-SA" altLang="en-US" sz="1400" b="1" dirty="0">
                <a:solidFill>
                  <a:srgbClr val="1A1A1A"/>
                </a:solidFill>
                <a:latin typeface="Cairo" pitchFamily="34" charset="0"/>
                <a:ea typeface="Cairo" pitchFamily="34" charset="-122"/>
                <a:cs typeface="Cairo" pitchFamily="34" charset="-120"/>
              </a:rPr>
              <a:t>33</a:t>
            </a:r>
            <a:endParaRPr lang="ar-SA" sz="1400" dirty="0"/>
          </a:p>
        </p:txBody>
      </p:sp>
      <p:sp>
        <p:nvSpPr>
          <p:cNvPr id="13" name="Shape 10"/>
          <p:cNvSpPr/>
          <p:nvPr/>
        </p:nvSpPr>
        <p:spPr>
          <a:xfrm>
            <a:off x="3705520" y="1783080"/>
            <a:ext cx="1003525" cy="502920"/>
          </a:xfrm>
          <a:prstGeom prst="rect">
            <a:avLst/>
          </a:prstGeom>
          <a:solidFill>
            <a:srgbClr val="000000"/>
          </a:solidFill>
          <a:ln w="12700">
            <a:solidFill>
              <a:srgbClr val="000000"/>
            </a:solidFill>
            <a:prstDash val="solid"/>
          </a:ln>
        </p:spPr>
      </p:sp>
      <p:sp>
        <p:nvSpPr>
          <p:cNvPr id="14" name="Text 11"/>
          <p:cNvSpPr txBox="1"/>
          <p:nvPr/>
        </p:nvSpPr>
        <p:spPr>
          <a:xfrm>
            <a:off x="3705520" y="1783080"/>
            <a:ext cx="1003525" cy="502920"/>
          </a:xfrm>
          <a:prstGeom prst="rect">
            <a:avLst/>
          </a:prstGeom>
          <a:noFill/>
          <a:ln/>
        </p:spPr>
        <p:txBody>
          <a:bodyPr wrap="square" lIns="0" tIns="0" rIns="0" bIns="0" rtlCol="0" anchor="ctr"/>
          <a:lstStyle/>
          <a:p>
            <a:pPr rtl="1" algn="ctr" indent="0" marL="0">
              <a:lnSpc>
                <a:spcPct val="100000"/>
              </a:lnSpc>
              <a:buNone/>
            </a:pPr>
            <a:r>
              <a:rPr lang="ar-SA" altLang="en-US" sz="1400" b="1" dirty="0">
                <a:solidFill>
                  <a:srgbClr val="FFFFFF"/>
                </a:solidFill>
                <a:latin typeface="Cairo" pitchFamily="34" charset="0"/>
                <a:ea typeface="Cairo" pitchFamily="34" charset="-122"/>
                <a:cs typeface="Cairo" pitchFamily="34" charset="-120"/>
              </a:rPr>
              <a:t>9</a:t>
            </a:r>
            <a:endParaRPr lang="ar-SA" sz="1400" dirty="0"/>
          </a:p>
        </p:txBody>
      </p:sp>
      <p:sp>
        <p:nvSpPr>
          <p:cNvPr id="15" name="Shape 12"/>
          <p:cNvSpPr/>
          <p:nvPr/>
        </p:nvSpPr>
        <p:spPr>
          <a:xfrm>
            <a:off x="2318718" y="1783080"/>
            <a:ext cx="1350226" cy="502920"/>
          </a:xfrm>
          <a:prstGeom prst="rect">
            <a:avLst/>
          </a:prstGeom>
          <a:solidFill>
            <a:srgbClr val="4DB449"/>
          </a:solidFill>
          <a:ln w="12700">
            <a:solidFill>
              <a:srgbClr val="4DB449"/>
            </a:solidFill>
            <a:prstDash val="solid"/>
          </a:ln>
        </p:spPr>
      </p:sp>
      <p:sp>
        <p:nvSpPr>
          <p:cNvPr id="16" name="Text 13"/>
          <p:cNvSpPr txBox="1"/>
          <p:nvPr/>
        </p:nvSpPr>
        <p:spPr>
          <a:xfrm>
            <a:off x="2318718" y="1783080"/>
            <a:ext cx="1350226" cy="502920"/>
          </a:xfrm>
          <a:prstGeom prst="rect">
            <a:avLst/>
          </a:prstGeom>
          <a:noFill/>
          <a:ln/>
        </p:spPr>
        <p:txBody>
          <a:bodyPr wrap="square" lIns="0" tIns="0" rIns="0" bIns="0" rtlCol="0" anchor="ctr"/>
          <a:lstStyle/>
          <a:p>
            <a:pPr rtl="1" algn="ctr" indent="0" marL="0">
              <a:lnSpc>
                <a:spcPct val="100000"/>
              </a:lnSpc>
              <a:buNone/>
            </a:pPr>
            <a:r>
              <a:rPr lang="ar-SA" altLang="en-US" sz="1400" b="1" dirty="0">
                <a:solidFill>
                  <a:srgbClr val="1A1A1A"/>
                </a:solidFill>
                <a:latin typeface="Cairo" pitchFamily="34" charset="0"/>
                <a:ea typeface="Cairo" pitchFamily="34" charset="-122"/>
                <a:cs typeface="Cairo" pitchFamily="34" charset="-120"/>
              </a:rPr>
              <a:t>12</a:t>
            </a:r>
            <a:endParaRPr lang="ar-SA" sz="1400" dirty="0"/>
          </a:p>
        </p:txBody>
      </p:sp>
      <p:sp>
        <p:nvSpPr>
          <p:cNvPr id="17" name="Shape 14"/>
          <p:cNvSpPr/>
          <p:nvPr/>
        </p:nvSpPr>
        <p:spPr>
          <a:xfrm>
            <a:off x="1625317" y="1783080"/>
            <a:ext cx="656825" cy="502920"/>
          </a:xfrm>
          <a:prstGeom prst="rect">
            <a:avLst/>
          </a:prstGeom>
          <a:solidFill>
            <a:srgbClr val="A6D04B"/>
          </a:solidFill>
          <a:ln w="12700">
            <a:solidFill>
              <a:srgbClr val="A6D04B"/>
            </a:solidFill>
            <a:prstDash val="solid"/>
          </a:ln>
        </p:spPr>
      </p:sp>
      <p:sp>
        <p:nvSpPr>
          <p:cNvPr id="18" name="Text 15"/>
          <p:cNvSpPr txBox="1"/>
          <p:nvPr/>
        </p:nvSpPr>
        <p:spPr>
          <a:xfrm>
            <a:off x="1625317" y="1783080"/>
            <a:ext cx="656825" cy="502920"/>
          </a:xfrm>
          <a:prstGeom prst="rect">
            <a:avLst/>
          </a:prstGeom>
          <a:noFill/>
          <a:ln/>
        </p:spPr>
        <p:txBody>
          <a:bodyPr wrap="square" lIns="0" tIns="0" rIns="0" bIns="0" rtlCol="0" anchor="ctr"/>
          <a:lstStyle/>
          <a:p>
            <a:pPr rtl="1" algn="ctr" indent="0" marL="0">
              <a:lnSpc>
                <a:spcPct val="100000"/>
              </a:lnSpc>
              <a:buNone/>
            </a:pPr>
            <a:r>
              <a:rPr lang="ar-SA" altLang="en-US" sz="1400" b="1" dirty="0">
                <a:solidFill>
                  <a:srgbClr val="1A1A1A"/>
                </a:solidFill>
                <a:latin typeface="Cairo" pitchFamily="34" charset="0"/>
                <a:ea typeface="Cairo" pitchFamily="34" charset="-122"/>
                <a:cs typeface="Cairo" pitchFamily="34" charset="-120"/>
              </a:rPr>
              <a:t>6</a:t>
            </a:r>
            <a:endParaRPr lang="ar-SA" sz="1400" dirty="0"/>
          </a:p>
        </p:txBody>
      </p:sp>
      <p:sp>
        <p:nvSpPr>
          <p:cNvPr id="19" name="Shape 16"/>
          <p:cNvSpPr/>
          <p:nvPr/>
        </p:nvSpPr>
        <p:spPr>
          <a:xfrm>
            <a:off x="585216" y="1783080"/>
            <a:ext cx="1003525" cy="502920"/>
          </a:xfrm>
          <a:prstGeom prst="rect">
            <a:avLst/>
          </a:prstGeom>
          <a:solidFill>
            <a:srgbClr val="000000"/>
          </a:solidFill>
          <a:ln w="12700">
            <a:solidFill>
              <a:srgbClr val="000000"/>
            </a:solidFill>
            <a:prstDash val="solid"/>
          </a:ln>
        </p:spPr>
      </p:sp>
      <p:sp>
        <p:nvSpPr>
          <p:cNvPr id="20" name="Text 17"/>
          <p:cNvSpPr txBox="1"/>
          <p:nvPr/>
        </p:nvSpPr>
        <p:spPr>
          <a:xfrm>
            <a:off x="585216" y="1783080"/>
            <a:ext cx="1003525" cy="502920"/>
          </a:xfrm>
          <a:prstGeom prst="rect">
            <a:avLst/>
          </a:prstGeom>
          <a:noFill/>
          <a:ln/>
        </p:spPr>
        <p:txBody>
          <a:bodyPr wrap="square" lIns="0" tIns="0" rIns="0" bIns="0" rtlCol="0" anchor="ctr"/>
          <a:lstStyle/>
          <a:p>
            <a:pPr rtl="1" algn="ctr" indent="0" marL="0">
              <a:lnSpc>
                <a:spcPct val="100000"/>
              </a:lnSpc>
              <a:buNone/>
            </a:pPr>
            <a:r>
              <a:rPr lang="ar-SA" altLang="en-US" sz="1400" b="1" dirty="0">
                <a:solidFill>
                  <a:srgbClr val="FFFFFF"/>
                </a:solidFill>
                <a:latin typeface="Cairo" pitchFamily="34" charset="0"/>
                <a:ea typeface="Cairo" pitchFamily="34" charset="-122"/>
                <a:cs typeface="Cairo" pitchFamily="34" charset="-120"/>
              </a:rPr>
              <a:t>9</a:t>
            </a:r>
            <a:endParaRPr lang="ar-SA" sz="1400" dirty="0"/>
          </a:p>
        </p:txBody>
      </p:sp>
      <p:sp>
        <p:nvSpPr>
          <p:cNvPr id="21" name="Shape 18"/>
          <p:cNvSpPr/>
          <p:nvPr/>
        </p:nvSpPr>
        <p:spPr>
          <a:xfrm>
            <a:off x="9040901" y="2560320"/>
            <a:ext cx="2602154" cy="1691640"/>
          </a:xfrm>
          <a:prstGeom prst="roundRect">
            <a:avLst>
              <a:gd name="adj" fmla="val 5405"/>
            </a:avLst>
          </a:prstGeom>
          <a:solidFill>
            <a:srgbClr val="F2F4F1"/>
          </a:solidFill>
          <a:ln w="12700">
            <a:solidFill>
              <a:srgbClr val="F2F4F1"/>
            </a:solidFill>
            <a:prstDash val="solid"/>
          </a:ln>
        </p:spPr>
      </p:sp>
      <p:sp>
        <p:nvSpPr>
          <p:cNvPr id="22" name="Shape 19"/>
          <p:cNvSpPr/>
          <p:nvPr/>
        </p:nvSpPr>
        <p:spPr>
          <a:xfrm>
            <a:off x="11204143" y="2807208"/>
            <a:ext cx="237744" cy="237744"/>
          </a:xfrm>
          <a:prstGeom prst="ellipse">
            <a:avLst/>
          </a:prstGeom>
          <a:solidFill>
            <a:srgbClr val="727274"/>
          </a:solidFill>
          <a:ln w="6350">
            <a:solidFill>
              <a:srgbClr val="727274"/>
            </a:solidFill>
            <a:prstDash val="solid"/>
          </a:ln>
        </p:spPr>
      </p:sp>
      <p:sp>
        <p:nvSpPr>
          <p:cNvPr id="23" name="Text 20"/>
          <p:cNvSpPr txBox="1"/>
          <p:nvPr/>
        </p:nvSpPr>
        <p:spPr>
          <a:xfrm>
            <a:off x="9205493" y="2706624"/>
            <a:ext cx="187063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الأساس</a:t>
            </a:r>
            <a:endParaRPr lang="ar-SA" sz="1700" dirty="0"/>
          </a:p>
        </p:txBody>
      </p:sp>
      <p:sp>
        <p:nvSpPr>
          <p:cNvPr id="24" name="Text 21"/>
          <p:cNvSpPr txBox="1"/>
          <p:nvPr/>
        </p:nvSpPr>
        <p:spPr>
          <a:xfrm>
            <a:off x="9205493" y="3127248"/>
            <a:ext cx="2236394"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18 ساعة · M1–M3</a:t>
            </a:r>
            <a:endParaRPr lang="ar-SA" sz="1200" dirty="0"/>
          </a:p>
        </p:txBody>
      </p:sp>
      <p:sp>
        <p:nvSpPr>
          <p:cNvPr id="25" name="Text 22"/>
          <p:cNvSpPr txBox="1"/>
          <p:nvPr/>
        </p:nvSpPr>
        <p:spPr>
          <a:xfrm>
            <a:off x="9205493" y="3429000"/>
            <a:ext cx="2236394" cy="7772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أساسيات الذكاء الاصطناعي، الاستخدام المسؤول، الأوامر، السياق، البحث وموجز العميل</a:t>
            </a:r>
            <a:endParaRPr lang="ar-SA" sz="1300" dirty="0"/>
          </a:p>
        </p:txBody>
      </p:sp>
      <p:sp>
        <p:nvSpPr>
          <p:cNvPr id="26" name="Shape 23"/>
          <p:cNvSpPr/>
          <p:nvPr/>
        </p:nvSpPr>
        <p:spPr>
          <a:xfrm>
            <a:off x="6210148" y="2560320"/>
            <a:ext cx="2602154" cy="1691640"/>
          </a:xfrm>
          <a:prstGeom prst="roundRect">
            <a:avLst>
              <a:gd name="adj" fmla="val 5405"/>
            </a:avLst>
          </a:prstGeom>
          <a:solidFill>
            <a:srgbClr val="F2F4F1"/>
          </a:solidFill>
          <a:ln w="12700">
            <a:solidFill>
              <a:srgbClr val="F2F4F1"/>
            </a:solidFill>
            <a:prstDash val="solid"/>
          </a:ln>
        </p:spPr>
      </p:sp>
      <p:sp>
        <p:nvSpPr>
          <p:cNvPr id="27" name="Shape 24"/>
          <p:cNvSpPr/>
          <p:nvPr/>
        </p:nvSpPr>
        <p:spPr>
          <a:xfrm>
            <a:off x="8373389" y="2807208"/>
            <a:ext cx="237744" cy="237744"/>
          </a:xfrm>
          <a:prstGeom prst="ellipse">
            <a:avLst/>
          </a:prstGeom>
          <a:solidFill>
            <a:srgbClr val="4DB449"/>
          </a:solidFill>
          <a:ln w="6350">
            <a:solidFill>
              <a:srgbClr val="4DB449"/>
            </a:solidFill>
            <a:prstDash val="solid"/>
          </a:ln>
        </p:spPr>
      </p:sp>
      <p:sp>
        <p:nvSpPr>
          <p:cNvPr id="28" name="Text 25"/>
          <p:cNvSpPr txBox="1"/>
          <p:nvPr/>
        </p:nvSpPr>
        <p:spPr>
          <a:xfrm>
            <a:off x="6374740" y="2706624"/>
            <a:ext cx="187063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الإنشاء</a:t>
            </a:r>
            <a:endParaRPr lang="ar-SA" sz="1700" dirty="0"/>
          </a:p>
        </p:txBody>
      </p:sp>
      <p:sp>
        <p:nvSpPr>
          <p:cNvPr id="29" name="Text 26"/>
          <p:cNvSpPr txBox="1"/>
          <p:nvPr/>
        </p:nvSpPr>
        <p:spPr>
          <a:xfrm>
            <a:off x="6374740" y="3127248"/>
            <a:ext cx="2236394"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9 ساعة · M4</a:t>
            </a:r>
            <a:endParaRPr lang="ar-SA" sz="1200" dirty="0"/>
          </a:p>
        </p:txBody>
      </p:sp>
      <p:sp>
        <p:nvSpPr>
          <p:cNvPr id="30" name="Text 27"/>
          <p:cNvSpPr txBox="1"/>
          <p:nvPr/>
        </p:nvSpPr>
        <p:spPr>
          <a:xfrm>
            <a:off x="6374740" y="3429000"/>
            <a:ext cx="2236394" cy="7772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الكتابة التسويقية، الافتتاحيات، CTA وركائز المحتوى</a:t>
            </a:r>
            <a:endParaRPr lang="ar-SA" sz="1300" dirty="0"/>
          </a:p>
        </p:txBody>
      </p:sp>
      <p:sp>
        <p:nvSpPr>
          <p:cNvPr id="31" name="Shape 28"/>
          <p:cNvSpPr/>
          <p:nvPr/>
        </p:nvSpPr>
        <p:spPr>
          <a:xfrm>
            <a:off x="3379394" y="2560320"/>
            <a:ext cx="2602154" cy="1691640"/>
          </a:xfrm>
          <a:prstGeom prst="roundRect">
            <a:avLst>
              <a:gd name="adj" fmla="val 5405"/>
            </a:avLst>
          </a:prstGeom>
          <a:solidFill>
            <a:srgbClr val="F2F4F1"/>
          </a:solidFill>
          <a:ln w="12700">
            <a:solidFill>
              <a:srgbClr val="F2F4F1"/>
            </a:solidFill>
            <a:prstDash val="solid"/>
          </a:ln>
        </p:spPr>
      </p:sp>
      <p:sp>
        <p:nvSpPr>
          <p:cNvPr id="32" name="Shape 29"/>
          <p:cNvSpPr/>
          <p:nvPr/>
        </p:nvSpPr>
        <p:spPr>
          <a:xfrm>
            <a:off x="5542636" y="2807208"/>
            <a:ext cx="237744" cy="237744"/>
          </a:xfrm>
          <a:prstGeom prst="ellipse">
            <a:avLst/>
          </a:prstGeom>
          <a:solidFill>
            <a:srgbClr val="A6D04B"/>
          </a:solidFill>
          <a:ln w="6350">
            <a:solidFill>
              <a:srgbClr val="A6D04B"/>
            </a:solidFill>
            <a:prstDash val="solid"/>
          </a:ln>
        </p:spPr>
      </p:sp>
      <p:sp>
        <p:nvSpPr>
          <p:cNvPr id="33" name="Text 30"/>
          <p:cNvSpPr txBox="1"/>
          <p:nvPr/>
        </p:nvSpPr>
        <p:spPr>
          <a:xfrm>
            <a:off x="3543986" y="2706624"/>
            <a:ext cx="187063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الإنتاج</a:t>
            </a:r>
            <a:endParaRPr lang="ar-SA" sz="1700" dirty="0"/>
          </a:p>
        </p:txBody>
      </p:sp>
      <p:sp>
        <p:nvSpPr>
          <p:cNvPr id="34" name="Text 31"/>
          <p:cNvSpPr txBox="1"/>
          <p:nvPr/>
        </p:nvSpPr>
        <p:spPr>
          <a:xfrm>
            <a:off x="3543986" y="3127248"/>
            <a:ext cx="2236394"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33 ساعة · M5–M7</a:t>
            </a:r>
            <a:endParaRPr lang="ar-SA" sz="1200" dirty="0"/>
          </a:p>
        </p:txBody>
      </p:sp>
      <p:sp>
        <p:nvSpPr>
          <p:cNvPr id="35" name="Text 32"/>
          <p:cNvSpPr txBox="1"/>
          <p:nvPr/>
        </p:nvSpPr>
        <p:spPr>
          <a:xfrm>
            <a:off x="3543986" y="3429000"/>
            <a:ext cx="2236394" cy="7772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الشخصيات، الصوت، الصور، السيناريو، اللوحة المصوّرة، الفيديو والمونتاج</a:t>
            </a:r>
            <a:endParaRPr lang="ar-SA" sz="1300" dirty="0"/>
          </a:p>
        </p:txBody>
      </p:sp>
      <p:sp>
        <p:nvSpPr>
          <p:cNvPr id="36" name="Shape 33"/>
          <p:cNvSpPr/>
          <p:nvPr/>
        </p:nvSpPr>
        <p:spPr>
          <a:xfrm>
            <a:off x="548640" y="2560320"/>
            <a:ext cx="2602154" cy="1691640"/>
          </a:xfrm>
          <a:prstGeom prst="roundRect">
            <a:avLst>
              <a:gd name="adj" fmla="val 5405"/>
            </a:avLst>
          </a:prstGeom>
          <a:solidFill>
            <a:srgbClr val="F2F4F1"/>
          </a:solidFill>
          <a:ln w="12700">
            <a:solidFill>
              <a:srgbClr val="F2F4F1"/>
            </a:solidFill>
            <a:prstDash val="solid"/>
          </a:ln>
        </p:spPr>
      </p:sp>
      <p:sp>
        <p:nvSpPr>
          <p:cNvPr id="37" name="Shape 34"/>
          <p:cNvSpPr/>
          <p:nvPr/>
        </p:nvSpPr>
        <p:spPr>
          <a:xfrm>
            <a:off x="2711882" y="2807208"/>
            <a:ext cx="237744" cy="237744"/>
          </a:xfrm>
          <a:prstGeom prst="ellipse">
            <a:avLst/>
          </a:prstGeom>
          <a:solidFill>
            <a:srgbClr val="000000"/>
          </a:solidFill>
          <a:ln w="6350">
            <a:solidFill>
              <a:srgbClr val="000000"/>
            </a:solidFill>
            <a:prstDash val="solid"/>
          </a:ln>
        </p:spPr>
      </p:sp>
      <p:sp>
        <p:nvSpPr>
          <p:cNvPr id="38" name="Text 35"/>
          <p:cNvSpPr txBox="1"/>
          <p:nvPr/>
        </p:nvSpPr>
        <p:spPr>
          <a:xfrm>
            <a:off x="713232" y="2706624"/>
            <a:ext cx="187063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التسويق</a:t>
            </a:r>
            <a:endParaRPr lang="ar-SA" sz="1700" dirty="0"/>
          </a:p>
        </p:txBody>
      </p:sp>
      <p:sp>
        <p:nvSpPr>
          <p:cNvPr id="39" name="Text 36"/>
          <p:cNvSpPr txBox="1"/>
          <p:nvPr/>
        </p:nvSpPr>
        <p:spPr>
          <a:xfrm>
            <a:off x="713232" y="3127248"/>
            <a:ext cx="2236394"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9 ساعة · M8</a:t>
            </a:r>
            <a:endParaRPr lang="ar-SA" sz="1200" dirty="0"/>
          </a:p>
        </p:txBody>
      </p:sp>
      <p:sp>
        <p:nvSpPr>
          <p:cNvPr id="40" name="Text 37"/>
          <p:cNvSpPr txBox="1"/>
          <p:nvPr/>
        </p:nvSpPr>
        <p:spPr>
          <a:xfrm>
            <a:off x="713232" y="3429000"/>
            <a:ext cx="2236394" cy="7772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شخصية الجمهور، الأهداف، تقويم المحتوى والحملات</a:t>
            </a:r>
            <a:endParaRPr lang="ar-SA" sz="1300" dirty="0"/>
          </a:p>
        </p:txBody>
      </p:sp>
      <p:sp>
        <p:nvSpPr>
          <p:cNvPr id="41" name="Shape 38"/>
          <p:cNvSpPr/>
          <p:nvPr/>
        </p:nvSpPr>
        <p:spPr>
          <a:xfrm>
            <a:off x="9040901" y="4453128"/>
            <a:ext cx="2602154" cy="1691640"/>
          </a:xfrm>
          <a:prstGeom prst="roundRect">
            <a:avLst>
              <a:gd name="adj" fmla="val 5405"/>
            </a:avLst>
          </a:prstGeom>
          <a:solidFill>
            <a:srgbClr val="F2F4F1"/>
          </a:solidFill>
          <a:ln w="12700">
            <a:solidFill>
              <a:srgbClr val="F2F4F1"/>
            </a:solidFill>
            <a:prstDash val="solid"/>
          </a:ln>
        </p:spPr>
      </p:sp>
      <p:sp>
        <p:nvSpPr>
          <p:cNvPr id="42" name="Shape 39"/>
          <p:cNvSpPr/>
          <p:nvPr/>
        </p:nvSpPr>
        <p:spPr>
          <a:xfrm>
            <a:off x="11204143" y="4700016"/>
            <a:ext cx="237744" cy="237744"/>
          </a:xfrm>
          <a:prstGeom prst="ellipse">
            <a:avLst/>
          </a:prstGeom>
          <a:solidFill>
            <a:srgbClr val="4DB449"/>
          </a:solidFill>
          <a:ln w="6350">
            <a:solidFill>
              <a:srgbClr val="4DB449"/>
            </a:solidFill>
            <a:prstDash val="solid"/>
          </a:ln>
        </p:spPr>
      </p:sp>
      <p:sp>
        <p:nvSpPr>
          <p:cNvPr id="43" name="Text 40"/>
          <p:cNvSpPr txBox="1"/>
          <p:nvPr/>
        </p:nvSpPr>
        <p:spPr>
          <a:xfrm>
            <a:off x="9205493" y="4599432"/>
            <a:ext cx="187063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الأتمتة</a:t>
            </a:r>
            <a:endParaRPr lang="ar-SA" sz="1700" dirty="0"/>
          </a:p>
        </p:txBody>
      </p:sp>
      <p:sp>
        <p:nvSpPr>
          <p:cNvPr id="44" name="Text 41"/>
          <p:cNvSpPr txBox="1"/>
          <p:nvPr/>
        </p:nvSpPr>
        <p:spPr>
          <a:xfrm>
            <a:off x="9205493" y="5020056"/>
            <a:ext cx="2236394"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12 ساعة · M9</a:t>
            </a:r>
            <a:endParaRPr lang="ar-SA" sz="1200" dirty="0"/>
          </a:p>
        </p:txBody>
      </p:sp>
      <p:sp>
        <p:nvSpPr>
          <p:cNvPr id="45" name="Text 42"/>
          <p:cNvSpPr txBox="1"/>
          <p:nvPr/>
        </p:nvSpPr>
        <p:spPr>
          <a:xfrm>
            <a:off x="9205493" y="5321808"/>
            <a:ext cx="2236394" cy="7772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سير عمل n8n مع النماذج والشروط وGoogle Sheets والذكاء الاصطناعي</a:t>
            </a:r>
            <a:endParaRPr lang="ar-SA" sz="1300" dirty="0"/>
          </a:p>
        </p:txBody>
      </p:sp>
      <p:sp>
        <p:nvSpPr>
          <p:cNvPr id="46" name="Shape 43"/>
          <p:cNvSpPr/>
          <p:nvPr/>
        </p:nvSpPr>
        <p:spPr>
          <a:xfrm>
            <a:off x="6210148" y="4453128"/>
            <a:ext cx="2602154" cy="1691640"/>
          </a:xfrm>
          <a:prstGeom prst="roundRect">
            <a:avLst>
              <a:gd name="adj" fmla="val 5405"/>
            </a:avLst>
          </a:prstGeom>
          <a:solidFill>
            <a:srgbClr val="F2F4F1"/>
          </a:solidFill>
          <a:ln w="12700">
            <a:solidFill>
              <a:srgbClr val="F2F4F1"/>
            </a:solidFill>
            <a:prstDash val="solid"/>
          </a:ln>
        </p:spPr>
      </p:sp>
      <p:sp>
        <p:nvSpPr>
          <p:cNvPr id="47" name="Shape 44"/>
          <p:cNvSpPr/>
          <p:nvPr/>
        </p:nvSpPr>
        <p:spPr>
          <a:xfrm>
            <a:off x="8373389" y="4700016"/>
            <a:ext cx="237744" cy="237744"/>
          </a:xfrm>
          <a:prstGeom prst="ellipse">
            <a:avLst/>
          </a:prstGeom>
          <a:solidFill>
            <a:srgbClr val="A6D04B"/>
          </a:solidFill>
          <a:ln w="6350">
            <a:solidFill>
              <a:srgbClr val="A6D04B"/>
            </a:solidFill>
            <a:prstDash val="solid"/>
          </a:ln>
        </p:spPr>
      </p:sp>
      <p:sp>
        <p:nvSpPr>
          <p:cNvPr id="48" name="Text 45"/>
          <p:cNvSpPr txBox="1"/>
          <p:nvPr/>
        </p:nvSpPr>
        <p:spPr>
          <a:xfrm>
            <a:off x="6374740" y="4599432"/>
            <a:ext cx="187063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الانطلاق</a:t>
            </a:r>
            <a:endParaRPr lang="ar-SA" sz="1700" dirty="0"/>
          </a:p>
        </p:txBody>
      </p:sp>
      <p:sp>
        <p:nvSpPr>
          <p:cNvPr id="49" name="Text 46"/>
          <p:cNvSpPr txBox="1"/>
          <p:nvPr/>
        </p:nvSpPr>
        <p:spPr>
          <a:xfrm>
            <a:off x="6374740" y="5020056"/>
            <a:ext cx="2236394"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6 ساعة · M10</a:t>
            </a:r>
            <a:endParaRPr lang="ar-SA" sz="1200" dirty="0"/>
          </a:p>
        </p:txBody>
      </p:sp>
      <p:sp>
        <p:nvSpPr>
          <p:cNvPr id="50" name="Text 47"/>
          <p:cNvSpPr txBox="1"/>
          <p:nvPr/>
        </p:nvSpPr>
        <p:spPr>
          <a:xfrm>
            <a:off x="6374740" y="5321808"/>
            <a:ext cx="2236394" cy="7772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ملف مهني بالوصف، تصميم الخدمات، التواصل مع العميل</a:t>
            </a:r>
            <a:endParaRPr lang="ar-SA" sz="1300" dirty="0"/>
          </a:p>
        </p:txBody>
      </p:sp>
      <p:sp>
        <p:nvSpPr>
          <p:cNvPr id="51" name="Shape 48"/>
          <p:cNvSpPr/>
          <p:nvPr/>
        </p:nvSpPr>
        <p:spPr>
          <a:xfrm>
            <a:off x="3379394" y="4453128"/>
            <a:ext cx="2602154" cy="1691640"/>
          </a:xfrm>
          <a:prstGeom prst="roundRect">
            <a:avLst>
              <a:gd name="adj" fmla="val 5405"/>
            </a:avLst>
          </a:prstGeom>
          <a:solidFill>
            <a:srgbClr val="F2F4F1"/>
          </a:solidFill>
          <a:ln w="12700">
            <a:solidFill>
              <a:srgbClr val="F2F4F1"/>
            </a:solidFill>
            <a:prstDash val="solid"/>
          </a:ln>
        </p:spPr>
      </p:sp>
      <p:sp>
        <p:nvSpPr>
          <p:cNvPr id="52" name="Shape 49"/>
          <p:cNvSpPr/>
          <p:nvPr/>
        </p:nvSpPr>
        <p:spPr>
          <a:xfrm>
            <a:off x="5542636" y="4700016"/>
            <a:ext cx="237744" cy="237744"/>
          </a:xfrm>
          <a:prstGeom prst="ellipse">
            <a:avLst/>
          </a:prstGeom>
          <a:solidFill>
            <a:srgbClr val="000000"/>
          </a:solidFill>
          <a:ln w="6350">
            <a:solidFill>
              <a:srgbClr val="000000"/>
            </a:solidFill>
            <a:prstDash val="solid"/>
          </a:ln>
        </p:spPr>
      </p:sp>
      <p:sp>
        <p:nvSpPr>
          <p:cNvPr id="53" name="Text 50"/>
          <p:cNvSpPr txBox="1"/>
          <p:nvPr/>
        </p:nvSpPr>
        <p:spPr>
          <a:xfrm>
            <a:off x="3543986" y="4599432"/>
            <a:ext cx="187063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المشروع الختامي</a:t>
            </a:r>
            <a:endParaRPr lang="ar-SA" sz="1700" dirty="0"/>
          </a:p>
        </p:txBody>
      </p:sp>
      <p:sp>
        <p:nvSpPr>
          <p:cNvPr id="54" name="Text 51"/>
          <p:cNvSpPr txBox="1"/>
          <p:nvPr/>
        </p:nvSpPr>
        <p:spPr>
          <a:xfrm>
            <a:off x="3543986" y="5020056"/>
            <a:ext cx="2236394"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9 ساعة · M11</a:t>
            </a:r>
            <a:endParaRPr lang="ar-SA" sz="1200" dirty="0"/>
          </a:p>
        </p:txBody>
      </p:sp>
      <p:sp>
        <p:nvSpPr>
          <p:cNvPr id="55" name="Text 52"/>
          <p:cNvSpPr txBox="1"/>
          <p:nvPr/>
        </p:nvSpPr>
        <p:spPr>
          <a:xfrm>
            <a:off x="3543986" y="5321808"/>
            <a:ext cx="2236394" cy="7772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عمل الاستوديو، التقييم البعدي ويوم العرض</a:t>
            </a:r>
            <a:endParaRPr lang="ar-SA" sz="1300" dirty="0"/>
          </a:p>
        </p:txBody>
      </p:sp>
      <p:sp>
        <p:nvSpPr>
          <p:cNvPr id="56" name="Shape 53"/>
          <p:cNvSpPr/>
          <p:nvPr/>
        </p:nvSpPr>
        <p:spPr>
          <a:xfrm>
            <a:off x="548640" y="4453128"/>
            <a:ext cx="2602154" cy="1691640"/>
          </a:xfrm>
          <a:prstGeom prst="roundRect">
            <a:avLst>
              <a:gd name="adj" fmla="val 5405"/>
            </a:avLst>
          </a:prstGeom>
          <a:solidFill>
            <a:srgbClr val="000000"/>
          </a:solidFill>
          <a:ln w="12700">
            <a:solidFill>
              <a:srgbClr val="000000"/>
            </a:solidFill>
            <a:prstDash val="solid"/>
          </a:ln>
        </p:spPr>
      </p:sp>
      <p:sp>
        <p:nvSpPr>
          <p:cNvPr id="57" name="Text 54"/>
          <p:cNvSpPr txBox="1"/>
          <p:nvPr/>
        </p:nvSpPr>
        <p:spPr>
          <a:xfrm>
            <a:off x="777240" y="4636008"/>
            <a:ext cx="2144954" cy="868680"/>
          </a:xfrm>
          <a:prstGeom prst="rect">
            <a:avLst/>
          </a:prstGeom>
          <a:noFill/>
          <a:ln/>
        </p:spPr>
        <p:txBody>
          <a:bodyPr wrap="square" lIns="0" tIns="0" rIns="0" bIns="0" rtlCol="0" anchor="t"/>
          <a:lstStyle/>
          <a:p>
            <a:pPr rtl="1" algn="r" indent="0" marL="0">
              <a:lnSpc>
                <a:spcPct val="100000"/>
              </a:lnSpc>
              <a:buNone/>
            </a:pPr>
            <a:r>
              <a:rPr lang="ar-SA" altLang="en-US" sz="5400" b="1" dirty="0">
                <a:solidFill>
                  <a:srgbClr val="A6D04B"/>
                </a:solidFill>
                <a:latin typeface="Cairo" pitchFamily="34" charset="0"/>
                <a:ea typeface="Cairo" pitchFamily="34" charset="-122"/>
                <a:cs typeface="Cairo" pitchFamily="34" charset="-120"/>
              </a:rPr>
              <a:t>96</a:t>
            </a:r>
            <a:endParaRPr lang="ar-SA" sz="5400" dirty="0"/>
          </a:p>
        </p:txBody>
      </p:sp>
      <p:sp>
        <p:nvSpPr>
          <p:cNvPr id="58" name="Text 55"/>
          <p:cNvSpPr txBox="1"/>
          <p:nvPr/>
        </p:nvSpPr>
        <p:spPr>
          <a:xfrm>
            <a:off x="777240" y="5550408"/>
            <a:ext cx="2144954" cy="365760"/>
          </a:xfrm>
          <a:prstGeom prst="rect">
            <a:avLst/>
          </a:prstGeom>
          <a:noFill/>
          <a:ln/>
        </p:spPr>
        <p:txBody>
          <a:bodyPr wrap="square" lIns="0" tIns="0" rIns="0" bIns="0" rtlCol="0" anchor="t"/>
          <a:lstStyle/>
          <a:p>
            <a:pPr rtl="1" algn="r" indent="0" marL="0">
              <a:lnSpc>
                <a:spcPct val="100000"/>
              </a:lnSpc>
              <a:buNone/>
            </a:pPr>
            <a:r>
              <a:rPr lang="ar-SA" altLang="en-US" sz="1500" dirty="0">
                <a:solidFill>
                  <a:srgbClr val="FFFFFF"/>
                </a:solidFill>
                <a:latin typeface="IBM Plex Sans Arabic" pitchFamily="34" charset="0"/>
                <a:ea typeface="IBM Plex Sans Arabic" pitchFamily="34" charset="-122"/>
                <a:cs typeface="IBM Plex Sans Arabic" pitchFamily="34" charset="-120"/>
              </a:rPr>
              <a:t>ساعة تدريبية في المجموع</a:t>
            </a:r>
            <a:endParaRPr lang="ar-SA"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7</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06 · صناعة المحتوى بالذكاء الاصطناعي</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محتوى يستوقف القارئ، والذكاء الاصطناعي شريك في المسودة</a:t>
            </a:r>
            <a:endParaRPr lang="ar-SA" sz="2600" dirty="0"/>
          </a:p>
        </p:txBody>
      </p:sp>
      <p:sp>
        <p:nvSpPr>
          <p:cNvPr id="7" name="Text 4"/>
          <p:cNvSpPr txBox="1"/>
          <p:nvPr/>
        </p:nvSpPr>
        <p:spPr>
          <a:xfrm>
            <a:off x="6522415" y="1828800"/>
            <a:ext cx="5120640" cy="1325880"/>
          </a:xfrm>
          <a:prstGeom prst="rect">
            <a:avLst/>
          </a:prstGeom>
          <a:noFill/>
          <a:ln/>
        </p:spPr>
        <p:txBody>
          <a:bodyPr wrap="square" lIns="0" tIns="0" rIns="0" bIns="0" rtlCol="0" anchor="t"/>
          <a:lstStyle/>
          <a:p>
            <a:pPr rtl="1" algn="r" indent="0" marL="0">
              <a:lnSpc>
                <a:spcPct val="105000"/>
              </a:lnSpc>
              <a:buNone/>
            </a:pPr>
            <a:r>
              <a:rPr lang="ar-SA" altLang="en-US" sz="1600" dirty="0">
                <a:solidFill>
                  <a:srgbClr val="2E302D"/>
                </a:solidFill>
                <a:latin typeface="IBM Plex Sans Arabic" pitchFamily="34" charset="0"/>
                <a:ea typeface="IBM Plex Sans Arabic" pitchFamily="34" charset="-122"/>
                <a:cs typeface="IBM Plex Sans Arabic" pitchFamily="34" charset="-120"/>
              </a:rPr>
              <a:t>يتعلّم الطالب كيف يوجّه المساعد الذكي توجيهاً صحيحاً، ثم يعيد كتابة المسودة حتى تبدو بشرية ومتسقة مع العلامة. كل تمرين يبدأ من حاجة العميل، لا من الأداة.</a:t>
            </a:r>
            <a:endParaRPr lang="ar-SA" sz="1600" dirty="0"/>
          </a:p>
        </p:txBody>
      </p:sp>
      <p:sp>
        <p:nvSpPr>
          <p:cNvPr id="8" name="Shape 5"/>
          <p:cNvSpPr/>
          <p:nvPr/>
        </p:nvSpPr>
        <p:spPr>
          <a:xfrm>
            <a:off x="9174175" y="3337560"/>
            <a:ext cx="2468880" cy="438912"/>
          </a:xfrm>
          <a:prstGeom prst="roundRect">
            <a:avLst>
              <a:gd name="adj" fmla="val 50000"/>
            </a:avLst>
          </a:prstGeom>
          <a:solidFill>
            <a:srgbClr val="000000"/>
          </a:solidFill>
          <a:ln w="9525">
            <a:solidFill>
              <a:srgbClr val="000000"/>
            </a:solidFill>
            <a:prstDash val="solid"/>
          </a:ln>
        </p:spPr>
      </p:sp>
      <p:sp>
        <p:nvSpPr>
          <p:cNvPr id="9" name="Text 6"/>
          <p:cNvSpPr txBox="1"/>
          <p:nvPr/>
        </p:nvSpPr>
        <p:spPr>
          <a:xfrm>
            <a:off x="9283903" y="3337560"/>
            <a:ext cx="2249424" cy="438912"/>
          </a:xfrm>
          <a:prstGeom prst="rect">
            <a:avLst/>
          </a:prstGeom>
          <a:noFill/>
          <a:ln/>
        </p:spPr>
        <p:txBody>
          <a:bodyPr wrap="square" lIns="0" tIns="0" rIns="0" bIns="0" rtlCol="0" anchor="ctr"/>
          <a:lstStyle/>
          <a:p>
            <a:pPr rtl="1" algn="ctr" indent="0" marL="0">
              <a:lnSpc>
                <a:spcPct val="100000"/>
              </a:lnSpc>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هندسة الأوامر والسياق</a:t>
            </a:r>
            <a:endParaRPr lang="ar-SA" sz="1300" dirty="0"/>
          </a:p>
        </p:txBody>
      </p:sp>
      <p:sp>
        <p:nvSpPr>
          <p:cNvPr id="10" name="Shape 7"/>
          <p:cNvSpPr/>
          <p:nvPr/>
        </p:nvSpPr>
        <p:spPr>
          <a:xfrm>
            <a:off x="6568135" y="3337560"/>
            <a:ext cx="2468880" cy="438912"/>
          </a:xfrm>
          <a:prstGeom prst="roundRect">
            <a:avLst>
              <a:gd name="adj" fmla="val 50000"/>
            </a:avLst>
          </a:prstGeom>
          <a:solidFill>
            <a:srgbClr val="000000"/>
          </a:solidFill>
          <a:ln w="9525">
            <a:solidFill>
              <a:srgbClr val="000000"/>
            </a:solidFill>
            <a:prstDash val="solid"/>
          </a:ln>
        </p:spPr>
      </p:sp>
      <p:sp>
        <p:nvSpPr>
          <p:cNvPr id="11" name="Text 8"/>
          <p:cNvSpPr txBox="1"/>
          <p:nvPr/>
        </p:nvSpPr>
        <p:spPr>
          <a:xfrm>
            <a:off x="6677863" y="3337560"/>
            <a:ext cx="2249424" cy="438912"/>
          </a:xfrm>
          <a:prstGeom prst="rect">
            <a:avLst/>
          </a:prstGeom>
          <a:noFill/>
          <a:ln/>
        </p:spPr>
        <p:txBody>
          <a:bodyPr wrap="square" lIns="0" tIns="0" rIns="0" bIns="0" rtlCol="0" anchor="ctr"/>
          <a:lstStyle/>
          <a:p>
            <a:pPr rtl="1" algn="ctr" indent="0" marL="0">
              <a:lnSpc>
                <a:spcPct val="100000"/>
              </a:lnSpc>
              <a:buNone/>
            </a:pPr>
            <a:r>
              <a:rPr lang="ar-SA" altLang="en-US" sz="1300" dirty="0">
                <a:solidFill>
                  <a:srgbClr val="FFFFFF"/>
                </a:solidFill>
                <a:latin typeface="IBM Plex Sans Arabic" pitchFamily="34" charset="0"/>
                <a:ea typeface="IBM Plex Sans Arabic" pitchFamily="34" charset="-122"/>
                <a:cs typeface="IBM Plex Sans Arabic" pitchFamily="34" charset="-120"/>
              </a:rPr>
              <a:t>البحث والتحقق</a:t>
            </a:r>
            <a:endParaRPr lang="ar-SA" sz="1300" dirty="0"/>
          </a:p>
        </p:txBody>
      </p:sp>
      <p:sp>
        <p:nvSpPr>
          <p:cNvPr id="12" name="Shape 9"/>
          <p:cNvSpPr/>
          <p:nvPr/>
        </p:nvSpPr>
        <p:spPr>
          <a:xfrm>
            <a:off x="9174175" y="3904488"/>
            <a:ext cx="2468880" cy="438912"/>
          </a:xfrm>
          <a:prstGeom prst="roundRect">
            <a:avLst>
              <a:gd name="adj" fmla="val 50000"/>
            </a:avLst>
          </a:prstGeom>
          <a:solidFill>
            <a:srgbClr val="F2F4F1"/>
          </a:solidFill>
          <a:ln w="9525">
            <a:solidFill>
              <a:srgbClr val="F2F4F1"/>
            </a:solidFill>
            <a:prstDash val="solid"/>
          </a:ln>
        </p:spPr>
      </p:sp>
      <p:sp>
        <p:nvSpPr>
          <p:cNvPr id="13" name="Text 10"/>
          <p:cNvSpPr txBox="1"/>
          <p:nvPr/>
        </p:nvSpPr>
        <p:spPr>
          <a:xfrm>
            <a:off x="9283903" y="3904488"/>
            <a:ext cx="2249424" cy="438912"/>
          </a:xfrm>
          <a:prstGeom prst="rect">
            <a:avLst/>
          </a:prstGeom>
          <a:noFill/>
          <a:ln/>
        </p:spPr>
        <p:txBody>
          <a:bodyPr wrap="square" lIns="0" tIns="0" rIns="0" bIns="0" rtlCol="0" anchor="ctr"/>
          <a:lstStyle/>
          <a:p>
            <a:pPr rtl="1" algn="ctr" indent="0" marL="0">
              <a:lnSpc>
                <a:spcPct val="100000"/>
              </a:lnSpc>
              <a:buNone/>
            </a:pPr>
            <a:r>
              <a:rPr lang="ar-SA" altLang="en-US" sz="1300" dirty="0">
                <a:solidFill>
                  <a:srgbClr val="1A1A1A"/>
                </a:solidFill>
                <a:latin typeface="IBM Plex Sans Arabic" pitchFamily="34" charset="0"/>
                <a:ea typeface="IBM Plex Sans Arabic" pitchFamily="34" charset="-122"/>
                <a:cs typeface="IBM Plex Sans Arabic" pitchFamily="34" charset="-120"/>
              </a:rPr>
              <a:t>الموجز الإبداعي</a:t>
            </a:r>
            <a:endParaRPr lang="ar-SA" sz="1300" dirty="0"/>
          </a:p>
        </p:txBody>
      </p:sp>
      <p:sp>
        <p:nvSpPr>
          <p:cNvPr id="14" name="Shape 11"/>
          <p:cNvSpPr/>
          <p:nvPr/>
        </p:nvSpPr>
        <p:spPr>
          <a:xfrm>
            <a:off x="6568135" y="3904488"/>
            <a:ext cx="2468880" cy="438912"/>
          </a:xfrm>
          <a:prstGeom prst="roundRect">
            <a:avLst>
              <a:gd name="adj" fmla="val 50000"/>
            </a:avLst>
          </a:prstGeom>
          <a:solidFill>
            <a:srgbClr val="F2F4F1"/>
          </a:solidFill>
          <a:ln w="9525">
            <a:solidFill>
              <a:srgbClr val="F2F4F1"/>
            </a:solidFill>
            <a:prstDash val="solid"/>
          </a:ln>
        </p:spPr>
      </p:sp>
      <p:sp>
        <p:nvSpPr>
          <p:cNvPr id="15" name="Text 12"/>
          <p:cNvSpPr txBox="1"/>
          <p:nvPr/>
        </p:nvSpPr>
        <p:spPr>
          <a:xfrm>
            <a:off x="6677863" y="3904488"/>
            <a:ext cx="2249424" cy="438912"/>
          </a:xfrm>
          <a:prstGeom prst="rect">
            <a:avLst/>
          </a:prstGeom>
          <a:noFill/>
          <a:ln/>
        </p:spPr>
        <p:txBody>
          <a:bodyPr wrap="square" lIns="0" tIns="0" rIns="0" bIns="0" rtlCol="0" anchor="ctr"/>
          <a:lstStyle/>
          <a:p>
            <a:pPr rtl="1" algn="ctr" indent="0" marL="0">
              <a:lnSpc>
                <a:spcPct val="100000"/>
              </a:lnSpc>
              <a:buNone/>
            </a:pPr>
            <a:r>
              <a:rPr lang="ar-SA" altLang="en-US" sz="1300" dirty="0">
                <a:solidFill>
                  <a:srgbClr val="1A1A1A"/>
                </a:solidFill>
                <a:latin typeface="IBM Plex Sans Arabic" pitchFamily="34" charset="0"/>
                <a:ea typeface="IBM Plex Sans Arabic" pitchFamily="34" charset="-122"/>
                <a:cs typeface="IBM Plex Sans Arabic" pitchFamily="34" charset="-120"/>
              </a:rPr>
              <a:t>الكتابة التسويقية (AIDA وPAS)</a:t>
            </a:r>
            <a:endParaRPr lang="ar-SA" sz="1300" dirty="0"/>
          </a:p>
        </p:txBody>
      </p:sp>
      <p:sp>
        <p:nvSpPr>
          <p:cNvPr id="16" name="Shape 13"/>
          <p:cNvSpPr/>
          <p:nvPr/>
        </p:nvSpPr>
        <p:spPr>
          <a:xfrm>
            <a:off x="9174175" y="4471416"/>
            <a:ext cx="2468880" cy="438912"/>
          </a:xfrm>
          <a:prstGeom prst="roundRect">
            <a:avLst>
              <a:gd name="adj" fmla="val 50000"/>
            </a:avLst>
          </a:prstGeom>
          <a:solidFill>
            <a:srgbClr val="F2F4F1"/>
          </a:solidFill>
          <a:ln w="9525">
            <a:solidFill>
              <a:srgbClr val="F2F4F1"/>
            </a:solidFill>
            <a:prstDash val="solid"/>
          </a:ln>
        </p:spPr>
      </p:sp>
      <p:sp>
        <p:nvSpPr>
          <p:cNvPr id="17" name="Text 14"/>
          <p:cNvSpPr txBox="1"/>
          <p:nvPr/>
        </p:nvSpPr>
        <p:spPr>
          <a:xfrm>
            <a:off x="9283903" y="4471416"/>
            <a:ext cx="2249424" cy="438912"/>
          </a:xfrm>
          <a:prstGeom prst="rect">
            <a:avLst/>
          </a:prstGeom>
          <a:noFill/>
          <a:ln/>
        </p:spPr>
        <p:txBody>
          <a:bodyPr wrap="square" lIns="0" tIns="0" rIns="0" bIns="0" rtlCol="0" anchor="ctr"/>
          <a:lstStyle/>
          <a:p>
            <a:pPr rtl="1" algn="ctr" indent="0" marL="0">
              <a:lnSpc>
                <a:spcPct val="100000"/>
              </a:lnSpc>
              <a:buNone/>
            </a:pPr>
            <a:r>
              <a:rPr lang="ar-SA" altLang="en-US" sz="1300" dirty="0">
                <a:solidFill>
                  <a:srgbClr val="1A1A1A"/>
                </a:solidFill>
                <a:latin typeface="IBM Plex Sans Arabic" pitchFamily="34" charset="0"/>
                <a:ea typeface="IBM Plex Sans Arabic" pitchFamily="34" charset="-122"/>
                <a:cs typeface="IBM Plex Sans Arabic" pitchFamily="34" charset="-120"/>
              </a:rPr>
              <a:t>الافتتاحيات وCTA</a:t>
            </a:r>
            <a:endParaRPr lang="ar-SA" sz="1300" dirty="0"/>
          </a:p>
        </p:txBody>
      </p:sp>
      <p:sp>
        <p:nvSpPr>
          <p:cNvPr id="18" name="Shape 15"/>
          <p:cNvSpPr/>
          <p:nvPr/>
        </p:nvSpPr>
        <p:spPr>
          <a:xfrm>
            <a:off x="6568135" y="4471416"/>
            <a:ext cx="2468880" cy="438912"/>
          </a:xfrm>
          <a:prstGeom prst="roundRect">
            <a:avLst>
              <a:gd name="adj" fmla="val 50000"/>
            </a:avLst>
          </a:prstGeom>
          <a:solidFill>
            <a:srgbClr val="F2F4F1"/>
          </a:solidFill>
          <a:ln w="9525">
            <a:solidFill>
              <a:srgbClr val="F2F4F1"/>
            </a:solidFill>
            <a:prstDash val="solid"/>
          </a:ln>
        </p:spPr>
      </p:sp>
      <p:sp>
        <p:nvSpPr>
          <p:cNvPr id="19" name="Text 16"/>
          <p:cNvSpPr txBox="1"/>
          <p:nvPr/>
        </p:nvSpPr>
        <p:spPr>
          <a:xfrm>
            <a:off x="6677863" y="4471416"/>
            <a:ext cx="2249424" cy="438912"/>
          </a:xfrm>
          <a:prstGeom prst="rect">
            <a:avLst/>
          </a:prstGeom>
          <a:noFill/>
          <a:ln/>
        </p:spPr>
        <p:txBody>
          <a:bodyPr wrap="square" lIns="0" tIns="0" rIns="0" bIns="0" rtlCol="0" anchor="ctr"/>
          <a:lstStyle/>
          <a:p>
            <a:pPr rtl="1" algn="ctr" indent="0" marL="0">
              <a:lnSpc>
                <a:spcPct val="100000"/>
              </a:lnSpc>
              <a:buNone/>
            </a:pPr>
            <a:r>
              <a:rPr lang="ar-SA" altLang="en-US" sz="1300" dirty="0">
                <a:solidFill>
                  <a:srgbClr val="1A1A1A"/>
                </a:solidFill>
                <a:latin typeface="IBM Plex Sans Arabic" pitchFamily="34" charset="0"/>
                <a:ea typeface="IBM Plex Sans Arabic" pitchFamily="34" charset="-122"/>
                <a:cs typeface="IBM Plex Sans Arabic" pitchFamily="34" charset="-120"/>
              </a:rPr>
              <a:t>ركائز المحتوى</a:t>
            </a:r>
            <a:endParaRPr lang="ar-SA" sz="1300" dirty="0"/>
          </a:p>
        </p:txBody>
      </p:sp>
      <p:sp>
        <p:nvSpPr>
          <p:cNvPr id="20" name="Text 17"/>
          <p:cNvSpPr txBox="1"/>
          <p:nvPr/>
        </p:nvSpPr>
        <p:spPr>
          <a:xfrm>
            <a:off x="6522415" y="5212080"/>
            <a:ext cx="5120640" cy="320040"/>
          </a:xfrm>
          <a:prstGeom prst="rect">
            <a:avLst/>
          </a:prstGeom>
          <a:noFill/>
          <a:ln/>
        </p:spPr>
        <p:txBody>
          <a:bodyPr wrap="square" lIns="0" tIns="0" rIns="0" bIns="0" rtlCol="0" anchor="t"/>
          <a:lstStyle/>
          <a:p>
            <a:pPr rtl="1" algn="r" indent="0" marL="0">
              <a:lnSpc>
                <a:spcPct val="100000"/>
              </a:lnSpc>
              <a:buNone/>
            </a:pPr>
            <a:r>
              <a:rPr lang="ar-SA" altLang="en-US" sz="1300" b="1" dirty="0">
                <a:solidFill>
                  <a:srgbClr val="727274"/>
                </a:solidFill>
                <a:latin typeface="IBM Plex Sans Arabic" pitchFamily="34" charset="0"/>
                <a:ea typeface="IBM Plex Sans Arabic" pitchFamily="34" charset="-122"/>
                <a:cs typeface="IBM Plex Sans Arabic" pitchFamily="34" charset="-120"/>
              </a:rPr>
              <a:t>الأدوات: ChatGPT · Gemini · Canva</a:t>
            </a:r>
            <a:endParaRPr lang="ar-SA" sz="1300" dirty="0"/>
          </a:p>
        </p:txBody>
      </p:sp>
      <p:sp>
        <p:nvSpPr>
          <p:cNvPr id="21" name="Shape 18"/>
          <p:cNvSpPr/>
          <p:nvPr/>
        </p:nvSpPr>
        <p:spPr>
          <a:xfrm>
            <a:off x="4465015" y="2971800"/>
            <a:ext cx="1554480" cy="1554480"/>
          </a:xfrm>
          <a:prstGeom prst="ellipse">
            <a:avLst/>
          </a:prstGeom>
          <a:solidFill>
            <a:srgbClr val="000000"/>
          </a:solidFill>
          <a:ln w="12700">
            <a:solidFill>
              <a:srgbClr val="000000"/>
            </a:solidFill>
            <a:prstDash val="solid"/>
          </a:ln>
        </p:spPr>
      </p:sp>
      <p:pic>
        <p:nvPicPr>
          <p:cNvPr id="22" name="Image 1" descr="preencoded.png">    </p:cNvPr>
          <p:cNvPicPr>
            <a:picLocks noChangeAspect="1"/>
          </p:cNvPicPr>
          <p:nvPr/>
        </p:nvPicPr>
        <p:blipFill>
          <a:blip r:embed="rId2"/>
          <a:stretch>
            <a:fillRect/>
          </a:stretch>
        </p:blipFill>
        <p:spPr>
          <a:xfrm>
            <a:off x="5013655" y="3246120"/>
            <a:ext cx="457200" cy="457200"/>
          </a:xfrm>
          <a:prstGeom prst="rect">
            <a:avLst/>
          </a:prstGeom>
        </p:spPr>
      </p:pic>
      <p:sp>
        <p:nvSpPr>
          <p:cNvPr id="23" name="Text 19"/>
          <p:cNvSpPr txBox="1"/>
          <p:nvPr/>
        </p:nvSpPr>
        <p:spPr>
          <a:xfrm>
            <a:off x="4556455" y="3749040"/>
            <a:ext cx="1371600" cy="457200"/>
          </a:xfrm>
          <a:prstGeom prst="rect">
            <a:avLst/>
          </a:prstGeom>
          <a:noFill/>
          <a:ln/>
        </p:spPr>
        <p:txBody>
          <a:bodyPr wrap="square" lIns="0" tIns="0" rIns="0" bIns="0" rtlCol="0" anchor="t"/>
          <a:lstStyle/>
          <a:p>
            <a:pPr rtl="1" algn="ctr" indent="0" marL="0">
              <a:lnSpc>
                <a:spcPct val="100000"/>
              </a:lnSpc>
              <a:buNone/>
            </a:pPr>
            <a:r>
              <a:rPr lang="ar-SA" altLang="en-US" sz="1600" b="1" dirty="0">
                <a:solidFill>
                  <a:srgbClr val="FFFFFF"/>
                </a:solidFill>
                <a:latin typeface="Cairo" pitchFamily="34" charset="0"/>
                <a:ea typeface="Cairo" pitchFamily="34" charset="-122"/>
                <a:cs typeface="Cairo" pitchFamily="34" charset="-120"/>
              </a:rPr>
              <a:t>فكرة واحدة</a:t>
            </a:r>
            <a:endParaRPr lang="ar-SA" sz="1600" dirty="0"/>
          </a:p>
        </p:txBody>
      </p:sp>
      <p:sp>
        <p:nvSpPr>
          <p:cNvPr id="24" name="Shape 20"/>
          <p:cNvSpPr/>
          <p:nvPr/>
        </p:nvSpPr>
        <p:spPr>
          <a:xfrm flipH="1" flipV="1">
            <a:off x="3596335" y="2468880"/>
            <a:ext cx="868680" cy="1280160"/>
          </a:xfrm>
          <a:prstGeom prst="line">
            <a:avLst/>
          </a:prstGeom>
          <a:noFill/>
          <a:ln w="25400">
            <a:solidFill>
              <a:srgbClr val="4DB449"/>
            </a:solidFill>
            <a:prstDash val="solid"/>
          </a:ln>
        </p:spPr>
      </p:sp>
      <p:sp>
        <p:nvSpPr>
          <p:cNvPr id="25" name="Shape 21"/>
          <p:cNvSpPr/>
          <p:nvPr/>
        </p:nvSpPr>
        <p:spPr>
          <a:xfrm>
            <a:off x="551383" y="1920240"/>
            <a:ext cx="3044952" cy="1097280"/>
          </a:xfrm>
          <a:prstGeom prst="roundRect">
            <a:avLst>
              <a:gd name="adj" fmla="val 8333"/>
            </a:avLst>
          </a:prstGeom>
          <a:solidFill>
            <a:srgbClr val="EAF5E8"/>
          </a:solidFill>
          <a:ln w="12700">
            <a:solidFill>
              <a:srgbClr val="EAF5E8"/>
            </a:solidFill>
            <a:prstDash val="solid"/>
          </a:ln>
        </p:spPr>
      </p:sp>
      <p:pic>
        <p:nvPicPr>
          <p:cNvPr id="26" name="Image 2" descr="preencoded.png">    </p:cNvPr>
          <p:cNvPicPr>
            <a:picLocks noChangeAspect="1"/>
          </p:cNvPicPr>
          <p:nvPr/>
        </p:nvPicPr>
        <p:blipFill>
          <a:blip r:embed="rId3"/>
          <a:stretch>
            <a:fillRect/>
          </a:stretch>
        </p:blipFill>
        <p:spPr>
          <a:xfrm>
            <a:off x="3029407" y="2121408"/>
            <a:ext cx="365760" cy="365760"/>
          </a:xfrm>
          <a:prstGeom prst="rect">
            <a:avLst/>
          </a:prstGeom>
        </p:spPr>
      </p:pic>
      <p:sp>
        <p:nvSpPr>
          <p:cNvPr id="27" name="Text 22"/>
          <p:cNvSpPr txBox="1"/>
          <p:nvPr/>
        </p:nvSpPr>
        <p:spPr>
          <a:xfrm>
            <a:off x="734263" y="2057400"/>
            <a:ext cx="2176272" cy="41148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افتتاحية ريل</a:t>
            </a:r>
            <a:endParaRPr lang="ar-SA" sz="1600" dirty="0"/>
          </a:p>
        </p:txBody>
      </p:sp>
      <p:sp>
        <p:nvSpPr>
          <p:cNvPr id="28" name="Text 23"/>
          <p:cNvSpPr txBox="1"/>
          <p:nvPr/>
        </p:nvSpPr>
        <p:spPr>
          <a:xfrm>
            <a:off x="734263" y="2468880"/>
            <a:ext cx="2176272" cy="45720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أول 3 ثوانٍ توقف التمرير</a:t>
            </a:r>
            <a:endParaRPr lang="ar-SA" sz="1300" dirty="0"/>
          </a:p>
        </p:txBody>
      </p:sp>
      <p:sp>
        <p:nvSpPr>
          <p:cNvPr id="29" name="Shape 24"/>
          <p:cNvSpPr/>
          <p:nvPr/>
        </p:nvSpPr>
        <p:spPr>
          <a:xfrm flipH="1">
            <a:off x="3596335" y="3749040"/>
            <a:ext cx="868680" cy="45720"/>
          </a:xfrm>
          <a:prstGeom prst="line">
            <a:avLst/>
          </a:prstGeom>
          <a:noFill/>
          <a:ln w="25400">
            <a:solidFill>
              <a:srgbClr val="4DB449"/>
            </a:solidFill>
            <a:prstDash val="solid"/>
          </a:ln>
        </p:spPr>
      </p:sp>
      <p:sp>
        <p:nvSpPr>
          <p:cNvPr id="30" name="Shape 25"/>
          <p:cNvSpPr/>
          <p:nvPr/>
        </p:nvSpPr>
        <p:spPr>
          <a:xfrm>
            <a:off x="551383" y="3246120"/>
            <a:ext cx="3044952" cy="1097280"/>
          </a:xfrm>
          <a:prstGeom prst="roundRect">
            <a:avLst>
              <a:gd name="adj" fmla="val 8333"/>
            </a:avLst>
          </a:prstGeom>
          <a:solidFill>
            <a:srgbClr val="EAF5E8"/>
          </a:solidFill>
          <a:ln w="12700">
            <a:solidFill>
              <a:srgbClr val="EAF5E8"/>
            </a:solidFill>
            <a:prstDash val="solid"/>
          </a:ln>
        </p:spPr>
      </p:sp>
      <p:pic>
        <p:nvPicPr>
          <p:cNvPr id="31" name="Image 3" descr="preencoded.png">    </p:cNvPr>
          <p:cNvPicPr>
            <a:picLocks noChangeAspect="1"/>
          </p:cNvPicPr>
          <p:nvPr/>
        </p:nvPicPr>
        <p:blipFill>
          <a:blip r:embed="rId4"/>
          <a:stretch>
            <a:fillRect/>
          </a:stretch>
        </p:blipFill>
        <p:spPr>
          <a:xfrm>
            <a:off x="3029407" y="3447288"/>
            <a:ext cx="365760" cy="365760"/>
          </a:xfrm>
          <a:prstGeom prst="rect">
            <a:avLst/>
          </a:prstGeom>
        </p:spPr>
      </p:pic>
      <p:sp>
        <p:nvSpPr>
          <p:cNvPr id="32" name="Text 26"/>
          <p:cNvSpPr txBox="1"/>
          <p:nvPr/>
        </p:nvSpPr>
        <p:spPr>
          <a:xfrm>
            <a:off x="734263" y="3383280"/>
            <a:ext cx="2176272" cy="41148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كاروسيل</a:t>
            </a:r>
            <a:endParaRPr lang="ar-SA" sz="1600" dirty="0"/>
          </a:p>
        </p:txBody>
      </p:sp>
      <p:sp>
        <p:nvSpPr>
          <p:cNvPr id="33" name="Text 27"/>
          <p:cNvSpPr txBox="1"/>
          <p:nvPr/>
        </p:nvSpPr>
        <p:spPr>
          <a:xfrm>
            <a:off x="734263" y="3794760"/>
            <a:ext cx="2176272" cy="45720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من 5 إلى 7 شرائح في Canva</a:t>
            </a:r>
            <a:endParaRPr lang="ar-SA" sz="1300" dirty="0"/>
          </a:p>
        </p:txBody>
      </p:sp>
      <p:sp>
        <p:nvSpPr>
          <p:cNvPr id="34" name="Shape 28"/>
          <p:cNvSpPr/>
          <p:nvPr/>
        </p:nvSpPr>
        <p:spPr>
          <a:xfrm flipH="1">
            <a:off x="3596335" y="3749040"/>
            <a:ext cx="868680" cy="1371600"/>
          </a:xfrm>
          <a:prstGeom prst="line">
            <a:avLst/>
          </a:prstGeom>
          <a:noFill/>
          <a:ln w="25400">
            <a:solidFill>
              <a:srgbClr val="4DB449"/>
            </a:solidFill>
            <a:prstDash val="solid"/>
          </a:ln>
        </p:spPr>
      </p:sp>
      <p:sp>
        <p:nvSpPr>
          <p:cNvPr id="35" name="Shape 29"/>
          <p:cNvSpPr/>
          <p:nvPr/>
        </p:nvSpPr>
        <p:spPr>
          <a:xfrm>
            <a:off x="551383" y="4572000"/>
            <a:ext cx="3044952" cy="1097280"/>
          </a:xfrm>
          <a:prstGeom prst="roundRect">
            <a:avLst>
              <a:gd name="adj" fmla="val 8333"/>
            </a:avLst>
          </a:prstGeom>
          <a:solidFill>
            <a:srgbClr val="EAF5E8"/>
          </a:solidFill>
          <a:ln w="12700">
            <a:solidFill>
              <a:srgbClr val="EAF5E8"/>
            </a:solidFill>
            <a:prstDash val="solid"/>
          </a:ln>
        </p:spPr>
      </p:sp>
      <p:pic>
        <p:nvPicPr>
          <p:cNvPr id="36" name="Image 4" descr="preencoded.png">    </p:cNvPr>
          <p:cNvPicPr>
            <a:picLocks noChangeAspect="1"/>
          </p:cNvPicPr>
          <p:nvPr/>
        </p:nvPicPr>
        <p:blipFill>
          <a:blip r:embed="rId5"/>
          <a:stretch>
            <a:fillRect/>
          </a:stretch>
        </p:blipFill>
        <p:spPr>
          <a:xfrm>
            <a:off x="3029407" y="4773168"/>
            <a:ext cx="365760" cy="365760"/>
          </a:xfrm>
          <a:prstGeom prst="rect">
            <a:avLst/>
          </a:prstGeom>
        </p:spPr>
      </p:pic>
      <p:sp>
        <p:nvSpPr>
          <p:cNvPr id="37" name="Text 30"/>
          <p:cNvSpPr txBox="1"/>
          <p:nvPr/>
        </p:nvSpPr>
        <p:spPr>
          <a:xfrm>
            <a:off x="734263" y="4709160"/>
            <a:ext cx="2176272" cy="41148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نص منشور + CTA</a:t>
            </a:r>
            <a:endParaRPr lang="ar-SA" sz="1600" dirty="0"/>
          </a:p>
        </p:txBody>
      </p:sp>
      <p:sp>
        <p:nvSpPr>
          <p:cNvPr id="38" name="Text 31"/>
          <p:cNvSpPr txBox="1"/>
          <p:nvPr/>
        </p:nvSpPr>
        <p:spPr>
          <a:xfrm>
            <a:off x="734263" y="5120640"/>
            <a:ext cx="2176272" cy="45720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خطوة تالية واضحة للقارئ</a:t>
            </a:r>
            <a:endParaRPr lang="ar-SA"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3"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8</a:t>
            </a:r>
            <a:endParaRPr lang="ar-SA" sz="900" dirty="0"/>
          </a:p>
        </p:txBody>
      </p:sp>
      <p:pic>
        <p:nvPicPr>
          <p:cNvPr id="4" name="Image 0" descr="/tmp/claude-0/-home-user-Ahmadhj4/8033014c-23ac-596c-be21-c24cf3e8b75e/scratchpad/build/assets/green-circle-logo.png">    </p:cNvPr>
          <p:cNvPicPr>
            <a:picLocks noChangeAspect="1"/>
          </p:cNvPicPr>
          <p:nvPr/>
        </p:nvPicPr>
        <p:blipFill>
          <a:blip r:embed="rId1"/>
          <a:stretch>
            <a:fillRect/>
          </a:stretch>
        </p:blipFill>
        <p:spPr>
          <a:xfrm>
            <a:off x="548640" y="384048"/>
            <a:ext cx="1417320" cy="503691"/>
          </a:xfrm>
          <a:prstGeom prst="rect">
            <a:avLst/>
          </a:prstGeom>
        </p:spPr>
      </p:pic>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07 · الفيديو والشخصيات بالذكاء الاصطناعي</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FFFFFF"/>
                </a:solidFill>
                <a:latin typeface="Cairo" pitchFamily="34" charset="0"/>
                <a:ea typeface="Cairo" pitchFamily="34" charset="-122"/>
                <a:cs typeface="Cairo" pitchFamily="34" charset="-120"/>
              </a:rPr>
              <a:t>من بطاقة الشخصية إلى فيديو مكتمل مع النصوص</a:t>
            </a:r>
            <a:endParaRPr lang="ar-SA" sz="2600" dirty="0"/>
          </a:p>
        </p:txBody>
      </p:sp>
      <p:pic>
        <p:nvPicPr>
          <p:cNvPr id="7" name="Image 1" descr="preencoded.png">    </p:cNvPr>
          <p:cNvPicPr>
            <a:picLocks noChangeAspect="1"/>
          </p:cNvPicPr>
          <p:nvPr/>
        </p:nvPicPr>
        <p:blipFill>
          <a:blip r:embed="rId2"/>
          <a:stretch>
            <a:fillRect/>
          </a:stretch>
        </p:blipFill>
        <p:spPr>
          <a:xfrm>
            <a:off x="9611106" y="2308860"/>
            <a:ext cx="365760" cy="365760"/>
          </a:xfrm>
          <a:prstGeom prst="rect">
            <a:avLst/>
          </a:prstGeom>
        </p:spPr>
      </p:pic>
      <p:sp>
        <p:nvSpPr>
          <p:cNvPr id="8" name="Shape 4"/>
          <p:cNvSpPr/>
          <p:nvPr/>
        </p:nvSpPr>
        <p:spPr>
          <a:xfrm>
            <a:off x="10238461" y="2011680"/>
            <a:ext cx="960120" cy="960120"/>
          </a:xfrm>
          <a:prstGeom prst="ellipse">
            <a:avLst/>
          </a:prstGeom>
          <a:solidFill>
            <a:srgbClr val="4DB449"/>
          </a:solidFill>
          <a:ln w="12700">
            <a:solidFill>
              <a:srgbClr val="4DB449"/>
            </a:solidFill>
            <a:prstDash val="solid"/>
          </a:ln>
        </p:spPr>
      </p:sp>
      <p:pic>
        <p:nvPicPr>
          <p:cNvPr id="9" name="Image 2" descr="preencoded.png">    </p:cNvPr>
          <p:cNvPicPr>
            <a:picLocks noChangeAspect="1"/>
          </p:cNvPicPr>
          <p:nvPr/>
        </p:nvPicPr>
        <p:blipFill>
          <a:blip r:embed="rId3"/>
          <a:stretch>
            <a:fillRect/>
          </a:stretch>
        </p:blipFill>
        <p:spPr>
          <a:xfrm>
            <a:off x="10480777" y="2253996"/>
            <a:ext cx="475488" cy="475488"/>
          </a:xfrm>
          <a:prstGeom prst="rect">
            <a:avLst/>
          </a:prstGeom>
        </p:spPr>
      </p:pic>
      <p:sp>
        <p:nvSpPr>
          <p:cNvPr id="10" name="Text 5"/>
          <p:cNvSpPr txBox="1"/>
          <p:nvPr/>
        </p:nvSpPr>
        <p:spPr>
          <a:xfrm>
            <a:off x="9987001" y="3108960"/>
            <a:ext cx="146304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01</a:t>
            </a:r>
            <a:endParaRPr lang="ar-SA" sz="1100" dirty="0"/>
          </a:p>
        </p:txBody>
      </p:sp>
      <p:sp>
        <p:nvSpPr>
          <p:cNvPr id="11" name="Text 6"/>
          <p:cNvSpPr txBox="1"/>
          <p:nvPr/>
        </p:nvSpPr>
        <p:spPr>
          <a:xfrm>
            <a:off x="9804121" y="3383280"/>
            <a:ext cx="1828800" cy="384048"/>
          </a:xfrm>
          <a:prstGeom prst="rect">
            <a:avLst/>
          </a:prstGeom>
          <a:noFill/>
          <a:ln/>
        </p:spPr>
        <p:txBody>
          <a:bodyPr wrap="square" lIns="0" tIns="0" rIns="0" bIns="0" rtlCol="0" anchor="t"/>
          <a:lstStyle/>
          <a:p>
            <a:pPr rtl="1" algn="ct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الشخصية</a:t>
            </a:r>
            <a:endParaRPr lang="ar-SA" sz="1700" dirty="0"/>
          </a:p>
        </p:txBody>
      </p:sp>
      <p:sp>
        <p:nvSpPr>
          <p:cNvPr id="12" name="Text 7"/>
          <p:cNvSpPr txBox="1"/>
          <p:nvPr/>
        </p:nvSpPr>
        <p:spPr>
          <a:xfrm>
            <a:off x="9822409" y="3813048"/>
            <a:ext cx="1792224" cy="731520"/>
          </a:xfrm>
          <a:prstGeom prst="rect">
            <a:avLst/>
          </a:prstGeom>
          <a:noFill/>
          <a:ln/>
        </p:spPr>
        <p:txBody>
          <a:bodyPr wrap="square" lIns="0" tIns="0" rIns="0" bIns="0" rtlCol="0" anchor="t"/>
          <a:lstStyle/>
          <a:p>
            <a:pPr rtl="1" algn="ct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بطاقة الشخصية وصور مرجعية</a:t>
            </a:r>
            <a:endParaRPr lang="ar-SA" sz="1300" dirty="0"/>
          </a:p>
        </p:txBody>
      </p:sp>
      <p:pic>
        <p:nvPicPr>
          <p:cNvPr id="13" name="Image 3" descr="preencoded.png">    </p:cNvPr>
          <p:cNvPicPr>
            <a:picLocks noChangeAspect="1"/>
          </p:cNvPicPr>
          <p:nvPr/>
        </p:nvPicPr>
        <p:blipFill>
          <a:blip r:embed="rId4"/>
          <a:stretch>
            <a:fillRect/>
          </a:stretch>
        </p:blipFill>
        <p:spPr>
          <a:xfrm>
            <a:off x="7762037" y="2308860"/>
            <a:ext cx="365760" cy="365760"/>
          </a:xfrm>
          <a:prstGeom prst="rect">
            <a:avLst/>
          </a:prstGeom>
        </p:spPr>
      </p:pic>
      <p:sp>
        <p:nvSpPr>
          <p:cNvPr id="14" name="Shape 8"/>
          <p:cNvSpPr/>
          <p:nvPr/>
        </p:nvSpPr>
        <p:spPr>
          <a:xfrm>
            <a:off x="8389391" y="2011680"/>
            <a:ext cx="960120" cy="960120"/>
          </a:xfrm>
          <a:prstGeom prst="ellipse">
            <a:avLst/>
          </a:prstGeom>
          <a:solidFill>
            <a:srgbClr val="A6D04B"/>
          </a:solidFill>
          <a:ln w="12700">
            <a:solidFill>
              <a:srgbClr val="A6D04B"/>
            </a:solidFill>
            <a:prstDash val="solid"/>
          </a:ln>
        </p:spPr>
      </p:sp>
      <p:pic>
        <p:nvPicPr>
          <p:cNvPr id="15" name="Image 4" descr="preencoded.png">    </p:cNvPr>
          <p:cNvPicPr>
            <a:picLocks noChangeAspect="1"/>
          </p:cNvPicPr>
          <p:nvPr/>
        </p:nvPicPr>
        <p:blipFill>
          <a:blip r:embed="rId5"/>
          <a:stretch>
            <a:fillRect/>
          </a:stretch>
        </p:blipFill>
        <p:spPr>
          <a:xfrm>
            <a:off x="8631707" y="2253996"/>
            <a:ext cx="475488" cy="475488"/>
          </a:xfrm>
          <a:prstGeom prst="rect">
            <a:avLst/>
          </a:prstGeom>
        </p:spPr>
      </p:pic>
      <p:sp>
        <p:nvSpPr>
          <p:cNvPr id="16" name="Text 9"/>
          <p:cNvSpPr txBox="1"/>
          <p:nvPr/>
        </p:nvSpPr>
        <p:spPr>
          <a:xfrm>
            <a:off x="8137931" y="3108960"/>
            <a:ext cx="146304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02</a:t>
            </a:r>
            <a:endParaRPr lang="ar-SA" sz="1100" dirty="0"/>
          </a:p>
        </p:txBody>
      </p:sp>
      <p:sp>
        <p:nvSpPr>
          <p:cNvPr id="17" name="Text 10"/>
          <p:cNvSpPr txBox="1"/>
          <p:nvPr/>
        </p:nvSpPr>
        <p:spPr>
          <a:xfrm>
            <a:off x="7955051" y="3383280"/>
            <a:ext cx="1828800" cy="384048"/>
          </a:xfrm>
          <a:prstGeom prst="rect">
            <a:avLst/>
          </a:prstGeom>
          <a:noFill/>
          <a:ln/>
        </p:spPr>
        <p:txBody>
          <a:bodyPr wrap="square" lIns="0" tIns="0" rIns="0" bIns="0" rtlCol="0" anchor="t"/>
          <a:lstStyle/>
          <a:p>
            <a:pPr rtl="1" algn="ct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الصوت</a:t>
            </a:r>
            <a:endParaRPr lang="ar-SA" sz="1700" dirty="0"/>
          </a:p>
        </p:txBody>
      </p:sp>
      <p:sp>
        <p:nvSpPr>
          <p:cNvPr id="18" name="Text 11"/>
          <p:cNvSpPr txBox="1"/>
          <p:nvPr/>
        </p:nvSpPr>
        <p:spPr>
          <a:xfrm>
            <a:off x="7973339" y="3813048"/>
            <a:ext cx="1792224" cy="731520"/>
          </a:xfrm>
          <a:prstGeom prst="rect">
            <a:avLst/>
          </a:prstGeom>
          <a:noFill/>
          <a:ln/>
        </p:spPr>
        <p:txBody>
          <a:bodyPr wrap="square" lIns="0" tIns="0" rIns="0" bIns="0" rtlCol="0" anchor="t"/>
          <a:lstStyle/>
          <a:p>
            <a:pPr rtl="1" algn="ct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ملف الصوت وتعليق مدته 30 ثانية</a:t>
            </a:r>
            <a:endParaRPr lang="ar-SA" sz="1300" dirty="0"/>
          </a:p>
        </p:txBody>
      </p:sp>
      <p:pic>
        <p:nvPicPr>
          <p:cNvPr id="19" name="Image 5" descr="preencoded.png">    </p:cNvPr>
          <p:cNvPicPr>
            <a:picLocks noChangeAspect="1"/>
          </p:cNvPicPr>
          <p:nvPr/>
        </p:nvPicPr>
        <p:blipFill>
          <a:blip r:embed="rId6"/>
          <a:stretch>
            <a:fillRect/>
          </a:stretch>
        </p:blipFill>
        <p:spPr>
          <a:xfrm>
            <a:off x="5912968" y="2308860"/>
            <a:ext cx="365760" cy="365760"/>
          </a:xfrm>
          <a:prstGeom prst="rect">
            <a:avLst/>
          </a:prstGeom>
        </p:spPr>
      </p:pic>
      <p:sp>
        <p:nvSpPr>
          <p:cNvPr id="20" name="Shape 12"/>
          <p:cNvSpPr/>
          <p:nvPr/>
        </p:nvSpPr>
        <p:spPr>
          <a:xfrm>
            <a:off x="6540322" y="2011680"/>
            <a:ext cx="960120" cy="960120"/>
          </a:xfrm>
          <a:prstGeom prst="ellipse">
            <a:avLst/>
          </a:prstGeom>
          <a:solidFill>
            <a:srgbClr val="4DB449"/>
          </a:solidFill>
          <a:ln w="12700">
            <a:solidFill>
              <a:srgbClr val="4DB449"/>
            </a:solidFill>
            <a:prstDash val="solid"/>
          </a:ln>
        </p:spPr>
      </p:sp>
      <p:pic>
        <p:nvPicPr>
          <p:cNvPr id="21" name="Image 6" descr="preencoded.png">    </p:cNvPr>
          <p:cNvPicPr>
            <a:picLocks noChangeAspect="1"/>
          </p:cNvPicPr>
          <p:nvPr/>
        </p:nvPicPr>
        <p:blipFill>
          <a:blip r:embed="rId7"/>
          <a:stretch>
            <a:fillRect/>
          </a:stretch>
        </p:blipFill>
        <p:spPr>
          <a:xfrm>
            <a:off x="6782638" y="2253996"/>
            <a:ext cx="475488" cy="475488"/>
          </a:xfrm>
          <a:prstGeom prst="rect">
            <a:avLst/>
          </a:prstGeom>
        </p:spPr>
      </p:pic>
      <p:sp>
        <p:nvSpPr>
          <p:cNvPr id="22" name="Text 13"/>
          <p:cNvSpPr txBox="1"/>
          <p:nvPr/>
        </p:nvSpPr>
        <p:spPr>
          <a:xfrm>
            <a:off x="6288862" y="3108960"/>
            <a:ext cx="146304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03</a:t>
            </a:r>
            <a:endParaRPr lang="ar-SA" sz="1100" dirty="0"/>
          </a:p>
        </p:txBody>
      </p:sp>
      <p:sp>
        <p:nvSpPr>
          <p:cNvPr id="23" name="Text 14"/>
          <p:cNvSpPr txBox="1"/>
          <p:nvPr/>
        </p:nvSpPr>
        <p:spPr>
          <a:xfrm>
            <a:off x="6105982" y="3383280"/>
            <a:ext cx="1828800" cy="384048"/>
          </a:xfrm>
          <a:prstGeom prst="rect">
            <a:avLst/>
          </a:prstGeom>
          <a:noFill/>
          <a:ln/>
        </p:spPr>
        <p:txBody>
          <a:bodyPr wrap="square" lIns="0" tIns="0" rIns="0" bIns="0" rtlCol="0" anchor="t"/>
          <a:lstStyle/>
          <a:p>
            <a:pPr rtl="1" algn="ct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السيناريو</a:t>
            </a:r>
            <a:endParaRPr lang="ar-SA" sz="1700" dirty="0"/>
          </a:p>
        </p:txBody>
      </p:sp>
      <p:sp>
        <p:nvSpPr>
          <p:cNvPr id="24" name="Text 15"/>
          <p:cNvSpPr txBox="1"/>
          <p:nvPr/>
        </p:nvSpPr>
        <p:spPr>
          <a:xfrm>
            <a:off x="6124270" y="3813048"/>
            <a:ext cx="1792224" cy="731520"/>
          </a:xfrm>
          <a:prstGeom prst="rect">
            <a:avLst/>
          </a:prstGeom>
          <a:noFill/>
          <a:ln/>
        </p:spPr>
        <p:txBody>
          <a:bodyPr wrap="square" lIns="0" tIns="0" rIns="0" bIns="0" rtlCol="0" anchor="t"/>
          <a:lstStyle/>
          <a:p>
            <a:pPr rtl="1" algn="ct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سيناريو بعمودين مدته من 30 إلى 60 ثانية</a:t>
            </a:r>
            <a:endParaRPr lang="ar-SA" sz="1300" dirty="0"/>
          </a:p>
        </p:txBody>
      </p:sp>
      <p:pic>
        <p:nvPicPr>
          <p:cNvPr id="25" name="Image 7" descr="preencoded.png">    </p:cNvPr>
          <p:cNvPicPr>
            <a:picLocks noChangeAspect="1"/>
          </p:cNvPicPr>
          <p:nvPr/>
        </p:nvPicPr>
        <p:blipFill>
          <a:blip r:embed="rId8"/>
          <a:stretch>
            <a:fillRect/>
          </a:stretch>
        </p:blipFill>
        <p:spPr>
          <a:xfrm>
            <a:off x="4063898" y="2308860"/>
            <a:ext cx="365760" cy="365760"/>
          </a:xfrm>
          <a:prstGeom prst="rect">
            <a:avLst/>
          </a:prstGeom>
        </p:spPr>
      </p:pic>
      <p:sp>
        <p:nvSpPr>
          <p:cNvPr id="26" name="Shape 16"/>
          <p:cNvSpPr/>
          <p:nvPr/>
        </p:nvSpPr>
        <p:spPr>
          <a:xfrm>
            <a:off x="4691253" y="2011680"/>
            <a:ext cx="960120" cy="960120"/>
          </a:xfrm>
          <a:prstGeom prst="ellipse">
            <a:avLst/>
          </a:prstGeom>
          <a:solidFill>
            <a:srgbClr val="A6D04B"/>
          </a:solidFill>
          <a:ln w="12700">
            <a:solidFill>
              <a:srgbClr val="A6D04B"/>
            </a:solidFill>
            <a:prstDash val="solid"/>
          </a:ln>
        </p:spPr>
      </p:sp>
      <p:pic>
        <p:nvPicPr>
          <p:cNvPr id="27" name="Image 8" descr="preencoded.png">    </p:cNvPr>
          <p:cNvPicPr>
            <a:picLocks noChangeAspect="1"/>
          </p:cNvPicPr>
          <p:nvPr/>
        </p:nvPicPr>
        <p:blipFill>
          <a:blip r:embed="rId9"/>
          <a:stretch>
            <a:fillRect/>
          </a:stretch>
        </p:blipFill>
        <p:spPr>
          <a:xfrm>
            <a:off x="4933569" y="2253996"/>
            <a:ext cx="475488" cy="475488"/>
          </a:xfrm>
          <a:prstGeom prst="rect">
            <a:avLst/>
          </a:prstGeom>
        </p:spPr>
      </p:pic>
      <p:sp>
        <p:nvSpPr>
          <p:cNvPr id="28" name="Text 17"/>
          <p:cNvSpPr txBox="1"/>
          <p:nvPr/>
        </p:nvSpPr>
        <p:spPr>
          <a:xfrm>
            <a:off x="4439793" y="3108960"/>
            <a:ext cx="146304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04</a:t>
            </a:r>
            <a:endParaRPr lang="ar-SA" sz="1100" dirty="0"/>
          </a:p>
        </p:txBody>
      </p:sp>
      <p:sp>
        <p:nvSpPr>
          <p:cNvPr id="29" name="Text 18"/>
          <p:cNvSpPr txBox="1"/>
          <p:nvPr/>
        </p:nvSpPr>
        <p:spPr>
          <a:xfrm>
            <a:off x="4256913" y="3383280"/>
            <a:ext cx="1828800" cy="384048"/>
          </a:xfrm>
          <a:prstGeom prst="rect">
            <a:avLst/>
          </a:prstGeom>
          <a:noFill/>
          <a:ln/>
        </p:spPr>
        <p:txBody>
          <a:bodyPr wrap="square" lIns="0" tIns="0" rIns="0" bIns="0" rtlCol="0" anchor="t"/>
          <a:lstStyle/>
          <a:p>
            <a:pPr rtl="1" algn="ct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اللوحة المصوّرة</a:t>
            </a:r>
            <a:endParaRPr lang="ar-SA" sz="1700" dirty="0"/>
          </a:p>
        </p:txBody>
      </p:sp>
      <p:sp>
        <p:nvSpPr>
          <p:cNvPr id="30" name="Text 19"/>
          <p:cNvSpPr txBox="1"/>
          <p:nvPr/>
        </p:nvSpPr>
        <p:spPr>
          <a:xfrm>
            <a:off x="4275201" y="3813048"/>
            <a:ext cx="1792224" cy="731520"/>
          </a:xfrm>
          <a:prstGeom prst="rect">
            <a:avLst/>
          </a:prstGeom>
          <a:noFill/>
          <a:ln/>
        </p:spPr>
        <p:txBody>
          <a:bodyPr wrap="square" lIns="0" tIns="0" rIns="0" bIns="0" rtlCol="0" anchor="t"/>
          <a:lstStyle/>
          <a:p>
            <a:pPr rtl="1" algn="ct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من 6 إلى 10 لقطات مع قائمة اللقطات</a:t>
            </a:r>
            <a:endParaRPr lang="ar-SA" sz="1300" dirty="0"/>
          </a:p>
        </p:txBody>
      </p:sp>
      <p:pic>
        <p:nvPicPr>
          <p:cNvPr id="31" name="Image 9" descr="preencoded.png">    </p:cNvPr>
          <p:cNvPicPr>
            <a:picLocks noChangeAspect="1"/>
          </p:cNvPicPr>
          <p:nvPr/>
        </p:nvPicPr>
        <p:blipFill>
          <a:blip r:embed="rId10"/>
          <a:stretch>
            <a:fillRect/>
          </a:stretch>
        </p:blipFill>
        <p:spPr>
          <a:xfrm>
            <a:off x="2214829" y="2308860"/>
            <a:ext cx="365760" cy="365760"/>
          </a:xfrm>
          <a:prstGeom prst="rect">
            <a:avLst/>
          </a:prstGeom>
        </p:spPr>
      </p:pic>
      <p:sp>
        <p:nvSpPr>
          <p:cNvPr id="32" name="Shape 20"/>
          <p:cNvSpPr/>
          <p:nvPr/>
        </p:nvSpPr>
        <p:spPr>
          <a:xfrm>
            <a:off x="2842184" y="2011680"/>
            <a:ext cx="960120" cy="960120"/>
          </a:xfrm>
          <a:prstGeom prst="ellipse">
            <a:avLst/>
          </a:prstGeom>
          <a:solidFill>
            <a:srgbClr val="4DB449"/>
          </a:solidFill>
          <a:ln w="12700">
            <a:solidFill>
              <a:srgbClr val="4DB449"/>
            </a:solidFill>
            <a:prstDash val="solid"/>
          </a:ln>
        </p:spPr>
      </p:sp>
      <p:pic>
        <p:nvPicPr>
          <p:cNvPr id="33" name="Image 10" descr="preencoded.png">    </p:cNvPr>
          <p:cNvPicPr>
            <a:picLocks noChangeAspect="1"/>
          </p:cNvPicPr>
          <p:nvPr/>
        </p:nvPicPr>
        <p:blipFill>
          <a:blip r:embed="rId11"/>
          <a:stretch>
            <a:fillRect/>
          </a:stretch>
        </p:blipFill>
        <p:spPr>
          <a:xfrm>
            <a:off x="3084500" y="2253996"/>
            <a:ext cx="475488" cy="475488"/>
          </a:xfrm>
          <a:prstGeom prst="rect">
            <a:avLst/>
          </a:prstGeom>
        </p:spPr>
      </p:pic>
      <p:sp>
        <p:nvSpPr>
          <p:cNvPr id="34" name="Text 21"/>
          <p:cNvSpPr txBox="1"/>
          <p:nvPr/>
        </p:nvSpPr>
        <p:spPr>
          <a:xfrm>
            <a:off x="2590724" y="3108960"/>
            <a:ext cx="146304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05</a:t>
            </a:r>
            <a:endParaRPr lang="ar-SA" sz="1100" dirty="0"/>
          </a:p>
        </p:txBody>
      </p:sp>
      <p:sp>
        <p:nvSpPr>
          <p:cNvPr id="35" name="Text 22"/>
          <p:cNvSpPr txBox="1"/>
          <p:nvPr/>
        </p:nvSpPr>
        <p:spPr>
          <a:xfrm>
            <a:off x="2407844" y="3383280"/>
            <a:ext cx="1828800" cy="384048"/>
          </a:xfrm>
          <a:prstGeom prst="rect">
            <a:avLst/>
          </a:prstGeom>
          <a:noFill/>
          <a:ln/>
        </p:spPr>
        <p:txBody>
          <a:bodyPr wrap="square" lIns="0" tIns="0" rIns="0" bIns="0" rtlCol="0" anchor="t"/>
          <a:lstStyle/>
          <a:p>
            <a:pPr rtl="1" algn="ct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الفيديو</a:t>
            </a:r>
            <a:endParaRPr lang="ar-SA" sz="1700" dirty="0"/>
          </a:p>
        </p:txBody>
      </p:sp>
      <p:sp>
        <p:nvSpPr>
          <p:cNvPr id="36" name="Text 23"/>
          <p:cNvSpPr txBox="1"/>
          <p:nvPr/>
        </p:nvSpPr>
        <p:spPr>
          <a:xfrm>
            <a:off x="2426132" y="3813048"/>
            <a:ext cx="1792224" cy="731520"/>
          </a:xfrm>
          <a:prstGeom prst="rect">
            <a:avLst/>
          </a:prstGeom>
          <a:noFill/>
          <a:ln/>
        </p:spPr>
        <p:txBody>
          <a:bodyPr wrap="square" lIns="0" tIns="0" rIns="0" bIns="0" rtlCol="0" anchor="t"/>
          <a:lstStyle/>
          <a:p>
            <a:pPr rtl="1" algn="ct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لقطات مولّدة مع الحفاظ على الاستمرارية</a:t>
            </a:r>
            <a:endParaRPr lang="ar-SA" sz="1300" dirty="0"/>
          </a:p>
        </p:txBody>
      </p:sp>
      <p:sp>
        <p:nvSpPr>
          <p:cNvPr id="37" name="Shape 24"/>
          <p:cNvSpPr/>
          <p:nvPr/>
        </p:nvSpPr>
        <p:spPr>
          <a:xfrm>
            <a:off x="993115" y="2011680"/>
            <a:ext cx="960120" cy="960120"/>
          </a:xfrm>
          <a:prstGeom prst="ellipse">
            <a:avLst/>
          </a:prstGeom>
          <a:solidFill>
            <a:srgbClr val="A6D04B"/>
          </a:solidFill>
          <a:ln w="12700">
            <a:solidFill>
              <a:srgbClr val="A6D04B"/>
            </a:solidFill>
            <a:prstDash val="solid"/>
          </a:ln>
        </p:spPr>
      </p:sp>
      <p:pic>
        <p:nvPicPr>
          <p:cNvPr id="38" name="Image 11" descr="preencoded.png">    </p:cNvPr>
          <p:cNvPicPr>
            <a:picLocks noChangeAspect="1"/>
          </p:cNvPicPr>
          <p:nvPr/>
        </p:nvPicPr>
        <p:blipFill>
          <a:blip r:embed="rId12"/>
          <a:stretch>
            <a:fillRect/>
          </a:stretch>
        </p:blipFill>
        <p:spPr>
          <a:xfrm>
            <a:off x="1235431" y="2253996"/>
            <a:ext cx="475488" cy="475488"/>
          </a:xfrm>
          <a:prstGeom prst="rect">
            <a:avLst/>
          </a:prstGeom>
        </p:spPr>
      </p:pic>
      <p:sp>
        <p:nvSpPr>
          <p:cNvPr id="39" name="Text 25"/>
          <p:cNvSpPr txBox="1"/>
          <p:nvPr/>
        </p:nvSpPr>
        <p:spPr>
          <a:xfrm>
            <a:off x="741655" y="3108960"/>
            <a:ext cx="146304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06</a:t>
            </a:r>
            <a:endParaRPr lang="ar-SA" sz="1100" dirty="0"/>
          </a:p>
        </p:txBody>
      </p:sp>
      <p:sp>
        <p:nvSpPr>
          <p:cNvPr id="40" name="Text 26"/>
          <p:cNvSpPr txBox="1"/>
          <p:nvPr/>
        </p:nvSpPr>
        <p:spPr>
          <a:xfrm>
            <a:off x="558775" y="3383280"/>
            <a:ext cx="1828800" cy="384048"/>
          </a:xfrm>
          <a:prstGeom prst="rect">
            <a:avLst/>
          </a:prstGeom>
          <a:noFill/>
          <a:ln/>
        </p:spPr>
        <p:txBody>
          <a:bodyPr wrap="square" lIns="0" tIns="0" rIns="0" bIns="0" rtlCol="0" anchor="t"/>
          <a:lstStyle/>
          <a:p>
            <a:pPr rtl="1" algn="ct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المونتاج والنشر</a:t>
            </a:r>
            <a:endParaRPr lang="ar-SA" sz="1700" dirty="0"/>
          </a:p>
        </p:txBody>
      </p:sp>
      <p:sp>
        <p:nvSpPr>
          <p:cNvPr id="41" name="Text 27"/>
          <p:cNvSpPr txBox="1"/>
          <p:nvPr/>
        </p:nvSpPr>
        <p:spPr>
          <a:xfrm>
            <a:off x="577063" y="3813048"/>
            <a:ext cx="1792224" cy="731520"/>
          </a:xfrm>
          <a:prstGeom prst="rect">
            <a:avLst/>
          </a:prstGeom>
          <a:noFill/>
          <a:ln/>
        </p:spPr>
        <p:txBody>
          <a:bodyPr wrap="square" lIns="0" tIns="0" rIns="0" bIns="0" rtlCol="0" anchor="t"/>
          <a:lstStyle/>
          <a:p>
            <a:pPr rtl="1" algn="ct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نصوص، صوت، تصدير</a:t>
            </a:r>
            <a:endParaRPr lang="ar-SA" sz="1300" dirty="0"/>
          </a:p>
        </p:txBody>
      </p:sp>
      <p:sp>
        <p:nvSpPr>
          <p:cNvPr id="42" name="Shape 28"/>
          <p:cNvSpPr/>
          <p:nvPr/>
        </p:nvSpPr>
        <p:spPr>
          <a:xfrm>
            <a:off x="548640" y="4800600"/>
            <a:ext cx="11094415" cy="960120"/>
          </a:xfrm>
          <a:prstGeom prst="roundRect">
            <a:avLst>
              <a:gd name="adj" fmla="val 9524"/>
            </a:avLst>
          </a:prstGeom>
          <a:solidFill>
            <a:srgbClr val="161816"/>
          </a:solidFill>
          <a:ln w="9525">
            <a:solidFill>
              <a:srgbClr val="3A3D39"/>
            </a:solidFill>
            <a:prstDash val="solid"/>
          </a:ln>
        </p:spPr>
      </p:sp>
      <p:pic>
        <p:nvPicPr>
          <p:cNvPr id="43" name="Image 12" descr="preencoded.png">    </p:cNvPr>
          <p:cNvPicPr>
            <a:picLocks noChangeAspect="1"/>
          </p:cNvPicPr>
          <p:nvPr/>
        </p:nvPicPr>
        <p:blipFill>
          <a:blip r:embed="rId13"/>
          <a:stretch>
            <a:fillRect/>
          </a:stretch>
        </p:blipFill>
        <p:spPr>
          <a:xfrm>
            <a:off x="10929823" y="5056632"/>
            <a:ext cx="438912" cy="438912"/>
          </a:xfrm>
          <a:prstGeom prst="rect">
            <a:avLst/>
          </a:prstGeom>
        </p:spPr>
      </p:pic>
      <p:sp>
        <p:nvSpPr>
          <p:cNvPr id="44" name="Text 29"/>
          <p:cNvSpPr txBox="1"/>
          <p:nvPr/>
        </p:nvSpPr>
        <p:spPr>
          <a:xfrm>
            <a:off x="822960" y="4800600"/>
            <a:ext cx="9905695" cy="960120"/>
          </a:xfrm>
          <a:prstGeom prst="rect">
            <a:avLst/>
          </a:prstGeom>
          <a:noFill/>
          <a:ln/>
        </p:spPr>
        <p:txBody>
          <a:bodyPr wrap="square" lIns="0" tIns="0" rIns="0" bIns="0" rtlCol="0" anchor="ctr"/>
          <a:lstStyle/>
          <a:p>
            <a:pPr rtl="1" algn="r" indent="0" marL="0">
              <a:lnSpc>
                <a:spcPct val="100000"/>
              </a:lnSpc>
              <a:buNone/>
            </a:pPr>
            <a:r>
              <a:rPr lang="ar-SA" altLang="en-US" sz="1400" dirty="0">
                <a:solidFill>
                  <a:srgbClr val="FFFFFF"/>
                </a:solidFill>
                <a:latin typeface="IBM Plex Sans Arabic" pitchFamily="34" charset="0"/>
                <a:ea typeface="IBM Plex Sans Arabic" pitchFamily="34" charset="-122"/>
                <a:cs typeface="IBM Plex Sans Arabic" pitchFamily="34" charset="-120"/>
              </a:rPr>
              <a:t>أداة Google Flow وأدوات الصوت بالذكاء الاصطناعي متاحة لمن هم 18 سنة فأكثر فقط. يعمل الطلاب من عمر 15 إلى 17 سنة من خلال عروض يقدّمها المدرب، ويبنون فيديوهاتهم من صور مولّدة وتعليق صوتي مسجّل ولقطات يصوّرونها بأنفسهم.</a:t>
            </a:r>
            <a:endParaRPr lang="ar-SA" sz="1400" dirty="0"/>
          </a:p>
        </p:txBody>
      </p:sp>
      <p:sp>
        <p:nvSpPr>
          <p:cNvPr id="45" name="Text 30"/>
          <p:cNvSpPr txBox="1"/>
          <p:nvPr/>
        </p:nvSpPr>
        <p:spPr>
          <a:xfrm>
            <a:off x="548640" y="5925312"/>
            <a:ext cx="11094415" cy="32004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A6D04B"/>
                </a:solidFill>
                <a:latin typeface="IBM Plex Sans Arabic" pitchFamily="34" charset="0"/>
                <a:ea typeface="IBM Plex Sans Arabic" pitchFamily="34" charset="-122"/>
                <a:cs typeface="IBM Plex Sans Arabic" pitchFamily="34" charset="-120"/>
              </a:rPr>
              <a:t>الأدوات: Google Flow · CapCut · Canva · توليد الصور في ChatGPT / Gemini · ElevenLabs (‎18+‎)</a:t>
            </a:r>
            <a:endParaRPr lang="ar-SA"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9</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08 · التسويق الرقمي</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المحتوى لا ينجح إلا داخل خطة</a:t>
            </a:r>
            <a:endParaRPr lang="ar-SA" sz="2600" dirty="0"/>
          </a:p>
        </p:txBody>
      </p:sp>
      <p:sp>
        <p:nvSpPr>
          <p:cNvPr id="7" name="Shape 4"/>
          <p:cNvSpPr/>
          <p:nvPr/>
        </p:nvSpPr>
        <p:spPr>
          <a:xfrm>
            <a:off x="6796735" y="1828800"/>
            <a:ext cx="4846320" cy="868680"/>
          </a:xfrm>
          <a:prstGeom prst="roundRect">
            <a:avLst>
              <a:gd name="adj" fmla="val 10526"/>
            </a:avLst>
          </a:prstGeom>
          <a:solidFill>
            <a:srgbClr val="F2F4F1"/>
          </a:solidFill>
          <a:ln w="12700">
            <a:solidFill>
              <a:srgbClr val="F2F4F1"/>
            </a:solidFill>
            <a:prstDash val="solid"/>
          </a:ln>
        </p:spPr>
      </p:sp>
      <p:sp>
        <p:nvSpPr>
          <p:cNvPr id="8" name="Shape 5"/>
          <p:cNvSpPr/>
          <p:nvPr/>
        </p:nvSpPr>
        <p:spPr>
          <a:xfrm>
            <a:off x="10911535" y="1993392"/>
            <a:ext cx="548640" cy="548640"/>
          </a:xfrm>
          <a:prstGeom prst="ellipse">
            <a:avLst/>
          </a:prstGeom>
          <a:solidFill>
            <a:srgbClr val="4DB449"/>
          </a:solidFill>
          <a:ln w="6350">
            <a:solidFill>
              <a:srgbClr val="4DB449"/>
            </a:solidFill>
            <a:prstDash val="solid"/>
          </a:ln>
        </p:spPr>
      </p:sp>
      <p:pic>
        <p:nvPicPr>
          <p:cNvPr id="9" name="Image 1" descr="preencoded.png">    </p:cNvPr>
          <p:cNvPicPr>
            <a:picLocks noChangeAspect="1"/>
          </p:cNvPicPr>
          <p:nvPr/>
        </p:nvPicPr>
        <p:blipFill>
          <a:blip r:embed="rId2"/>
          <a:stretch>
            <a:fillRect/>
          </a:stretch>
        </p:blipFill>
        <p:spPr>
          <a:xfrm>
            <a:off x="11030407" y="2112264"/>
            <a:ext cx="310896" cy="310896"/>
          </a:xfrm>
          <a:prstGeom prst="rect">
            <a:avLst/>
          </a:prstGeom>
        </p:spPr>
      </p:pic>
      <p:sp>
        <p:nvSpPr>
          <p:cNvPr id="10" name="Text 6"/>
          <p:cNvSpPr txBox="1"/>
          <p:nvPr/>
        </p:nvSpPr>
        <p:spPr>
          <a:xfrm>
            <a:off x="6979615" y="1920240"/>
            <a:ext cx="3749040" cy="36576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شخصية الجمهور</a:t>
            </a:r>
            <a:endParaRPr lang="ar-SA" sz="1700" dirty="0"/>
          </a:p>
        </p:txBody>
      </p:sp>
      <p:sp>
        <p:nvSpPr>
          <p:cNvPr id="11" name="Text 7"/>
          <p:cNvSpPr txBox="1"/>
          <p:nvPr/>
        </p:nvSpPr>
        <p:spPr>
          <a:xfrm>
            <a:off x="6933895" y="2286000"/>
            <a:ext cx="3794760" cy="36576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مع من نتحدث بالضبط؟</a:t>
            </a:r>
            <a:endParaRPr lang="ar-SA" sz="1350" dirty="0"/>
          </a:p>
        </p:txBody>
      </p:sp>
      <p:sp>
        <p:nvSpPr>
          <p:cNvPr id="12" name="Shape 8"/>
          <p:cNvSpPr/>
          <p:nvPr/>
        </p:nvSpPr>
        <p:spPr>
          <a:xfrm>
            <a:off x="6796735" y="2898648"/>
            <a:ext cx="4846320" cy="868680"/>
          </a:xfrm>
          <a:prstGeom prst="roundRect">
            <a:avLst>
              <a:gd name="adj" fmla="val 10526"/>
            </a:avLst>
          </a:prstGeom>
          <a:solidFill>
            <a:srgbClr val="F2F4F1"/>
          </a:solidFill>
          <a:ln w="12700">
            <a:solidFill>
              <a:srgbClr val="F2F4F1"/>
            </a:solidFill>
            <a:prstDash val="solid"/>
          </a:ln>
        </p:spPr>
      </p:sp>
      <p:sp>
        <p:nvSpPr>
          <p:cNvPr id="13" name="Shape 9"/>
          <p:cNvSpPr/>
          <p:nvPr/>
        </p:nvSpPr>
        <p:spPr>
          <a:xfrm>
            <a:off x="10911535" y="3063240"/>
            <a:ext cx="548640" cy="548640"/>
          </a:xfrm>
          <a:prstGeom prst="ellipse">
            <a:avLst/>
          </a:prstGeom>
          <a:solidFill>
            <a:srgbClr val="4DB449"/>
          </a:solidFill>
          <a:ln w="6350">
            <a:solidFill>
              <a:srgbClr val="4DB449"/>
            </a:solidFill>
            <a:prstDash val="solid"/>
          </a:ln>
        </p:spPr>
      </p:sp>
      <p:pic>
        <p:nvPicPr>
          <p:cNvPr id="14" name="Image 2" descr="preencoded.png">    </p:cNvPr>
          <p:cNvPicPr>
            <a:picLocks noChangeAspect="1"/>
          </p:cNvPicPr>
          <p:nvPr/>
        </p:nvPicPr>
        <p:blipFill>
          <a:blip r:embed="rId3"/>
          <a:stretch>
            <a:fillRect/>
          </a:stretch>
        </p:blipFill>
        <p:spPr>
          <a:xfrm>
            <a:off x="11030407" y="3182112"/>
            <a:ext cx="310896" cy="310896"/>
          </a:xfrm>
          <a:prstGeom prst="rect">
            <a:avLst/>
          </a:prstGeom>
        </p:spPr>
      </p:pic>
      <p:sp>
        <p:nvSpPr>
          <p:cNvPr id="15" name="Text 10"/>
          <p:cNvSpPr txBox="1"/>
          <p:nvPr/>
        </p:nvSpPr>
        <p:spPr>
          <a:xfrm>
            <a:off x="6979615" y="2990088"/>
            <a:ext cx="3749040" cy="36576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الهدف</a:t>
            </a:r>
            <a:endParaRPr lang="ar-SA" sz="1700" dirty="0"/>
          </a:p>
        </p:txBody>
      </p:sp>
      <p:sp>
        <p:nvSpPr>
          <p:cNvPr id="16" name="Text 11"/>
          <p:cNvSpPr txBox="1"/>
          <p:nvPr/>
        </p:nvSpPr>
        <p:spPr>
          <a:xfrm>
            <a:off x="6933895" y="3355848"/>
            <a:ext cx="3794760" cy="36576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ما الذي يجب أن يتغير، ومتى؟ (SMART)</a:t>
            </a:r>
            <a:endParaRPr lang="ar-SA" sz="1350" dirty="0"/>
          </a:p>
        </p:txBody>
      </p:sp>
      <p:sp>
        <p:nvSpPr>
          <p:cNvPr id="17" name="Shape 12"/>
          <p:cNvSpPr/>
          <p:nvPr/>
        </p:nvSpPr>
        <p:spPr>
          <a:xfrm>
            <a:off x="6796735" y="3968496"/>
            <a:ext cx="4846320" cy="868680"/>
          </a:xfrm>
          <a:prstGeom prst="roundRect">
            <a:avLst>
              <a:gd name="adj" fmla="val 10526"/>
            </a:avLst>
          </a:prstGeom>
          <a:solidFill>
            <a:srgbClr val="F2F4F1"/>
          </a:solidFill>
          <a:ln w="12700">
            <a:solidFill>
              <a:srgbClr val="F2F4F1"/>
            </a:solidFill>
            <a:prstDash val="solid"/>
          </a:ln>
        </p:spPr>
      </p:sp>
      <p:sp>
        <p:nvSpPr>
          <p:cNvPr id="18" name="Shape 13"/>
          <p:cNvSpPr/>
          <p:nvPr/>
        </p:nvSpPr>
        <p:spPr>
          <a:xfrm>
            <a:off x="10911535" y="4133088"/>
            <a:ext cx="548640" cy="548640"/>
          </a:xfrm>
          <a:prstGeom prst="ellipse">
            <a:avLst/>
          </a:prstGeom>
          <a:solidFill>
            <a:srgbClr val="4DB449"/>
          </a:solidFill>
          <a:ln w="6350">
            <a:solidFill>
              <a:srgbClr val="4DB449"/>
            </a:solidFill>
            <a:prstDash val="solid"/>
          </a:ln>
        </p:spPr>
      </p:sp>
      <p:pic>
        <p:nvPicPr>
          <p:cNvPr id="19" name="Image 3" descr="preencoded.png">    </p:cNvPr>
          <p:cNvPicPr>
            <a:picLocks noChangeAspect="1"/>
          </p:cNvPicPr>
          <p:nvPr/>
        </p:nvPicPr>
        <p:blipFill>
          <a:blip r:embed="rId4"/>
          <a:stretch>
            <a:fillRect/>
          </a:stretch>
        </p:blipFill>
        <p:spPr>
          <a:xfrm>
            <a:off x="11030407" y="4251960"/>
            <a:ext cx="310896" cy="310896"/>
          </a:xfrm>
          <a:prstGeom prst="rect">
            <a:avLst/>
          </a:prstGeom>
        </p:spPr>
      </p:pic>
      <p:sp>
        <p:nvSpPr>
          <p:cNvPr id="20" name="Text 14"/>
          <p:cNvSpPr txBox="1"/>
          <p:nvPr/>
        </p:nvSpPr>
        <p:spPr>
          <a:xfrm>
            <a:off x="6979615" y="4059936"/>
            <a:ext cx="3749040" cy="36576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التقويم</a:t>
            </a:r>
            <a:endParaRPr lang="ar-SA" sz="1700" dirty="0"/>
          </a:p>
        </p:txBody>
      </p:sp>
      <p:sp>
        <p:nvSpPr>
          <p:cNvPr id="21" name="Text 15"/>
          <p:cNvSpPr txBox="1"/>
          <p:nvPr/>
        </p:nvSpPr>
        <p:spPr>
          <a:xfrm>
            <a:off x="6933895" y="4425696"/>
            <a:ext cx="3794760" cy="36576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ماذا ننشر كل أسبوع، وعلى أي منصة؟</a:t>
            </a:r>
            <a:endParaRPr lang="ar-SA" sz="1350" dirty="0"/>
          </a:p>
        </p:txBody>
      </p:sp>
      <p:sp>
        <p:nvSpPr>
          <p:cNvPr id="22" name="Shape 16"/>
          <p:cNvSpPr/>
          <p:nvPr/>
        </p:nvSpPr>
        <p:spPr>
          <a:xfrm>
            <a:off x="6796735" y="5038344"/>
            <a:ext cx="4846320" cy="868680"/>
          </a:xfrm>
          <a:prstGeom prst="roundRect">
            <a:avLst>
              <a:gd name="adj" fmla="val 10526"/>
            </a:avLst>
          </a:prstGeom>
          <a:solidFill>
            <a:srgbClr val="000000"/>
          </a:solidFill>
          <a:ln w="12700">
            <a:solidFill>
              <a:srgbClr val="000000"/>
            </a:solidFill>
            <a:prstDash val="solid"/>
          </a:ln>
        </p:spPr>
      </p:sp>
      <p:sp>
        <p:nvSpPr>
          <p:cNvPr id="23" name="Shape 17"/>
          <p:cNvSpPr/>
          <p:nvPr/>
        </p:nvSpPr>
        <p:spPr>
          <a:xfrm>
            <a:off x="10911535" y="5202936"/>
            <a:ext cx="548640" cy="548640"/>
          </a:xfrm>
          <a:prstGeom prst="ellipse">
            <a:avLst/>
          </a:prstGeom>
          <a:solidFill>
            <a:srgbClr val="A6D04B"/>
          </a:solidFill>
          <a:ln w="6350">
            <a:solidFill>
              <a:srgbClr val="A6D04B"/>
            </a:solidFill>
            <a:prstDash val="solid"/>
          </a:ln>
        </p:spPr>
      </p:sp>
      <p:pic>
        <p:nvPicPr>
          <p:cNvPr id="24" name="Image 4" descr="preencoded.png">    </p:cNvPr>
          <p:cNvPicPr>
            <a:picLocks noChangeAspect="1"/>
          </p:cNvPicPr>
          <p:nvPr/>
        </p:nvPicPr>
        <p:blipFill>
          <a:blip r:embed="rId5"/>
          <a:stretch>
            <a:fillRect/>
          </a:stretch>
        </p:blipFill>
        <p:spPr>
          <a:xfrm>
            <a:off x="11030407" y="5321808"/>
            <a:ext cx="310896" cy="310896"/>
          </a:xfrm>
          <a:prstGeom prst="rect">
            <a:avLst/>
          </a:prstGeom>
        </p:spPr>
      </p:pic>
      <p:sp>
        <p:nvSpPr>
          <p:cNvPr id="25" name="Text 18"/>
          <p:cNvSpPr txBox="1"/>
          <p:nvPr/>
        </p:nvSpPr>
        <p:spPr>
          <a:xfrm>
            <a:off x="6979615" y="5129784"/>
            <a:ext cx="3749040" cy="36576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الحملة</a:t>
            </a:r>
            <a:endParaRPr lang="ar-SA" sz="1700" dirty="0"/>
          </a:p>
        </p:txBody>
      </p:sp>
      <p:sp>
        <p:nvSpPr>
          <p:cNvPr id="26" name="Text 19"/>
          <p:cNvSpPr txBox="1"/>
          <p:nvPr/>
        </p:nvSpPr>
        <p:spPr>
          <a:xfrm>
            <a:off x="6933895" y="5495544"/>
            <a:ext cx="3794760" cy="36576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D6D8D4"/>
                </a:solidFill>
                <a:latin typeface="IBM Plex Sans Arabic" pitchFamily="34" charset="0"/>
                <a:ea typeface="IBM Plex Sans Arabic" pitchFamily="34" charset="-122"/>
                <a:cs typeface="IBM Plex Sans Arabic" pitchFamily="34" charset="-120"/>
              </a:rPr>
              <a:t>رسالة واحدة، عرض واحد، مؤشرات واضحة</a:t>
            </a:r>
            <a:endParaRPr lang="ar-SA" sz="1350" dirty="0"/>
          </a:p>
        </p:txBody>
      </p:sp>
      <p:sp>
        <p:nvSpPr>
          <p:cNvPr id="27" name="Text 20"/>
          <p:cNvSpPr txBox="1"/>
          <p:nvPr/>
        </p:nvSpPr>
        <p:spPr>
          <a:xfrm>
            <a:off x="548640" y="1810512"/>
            <a:ext cx="5790895" cy="36576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1A1A1A"/>
                </a:solidFill>
                <a:latin typeface="Cairo" pitchFamily="34" charset="0"/>
                <a:ea typeface="Cairo" pitchFamily="34" charset="-122"/>
                <a:cs typeface="Cairo" pitchFamily="34" charset="-120"/>
              </a:rPr>
              <a:t>تقويم محتوى لأربعة أسابيع (نموذج)</a:t>
            </a:r>
            <a:endParaRPr lang="ar-SA" sz="1500" dirty="0"/>
          </a:p>
        </p:txBody>
      </p:sp>
      <p:sp>
        <p:nvSpPr>
          <p:cNvPr id="28" name="Text 21"/>
          <p:cNvSpPr txBox="1"/>
          <p:nvPr/>
        </p:nvSpPr>
        <p:spPr>
          <a:xfrm>
            <a:off x="5081190" y="2286000"/>
            <a:ext cx="755425" cy="274320"/>
          </a:xfrm>
          <a:prstGeom prst="rect">
            <a:avLst/>
          </a:prstGeom>
          <a:noFill/>
          <a:ln/>
        </p:spPr>
        <p:txBody>
          <a:bodyPr wrap="square" lIns="0" tIns="0" rIns="0" bIns="0" rtlCol="0" anchor="t"/>
          <a:lstStyle/>
          <a:p>
            <a:pPr rtl="1" algn="ctr" indent="0" marL="0">
              <a:lnSpc>
                <a:spcPct val="100000"/>
              </a:lnSpc>
              <a:buNone/>
            </a:pPr>
            <a:r>
              <a:rPr lang="ar-SA" altLang="en-US" sz="1050" b="1" dirty="0">
                <a:solidFill>
                  <a:srgbClr val="727274"/>
                </a:solidFill>
                <a:latin typeface="IBM Plex Sans Arabic" pitchFamily="34" charset="0"/>
                <a:ea typeface="IBM Plex Sans Arabic" pitchFamily="34" charset="-122"/>
                <a:cs typeface="IBM Plex Sans Arabic" pitchFamily="34" charset="-120"/>
              </a:rPr>
              <a:t>الاثنين</a:t>
            </a:r>
            <a:endParaRPr lang="ar-SA" sz="1050" dirty="0"/>
          </a:p>
        </p:txBody>
      </p:sp>
      <p:sp>
        <p:nvSpPr>
          <p:cNvPr id="29" name="Text 22"/>
          <p:cNvSpPr txBox="1"/>
          <p:nvPr/>
        </p:nvSpPr>
        <p:spPr>
          <a:xfrm>
            <a:off x="4325765" y="2286000"/>
            <a:ext cx="755425" cy="274320"/>
          </a:xfrm>
          <a:prstGeom prst="rect">
            <a:avLst/>
          </a:prstGeom>
          <a:noFill/>
          <a:ln/>
        </p:spPr>
        <p:txBody>
          <a:bodyPr wrap="square" lIns="0" tIns="0" rIns="0" bIns="0" rtlCol="0" anchor="t"/>
          <a:lstStyle/>
          <a:p>
            <a:pPr rtl="1" algn="ctr" indent="0" marL="0">
              <a:lnSpc>
                <a:spcPct val="100000"/>
              </a:lnSpc>
              <a:buNone/>
            </a:pPr>
            <a:r>
              <a:rPr lang="ar-SA" altLang="en-US" sz="1050" b="1" dirty="0">
                <a:solidFill>
                  <a:srgbClr val="727274"/>
                </a:solidFill>
                <a:latin typeface="IBM Plex Sans Arabic" pitchFamily="34" charset="0"/>
                <a:ea typeface="IBM Plex Sans Arabic" pitchFamily="34" charset="-122"/>
                <a:cs typeface="IBM Plex Sans Arabic" pitchFamily="34" charset="-120"/>
              </a:rPr>
              <a:t>الثلاثاء</a:t>
            </a:r>
            <a:endParaRPr lang="ar-SA" sz="1050" dirty="0"/>
          </a:p>
        </p:txBody>
      </p:sp>
      <p:sp>
        <p:nvSpPr>
          <p:cNvPr id="30" name="Text 23"/>
          <p:cNvSpPr txBox="1"/>
          <p:nvPr/>
        </p:nvSpPr>
        <p:spPr>
          <a:xfrm>
            <a:off x="3570340" y="2286000"/>
            <a:ext cx="755425" cy="274320"/>
          </a:xfrm>
          <a:prstGeom prst="rect">
            <a:avLst/>
          </a:prstGeom>
          <a:noFill/>
          <a:ln/>
        </p:spPr>
        <p:txBody>
          <a:bodyPr wrap="square" lIns="0" tIns="0" rIns="0" bIns="0" rtlCol="0" anchor="t"/>
          <a:lstStyle/>
          <a:p>
            <a:pPr rtl="1" algn="ctr" indent="0" marL="0">
              <a:lnSpc>
                <a:spcPct val="100000"/>
              </a:lnSpc>
              <a:buNone/>
            </a:pPr>
            <a:r>
              <a:rPr lang="ar-SA" altLang="en-US" sz="1050" b="1" dirty="0">
                <a:solidFill>
                  <a:srgbClr val="727274"/>
                </a:solidFill>
                <a:latin typeface="IBM Plex Sans Arabic" pitchFamily="34" charset="0"/>
                <a:ea typeface="IBM Plex Sans Arabic" pitchFamily="34" charset="-122"/>
                <a:cs typeface="IBM Plex Sans Arabic" pitchFamily="34" charset="-120"/>
              </a:rPr>
              <a:t>الأربعاء</a:t>
            </a:r>
            <a:endParaRPr lang="ar-SA" sz="1050" dirty="0"/>
          </a:p>
        </p:txBody>
      </p:sp>
      <p:sp>
        <p:nvSpPr>
          <p:cNvPr id="31" name="Text 24"/>
          <p:cNvSpPr txBox="1"/>
          <p:nvPr/>
        </p:nvSpPr>
        <p:spPr>
          <a:xfrm>
            <a:off x="2814915" y="2286000"/>
            <a:ext cx="755425" cy="274320"/>
          </a:xfrm>
          <a:prstGeom prst="rect">
            <a:avLst/>
          </a:prstGeom>
          <a:noFill/>
          <a:ln/>
        </p:spPr>
        <p:txBody>
          <a:bodyPr wrap="square" lIns="0" tIns="0" rIns="0" bIns="0" rtlCol="0" anchor="t"/>
          <a:lstStyle/>
          <a:p>
            <a:pPr rtl="1" algn="ctr" indent="0" marL="0">
              <a:lnSpc>
                <a:spcPct val="100000"/>
              </a:lnSpc>
              <a:buNone/>
            </a:pPr>
            <a:r>
              <a:rPr lang="ar-SA" altLang="en-US" sz="1050" b="1" dirty="0">
                <a:solidFill>
                  <a:srgbClr val="727274"/>
                </a:solidFill>
                <a:latin typeface="IBM Plex Sans Arabic" pitchFamily="34" charset="0"/>
                <a:ea typeface="IBM Plex Sans Arabic" pitchFamily="34" charset="-122"/>
                <a:cs typeface="IBM Plex Sans Arabic" pitchFamily="34" charset="-120"/>
              </a:rPr>
              <a:t>الخميس</a:t>
            </a:r>
            <a:endParaRPr lang="ar-SA" sz="1050" dirty="0"/>
          </a:p>
        </p:txBody>
      </p:sp>
      <p:sp>
        <p:nvSpPr>
          <p:cNvPr id="32" name="Text 25"/>
          <p:cNvSpPr txBox="1"/>
          <p:nvPr/>
        </p:nvSpPr>
        <p:spPr>
          <a:xfrm>
            <a:off x="2059490" y="2286000"/>
            <a:ext cx="755425" cy="274320"/>
          </a:xfrm>
          <a:prstGeom prst="rect">
            <a:avLst/>
          </a:prstGeom>
          <a:noFill/>
          <a:ln/>
        </p:spPr>
        <p:txBody>
          <a:bodyPr wrap="square" lIns="0" tIns="0" rIns="0" bIns="0" rtlCol="0" anchor="t"/>
          <a:lstStyle/>
          <a:p>
            <a:pPr rtl="1" algn="ctr" indent="0" marL="0">
              <a:lnSpc>
                <a:spcPct val="100000"/>
              </a:lnSpc>
              <a:buNone/>
            </a:pPr>
            <a:r>
              <a:rPr lang="ar-SA" altLang="en-US" sz="1050" b="1" dirty="0">
                <a:solidFill>
                  <a:srgbClr val="727274"/>
                </a:solidFill>
                <a:latin typeface="IBM Plex Sans Arabic" pitchFamily="34" charset="0"/>
                <a:ea typeface="IBM Plex Sans Arabic" pitchFamily="34" charset="-122"/>
                <a:cs typeface="IBM Plex Sans Arabic" pitchFamily="34" charset="-120"/>
              </a:rPr>
              <a:t>الجمعة</a:t>
            </a:r>
            <a:endParaRPr lang="ar-SA" sz="1050" dirty="0"/>
          </a:p>
        </p:txBody>
      </p:sp>
      <p:sp>
        <p:nvSpPr>
          <p:cNvPr id="33" name="Text 26"/>
          <p:cNvSpPr txBox="1"/>
          <p:nvPr/>
        </p:nvSpPr>
        <p:spPr>
          <a:xfrm>
            <a:off x="1304065" y="2286000"/>
            <a:ext cx="755425" cy="274320"/>
          </a:xfrm>
          <a:prstGeom prst="rect">
            <a:avLst/>
          </a:prstGeom>
          <a:noFill/>
          <a:ln/>
        </p:spPr>
        <p:txBody>
          <a:bodyPr wrap="square" lIns="0" tIns="0" rIns="0" bIns="0" rtlCol="0" anchor="t"/>
          <a:lstStyle/>
          <a:p>
            <a:pPr rtl="1" algn="ctr" indent="0" marL="0">
              <a:lnSpc>
                <a:spcPct val="100000"/>
              </a:lnSpc>
              <a:buNone/>
            </a:pPr>
            <a:r>
              <a:rPr lang="ar-SA" altLang="en-US" sz="1050" b="1" dirty="0">
                <a:solidFill>
                  <a:srgbClr val="727274"/>
                </a:solidFill>
                <a:latin typeface="IBM Plex Sans Arabic" pitchFamily="34" charset="0"/>
                <a:ea typeface="IBM Plex Sans Arabic" pitchFamily="34" charset="-122"/>
                <a:cs typeface="IBM Plex Sans Arabic" pitchFamily="34" charset="-120"/>
              </a:rPr>
              <a:t>السبت</a:t>
            </a:r>
            <a:endParaRPr lang="ar-SA" sz="1050" dirty="0"/>
          </a:p>
        </p:txBody>
      </p:sp>
      <p:sp>
        <p:nvSpPr>
          <p:cNvPr id="34" name="Text 27"/>
          <p:cNvSpPr txBox="1"/>
          <p:nvPr/>
        </p:nvSpPr>
        <p:spPr>
          <a:xfrm>
            <a:off x="548640" y="2286000"/>
            <a:ext cx="755425" cy="274320"/>
          </a:xfrm>
          <a:prstGeom prst="rect">
            <a:avLst/>
          </a:prstGeom>
          <a:noFill/>
          <a:ln/>
        </p:spPr>
        <p:txBody>
          <a:bodyPr wrap="square" lIns="0" tIns="0" rIns="0" bIns="0" rtlCol="0" anchor="t"/>
          <a:lstStyle/>
          <a:p>
            <a:pPr rtl="1" algn="ctr" indent="0" marL="0">
              <a:lnSpc>
                <a:spcPct val="100000"/>
              </a:lnSpc>
              <a:buNone/>
            </a:pPr>
            <a:r>
              <a:rPr lang="ar-SA" altLang="en-US" sz="1050" b="1" dirty="0">
                <a:solidFill>
                  <a:srgbClr val="727274"/>
                </a:solidFill>
                <a:latin typeface="IBM Plex Sans Arabic" pitchFamily="34" charset="0"/>
                <a:ea typeface="IBM Plex Sans Arabic" pitchFamily="34" charset="-122"/>
                <a:cs typeface="IBM Plex Sans Arabic" pitchFamily="34" charset="-120"/>
              </a:rPr>
              <a:t>الأحد</a:t>
            </a:r>
            <a:endParaRPr lang="ar-SA" sz="1050" dirty="0"/>
          </a:p>
        </p:txBody>
      </p:sp>
      <p:sp>
        <p:nvSpPr>
          <p:cNvPr id="35" name="Text 28"/>
          <p:cNvSpPr txBox="1"/>
          <p:nvPr/>
        </p:nvSpPr>
        <p:spPr>
          <a:xfrm>
            <a:off x="5836615" y="2651760"/>
            <a:ext cx="502920" cy="566928"/>
          </a:xfrm>
          <a:prstGeom prst="rect">
            <a:avLst/>
          </a:prstGeom>
          <a:noFill/>
          <a:ln/>
        </p:spPr>
        <p:txBody>
          <a:bodyPr wrap="square" lIns="0" tIns="0" rIns="0" bIns="0" rtlCol="0" anchor="ctr"/>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1</a:t>
            </a:r>
            <a:endParaRPr lang="ar-SA" sz="1200" dirty="0"/>
          </a:p>
        </p:txBody>
      </p:sp>
      <p:sp>
        <p:nvSpPr>
          <p:cNvPr id="36" name="Shape 29"/>
          <p:cNvSpPr/>
          <p:nvPr/>
        </p:nvSpPr>
        <p:spPr>
          <a:xfrm>
            <a:off x="5117766" y="2651760"/>
            <a:ext cx="682273" cy="566928"/>
          </a:xfrm>
          <a:prstGeom prst="roundRect">
            <a:avLst>
              <a:gd name="adj" fmla="val 9677"/>
            </a:avLst>
          </a:prstGeom>
          <a:solidFill>
            <a:srgbClr val="4DB449"/>
          </a:solidFill>
          <a:ln w="12700">
            <a:solidFill>
              <a:srgbClr val="4DB449"/>
            </a:solidFill>
            <a:prstDash val="solid"/>
          </a:ln>
        </p:spPr>
      </p:sp>
      <p:sp>
        <p:nvSpPr>
          <p:cNvPr id="37" name="Shape 30"/>
          <p:cNvSpPr/>
          <p:nvPr/>
        </p:nvSpPr>
        <p:spPr>
          <a:xfrm>
            <a:off x="4362341" y="2651760"/>
            <a:ext cx="682273" cy="566928"/>
          </a:xfrm>
          <a:prstGeom prst="roundRect">
            <a:avLst>
              <a:gd name="adj" fmla="val 9677"/>
            </a:avLst>
          </a:prstGeom>
          <a:solidFill>
            <a:srgbClr val="F2F4F1"/>
          </a:solidFill>
          <a:ln w="12700">
            <a:solidFill>
              <a:srgbClr val="F2F4F1"/>
            </a:solidFill>
            <a:prstDash val="solid"/>
          </a:ln>
        </p:spPr>
      </p:sp>
      <p:sp>
        <p:nvSpPr>
          <p:cNvPr id="38" name="Shape 31"/>
          <p:cNvSpPr/>
          <p:nvPr/>
        </p:nvSpPr>
        <p:spPr>
          <a:xfrm>
            <a:off x="3606916" y="2651760"/>
            <a:ext cx="682273" cy="566928"/>
          </a:xfrm>
          <a:prstGeom prst="roundRect">
            <a:avLst>
              <a:gd name="adj" fmla="val 9677"/>
            </a:avLst>
          </a:prstGeom>
          <a:solidFill>
            <a:srgbClr val="A6D04B"/>
          </a:solidFill>
          <a:ln w="12700">
            <a:solidFill>
              <a:srgbClr val="A6D04B"/>
            </a:solidFill>
            <a:prstDash val="solid"/>
          </a:ln>
        </p:spPr>
      </p:sp>
      <p:sp>
        <p:nvSpPr>
          <p:cNvPr id="39" name="Shape 32"/>
          <p:cNvSpPr/>
          <p:nvPr/>
        </p:nvSpPr>
        <p:spPr>
          <a:xfrm>
            <a:off x="2851491" y="2651760"/>
            <a:ext cx="682273" cy="566928"/>
          </a:xfrm>
          <a:prstGeom prst="roundRect">
            <a:avLst>
              <a:gd name="adj" fmla="val 9677"/>
            </a:avLst>
          </a:prstGeom>
          <a:solidFill>
            <a:srgbClr val="F2F4F1"/>
          </a:solidFill>
          <a:ln w="12700">
            <a:solidFill>
              <a:srgbClr val="F2F4F1"/>
            </a:solidFill>
            <a:prstDash val="solid"/>
          </a:ln>
        </p:spPr>
      </p:sp>
      <p:sp>
        <p:nvSpPr>
          <p:cNvPr id="40" name="Shape 33"/>
          <p:cNvSpPr/>
          <p:nvPr/>
        </p:nvSpPr>
        <p:spPr>
          <a:xfrm>
            <a:off x="2096066" y="2651760"/>
            <a:ext cx="682273" cy="566928"/>
          </a:xfrm>
          <a:prstGeom prst="roundRect">
            <a:avLst>
              <a:gd name="adj" fmla="val 9677"/>
            </a:avLst>
          </a:prstGeom>
          <a:solidFill>
            <a:srgbClr val="F2F4F1"/>
          </a:solidFill>
          <a:ln w="12700">
            <a:solidFill>
              <a:srgbClr val="F2F4F1"/>
            </a:solidFill>
            <a:prstDash val="solid"/>
          </a:ln>
        </p:spPr>
      </p:sp>
      <p:sp>
        <p:nvSpPr>
          <p:cNvPr id="41" name="Shape 34"/>
          <p:cNvSpPr/>
          <p:nvPr/>
        </p:nvSpPr>
        <p:spPr>
          <a:xfrm>
            <a:off x="1340641" y="2651760"/>
            <a:ext cx="682273" cy="566928"/>
          </a:xfrm>
          <a:prstGeom prst="roundRect">
            <a:avLst>
              <a:gd name="adj" fmla="val 9677"/>
            </a:avLst>
          </a:prstGeom>
          <a:solidFill>
            <a:srgbClr val="727274"/>
          </a:solidFill>
          <a:ln w="12700">
            <a:solidFill>
              <a:srgbClr val="727274"/>
            </a:solidFill>
            <a:prstDash val="solid"/>
          </a:ln>
        </p:spPr>
      </p:sp>
      <p:sp>
        <p:nvSpPr>
          <p:cNvPr id="42" name="Shape 35"/>
          <p:cNvSpPr/>
          <p:nvPr/>
        </p:nvSpPr>
        <p:spPr>
          <a:xfrm>
            <a:off x="585216" y="2651760"/>
            <a:ext cx="682273" cy="566928"/>
          </a:xfrm>
          <a:prstGeom prst="roundRect">
            <a:avLst>
              <a:gd name="adj" fmla="val 9677"/>
            </a:avLst>
          </a:prstGeom>
          <a:solidFill>
            <a:srgbClr val="F2F4F1"/>
          </a:solidFill>
          <a:ln w="12700">
            <a:solidFill>
              <a:srgbClr val="F2F4F1"/>
            </a:solidFill>
            <a:prstDash val="solid"/>
          </a:ln>
        </p:spPr>
      </p:sp>
      <p:sp>
        <p:nvSpPr>
          <p:cNvPr id="43" name="Text 36"/>
          <p:cNvSpPr txBox="1"/>
          <p:nvPr/>
        </p:nvSpPr>
        <p:spPr>
          <a:xfrm>
            <a:off x="5836615" y="3291840"/>
            <a:ext cx="502920" cy="566928"/>
          </a:xfrm>
          <a:prstGeom prst="rect">
            <a:avLst/>
          </a:prstGeom>
          <a:noFill/>
          <a:ln/>
        </p:spPr>
        <p:txBody>
          <a:bodyPr wrap="square" lIns="0" tIns="0" rIns="0" bIns="0" rtlCol="0" anchor="ctr"/>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2</a:t>
            </a:r>
            <a:endParaRPr lang="ar-SA" sz="1200" dirty="0"/>
          </a:p>
        </p:txBody>
      </p:sp>
      <p:sp>
        <p:nvSpPr>
          <p:cNvPr id="44" name="Shape 37"/>
          <p:cNvSpPr/>
          <p:nvPr/>
        </p:nvSpPr>
        <p:spPr>
          <a:xfrm>
            <a:off x="5117766" y="3291840"/>
            <a:ext cx="682273" cy="566928"/>
          </a:xfrm>
          <a:prstGeom prst="roundRect">
            <a:avLst>
              <a:gd name="adj" fmla="val 9677"/>
            </a:avLst>
          </a:prstGeom>
          <a:solidFill>
            <a:srgbClr val="F2F4F1"/>
          </a:solidFill>
          <a:ln w="12700">
            <a:solidFill>
              <a:srgbClr val="F2F4F1"/>
            </a:solidFill>
            <a:prstDash val="solid"/>
          </a:ln>
        </p:spPr>
      </p:sp>
      <p:sp>
        <p:nvSpPr>
          <p:cNvPr id="45" name="Shape 38"/>
          <p:cNvSpPr/>
          <p:nvPr/>
        </p:nvSpPr>
        <p:spPr>
          <a:xfrm>
            <a:off x="4362341" y="3291840"/>
            <a:ext cx="682273" cy="566928"/>
          </a:xfrm>
          <a:prstGeom prst="roundRect">
            <a:avLst>
              <a:gd name="adj" fmla="val 9677"/>
            </a:avLst>
          </a:prstGeom>
          <a:solidFill>
            <a:srgbClr val="000000"/>
          </a:solidFill>
          <a:ln w="12700">
            <a:solidFill>
              <a:srgbClr val="000000"/>
            </a:solidFill>
            <a:prstDash val="solid"/>
          </a:ln>
        </p:spPr>
      </p:sp>
      <p:sp>
        <p:nvSpPr>
          <p:cNvPr id="46" name="Shape 39"/>
          <p:cNvSpPr/>
          <p:nvPr/>
        </p:nvSpPr>
        <p:spPr>
          <a:xfrm>
            <a:off x="3606916" y="3291840"/>
            <a:ext cx="682273" cy="566928"/>
          </a:xfrm>
          <a:prstGeom prst="roundRect">
            <a:avLst>
              <a:gd name="adj" fmla="val 9677"/>
            </a:avLst>
          </a:prstGeom>
          <a:solidFill>
            <a:srgbClr val="F2F4F1"/>
          </a:solidFill>
          <a:ln w="12700">
            <a:solidFill>
              <a:srgbClr val="F2F4F1"/>
            </a:solidFill>
            <a:prstDash val="solid"/>
          </a:ln>
        </p:spPr>
      </p:sp>
      <p:sp>
        <p:nvSpPr>
          <p:cNvPr id="47" name="Shape 40"/>
          <p:cNvSpPr/>
          <p:nvPr/>
        </p:nvSpPr>
        <p:spPr>
          <a:xfrm>
            <a:off x="2851491" y="3291840"/>
            <a:ext cx="682273" cy="566928"/>
          </a:xfrm>
          <a:prstGeom prst="roundRect">
            <a:avLst>
              <a:gd name="adj" fmla="val 9677"/>
            </a:avLst>
          </a:prstGeom>
          <a:solidFill>
            <a:srgbClr val="4DB449"/>
          </a:solidFill>
          <a:ln w="12700">
            <a:solidFill>
              <a:srgbClr val="4DB449"/>
            </a:solidFill>
            <a:prstDash val="solid"/>
          </a:ln>
        </p:spPr>
      </p:sp>
      <p:sp>
        <p:nvSpPr>
          <p:cNvPr id="48" name="Shape 41"/>
          <p:cNvSpPr/>
          <p:nvPr/>
        </p:nvSpPr>
        <p:spPr>
          <a:xfrm>
            <a:off x="2096066" y="3291840"/>
            <a:ext cx="682273" cy="566928"/>
          </a:xfrm>
          <a:prstGeom prst="roundRect">
            <a:avLst>
              <a:gd name="adj" fmla="val 9677"/>
            </a:avLst>
          </a:prstGeom>
          <a:solidFill>
            <a:srgbClr val="F2F4F1"/>
          </a:solidFill>
          <a:ln w="12700">
            <a:solidFill>
              <a:srgbClr val="F2F4F1"/>
            </a:solidFill>
            <a:prstDash val="solid"/>
          </a:ln>
        </p:spPr>
      </p:sp>
      <p:sp>
        <p:nvSpPr>
          <p:cNvPr id="49" name="Shape 42"/>
          <p:cNvSpPr/>
          <p:nvPr/>
        </p:nvSpPr>
        <p:spPr>
          <a:xfrm>
            <a:off x="1340641" y="3291840"/>
            <a:ext cx="682273" cy="566928"/>
          </a:xfrm>
          <a:prstGeom prst="roundRect">
            <a:avLst>
              <a:gd name="adj" fmla="val 9677"/>
            </a:avLst>
          </a:prstGeom>
          <a:solidFill>
            <a:srgbClr val="F2F4F1"/>
          </a:solidFill>
          <a:ln w="12700">
            <a:solidFill>
              <a:srgbClr val="F2F4F1"/>
            </a:solidFill>
            <a:prstDash val="solid"/>
          </a:ln>
        </p:spPr>
      </p:sp>
      <p:sp>
        <p:nvSpPr>
          <p:cNvPr id="50" name="Shape 43"/>
          <p:cNvSpPr/>
          <p:nvPr/>
        </p:nvSpPr>
        <p:spPr>
          <a:xfrm>
            <a:off x="585216" y="3291840"/>
            <a:ext cx="682273" cy="566928"/>
          </a:xfrm>
          <a:prstGeom prst="roundRect">
            <a:avLst>
              <a:gd name="adj" fmla="val 9677"/>
            </a:avLst>
          </a:prstGeom>
          <a:solidFill>
            <a:srgbClr val="A6D04B"/>
          </a:solidFill>
          <a:ln w="12700">
            <a:solidFill>
              <a:srgbClr val="A6D04B"/>
            </a:solidFill>
            <a:prstDash val="solid"/>
          </a:ln>
        </p:spPr>
      </p:sp>
      <p:sp>
        <p:nvSpPr>
          <p:cNvPr id="51" name="Text 44"/>
          <p:cNvSpPr txBox="1"/>
          <p:nvPr/>
        </p:nvSpPr>
        <p:spPr>
          <a:xfrm>
            <a:off x="5836615" y="3931920"/>
            <a:ext cx="502920" cy="566928"/>
          </a:xfrm>
          <a:prstGeom prst="rect">
            <a:avLst/>
          </a:prstGeom>
          <a:noFill/>
          <a:ln/>
        </p:spPr>
        <p:txBody>
          <a:bodyPr wrap="square" lIns="0" tIns="0" rIns="0" bIns="0" rtlCol="0" anchor="ctr"/>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3</a:t>
            </a:r>
            <a:endParaRPr lang="ar-SA" sz="1200" dirty="0"/>
          </a:p>
        </p:txBody>
      </p:sp>
      <p:sp>
        <p:nvSpPr>
          <p:cNvPr id="52" name="Shape 45"/>
          <p:cNvSpPr/>
          <p:nvPr/>
        </p:nvSpPr>
        <p:spPr>
          <a:xfrm>
            <a:off x="5117766" y="3931920"/>
            <a:ext cx="682273" cy="566928"/>
          </a:xfrm>
          <a:prstGeom prst="roundRect">
            <a:avLst>
              <a:gd name="adj" fmla="val 9677"/>
            </a:avLst>
          </a:prstGeom>
          <a:solidFill>
            <a:srgbClr val="A6D04B"/>
          </a:solidFill>
          <a:ln w="12700">
            <a:solidFill>
              <a:srgbClr val="A6D04B"/>
            </a:solidFill>
            <a:prstDash val="solid"/>
          </a:ln>
        </p:spPr>
      </p:sp>
      <p:sp>
        <p:nvSpPr>
          <p:cNvPr id="53" name="Shape 46"/>
          <p:cNvSpPr/>
          <p:nvPr/>
        </p:nvSpPr>
        <p:spPr>
          <a:xfrm>
            <a:off x="4362341" y="3931920"/>
            <a:ext cx="682273" cy="566928"/>
          </a:xfrm>
          <a:prstGeom prst="roundRect">
            <a:avLst>
              <a:gd name="adj" fmla="val 9677"/>
            </a:avLst>
          </a:prstGeom>
          <a:solidFill>
            <a:srgbClr val="F2F4F1"/>
          </a:solidFill>
          <a:ln w="12700">
            <a:solidFill>
              <a:srgbClr val="F2F4F1"/>
            </a:solidFill>
            <a:prstDash val="solid"/>
          </a:ln>
        </p:spPr>
      </p:sp>
      <p:sp>
        <p:nvSpPr>
          <p:cNvPr id="54" name="Shape 47"/>
          <p:cNvSpPr/>
          <p:nvPr/>
        </p:nvSpPr>
        <p:spPr>
          <a:xfrm>
            <a:off x="3606916" y="3931920"/>
            <a:ext cx="682273" cy="566928"/>
          </a:xfrm>
          <a:prstGeom prst="roundRect">
            <a:avLst>
              <a:gd name="adj" fmla="val 9677"/>
            </a:avLst>
          </a:prstGeom>
          <a:solidFill>
            <a:srgbClr val="F2F4F1"/>
          </a:solidFill>
          <a:ln w="12700">
            <a:solidFill>
              <a:srgbClr val="F2F4F1"/>
            </a:solidFill>
            <a:prstDash val="solid"/>
          </a:ln>
        </p:spPr>
      </p:sp>
      <p:sp>
        <p:nvSpPr>
          <p:cNvPr id="55" name="Shape 48"/>
          <p:cNvSpPr/>
          <p:nvPr/>
        </p:nvSpPr>
        <p:spPr>
          <a:xfrm>
            <a:off x="2851491" y="3931920"/>
            <a:ext cx="682273" cy="566928"/>
          </a:xfrm>
          <a:prstGeom prst="roundRect">
            <a:avLst>
              <a:gd name="adj" fmla="val 9677"/>
            </a:avLst>
          </a:prstGeom>
          <a:solidFill>
            <a:srgbClr val="727274"/>
          </a:solidFill>
          <a:ln w="12700">
            <a:solidFill>
              <a:srgbClr val="727274"/>
            </a:solidFill>
            <a:prstDash val="solid"/>
          </a:ln>
        </p:spPr>
      </p:sp>
      <p:sp>
        <p:nvSpPr>
          <p:cNvPr id="56" name="Shape 49"/>
          <p:cNvSpPr/>
          <p:nvPr/>
        </p:nvSpPr>
        <p:spPr>
          <a:xfrm>
            <a:off x="2096066" y="3931920"/>
            <a:ext cx="682273" cy="566928"/>
          </a:xfrm>
          <a:prstGeom prst="roundRect">
            <a:avLst>
              <a:gd name="adj" fmla="val 9677"/>
            </a:avLst>
          </a:prstGeom>
          <a:solidFill>
            <a:srgbClr val="F2F4F1"/>
          </a:solidFill>
          <a:ln w="12700">
            <a:solidFill>
              <a:srgbClr val="F2F4F1"/>
            </a:solidFill>
            <a:prstDash val="solid"/>
          </a:ln>
        </p:spPr>
      </p:sp>
      <p:sp>
        <p:nvSpPr>
          <p:cNvPr id="57" name="Shape 50"/>
          <p:cNvSpPr/>
          <p:nvPr/>
        </p:nvSpPr>
        <p:spPr>
          <a:xfrm>
            <a:off x="1340641" y="3931920"/>
            <a:ext cx="682273" cy="566928"/>
          </a:xfrm>
          <a:prstGeom prst="roundRect">
            <a:avLst>
              <a:gd name="adj" fmla="val 9677"/>
            </a:avLst>
          </a:prstGeom>
          <a:solidFill>
            <a:srgbClr val="000000"/>
          </a:solidFill>
          <a:ln w="12700">
            <a:solidFill>
              <a:srgbClr val="000000"/>
            </a:solidFill>
            <a:prstDash val="solid"/>
          </a:ln>
        </p:spPr>
      </p:sp>
      <p:sp>
        <p:nvSpPr>
          <p:cNvPr id="58" name="Shape 51"/>
          <p:cNvSpPr/>
          <p:nvPr/>
        </p:nvSpPr>
        <p:spPr>
          <a:xfrm>
            <a:off x="585216" y="3931920"/>
            <a:ext cx="682273" cy="566928"/>
          </a:xfrm>
          <a:prstGeom prst="roundRect">
            <a:avLst>
              <a:gd name="adj" fmla="val 9677"/>
            </a:avLst>
          </a:prstGeom>
          <a:solidFill>
            <a:srgbClr val="F2F4F1"/>
          </a:solidFill>
          <a:ln w="12700">
            <a:solidFill>
              <a:srgbClr val="F2F4F1"/>
            </a:solidFill>
            <a:prstDash val="solid"/>
          </a:ln>
        </p:spPr>
      </p:sp>
      <p:sp>
        <p:nvSpPr>
          <p:cNvPr id="59" name="Text 52"/>
          <p:cNvSpPr txBox="1"/>
          <p:nvPr/>
        </p:nvSpPr>
        <p:spPr>
          <a:xfrm>
            <a:off x="5836615" y="4572000"/>
            <a:ext cx="502920" cy="566928"/>
          </a:xfrm>
          <a:prstGeom prst="rect">
            <a:avLst/>
          </a:prstGeom>
          <a:noFill/>
          <a:ln/>
        </p:spPr>
        <p:txBody>
          <a:bodyPr wrap="square" lIns="0" tIns="0" rIns="0" bIns="0" rtlCol="0" anchor="ctr"/>
          <a:lstStyle/>
          <a:p>
            <a:pPr rtl="1" algn="r" indent="0" marL="0">
              <a:lnSpc>
                <a:spcPct val="100000"/>
              </a:lnSpc>
              <a:buNone/>
            </a:pPr>
            <a:r>
              <a:rPr lang="ar-SA" altLang="en-US" sz="1200" b="1" dirty="0">
                <a:solidFill>
                  <a:srgbClr val="727274"/>
                </a:solidFill>
                <a:latin typeface="IBM Plex Sans Arabic" pitchFamily="34" charset="0"/>
                <a:ea typeface="IBM Plex Sans Arabic" pitchFamily="34" charset="-122"/>
                <a:cs typeface="IBM Plex Sans Arabic" pitchFamily="34" charset="-120"/>
              </a:rPr>
              <a:t>4</a:t>
            </a:r>
            <a:endParaRPr lang="ar-SA" sz="1200" dirty="0"/>
          </a:p>
        </p:txBody>
      </p:sp>
      <p:sp>
        <p:nvSpPr>
          <p:cNvPr id="60" name="Shape 53"/>
          <p:cNvSpPr/>
          <p:nvPr/>
        </p:nvSpPr>
        <p:spPr>
          <a:xfrm>
            <a:off x="5117766" y="4572000"/>
            <a:ext cx="682273" cy="566928"/>
          </a:xfrm>
          <a:prstGeom prst="roundRect">
            <a:avLst>
              <a:gd name="adj" fmla="val 9677"/>
            </a:avLst>
          </a:prstGeom>
          <a:solidFill>
            <a:srgbClr val="F2F4F1"/>
          </a:solidFill>
          <a:ln w="12700">
            <a:solidFill>
              <a:srgbClr val="F2F4F1"/>
            </a:solidFill>
            <a:prstDash val="solid"/>
          </a:ln>
        </p:spPr>
      </p:sp>
      <p:sp>
        <p:nvSpPr>
          <p:cNvPr id="61" name="Shape 54"/>
          <p:cNvSpPr/>
          <p:nvPr/>
        </p:nvSpPr>
        <p:spPr>
          <a:xfrm>
            <a:off x="4362341" y="4572000"/>
            <a:ext cx="682273" cy="566928"/>
          </a:xfrm>
          <a:prstGeom prst="roundRect">
            <a:avLst>
              <a:gd name="adj" fmla="val 9677"/>
            </a:avLst>
          </a:prstGeom>
          <a:solidFill>
            <a:srgbClr val="4DB449"/>
          </a:solidFill>
          <a:ln w="12700">
            <a:solidFill>
              <a:srgbClr val="4DB449"/>
            </a:solidFill>
            <a:prstDash val="solid"/>
          </a:ln>
        </p:spPr>
      </p:sp>
      <p:sp>
        <p:nvSpPr>
          <p:cNvPr id="62" name="Shape 55"/>
          <p:cNvSpPr/>
          <p:nvPr/>
        </p:nvSpPr>
        <p:spPr>
          <a:xfrm>
            <a:off x="3606916" y="4572000"/>
            <a:ext cx="682273" cy="566928"/>
          </a:xfrm>
          <a:prstGeom prst="roundRect">
            <a:avLst>
              <a:gd name="adj" fmla="val 9677"/>
            </a:avLst>
          </a:prstGeom>
          <a:solidFill>
            <a:srgbClr val="F2F4F1"/>
          </a:solidFill>
          <a:ln w="12700">
            <a:solidFill>
              <a:srgbClr val="F2F4F1"/>
            </a:solidFill>
            <a:prstDash val="solid"/>
          </a:ln>
        </p:spPr>
      </p:sp>
      <p:sp>
        <p:nvSpPr>
          <p:cNvPr id="63" name="Shape 56"/>
          <p:cNvSpPr/>
          <p:nvPr/>
        </p:nvSpPr>
        <p:spPr>
          <a:xfrm>
            <a:off x="2851491" y="4572000"/>
            <a:ext cx="682273" cy="566928"/>
          </a:xfrm>
          <a:prstGeom prst="roundRect">
            <a:avLst>
              <a:gd name="adj" fmla="val 9677"/>
            </a:avLst>
          </a:prstGeom>
          <a:solidFill>
            <a:srgbClr val="A6D04B"/>
          </a:solidFill>
          <a:ln w="12700">
            <a:solidFill>
              <a:srgbClr val="A6D04B"/>
            </a:solidFill>
            <a:prstDash val="solid"/>
          </a:ln>
        </p:spPr>
      </p:sp>
      <p:sp>
        <p:nvSpPr>
          <p:cNvPr id="64" name="Shape 57"/>
          <p:cNvSpPr/>
          <p:nvPr/>
        </p:nvSpPr>
        <p:spPr>
          <a:xfrm>
            <a:off x="2096066" y="4572000"/>
            <a:ext cx="682273" cy="566928"/>
          </a:xfrm>
          <a:prstGeom prst="roundRect">
            <a:avLst>
              <a:gd name="adj" fmla="val 9677"/>
            </a:avLst>
          </a:prstGeom>
          <a:solidFill>
            <a:srgbClr val="F2F4F1"/>
          </a:solidFill>
          <a:ln w="12700">
            <a:solidFill>
              <a:srgbClr val="F2F4F1"/>
            </a:solidFill>
            <a:prstDash val="solid"/>
          </a:ln>
        </p:spPr>
      </p:sp>
      <p:sp>
        <p:nvSpPr>
          <p:cNvPr id="65" name="Shape 58"/>
          <p:cNvSpPr/>
          <p:nvPr/>
        </p:nvSpPr>
        <p:spPr>
          <a:xfrm>
            <a:off x="1340641" y="4572000"/>
            <a:ext cx="682273" cy="566928"/>
          </a:xfrm>
          <a:prstGeom prst="roundRect">
            <a:avLst>
              <a:gd name="adj" fmla="val 9677"/>
            </a:avLst>
          </a:prstGeom>
          <a:solidFill>
            <a:srgbClr val="F2F4F1"/>
          </a:solidFill>
          <a:ln w="12700">
            <a:solidFill>
              <a:srgbClr val="F2F4F1"/>
            </a:solidFill>
            <a:prstDash val="solid"/>
          </a:ln>
        </p:spPr>
      </p:sp>
      <p:sp>
        <p:nvSpPr>
          <p:cNvPr id="66" name="Shape 59"/>
          <p:cNvSpPr/>
          <p:nvPr/>
        </p:nvSpPr>
        <p:spPr>
          <a:xfrm>
            <a:off x="585216" y="4572000"/>
            <a:ext cx="682273" cy="566928"/>
          </a:xfrm>
          <a:prstGeom prst="roundRect">
            <a:avLst>
              <a:gd name="adj" fmla="val 9677"/>
            </a:avLst>
          </a:prstGeom>
          <a:solidFill>
            <a:srgbClr val="000000"/>
          </a:solidFill>
          <a:ln w="12700">
            <a:solidFill>
              <a:srgbClr val="000000"/>
            </a:solidFill>
            <a:prstDash val="solid"/>
          </a:ln>
        </p:spPr>
      </p:sp>
      <p:sp>
        <p:nvSpPr>
          <p:cNvPr id="67" name="Shape 60"/>
          <p:cNvSpPr/>
          <p:nvPr/>
        </p:nvSpPr>
        <p:spPr>
          <a:xfrm>
            <a:off x="5598871" y="5458968"/>
            <a:ext cx="201168" cy="201168"/>
          </a:xfrm>
          <a:prstGeom prst="ellipse">
            <a:avLst/>
          </a:prstGeom>
          <a:solidFill>
            <a:srgbClr val="4DB449"/>
          </a:solidFill>
          <a:ln w="6350">
            <a:solidFill>
              <a:srgbClr val="4DB449"/>
            </a:solidFill>
            <a:prstDash val="solid"/>
          </a:ln>
        </p:spPr>
      </p:sp>
      <p:sp>
        <p:nvSpPr>
          <p:cNvPr id="68" name="Text 61"/>
          <p:cNvSpPr txBox="1"/>
          <p:nvPr/>
        </p:nvSpPr>
        <p:spPr>
          <a:xfrm>
            <a:off x="5068519" y="5394960"/>
            <a:ext cx="457200" cy="329184"/>
          </a:xfrm>
          <a:prstGeom prst="rect">
            <a:avLst/>
          </a:prstGeom>
          <a:noFill/>
          <a:ln/>
        </p:spPr>
        <p:txBody>
          <a:bodyPr wrap="square" lIns="0" tIns="0" rIns="0" bIns="0" rtlCol="0" anchor="ctr"/>
          <a:lstStyle/>
          <a:p>
            <a:pPr rtl="1" algn="r" indent="0" marL="0">
              <a:lnSpc>
                <a:spcPct val="100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توعية</a:t>
            </a:r>
            <a:endParaRPr lang="ar-SA" sz="1200" dirty="0"/>
          </a:p>
        </p:txBody>
      </p:sp>
      <p:sp>
        <p:nvSpPr>
          <p:cNvPr id="69" name="Shape 62"/>
          <p:cNvSpPr/>
          <p:nvPr/>
        </p:nvSpPr>
        <p:spPr>
          <a:xfrm>
            <a:off x="4757623" y="5458968"/>
            <a:ext cx="201168" cy="201168"/>
          </a:xfrm>
          <a:prstGeom prst="ellipse">
            <a:avLst/>
          </a:prstGeom>
          <a:solidFill>
            <a:srgbClr val="A6D04B"/>
          </a:solidFill>
          <a:ln w="6350">
            <a:solidFill>
              <a:srgbClr val="A6D04B"/>
            </a:solidFill>
            <a:prstDash val="solid"/>
          </a:ln>
        </p:spPr>
      </p:sp>
      <p:sp>
        <p:nvSpPr>
          <p:cNvPr id="70" name="Text 63"/>
          <p:cNvSpPr txBox="1"/>
          <p:nvPr/>
        </p:nvSpPr>
        <p:spPr>
          <a:xfrm>
            <a:off x="3715207" y="5394960"/>
            <a:ext cx="969264" cy="329184"/>
          </a:xfrm>
          <a:prstGeom prst="rect">
            <a:avLst/>
          </a:prstGeom>
          <a:noFill/>
          <a:ln/>
        </p:spPr>
        <p:txBody>
          <a:bodyPr wrap="square" lIns="0" tIns="0" rIns="0" bIns="0" rtlCol="0" anchor="ctr"/>
          <a:lstStyle/>
          <a:p>
            <a:pPr rtl="1" algn="r" indent="0" marL="0">
              <a:lnSpc>
                <a:spcPct val="100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خلف الكواليس</a:t>
            </a:r>
            <a:endParaRPr lang="ar-SA" sz="1200" dirty="0"/>
          </a:p>
        </p:txBody>
      </p:sp>
      <p:sp>
        <p:nvSpPr>
          <p:cNvPr id="71" name="Shape 64"/>
          <p:cNvSpPr/>
          <p:nvPr/>
        </p:nvSpPr>
        <p:spPr>
          <a:xfrm>
            <a:off x="3404311" y="5458968"/>
            <a:ext cx="201168" cy="201168"/>
          </a:xfrm>
          <a:prstGeom prst="ellipse">
            <a:avLst/>
          </a:prstGeom>
          <a:solidFill>
            <a:srgbClr val="000000"/>
          </a:solidFill>
          <a:ln w="6350">
            <a:solidFill>
              <a:srgbClr val="000000"/>
            </a:solidFill>
            <a:prstDash val="solid"/>
          </a:ln>
        </p:spPr>
      </p:sp>
      <p:sp>
        <p:nvSpPr>
          <p:cNvPr id="72" name="Text 65"/>
          <p:cNvSpPr txBox="1"/>
          <p:nvPr/>
        </p:nvSpPr>
        <p:spPr>
          <a:xfrm>
            <a:off x="3020263" y="5394960"/>
            <a:ext cx="310896" cy="329184"/>
          </a:xfrm>
          <a:prstGeom prst="rect">
            <a:avLst/>
          </a:prstGeom>
          <a:noFill/>
          <a:ln/>
        </p:spPr>
        <p:txBody>
          <a:bodyPr wrap="square" lIns="0" tIns="0" rIns="0" bIns="0" rtlCol="0" anchor="ctr"/>
          <a:lstStyle/>
          <a:p>
            <a:pPr rtl="1" algn="r" indent="0" marL="0">
              <a:lnSpc>
                <a:spcPct val="100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عرض</a:t>
            </a:r>
            <a:endParaRPr lang="ar-SA" sz="1200" dirty="0"/>
          </a:p>
        </p:txBody>
      </p:sp>
      <p:sp>
        <p:nvSpPr>
          <p:cNvPr id="73" name="Shape 66"/>
          <p:cNvSpPr/>
          <p:nvPr/>
        </p:nvSpPr>
        <p:spPr>
          <a:xfrm>
            <a:off x="2709367" y="5458968"/>
            <a:ext cx="201168" cy="201168"/>
          </a:xfrm>
          <a:prstGeom prst="ellipse">
            <a:avLst/>
          </a:prstGeom>
          <a:solidFill>
            <a:srgbClr val="727274"/>
          </a:solidFill>
          <a:ln w="6350">
            <a:solidFill>
              <a:srgbClr val="727274"/>
            </a:solidFill>
            <a:prstDash val="solid"/>
          </a:ln>
        </p:spPr>
      </p:sp>
      <p:sp>
        <p:nvSpPr>
          <p:cNvPr id="74" name="Text 67"/>
          <p:cNvSpPr txBox="1"/>
          <p:nvPr/>
        </p:nvSpPr>
        <p:spPr>
          <a:xfrm>
            <a:off x="2179015" y="5394960"/>
            <a:ext cx="457200" cy="329184"/>
          </a:xfrm>
          <a:prstGeom prst="rect">
            <a:avLst/>
          </a:prstGeom>
          <a:noFill/>
          <a:ln/>
        </p:spPr>
        <p:txBody>
          <a:bodyPr wrap="square" lIns="0" tIns="0" rIns="0" bIns="0" rtlCol="0" anchor="ctr"/>
          <a:lstStyle/>
          <a:p>
            <a:pPr rtl="1" algn="r" indent="0" marL="0">
              <a:lnSpc>
                <a:spcPct val="100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مجتمع</a:t>
            </a:r>
            <a:endParaRPr lang="ar-SA"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3"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10</a:t>
            </a:r>
            <a:endParaRPr lang="ar-SA" sz="900" dirty="0"/>
          </a:p>
        </p:txBody>
      </p:sp>
      <p:pic>
        <p:nvPicPr>
          <p:cNvPr id="4" name="Image 0" descr="/tmp/claude-0/-home-user-Ahmadhj4/8033014c-23ac-596c-be21-c24cf3e8b75e/scratchpad/build/assets/green-circle-logo.png">    </p:cNvPr>
          <p:cNvPicPr>
            <a:picLocks noChangeAspect="1"/>
          </p:cNvPicPr>
          <p:nvPr/>
        </p:nvPicPr>
        <p:blipFill>
          <a:blip r:embed="rId1"/>
          <a:stretch>
            <a:fillRect/>
          </a:stretch>
        </p:blipFill>
        <p:spPr>
          <a:xfrm>
            <a:off x="548640" y="384048"/>
            <a:ext cx="1417320" cy="503691"/>
          </a:xfrm>
          <a:prstGeom prst="rect">
            <a:avLst/>
          </a:prstGeom>
        </p:spPr>
      </p:pic>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A6D04B"/>
                </a:solidFill>
                <a:latin typeface="IBM Plex Sans Arabic" pitchFamily="34" charset="0"/>
                <a:ea typeface="IBM Plex Sans Arabic" pitchFamily="34" charset="-122"/>
                <a:cs typeface="IBM Plex Sans Arabic" pitchFamily="34" charset="-120"/>
              </a:rPr>
              <a:t>09 · الأتمتة باستخدام n8n</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FFFFFF"/>
                </a:solidFill>
                <a:latin typeface="Cairo" pitchFamily="34" charset="0"/>
                <a:ea typeface="Cairo" pitchFamily="34" charset="-122"/>
                <a:cs typeface="Cairo" pitchFamily="34" charset="-120"/>
              </a:rPr>
              <a:t>مُشغِّل ← معالجة ← ذكاء اصطناعي ← إجراء</a:t>
            </a:r>
            <a:endParaRPr lang="ar-SA" sz="2600" dirty="0"/>
          </a:p>
        </p:txBody>
      </p:sp>
      <p:sp>
        <p:nvSpPr>
          <p:cNvPr id="7" name="Shape 4"/>
          <p:cNvSpPr/>
          <p:nvPr/>
        </p:nvSpPr>
        <p:spPr>
          <a:xfrm>
            <a:off x="9178061" y="1783080"/>
            <a:ext cx="2464994" cy="1051560"/>
          </a:xfrm>
          <a:prstGeom prst="roundRect">
            <a:avLst>
              <a:gd name="adj" fmla="val 10435"/>
            </a:avLst>
          </a:prstGeom>
          <a:solidFill>
            <a:srgbClr val="161816"/>
          </a:solidFill>
          <a:ln w="15875">
            <a:solidFill>
              <a:srgbClr val="A6D04B"/>
            </a:solidFill>
            <a:prstDash val="solid"/>
          </a:ln>
        </p:spPr>
      </p:sp>
      <p:pic>
        <p:nvPicPr>
          <p:cNvPr id="8" name="Image 1" descr="preencoded.png">    </p:cNvPr>
          <p:cNvPicPr>
            <a:picLocks noChangeAspect="1"/>
          </p:cNvPicPr>
          <p:nvPr/>
        </p:nvPicPr>
        <p:blipFill>
          <a:blip r:embed="rId2"/>
          <a:stretch>
            <a:fillRect/>
          </a:stretch>
        </p:blipFill>
        <p:spPr>
          <a:xfrm>
            <a:off x="10957255" y="2075688"/>
            <a:ext cx="457200" cy="457200"/>
          </a:xfrm>
          <a:prstGeom prst="rect">
            <a:avLst/>
          </a:prstGeom>
        </p:spPr>
      </p:pic>
      <p:sp>
        <p:nvSpPr>
          <p:cNvPr id="9" name="Text 5"/>
          <p:cNvSpPr txBox="1"/>
          <p:nvPr/>
        </p:nvSpPr>
        <p:spPr>
          <a:xfrm>
            <a:off x="9269501" y="1938528"/>
            <a:ext cx="155059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المُشغِّل</a:t>
            </a:r>
            <a:endParaRPr lang="ar-SA" sz="1700" dirty="0"/>
          </a:p>
        </p:txBody>
      </p:sp>
      <p:sp>
        <p:nvSpPr>
          <p:cNvPr id="10" name="Text 6"/>
          <p:cNvSpPr txBox="1"/>
          <p:nvPr/>
        </p:nvSpPr>
        <p:spPr>
          <a:xfrm>
            <a:off x="9269501" y="2350008"/>
            <a:ext cx="1550594" cy="41148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حدث يبدأ سير العمل</a:t>
            </a:r>
            <a:endParaRPr lang="ar-SA" sz="1300" dirty="0"/>
          </a:p>
        </p:txBody>
      </p:sp>
      <p:pic>
        <p:nvPicPr>
          <p:cNvPr id="11" name="Image 2" descr="preencoded.png">    </p:cNvPr>
          <p:cNvPicPr>
            <a:picLocks noChangeAspect="1"/>
          </p:cNvPicPr>
          <p:nvPr/>
        </p:nvPicPr>
        <p:blipFill>
          <a:blip r:embed="rId3"/>
          <a:stretch>
            <a:fillRect/>
          </a:stretch>
        </p:blipFill>
        <p:spPr>
          <a:xfrm>
            <a:off x="8821445" y="2148840"/>
            <a:ext cx="301752" cy="301752"/>
          </a:xfrm>
          <a:prstGeom prst="rect">
            <a:avLst/>
          </a:prstGeom>
        </p:spPr>
      </p:pic>
      <p:sp>
        <p:nvSpPr>
          <p:cNvPr id="12" name="Shape 7"/>
          <p:cNvSpPr/>
          <p:nvPr/>
        </p:nvSpPr>
        <p:spPr>
          <a:xfrm>
            <a:off x="6301588" y="1783080"/>
            <a:ext cx="2464994" cy="1051560"/>
          </a:xfrm>
          <a:prstGeom prst="roundRect">
            <a:avLst>
              <a:gd name="adj" fmla="val 10435"/>
            </a:avLst>
          </a:prstGeom>
          <a:solidFill>
            <a:srgbClr val="161816"/>
          </a:solidFill>
          <a:ln w="15875">
            <a:solidFill>
              <a:srgbClr val="A6D04B"/>
            </a:solidFill>
            <a:prstDash val="solid"/>
          </a:ln>
        </p:spPr>
      </p:sp>
      <p:pic>
        <p:nvPicPr>
          <p:cNvPr id="13" name="Image 3" descr="preencoded.png">    </p:cNvPr>
          <p:cNvPicPr>
            <a:picLocks noChangeAspect="1"/>
          </p:cNvPicPr>
          <p:nvPr/>
        </p:nvPicPr>
        <p:blipFill>
          <a:blip r:embed="rId4"/>
          <a:stretch>
            <a:fillRect/>
          </a:stretch>
        </p:blipFill>
        <p:spPr>
          <a:xfrm>
            <a:off x="8080781" y="2075688"/>
            <a:ext cx="457200" cy="457200"/>
          </a:xfrm>
          <a:prstGeom prst="rect">
            <a:avLst/>
          </a:prstGeom>
        </p:spPr>
      </p:pic>
      <p:sp>
        <p:nvSpPr>
          <p:cNvPr id="14" name="Text 8"/>
          <p:cNvSpPr txBox="1"/>
          <p:nvPr/>
        </p:nvSpPr>
        <p:spPr>
          <a:xfrm>
            <a:off x="6393028" y="1938528"/>
            <a:ext cx="155059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المعالجة</a:t>
            </a:r>
            <a:endParaRPr lang="ar-SA" sz="1700" dirty="0"/>
          </a:p>
        </p:txBody>
      </p:sp>
      <p:sp>
        <p:nvSpPr>
          <p:cNvPr id="15" name="Text 9"/>
          <p:cNvSpPr txBox="1"/>
          <p:nvPr/>
        </p:nvSpPr>
        <p:spPr>
          <a:xfrm>
            <a:off x="6393028" y="2350008"/>
            <a:ext cx="1550594" cy="41148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ربط البيانات والتحقق منها</a:t>
            </a:r>
            <a:endParaRPr lang="ar-SA" sz="1300" dirty="0"/>
          </a:p>
        </p:txBody>
      </p:sp>
      <p:pic>
        <p:nvPicPr>
          <p:cNvPr id="16" name="Image 4" descr="preencoded.png">    </p:cNvPr>
          <p:cNvPicPr>
            <a:picLocks noChangeAspect="1"/>
          </p:cNvPicPr>
          <p:nvPr/>
        </p:nvPicPr>
        <p:blipFill>
          <a:blip r:embed="rId5"/>
          <a:stretch>
            <a:fillRect/>
          </a:stretch>
        </p:blipFill>
        <p:spPr>
          <a:xfrm>
            <a:off x="5944972" y="2148840"/>
            <a:ext cx="301752" cy="301752"/>
          </a:xfrm>
          <a:prstGeom prst="rect">
            <a:avLst/>
          </a:prstGeom>
        </p:spPr>
      </p:pic>
      <p:sp>
        <p:nvSpPr>
          <p:cNvPr id="17" name="Shape 10"/>
          <p:cNvSpPr/>
          <p:nvPr/>
        </p:nvSpPr>
        <p:spPr>
          <a:xfrm>
            <a:off x="3425114" y="1783080"/>
            <a:ext cx="2464994" cy="1051560"/>
          </a:xfrm>
          <a:prstGeom prst="roundRect">
            <a:avLst>
              <a:gd name="adj" fmla="val 10435"/>
            </a:avLst>
          </a:prstGeom>
          <a:solidFill>
            <a:srgbClr val="4DB449"/>
          </a:solidFill>
          <a:ln w="15875">
            <a:solidFill>
              <a:srgbClr val="4DB449"/>
            </a:solidFill>
            <a:prstDash val="solid"/>
          </a:ln>
        </p:spPr>
      </p:sp>
      <p:pic>
        <p:nvPicPr>
          <p:cNvPr id="18" name="Image 5" descr="preencoded.png">    </p:cNvPr>
          <p:cNvPicPr>
            <a:picLocks noChangeAspect="1"/>
          </p:cNvPicPr>
          <p:nvPr/>
        </p:nvPicPr>
        <p:blipFill>
          <a:blip r:embed="rId6"/>
          <a:stretch>
            <a:fillRect/>
          </a:stretch>
        </p:blipFill>
        <p:spPr>
          <a:xfrm>
            <a:off x="5204308" y="2075688"/>
            <a:ext cx="457200" cy="457200"/>
          </a:xfrm>
          <a:prstGeom prst="rect">
            <a:avLst/>
          </a:prstGeom>
        </p:spPr>
      </p:pic>
      <p:sp>
        <p:nvSpPr>
          <p:cNvPr id="19" name="Text 11"/>
          <p:cNvSpPr txBox="1"/>
          <p:nvPr/>
        </p:nvSpPr>
        <p:spPr>
          <a:xfrm>
            <a:off x="3516554" y="1938528"/>
            <a:ext cx="155059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000000"/>
                </a:solidFill>
                <a:latin typeface="Cairo" pitchFamily="34" charset="0"/>
                <a:ea typeface="Cairo" pitchFamily="34" charset="-122"/>
                <a:cs typeface="Cairo" pitchFamily="34" charset="-120"/>
              </a:rPr>
              <a:t>ذكاء اصطناعي</a:t>
            </a:r>
            <a:endParaRPr lang="ar-SA" sz="1700" dirty="0"/>
          </a:p>
        </p:txBody>
      </p:sp>
      <p:sp>
        <p:nvSpPr>
          <p:cNvPr id="20" name="Text 12"/>
          <p:cNvSpPr txBox="1"/>
          <p:nvPr/>
        </p:nvSpPr>
        <p:spPr>
          <a:xfrm>
            <a:off x="3516554" y="2350008"/>
            <a:ext cx="1550594" cy="41148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000000"/>
                </a:solidFill>
                <a:latin typeface="IBM Plex Sans Arabic" pitchFamily="34" charset="0"/>
                <a:ea typeface="IBM Plex Sans Arabic" pitchFamily="34" charset="-122"/>
                <a:cs typeface="IBM Plex Sans Arabic" pitchFamily="34" charset="-120"/>
              </a:rPr>
              <a:t>نموذج يكتب مسودة المحتوى</a:t>
            </a:r>
            <a:endParaRPr lang="ar-SA" sz="1300" dirty="0"/>
          </a:p>
        </p:txBody>
      </p:sp>
      <p:pic>
        <p:nvPicPr>
          <p:cNvPr id="21" name="Image 6" descr="preencoded.png">    </p:cNvPr>
          <p:cNvPicPr>
            <a:picLocks noChangeAspect="1"/>
          </p:cNvPicPr>
          <p:nvPr/>
        </p:nvPicPr>
        <p:blipFill>
          <a:blip r:embed="rId7"/>
          <a:stretch>
            <a:fillRect/>
          </a:stretch>
        </p:blipFill>
        <p:spPr>
          <a:xfrm>
            <a:off x="3068498" y="2148840"/>
            <a:ext cx="301752" cy="301752"/>
          </a:xfrm>
          <a:prstGeom prst="rect">
            <a:avLst/>
          </a:prstGeom>
        </p:spPr>
      </p:pic>
      <p:sp>
        <p:nvSpPr>
          <p:cNvPr id="22" name="Shape 13"/>
          <p:cNvSpPr/>
          <p:nvPr/>
        </p:nvSpPr>
        <p:spPr>
          <a:xfrm>
            <a:off x="548640" y="1783080"/>
            <a:ext cx="2464994" cy="1051560"/>
          </a:xfrm>
          <a:prstGeom prst="roundRect">
            <a:avLst>
              <a:gd name="adj" fmla="val 10435"/>
            </a:avLst>
          </a:prstGeom>
          <a:solidFill>
            <a:srgbClr val="161816"/>
          </a:solidFill>
          <a:ln w="15875">
            <a:solidFill>
              <a:srgbClr val="A6D04B"/>
            </a:solidFill>
            <a:prstDash val="solid"/>
          </a:ln>
        </p:spPr>
      </p:sp>
      <p:pic>
        <p:nvPicPr>
          <p:cNvPr id="23" name="Image 7" descr="preencoded.png">    </p:cNvPr>
          <p:cNvPicPr>
            <a:picLocks noChangeAspect="1"/>
          </p:cNvPicPr>
          <p:nvPr/>
        </p:nvPicPr>
        <p:blipFill>
          <a:blip r:embed="rId8"/>
          <a:stretch>
            <a:fillRect/>
          </a:stretch>
        </p:blipFill>
        <p:spPr>
          <a:xfrm>
            <a:off x="2327834" y="2075688"/>
            <a:ext cx="457200" cy="457200"/>
          </a:xfrm>
          <a:prstGeom prst="rect">
            <a:avLst/>
          </a:prstGeom>
        </p:spPr>
      </p:pic>
      <p:sp>
        <p:nvSpPr>
          <p:cNvPr id="24" name="Text 14"/>
          <p:cNvSpPr txBox="1"/>
          <p:nvPr/>
        </p:nvSpPr>
        <p:spPr>
          <a:xfrm>
            <a:off x="640080" y="1938528"/>
            <a:ext cx="1550594" cy="411480"/>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الإجراء</a:t>
            </a:r>
            <a:endParaRPr lang="ar-SA" sz="1700" dirty="0"/>
          </a:p>
        </p:txBody>
      </p:sp>
      <p:sp>
        <p:nvSpPr>
          <p:cNvPr id="25" name="Text 15"/>
          <p:cNvSpPr txBox="1"/>
          <p:nvPr/>
        </p:nvSpPr>
        <p:spPr>
          <a:xfrm>
            <a:off x="640080" y="2350008"/>
            <a:ext cx="1550594" cy="41148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حفظ النتائج أو إرسالها</a:t>
            </a:r>
            <a:endParaRPr lang="ar-SA" sz="1300" dirty="0"/>
          </a:p>
        </p:txBody>
      </p:sp>
      <p:sp>
        <p:nvSpPr>
          <p:cNvPr id="26" name="Text 16"/>
          <p:cNvSpPr txBox="1"/>
          <p:nvPr/>
        </p:nvSpPr>
        <p:spPr>
          <a:xfrm>
            <a:off x="4327855" y="3127248"/>
            <a:ext cx="7315200" cy="36576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A6D04B"/>
                </a:solidFill>
                <a:latin typeface="Cairo" pitchFamily="34" charset="0"/>
                <a:ea typeface="Cairo" pitchFamily="34" charset="-122"/>
                <a:cs typeface="Cairo" pitchFamily="34" charset="-120"/>
              </a:rPr>
              <a:t>سير عمل الطالب: مولّد أفكار المحتوى</a:t>
            </a:r>
            <a:endParaRPr lang="ar-SA" sz="1500" dirty="0"/>
          </a:p>
        </p:txBody>
      </p:sp>
      <p:sp>
        <p:nvSpPr>
          <p:cNvPr id="27" name="Shape 17"/>
          <p:cNvSpPr/>
          <p:nvPr/>
        </p:nvSpPr>
        <p:spPr>
          <a:xfrm>
            <a:off x="10454335" y="3584448"/>
            <a:ext cx="1188720" cy="731520"/>
          </a:xfrm>
          <a:prstGeom prst="roundRect">
            <a:avLst>
              <a:gd name="adj" fmla="val 12500"/>
            </a:avLst>
          </a:prstGeom>
          <a:solidFill>
            <a:srgbClr val="FFFFFF"/>
          </a:solidFill>
          <a:ln w="15875">
            <a:solidFill>
              <a:srgbClr val="FFFFFF"/>
            </a:solidFill>
            <a:prstDash val="solid"/>
          </a:ln>
        </p:spPr>
      </p:sp>
      <p:sp>
        <p:nvSpPr>
          <p:cNvPr id="28" name="Text 18"/>
          <p:cNvSpPr txBox="1"/>
          <p:nvPr/>
        </p:nvSpPr>
        <p:spPr>
          <a:xfrm>
            <a:off x="10527487" y="3584448"/>
            <a:ext cx="1042416" cy="731520"/>
          </a:xfrm>
          <a:prstGeom prst="rect">
            <a:avLst/>
          </a:prstGeom>
          <a:noFill/>
          <a:ln/>
        </p:spPr>
        <p:txBody>
          <a:bodyPr wrap="square" lIns="0" tIns="0" rIns="0" bIns="0" rtlCol="0" anchor="ctr"/>
          <a:lstStyle/>
          <a:p>
            <a:pPr rtl="1" algn="ctr" indent="0" marL="0">
              <a:lnSpc>
                <a:spcPct val="100000"/>
              </a:lnSpc>
              <a:buNone/>
            </a:pPr>
            <a:r>
              <a:rPr lang="ar-SA" altLang="en-US" sz="1350" b="1" dirty="0">
                <a:solidFill>
                  <a:srgbClr val="000000"/>
                </a:solidFill>
                <a:latin typeface="IBM Plex Sans Arabic" pitchFamily="34" charset="0"/>
                <a:ea typeface="IBM Plex Sans Arabic" pitchFamily="34" charset="-122"/>
                <a:cs typeface="IBM Plex Sans Arabic" pitchFamily="34" charset="-120"/>
              </a:rPr>
              <a:t>نموذج</a:t>
            </a:r>
            <a:endParaRPr lang="ar-SA" sz="1350" dirty="0"/>
          </a:p>
        </p:txBody>
      </p:sp>
      <p:pic>
        <p:nvPicPr>
          <p:cNvPr id="29" name="Image 8" descr="preencoded.png">    </p:cNvPr>
          <p:cNvPicPr>
            <a:picLocks noChangeAspect="1"/>
          </p:cNvPicPr>
          <p:nvPr/>
        </p:nvPicPr>
        <p:blipFill>
          <a:blip r:embed="rId9"/>
          <a:stretch>
            <a:fillRect/>
          </a:stretch>
        </p:blipFill>
        <p:spPr>
          <a:xfrm>
            <a:off x="10204430" y="3813048"/>
            <a:ext cx="274320" cy="274320"/>
          </a:xfrm>
          <a:prstGeom prst="rect">
            <a:avLst/>
          </a:prstGeom>
        </p:spPr>
      </p:pic>
      <p:sp>
        <p:nvSpPr>
          <p:cNvPr id="30" name="Shape 19"/>
          <p:cNvSpPr/>
          <p:nvPr/>
        </p:nvSpPr>
        <p:spPr>
          <a:xfrm>
            <a:off x="8537204" y="3584448"/>
            <a:ext cx="1691640" cy="731520"/>
          </a:xfrm>
          <a:prstGeom prst="roundRect">
            <a:avLst>
              <a:gd name="adj" fmla="val 12500"/>
            </a:avLst>
          </a:prstGeom>
          <a:solidFill>
            <a:srgbClr val="FFFFFF"/>
          </a:solidFill>
          <a:ln w="15875">
            <a:solidFill>
              <a:srgbClr val="FFFFFF"/>
            </a:solidFill>
            <a:prstDash val="solid"/>
          </a:ln>
        </p:spPr>
      </p:sp>
      <p:sp>
        <p:nvSpPr>
          <p:cNvPr id="31" name="Text 20"/>
          <p:cNvSpPr txBox="1"/>
          <p:nvPr/>
        </p:nvSpPr>
        <p:spPr>
          <a:xfrm>
            <a:off x="8610356" y="3584448"/>
            <a:ext cx="1545336" cy="731520"/>
          </a:xfrm>
          <a:prstGeom prst="rect">
            <a:avLst/>
          </a:prstGeom>
          <a:noFill/>
          <a:ln/>
        </p:spPr>
        <p:txBody>
          <a:bodyPr wrap="square" lIns="0" tIns="0" rIns="0" bIns="0" rtlCol="0" anchor="ctr"/>
          <a:lstStyle/>
          <a:p>
            <a:pPr rtl="1" algn="ctr" indent="0" marL="0">
              <a:lnSpc>
                <a:spcPct val="100000"/>
              </a:lnSpc>
              <a:buNone/>
            </a:pPr>
            <a:r>
              <a:rPr lang="ar-SA" altLang="en-US" sz="1350" b="1" dirty="0">
                <a:solidFill>
                  <a:srgbClr val="000000"/>
                </a:solidFill>
                <a:latin typeface="IBM Plex Sans Arabic" pitchFamily="34" charset="0"/>
                <a:ea typeface="IBM Plex Sans Arabic" pitchFamily="34" charset="-122"/>
                <a:cs typeface="IBM Plex Sans Arabic" pitchFamily="34" charset="-120"/>
              </a:rPr>
              <a:t>بيانات النشاط</a:t>
            </a:r>
            <a:endParaRPr lang="ar-SA" sz="1350" dirty="0"/>
          </a:p>
        </p:txBody>
      </p:sp>
      <p:pic>
        <p:nvPicPr>
          <p:cNvPr id="32" name="Image 9" descr="preencoded.png">    </p:cNvPr>
          <p:cNvPicPr>
            <a:picLocks noChangeAspect="1"/>
          </p:cNvPicPr>
          <p:nvPr/>
        </p:nvPicPr>
        <p:blipFill>
          <a:blip r:embed="rId10"/>
          <a:stretch>
            <a:fillRect/>
          </a:stretch>
        </p:blipFill>
        <p:spPr>
          <a:xfrm>
            <a:off x="8287299" y="3813048"/>
            <a:ext cx="274320" cy="274320"/>
          </a:xfrm>
          <a:prstGeom prst="rect">
            <a:avLst/>
          </a:prstGeom>
        </p:spPr>
      </p:pic>
      <p:sp>
        <p:nvSpPr>
          <p:cNvPr id="33" name="Shape 21"/>
          <p:cNvSpPr/>
          <p:nvPr/>
        </p:nvSpPr>
        <p:spPr>
          <a:xfrm>
            <a:off x="7122993" y="3584448"/>
            <a:ext cx="1188720" cy="731520"/>
          </a:xfrm>
          <a:prstGeom prst="roundRect">
            <a:avLst>
              <a:gd name="adj" fmla="val 12500"/>
            </a:avLst>
          </a:prstGeom>
          <a:solidFill>
            <a:srgbClr val="161816"/>
          </a:solidFill>
          <a:ln w="15875">
            <a:solidFill>
              <a:srgbClr val="EA4B71"/>
            </a:solidFill>
            <a:prstDash val="solid"/>
          </a:ln>
        </p:spPr>
      </p:sp>
      <p:pic>
        <p:nvPicPr>
          <p:cNvPr id="34" name="Image 10" descr="n8n logo">    </p:cNvPr>
          <p:cNvPicPr>
            <a:picLocks noChangeAspect="1"/>
          </p:cNvPicPr>
          <p:nvPr/>
        </p:nvPicPr>
        <p:blipFill>
          <a:blip r:embed="rId11"/>
          <a:stretch>
            <a:fillRect/>
          </a:stretch>
        </p:blipFill>
        <p:spPr>
          <a:xfrm>
            <a:off x="7726497" y="3721608"/>
            <a:ext cx="457200" cy="457200"/>
          </a:xfrm>
          <a:prstGeom prst="rect">
            <a:avLst/>
          </a:prstGeom>
        </p:spPr>
      </p:pic>
      <p:sp>
        <p:nvSpPr>
          <p:cNvPr id="35" name="Text 22"/>
          <p:cNvSpPr txBox="1"/>
          <p:nvPr/>
        </p:nvSpPr>
        <p:spPr>
          <a:xfrm>
            <a:off x="7177857" y="3584448"/>
            <a:ext cx="530352" cy="731520"/>
          </a:xfrm>
          <a:prstGeom prst="rect">
            <a:avLst/>
          </a:prstGeom>
          <a:noFill/>
          <a:ln/>
        </p:spPr>
        <p:txBody>
          <a:bodyPr wrap="square" lIns="0" tIns="0" rIns="0" bIns="0" rtlCol="0" anchor="ctr"/>
          <a:lstStyle/>
          <a:p>
            <a:pPr rtl="1" algn="r" indent="0" marL="0">
              <a:lnSpc>
                <a:spcPct val="100000"/>
              </a:lnSpc>
              <a:buNone/>
            </a:pPr>
            <a:r>
              <a:rPr lang="ar-SA" altLang="en-US" sz="1500" b="1" dirty="0">
                <a:solidFill>
                  <a:srgbClr val="FFFFFF"/>
                </a:solidFill>
                <a:latin typeface="IBM Plex Sans Arabic" pitchFamily="34" charset="0"/>
                <a:ea typeface="IBM Plex Sans Arabic" pitchFamily="34" charset="-122"/>
                <a:cs typeface="IBM Plex Sans Arabic" pitchFamily="34" charset="-120"/>
              </a:rPr>
              <a:t>n8n</a:t>
            </a:r>
            <a:endParaRPr lang="ar-SA" sz="1500" dirty="0"/>
          </a:p>
        </p:txBody>
      </p:sp>
      <p:pic>
        <p:nvPicPr>
          <p:cNvPr id="36" name="Image 11" descr="preencoded.png">    </p:cNvPr>
          <p:cNvPicPr>
            <a:picLocks noChangeAspect="1"/>
          </p:cNvPicPr>
          <p:nvPr/>
        </p:nvPicPr>
        <p:blipFill>
          <a:blip r:embed="rId12"/>
          <a:stretch>
            <a:fillRect/>
          </a:stretch>
        </p:blipFill>
        <p:spPr>
          <a:xfrm>
            <a:off x="6873088" y="3813048"/>
            <a:ext cx="274320" cy="274320"/>
          </a:xfrm>
          <a:prstGeom prst="rect">
            <a:avLst/>
          </a:prstGeom>
        </p:spPr>
      </p:pic>
      <p:sp>
        <p:nvSpPr>
          <p:cNvPr id="37" name="Shape 23"/>
          <p:cNvSpPr/>
          <p:nvPr/>
        </p:nvSpPr>
        <p:spPr>
          <a:xfrm>
            <a:off x="5525902" y="3584448"/>
            <a:ext cx="1371600" cy="731520"/>
          </a:xfrm>
          <a:prstGeom prst="roundRect">
            <a:avLst>
              <a:gd name="adj" fmla="val 12500"/>
            </a:avLst>
          </a:prstGeom>
          <a:solidFill>
            <a:srgbClr val="4DB449"/>
          </a:solidFill>
          <a:ln w="15875">
            <a:solidFill>
              <a:srgbClr val="4DB449"/>
            </a:solidFill>
            <a:prstDash val="solid"/>
          </a:ln>
        </p:spPr>
      </p:sp>
      <p:sp>
        <p:nvSpPr>
          <p:cNvPr id="38" name="Text 24"/>
          <p:cNvSpPr txBox="1"/>
          <p:nvPr/>
        </p:nvSpPr>
        <p:spPr>
          <a:xfrm>
            <a:off x="5599054" y="3584448"/>
            <a:ext cx="1225296" cy="731520"/>
          </a:xfrm>
          <a:prstGeom prst="rect">
            <a:avLst/>
          </a:prstGeom>
          <a:noFill/>
          <a:ln/>
        </p:spPr>
        <p:txBody>
          <a:bodyPr wrap="square" lIns="0" tIns="0" rIns="0" bIns="0" rtlCol="0" anchor="ctr"/>
          <a:lstStyle/>
          <a:p>
            <a:pPr rtl="1" algn="ctr" indent="0" marL="0">
              <a:lnSpc>
                <a:spcPct val="100000"/>
              </a:lnSpc>
              <a:buNone/>
            </a:pPr>
            <a:r>
              <a:rPr lang="ar-SA" altLang="en-US" sz="1350" b="1" dirty="0">
                <a:solidFill>
                  <a:srgbClr val="000000"/>
                </a:solidFill>
                <a:latin typeface="IBM Plex Sans Arabic" pitchFamily="34" charset="0"/>
                <a:ea typeface="IBM Plex Sans Arabic" pitchFamily="34" charset="-122"/>
                <a:cs typeface="IBM Plex Sans Arabic" pitchFamily="34" charset="-120"/>
              </a:rPr>
              <a:t>الذكاء الاصطناعي</a:t>
            </a:r>
            <a:endParaRPr lang="ar-SA" sz="1350" dirty="0"/>
          </a:p>
        </p:txBody>
      </p:sp>
      <p:pic>
        <p:nvPicPr>
          <p:cNvPr id="39" name="Image 12" descr="preencoded.png">    </p:cNvPr>
          <p:cNvPicPr>
            <a:picLocks noChangeAspect="1"/>
          </p:cNvPicPr>
          <p:nvPr/>
        </p:nvPicPr>
        <p:blipFill>
          <a:blip r:embed="rId13"/>
          <a:stretch>
            <a:fillRect/>
          </a:stretch>
        </p:blipFill>
        <p:spPr>
          <a:xfrm>
            <a:off x="5275997" y="3813048"/>
            <a:ext cx="274320" cy="274320"/>
          </a:xfrm>
          <a:prstGeom prst="rect">
            <a:avLst/>
          </a:prstGeom>
        </p:spPr>
      </p:pic>
      <p:sp>
        <p:nvSpPr>
          <p:cNvPr id="40" name="Shape 25"/>
          <p:cNvSpPr/>
          <p:nvPr/>
        </p:nvSpPr>
        <p:spPr>
          <a:xfrm>
            <a:off x="2465771" y="3584448"/>
            <a:ext cx="2834640" cy="731520"/>
          </a:xfrm>
          <a:prstGeom prst="roundRect">
            <a:avLst>
              <a:gd name="adj" fmla="val 12500"/>
            </a:avLst>
          </a:prstGeom>
          <a:solidFill>
            <a:srgbClr val="FFFFFF"/>
          </a:solidFill>
          <a:ln w="15875">
            <a:solidFill>
              <a:srgbClr val="FFFFFF"/>
            </a:solidFill>
            <a:prstDash val="solid"/>
          </a:ln>
        </p:spPr>
      </p:sp>
      <p:sp>
        <p:nvSpPr>
          <p:cNvPr id="41" name="Text 26"/>
          <p:cNvSpPr txBox="1"/>
          <p:nvPr/>
        </p:nvSpPr>
        <p:spPr>
          <a:xfrm>
            <a:off x="2538923" y="3584448"/>
            <a:ext cx="2688336" cy="731520"/>
          </a:xfrm>
          <a:prstGeom prst="rect">
            <a:avLst/>
          </a:prstGeom>
          <a:noFill/>
          <a:ln/>
        </p:spPr>
        <p:txBody>
          <a:bodyPr wrap="square" lIns="0" tIns="0" rIns="0" bIns="0" rtlCol="0" anchor="ctr"/>
          <a:lstStyle/>
          <a:p>
            <a:pPr rtl="1" algn="ctr" indent="0" marL="0">
              <a:lnSpc>
                <a:spcPct val="100000"/>
              </a:lnSpc>
              <a:buNone/>
            </a:pPr>
            <a:r>
              <a:rPr lang="ar-SA" altLang="en-US" sz="1350" b="1" dirty="0">
                <a:solidFill>
                  <a:srgbClr val="000000"/>
                </a:solidFill>
                <a:latin typeface="IBM Plex Sans Arabic" pitchFamily="34" charset="0"/>
                <a:ea typeface="IBM Plex Sans Arabic" pitchFamily="34" charset="-122"/>
                <a:cs typeface="IBM Plex Sans Arabic" pitchFamily="34" charset="-120"/>
              </a:rPr>
              <a:t>افتتاحية · نص · CTA · فكرة ريل</a:t>
            </a:r>
            <a:endParaRPr lang="ar-SA" sz="1350" dirty="0"/>
          </a:p>
        </p:txBody>
      </p:sp>
      <p:pic>
        <p:nvPicPr>
          <p:cNvPr id="42" name="Image 13" descr="preencoded.png">    </p:cNvPr>
          <p:cNvPicPr>
            <a:picLocks noChangeAspect="1"/>
          </p:cNvPicPr>
          <p:nvPr/>
        </p:nvPicPr>
        <p:blipFill>
          <a:blip r:embed="rId14"/>
          <a:stretch>
            <a:fillRect/>
          </a:stretch>
        </p:blipFill>
        <p:spPr>
          <a:xfrm>
            <a:off x="2215866" y="3813048"/>
            <a:ext cx="274320" cy="274320"/>
          </a:xfrm>
          <a:prstGeom prst="rect">
            <a:avLst/>
          </a:prstGeom>
        </p:spPr>
      </p:pic>
      <p:sp>
        <p:nvSpPr>
          <p:cNvPr id="43" name="Shape 27"/>
          <p:cNvSpPr/>
          <p:nvPr/>
        </p:nvSpPr>
        <p:spPr>
          <a:xfrm>
            <a:off x="548640" y="3584448"/>
            <a:ext cx="1691640" cy="731520"/>
          </a:xfrm>
          <a:prstGeom prst="roundRect">
            <a:avLst>
              <a:gd name="adj" fmla="val 12500"/>
            </a:avLst>
          </a:prstGeom>
          <a:solidFill>
            <a:srgbClr val="FFFFFF"/>
          </a:solidFill>
          <a:ln w="15875">
            <a:solidFill>
              <a:srgbClr val="FFFFFF"/>
            </a:solidFill>
            <a:prstDash val="solid"/>
          </a:ln>
        </p:spPr>
      </p:sp>
      <p:sp>
        <p:nvSpPr>
          <p:cNvPr id="44" name="Text 28"/>
          <p:cNvSpPr txBox="1"/>
          <p:nvPr/>
        </p:nvSpPr>
        <p:spPr>
          <a:xfrm>
            <a:off x="621792" y="3584448"/>
            <a:ext cx="1545336" cy="731520"/>
          </a:xfrm>
          <a:prstGeom prst="rect">
            <a:avLst/>
          </a:prstGeom>
          <a:noFill/>
          <a:ln/>
        </p:spPr>
        <p:txBody>
          <a:bodyPr wrap="square" lIns="0" tIns="0" rIns="0" bIns="0" rtlCol="0" anchor="ctr"/>
          <a:lstStyle/>
          <a:p>
            <a:pPr rtl="1" algn="ctr" indent="0" marL="0">
              <a:lnSpc>
                <a:spcPct val="100000"/>
              </a:lnSpc>
              <a:buNone/>
            </a:pPr>
            <a:r>
              <a:rPr lang="ar-SA" altLang="en-US" sz="1350" b="1" dirty="0">
                <a:solidFill>
                  <a:srgbClr val="000000"/>
                </a:solidFill>
                <a:latin typeface="IBM Plex Sans Arabic" pitchFamily="34" charset="0"/>
                <a:ea typeface="IBM Plex Sans Arabic" pitchFamily="34" charset="-122"/>
                <a:cs typeface="IBM Plex Sans Arabic" pitchFamily="34" charset="-120"/>
              </a:rPr>
              <a:t>Google Sheets</a:t>
            </a:r>
            <a:endParaRPr lang="ar-SA" sz="1350" dirty="0"/>
          </a:p>
        </p:txBody>
      </p:sp>
      <p:sp>
        <p:nvSpPr>
          <p:cNvPr id="45" name="Shape 29"/>
          <p:cNvSpPr/>
          <p:nvPr/>
        </p:nvSpPr>
        <p:spPr>
          <a:xfrm>
            <a:off x="9754819" y="4663440"/>
            <a:ext cx="1888236" cy="384048"/>
          </a:xfrm>
          <a:prstGeom prst="roundRect">
            <a:avLst>
              <a:gd name="adj" fmla="val 50000"/>
            </a:avLst>
          </a:prstGeom>
          <a:solidFill>
            <a:srgbClr val="161816"/>
          </a:solidFill>
          <a:ln w="9525">
            <a:solidFill>
              <a:srgbClr val="3A3D39"/>
            </a:solidFill>
            <a:prstDash val="solid"/>
          </a:ln>
        </p:spPr>
      </p:sp>
      <p:sp>
        <p:nvSpPr>
          <p:cNvPr id="46" name="Text 30"/>
          <p:cNvSpPr txBox="1"/>
          <p:nvPr/>
        </p:nvSpPr>
        <p:spPr>
          <a:xfrm>
            <a:off x="9864547" y="4663440"/>
            <a:ext cx="1668780" cy="384048"/>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FFFFFF"/>
                </a:solidFill>
                <a:latin typeface="IBM Plex Sans Arabic" pitchFamily="34" charset="0"/>
                <a:ea typeface="IBM Plex Sans Arabic" pitchFamily="34" charset="-122"/>
                <a:cs typeface="IBM Plex Sans Arabic" pitchFamily="34" charset="-120"/>
              </a:rPr>
              <a:t>سير العمل والعُقد</a:t>
            </a:r>
            <a:endParaRPr lang="ar-SA" sz="1200" dirty="0"/>
          </a:p>
        </p:txBody>
      </p:sp>
      <p:sp>
        <p:nvSpPr>
          <p:cNvPr id="47" name="Shape 31"/>
          <p:cNvSpPr/>
          <p:nvPr/>
        </p:nvSpPr>
        <p:spPr>
          <a:xfrm>
            <a:off x="6947611" y="4663440"/>
            <a:ext cx="2670048" cy="384048"/>
          </a:xfrm>
          <a:prstGeom prst="roundRect">
            <a:avLst>
              <a:gd name="adj" fmla="val 50000"/>
            </a:avLst>
          </a:prstGeom>
          <a:solidFill>
            <a:srgbClr val="161816"/>
          </a:solidFill>
          <a:ln w="9525">
            <a:solidFill>
              <a:srgbClr val="3A3D39"/>
            </a:solidFill>
            <a:prstDash val="solid"/>
          </a:ln>
        </p:spPr>
      </p:sp>
      <p:sp>
        <p:nvSpPr>
          <p:cNvPr id="48" name="Text 32"/>
          <p:cNvSpPr txBox="1"/>
          <p:nvPr/>
        </p:nvSpPr>
        <p:spPr>
          <a:xfrm>
            <a:off x="7057339" y="4663440"/>
            <a:ext cx="2450592" cy="384048"/>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FFFFFF"/>
                </a:solidFill>
                <a:latin typeface="IBM Plex Sans Arabic" pitchFamily="34" charset="0"/>
                <a:ea typeface="IBM Plex Sans Arabic" pitchFamily="34" charset="-122"/>
                <a:cs typeface="IBM Plex Sans Arabic" pitchFamily="34" charset="-120"/>
              </a:rPr>
              <a:t>مُشغِّل يدوي ونموذج ومجدول</a:t>
            </a:r>
            <a:endParaRPr lang="ar-SA" sz="1200" dirty="0"/>
          </a:p>
        </p:txBody>
      </p:sp>
      <p:sp>
        <p:nvSpPr>
          <p:cNvPr id="49" name="Shape 33"/>
          <p:cNvSpPr/>
          <p:nvPr/>
        </p:nvSpPr>
        <p:spPr>
          <a:xfrm>
            <a:off x="5095951" y="4663440"/>
            <a:ext cx="1714500" cy="384048"/>
          </a:xfrm>
          <a:prstGeom prst="roundRect">
            <a:avLst>
              <a:gd name="adj" fmla="val 50000"/>
            </a:avLst>
          </a:prstGeom>
          <a:solidFill>
            <a:srgbClr val="161816"/>
          </a:solidFill>
          <a:ln w="9525">
            <a:solidFill>
              <a:srgbClr val="3A3D39"/>
            </a:solidFill>
            <a:prstDash val="solid"/>
          </a:ln>
        </p:spPr>
      </p:sp>
      <p:sp>
        <p:nvSpPr>
          <p:cNvPr id="50" name="Text 34"/>
          <p:cNvSpPr txBox="1"/>
          <p:nvPr/>
        </p:nvSpPr>
        <p:spPr>
          <a:xfrm>
            <a:off x="5205679" y="4663440"/>
            <a:ext cx="1495044" cy="384048"/>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FFFFFF"/>
                </a:solidFill>
                <a:latin typeface="IBM Plex Sans Arabic" pitchFamily="34" charset="0"/>
                <a:ea typeface="IBM Plex Sans Arabic" pitchFamily="34" charset="-122"/>
                <a:cs typeface="IBM Plex Sans Arabic" pitchFamily="34" charset="-120"/>
              </a:rPr>
              <a:t>Webhook (مفهوم)</a:t>
            </a:r>
            <a:endParaRPr lang="ar-SA" sz="1200" dirty="0"/>
          </a:p>
        </p:txBody>
      </p:sp>
      <p:sp>
        <p:nvSpPr>
          <p:cNvPr id="51" name="Shape 35"/>
          <p:cNvSpPr/>
          <p:nvPr/>
        </p:nvSpPr>
        <p:spPr>
          <a:xfrm>
            <a:off x="2549347" y="4663440"/>
            <a:ext cx="2409444" cy="384048"/>
          </a:xfrm>
          <a:prstGeom prst="roundRect">
            <a:avLst>
              <a:gd name="adj" fmla="val 50000"/>
            </a:avLst>
          </a:prstGeom>
          <a:solidFill>
            <a:srgbClr val="161816"/>
          </a:solidFill>
          <a:ln w="9525">
            <a:solidFill>
              <a:srgbClr val="3A3D39"/>
            </a:solidFill>
            <a:prstDash val="solid"/>
          </a:ln>
        </p:spPr>
      </p:sp>
      <p:sp>
        <p:nvSpPr>
          <p:cNvPr id="52" name="Text 36"/>
          <p:cNvSpPr txBox="1"/>
          <p:nvPr/>
        </p:nvSpPr>
        <p:spPr>
          <a:xfrm>
            <a:off x="2659075" y="4663440"/>
            <a:ext cx="2189988" cy="384048"/>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FFFFFF"/>
                </a:solidFill>
                <a:latin typeface="IBM Plex Sans Arabic" pitchFamily="34" charset="0"/>
                <a:ea typeface="IBM Plex Sans Arabic" pitchFamily="34" charset="-122"/>
                <a:cs typeface="IBM Plex Sans Arabic" pitchFamily="34" charset="-120"/>
              </a:rPr>
              <a:t>ربط البيانات والتعبيرات</a:t>
            </a:r>
            <a:endParaRPr lang="ar-SA" sz="1200" dirty="0"/>
          </a:p>
        </p:txBody>
      </p:sp>
      <p:sp>
        <p:nvSpPr>
          <p:cNvPr id="53" name="Shape 37"/>
          <p:cNvSpPr/>
          <p:nvPr/>
        </p:nvSpPr>
        <p:spPr>
          <a:xfrm>
            <a:off x="1040587" y="4663440"/>
            <a:ext cx="1371600" cy="384048"/>
          </a:xfrm>
          <a:prstGeom prst="roundRect">
            <a:avLst>
              <a:gd name="adj" fmla="val 50000"/>
            </a:avLst>
          </a:prstGeom>
          <a:solidFill>
            <a:srgbClr val="161816"/>
          </a:solidFill>
          <a:ln w="9525">
            <a:solidFill>
              <a:srgbClr val="3A3D39"/>
            </a:solidFill>
            <a:prstDash val="solid"/>
          </a:ln>
        </p:spPr>
      </p:sp>
      <p:sp>
        <p:nvSpPr>
          <p:cNvPr id="54" name="Text 38"/>
          <p:cNvSpPr txBox="1"/>
          <p:nvPr/>
        </p:nvSpPr>
        <p:spPr>
          <a:xfrm>
            <a:off x="1150315" y="4663440"/>
            <a:ext cx="1152144" cy="384048"/>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FFFFFF"/>
                </a:solidFill>
                <a:latin typeface="IBM Plex Sans Arabic" pitchFamily="34" charset="0"/>
                <a:ea typeface="IBM Plex Sans Arabic" pitchFamily="34" charset="-122"/>
                <a:cs typeface="IBM Plex Sans Arabic" pitchFamily="34" charset="-120"/>
              </a:rPr>
              <a:t>شروط IF</a:t>
            </a:r>
            <a:endParaRPr lang="ar-SA" sz="1200" dirty="0"/>
          </a:p>
        </p:txBody>
      </p:sp>
      <p:sp>
        <p:nvSpPr>
          <p:cNvPr id="55" name="Shape 39"/>
          <p:cNvSpPr/>
          <p:nvPr/>
        </p:nvSpPr>
        <p:spPr>
          <a:xfrm>
            <a:off x="7583119" y="5166360"/>
            <a:ext cx="4059936" cy="384048"/>
          </a:xfrm>
          <a:prstGeom prst="roundRect">
            <a:avLst>
              <a:gd name="adj" fmla="val 50000"/>
            </a:avLst>
          </a:prstGeom>
          <a:solidFill>
            <a:srgbClr val="161816"/>
          </a:solidFill>
          <a:ln w="9525">
            <a:solidFill>
              <a:srgbClr val="3A3D39"/>
            </a:solidFill>
            <a:prstDash val="solid"/>
          </a:ln>
        </p:spPr>
      </p:sp>
      <p:sp>
        <p:nvSpPr>
          <p:cNvPr id="56" name="Text 40"/>
          <p:cNvSpPr txBox="1"/>
          <p:nvPr/>
        </p:nvSpPr>
        <p:spPr>
          <a:xfrm>
            <a:off x="7692847" y="5166360"/>
            <a:ext cx="3840480" cy="384048"/>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FFFFFF"/>
                </a:solidFill>
                <a:latin typeface="IBM Plex Sans Arabic" pitchFamily="34" charset="0"/>
                <a:ea typeface="IBM Plex Sans Arabic" pitchFamily="34" charset="-122"/>
                <a:cs typeface="IBM Plex Sans Arabic" pitchFamily="34" charset="-120"/>
              </a:rPr>
              <a:t>بيانات الاعتماد ومفتاح API وOAuth (مفاهيم)</a:t>
            </a:r>
            <a:endParaRPr lang="ar-SA" sz="1200" dirty="0"/>
          </a:p>
        </p:txBody>
      </p:sp>
      <p:sp>
        <p:nvSpPr>
          <p:cNvPr id="57" name="Shape 41"/>
          <p:cNvSpPr/>
          <p:nvPr/>
        </p:nvSpPr>
        <p:spPr>
          <a:xfrm>
            <a:off x="5297119" y="5166360"/>
            <a:ext cx="2148840" cy="384048"/>
          </a:xfrm>
          <a:prstGeom prst="roundRect">
            <a:avLst>
              <a:gd name="adj" fmla="val 50000"/>
            </a:avLst>
          </a:prstGeom>
          <a:solidFill>
            <a:srgbClr val="161816"/>
          </a:solidFill>
          <a:ln w="9525">
            <a:solidFill>
              <a:srgbClr val="3A3D39"/>
            </a:solidFill>
            <a:prstDash val="solid"/>
          </a:ln>
        </p:spPr>
      </p:sp>
      <p:sp>
        <p:nvSpPr>
          <p:cNvPr id="58" name="Text 42"/>
          <p:cNvSpPr txBox="1"/>
          <p:nvPr/>
        </p:nvSpPr>
        <p:spPr>
          <a:xfrm>
            <a:off x="5406847" y="5166360"/>
            <a:ext cx="1929384" cy="384048"/>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FFFFFF"/>
                </a:solidFill>
                <a:latin typeface="IBM Plex Sans Arabic" pitchFamily="34" charset="0"/>
                <a:ea typeface="IBM Plex Sans Arabic" pitchFamily="34" charset="-122"/>
                <a:cs typeface="IBM Plex Sans Arabic" pitchFamily="34" charset="-120"/>
              </a:rPr>
              <a:t>أمان بيانات الاعتماد</a:t>
            </a:r>
            <a:endParaRPr lang="ar-SA" sz="1200" dirty="0"/>
          </a:p>
        </p:txBody>
      </p:sp>
      <p:sp>
        <p:nvSpPr>
          <p:cNvPr id="59" name="Text 43"/>
          <p:cNvSpPr txBox="1"/>
          <p:nvPr/>
        </p:nvSpPr>
        <p:spPr>
          <a:xfrm>
            <a:off x="548640" y="5715000"/>
            <a:ext cx="11094415" cy="54864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C9CCC8"/>
                </a:solidFill>
                <a:latin typeface="IBM Plex Sans Arabic" pitchFamily="34" charset="0"/>
                <a:ea typeface="IBM Plex Sans Arabic" pitchFamily="34" charset="-122"/>
                <a:cs typeface="IBM Plex Sans Arabic" pitchFamily="34" charset="-120"/>
              </a:rPr>
              <a:t>مستوى مبتدئ عن قصد: لا خوادم ولا Docker ولا واجهات برمجة متقدمة. المدرب يدير جميع بيانات الاعتماد، ولا يتعامل الطلاب مع مفاتيح حقيقية.</a:t>
            </a:r>
            <a:endParaRPr lang="ar-SA"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11</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10 · الملف المهني والعمل الحر</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يخرج الطالب بدليل على مهارته وبعادات المحترفين</a:t>
            </a:r>
            <a:endParaRPr lang="ar-SA" sz="2600" dirty="0"/>
          </a:p>
        </p:txBody>
      </p:sp>
      <p:sp>
        <p:nvSpPr>
          <p:cNvPr id="7" name="Shape 4"/>
          <p:cNvSpPr/>
          <p:nvPr/>
        </p:nvSpPr>
        <p:spPr>
          <a:xfrm>
            <a:off x="8127797" y="1828800"/>
            <a:ext cx="3515258" cy="3017520"/>
          </a:xfrm>
          <a:prstGeom prst="roundRect">
            <a:avLst>
              <a:gd name="adj" fmla="val 3636"/>
            </a:avLst>
          </a:prstGeom>
          <a:solidFill>
            <a:srgbClr val="F2F4F1"/>
          </a:solidFill>
          <a:ln w="12700">
            <a:solidFill>
              <a:srgbClr val="F2F4F1"/>
            </a:solidFill>
            <a:prstDash val="solid"/>
          </a:ln>
        </p:spPr>
      </p:sp>
      <p:sp>
        <p:nvSpPr>
          <p:cNvPr id="8" name="Shape 5"/>
          <p:cNvSpPr/>
          <p:nvPr/>
        </p:nvSpPr>
        <p:spPr>
          <a:xfrm>
            <a:off x="10545775" y="2148840"/>
            <a:ext cx="777240" cy="777240"/>
          </a:xfrm>
          <a:prstGeom prst="ellipse">
            <a:avLst/>
          </a:prstGeom>
          <a:solidFill>
            <a:srgbClr val="4DB449"/>
          </a:solidFill>
          <a:ln w="6350">
            <a:solidFill>
              <a:srgbClr val="4DB449"/>
            </a:solidFill>
            <a:prstDash val="solid"/>
          </a:ln>
        </p:spPr>
      </p:sp>
      <p:pic>
        <p:nvPicPr>
          <p:cNvPr id="9" name="Image 1" descr="preencoded.png">    </p:cNvPr>
          <p:cNvPicPr>
            <a:picLocks noChangeAspect="1"/>
          </p:cNvPicPr>
          <p:nvPr/>
        </p:nvPicPr>
        <p:blipFill>
          <a:blip r:embed="rId2"/>
          <a:stretch>
            <a:fillRect/>
          </a:stretch>
        </p:blipFill>
        <p:spPr>
          <a:xfrm>
            <a:off x="10728655" y="2331720"/>
            <a:ext cx="411480" cy="411480"/>
          </a:xfrm>
          <a:prstGeom prst="rect">
            <a:avLst/>
          </a:prstGeom>
        </p:spPr>
      </p:pic>
      <p:sp>
        <p:nvSpPr>
          <p:cNvPr id="10" name="Text 6"/>
          <p:cNvSpPr txBox="1"/>
          <p:nvPr/>
        </p:nvSpPr>
        <p:spPr>
          <a:xfrm>
            <a:off x="8447837" y="3108960"/>
            <a:ext cx="2875178" cy="457200"/>
          </a:xfrm>
          <a:prstGeom prst="rect">
            <a:avLst/>
          </a:prstGeom>
          <a:noFill/>
          <a:ln/>
        </p:spPr>
        <p:txBody>
          <a:bodyPr wrap="square" lIns="0" tIns="0" rIns="0" bIns="0" rtlCol="0" anchor="t"/>
          <a:lstStyle/>
          <a:p>
            <a:pPr rtl="1" algn="r" indent="0" marL="0">
              <a:lnSpc>
                <a:spcPct val="100000"/>
              </a:lnSpc>
              <a:buNone/>
            </a:pPr>
            <a:r>
              <a:rPr lang="ar-SA" altLang="en-US" sz="2000" b="1" dirty="0">
                <a:solidFill>
                  <a:srgbClr val="1A1A1A"/>
                </a:solidFill>
                <a:latin typeface="Cairo" pitchFamily="34" charset="0"/>
                <a:ea typeface="Cairo" pitchFamily="34" charset="-122"/>
                <a:cs typeface="Cairo" pitchFamily="34" charset="-120"/>
              </a:rPr>
              <a:t>البناء</a:t>
            </a:r>
            <a:endParaRPr lang="ar-SA" sz="2000" dirty="0"/>
          </a:p>
        </p:txBody>
      </p:sp>
      <p:sp>
        <p:nvSpPr>
          <p:cNvPr id="11" name="Text 7"/>
          <p:cNvSpPr txBox="1"/>
          <p:nvPr/>
        </p:nvSpPr>
        <p:spPr>
          <a:xfrm>
            <a:off x="8447837" y="3611880"/>
            <a:ext cx="2875178" cy="1143000"/>
          </a:xfrm>
          <a:prstGeom prst="rect">
            <a:avLst/>
          </a:prstGeom>
          <a:noFill/>
          <a:ln/>
        </p:spPr>
        <p:txBody>
          <a:bodyPr wrap="square" lIns="0" tIns="0" rIns="0" bIns="0" rtlCol="0" anchor="t"/>
          <a:lstStyle/>
          <a:p>
            <a:pPr rtl="1" algn="r" indent="0" marL="0">
              <a:lnSpc>
                <a:spcPct val="102000"/>
              </a:lnSpc>
              <a:buNone/>
            </a:pPr>
            <a:r>
              <a:rPr lang="ar-SA" altLang="en-US" sz="1400" dirty="0">
                <a:solidFill>
                  <a:srgbClr val="3C3E3B"/>
                </a:solidFill>
                <a:latin typeface="IBM Plex Sans Arabic" pitchFamily="34" charset="0"/>
                <a:ea typeface="IBM Plex Sans Arabic" pitchFamily="34" charset="-122"/>
                <a:cs typeface="IBM Plex Sans Arabic" pitchFamily="34" charset="-120"/>
              </a:rPr>
              <a:t>ملف مهني أو صفحة هبوط من صفحة واحدة، يصفها الطالب بلغة بسيطة ويبنيها بمساعد ذكي، ثم يراجعها وينشرها.</a:t>
            </a:r>
            <a:endParaRPr lang="ar-SA" sz="1400" dirty="0"/>
          </a:p>
        </p:txBody>
      </p:sp>
      <p:sp>
        <p:nvSpPr>
          <p:cNvPr id="12" name="Shape 8"/>
          <p:cNvSpPr/>
          <p:nvPr/>
        </p:nvSpPr>
        <p:spPr>
          <a:xfrm>
            <a:off x="4338218" y="1828800"/>
            <a:ext cx="3515258" cy="3017520"/>
          </a:xfrm>
          <a:prstGeom prst="roundRect">
            <a:avLst>
              <a:gd name="adj" fmla="val 3636"/>
            </a:avLst>
          </a:prstGeom>
          <a:solidFill>
            <a:srgbClr val="000000"/>
          </a:solidFill>
          <a:ln w="12700">
            <a:solidFill>
              <a:srgbClr val="000000"/>
            </a:solidFill>
            <a:prstDash val="solid"/>
          </a:ln>
        </p:spPr>
      </p:sp>
      <p:sp>
        <p:nvSpPr>
          <p:cNvPr id="13" name="Shape 9"/>
          <p:cNvSpPr/>
          <p:nvPr/>
        </p:nvSpPr>
        <p:spPr>
          <a:xfrm>
            <a:off x="6756197" y="2148840"/>
            <a:ext cx="777240" cy="777240"/>
          </a:xfrm>
          <a:prstGeom prst="ellipse">
            <a:avLst/>
          </a:prstGeom>
          <a:solidFill>
            <a:srgbClr val="A6D04B"/>
          </a:solidFill>
          <a:ln w="6350">
            <a:solidFill>
              <a:srgbClr val="A6D04B"/>
            </a:solidFill>
            <a:prstDash val="solid"/>
          </a:ln>
        </p:spPr>
      </p:sp>
      <p:pic>
        <p:nvPicPr>
          <p:cNvPr id="14" name="Image 2" descr="preencoded.png">    </p:cNvPr>
          <p:cNvPicPr>
            <a:picLocks noChangeAspect="1"/>
          </p:cNvPicPr>
          <p:nvPr/>
        </p:nvPicPr>
        <p:blipFill>
          <a:blip r:embed="rId3"/>
          <a:stretch>
            <a:fillRect/>
          </a:stretch>
        </p:blipFill>
        <p:spPr>
          <a:xfrm>
            <a:off x="6939077" y="2331720"/>
            <a:ext cx="411480" cy="411480"/>
          </a:xfrm>
          <a:prstGeom prst="rect">
            <a:avLst/>
          </a:prstGeom>
        </p:spPr>
      </p:pic>
      <p:sp>
        <p:nvSpPr>
          <p:cNvPr id="15" name="Text 10"/>
          <p:cNvSpPr txBox="1"/>
          <p:nvPr/>
        </p:nvSpPr>
        <p:spPr>
          <a:xfrm>
            <a:off x="4658258" y="3108960"/>
            <a:ext cx="2875178" cy="457200"/>
          </a:xfrm>
          <a:prstGeom prst="rect">
            <a:avLst/>
          </a:prstGeom>
          <a:noFill/>
          <a:ln/>
        </p:spPr>
        <p:txBody>
          <a:bodyPr wrap="square" lIns="0" tIns="0" rIns="0" bIns="0" rtlCol="0" anchor="t"/>
          <a:lstStyle/>
          <a:p>
            <a:pPr rtl="1" algn="r" indent="0" marL="0">
              <a:lnSpc>
                <a:spcPct val="100000"/>
              </a:lnSpc>
              <a:buNone/>
            </a:pPr>
            <a:r>
              <a:rPr lang="ar-SA" altLang="en-US" sz="2000" b="1" dirty="0">
                <a:solidFill>
                  <a:srgbClr val="FFFFFF"/>
                </a:solidFill>
                <a:latin typeface="Cairo" pitchFamily="34" charset="0"/>
                <a:ea typeface="Cairo" pitchFamily="34" charset="-122"/>
                <a:cs typeface="Cairo" pitchFamily="34" charset="-120"/>
              </a:rPr>
              <a:t>تصميم الخدمات</a:t>
            </a:r>
            <a:endParaRPr lang="ar-SA" sz="2000" dirty="0"/>
          </a:p>
        </p:txBody>
      </p:sp>
      <p:sp>
        <p:nvSpPr>
          <p:cNvPr id="16" name="Text 11"/>
          <p:cNvSpPr txBox="1"/>
          <p:nvPr/>
        </p:nvSpPr>
        <p:spPr>
          <a:xfrm>
            <a:off x="4658258" y="3611880"/>
            <a:ext cx="2875178" cy="1143000"/>
          </a:xfrm>
          <a:prstGeom prst="rect">
            <a:avLst/>
          </a:prstGeom>
          <a:noFill/>
          <a:ln/>
        </p:spPr>
        <p:txBody>
          <a:bodyPr wrap="square" lIns="0" tIns="0" rIns="0" bIns="0" rtlCol="0" anchor="t"/>
          <a:lstStyle/>
          <a:p>
            <a:pPr rtl="1" algn="r" indent="0" marL="0">
              <a:lnSpc>
                <a:spcPct val="102000"/>
              </a:lnSpc>
              <a:buNone/>
            </a:pPr>
            <a:r>
              <a:rPr lang="ar-SA" altLang="en-US" sz="1400" dirty="0">
                <a:solidFill>
                  <a:srgbClr val="D6D8D4"/>
                </a:solidFill>
                <a:latin typeface="IBM Plex Sans Arabic" pitchFamily="34" charset="0"/>
                <a:ea typeface="IBM Plex Sans Arabic" pitchFamily="34" charset="-122"/>
                <a:cs typeface="IBM Plex Sans Arabic" pitchFamily="34" charset="-120"/>
              </a:rPr>
              <a:t>ثلاث خدمات واضحة، لكل منها نطاق ومخرجات محددة. التسعير خارج نطاق هذا البرنامج.</a:t>
            </a:r>
            <a:endParaRPr lang="ar-SA" sz="1400" dirty="0"/>
          </a:p>
        </p:txBody>
      </p:sp>
      <p:sp>
        <p:nvSpPr>
          <p:cNvPr id="17" name="Shape 12"/>
          <p:cNvSpPr/>
          <p:nvPr/>
        </p:nvSpPr>
        <p:spPr>
          <a:xfrm>
            <a:off x="548640" y="1828800"/>
            <a:ext cx="3515258" cy="3017520"/>
          </a:xfrm>
          <a:prstGeom prst="roundRect">
            <a:avLst>
              <a:gd name="adj" fmla="val 3636"/>
            </a:avLst>
          </a:prstGeom>
          <a:solidFill>
            <a:srgbClr val="F2F4F1"/>
          </a:solidFill>
          <a:ln w="12700">
            <a:solidFill>
              <a:srgbClr val="F2F4F1"/>
            </a:solidFill>
            <a:prstDash val="solid"/>
          </a:ln>
        </p:spPr>
      </p:sp>
      <p:sp>
        <p:nvSpPr>
          <p:cNvPr id="18" name="Shape 13"/>
          <p:cNvSpPr/>
          <p:nvPr/>
        </p:nvSpPr>
        <p:spPr>
          <a:xfrm>
            <a:off x="2966618" y="2148840"/>
            <a:ext cx="777240" cy="777240"/>
          </a:xfrm>
          <a:prstGeom prst="ellipse">
            <a:avLst/>
          </a:prstGeom>
          <a:solidFill>
            <a:srgbClr val="4DB449"/>
          </a:solidFill>
          <a:ln w="6350">
            <a:solidFill>
              <a:srgbClr val="4DB449"/>
            </a:solidFill>
            <a:prstDash val="solid"/>
          </a:ln>
        </p:spPr>
      </p:sp>
      <p:pic>
        <p:nvPicPr>
          <p:cNvPr id="19" name="Image 3" descr="preencoded.png">    </p:cNvPr>
          <p:cNvPicPr>
            <a:picLocks noChangeAspect="1"/>
          </p:cNvPicPr>
          <p:nvPr/>
        </p:nvPicPr>
        <p:blipFill>
          <a:blip r:embed="rId4"/>
          <a:stretch>
            <a:fillRect/>
          </a:stretch>
        </p:blipFill>
        <p:spPr>
          <a:xfrm>
            <a:off x="3149498" y="2331720"/>
            <a:ext cx="411480" cy="411480"/>
          </a:xfrm>
          <a:prstGeom prst="rect">
            <a:avLst/>
          </a:prstGeom>
        </p:spPr>
      </p:pic>
      <p:sp>
        <p:nvSpPr>
          <p:cNvPr id="20" name="Text 14"/>
          <p:cNvSpPr txBox="1"/>
          <p:nvPr/>
        </p:nvSpPr>
        <p:spPr>
          <a:xfrm>
            <a:off x="868680" y="3108960"/>
            <a:ext cx="2875178" cy="457200"/>
          </a:xfrm>
          <a:prstGeom prst="rect">
            <a:avLst/>
          </a:prstGeom>
          <a:noFill/>
          <a:ln/>
        </p:spPr>
        <p:txBody>
          <a:bodyPr wrap="square" lIns="0" tIns="0" rIns="0" bIns="0" rtlCol="0" anchor="t"/>
          <a:lstStyle/>
          <a:p>
            <a:pPr rtl="1" algn="r" indent="0" marL="0">
              <a:lnSpc>
                <a:spcPct val="100000"/>
              </a:lnSpc>
              <a:buNone/>
            </a:pPr>
            <a:r>
              <a:rPr lang="ar-SA" altLang="en-US" sz="2000" b="1" dirty="0">
                <a:solidFill>
                  <a:srgbClr val="1A1A1A"/>
                </a:solidFill>
                <a:latin typeface="Cairo" pitchFamily="34" charset="0"/>
                <a:ea typeface="Cairo" pitchFamily="34" charset="-122"/>
                <a:cs typeface="Cairo" pitchFamily="34" charset="-120"/>
              </a:rPr>
              <a:t>التواصل</a:t>
            </a:r>
            <a:endParaRPr lang="ar-SA" sz="2000" dirty="0"/>
          </a:p>
        </p:txBody>
      </p:sp>
      <p:sp>
        <p:nvSpPr>
          <p:cNvPr id="21" name="Text 15"/>
          <p:cNvSpPr txBox="1"/>
          <p:nvPr/>
        </p:nvSpPr>
        <p:spPr>
          <a:xfrm>
            <a:off x="868680" y="3611880"/>
            <a:ext cx="2875178" cy="1143000"/>
          </a:xfrm>
          <a:prstGeom prst="rect">
            <a:avLst/>
          </a:prstGeom>
          <a:noFill/>
          <a:ln/>
        </p:spPr>
        <p:txBody>
          <a:bodyPr wrap="square" lIns="0" tIns="0" rIns="0" bIns="0" rtlCol="0" anchor="t"/>
          <a:lstStyle/>
          <a:p>
            <a:pPr rtl="1" algn="r" indent="0" marL="0">
              <a:lnSpc>
                <a:spcPct val="102000"/>
              </a:lnSpc>
              <a:buNone/>
            </a:pPr>
            <a:r>
              <a:rPr lang="ar-SA" altLang="en-US" sz="1400" dirty="0">
                <a:solidFill>
                  <a:srgbClr val="3C3E3B"/>
                </a:solidFill>
                <a:latin typeface="IBM Plex Sans Arabic" pitchFamily="34" charset="0"/>
                <a:ea typeface="IBM Plex Sans Arabic" pitchFamily="34" charset="-122"/>
                <a:cs typeface="IBM Plex Sans Arabic" pitchFamily="34" charset="-120"/>
              </a:rPr>
              <a:t>نماذج رسائل لأول تواصل، وتأكيد النطاق، والتعامل مع التعديلات، وتسليم العمل.</a:t>
            </a:r>
            <a:endParaRPr lang="ar-SA" sz="1400" dirty="0"/>
          </a:p>
        </p:txBody>
      </p:sp>
      <p:sp>
        <p:nvSpPr>
          <p:cNvPr id="22" name="Shape 16"/>
          <p:cNvSpPr/>
          <p:nvPr/>
        </p:nvSpPr>
        <p:spPr>
          <a:xfrm>
            <a:off x="548640" y="5120640"/>
            <a:ext cx="11094415" cy="1051560"/>
          </a:xfrm>
          <a:prstGeom prst="roundRect">
            <a:avLst>
              <a:gd name="adj" fmla="val 8696"/>
            </a:avLst>
          </a:prstGeom>
          <a:solidFill>
            <a:srgbClr val="EAF5E8"/>
          </a:solidFill>
          <a:ln w="12700">
            <a:solidFill>
              <a:srgbClr val="EAF5E8"/>
            </a:solidFill>
            <a:prstDash val="solid"/>
          </a:ln>
        </p:spPr>
      </p:sp>
      <p:pic>
        <p:nvPicPr>
          <p:cNvPr id="23" name="Image 4" descr="preencoded.png">    </p:cNvPr>
          <p:cNvPicPr>
            <a:picLocks noChangeAspect="1"/>
          </p:cNvPicPr>
          <p:nvPr/>
        </p:nvPicPr>
        <p:blipFill>
          <a:blip r:embed="rId5"/>
          <a:stretch>
            <a:fillRect/>
          </a:stretch>
        </p:blipFill>
        <p:spPr>
          <a:xfrm>
            <a:off x="10984687" y="5440680"/>
            <a:ext cx="384048" cy="384048"/>
          </a:xfrm>
          <a:prstGeom prst="rect">
            <a:avLst/>
          </a:prstGeom>
        </p:spPr>
      </p:pic>
      <p:sp>
        <p:nvSpPr>
          <p:cNvPr id="24" name="Text 17"/>
          <p:cNvSpPr txBox="1"/>
          <p:nvPr/>
        </p:nvSpPr>
        <p:spPr>
          <a:xfrm>
            <a:off x="777240" y="5120640"/>
            <a:ext cx="9997135" cy="1051560"/>
          </a:xfrm>
          <a:prstGeom prst="rect">
            <a:avLst/>
          </a:prstGeom>
          <a:noFill/>
          <a:ln/>
        </p:spPr>
        <p:txBody>
          <a:bodyPr wrap="square" lIns="0" tIns="0" rIns="0" bIns="0" rtlCol="0" anchor="ctr"/>
          <a:lstStyle/>
          <a:p>
            <a:pPr rtl="1" algn="r" indent="0" marL="0">
              <a:lnSpc>
                <a:spcPct val="100000"/>
              </a:lnSpc>
              <a:buNone/>
            </a:pPr>
            <a:r>
              <a:rPr lang="ar-SA" altLang="en-US" sz="1350" dirty="0">
                <a:solidFill>
                  <a:srgbClr val="1A1A1A"/>
                </a:solidFill>
                <a:latin typeface="IBM Plex Sans Arabic" pitchFamily="34" charset="0"/>
                <a:ea typeface="IBM Plex Sans Arabic" pitchFamily="34" charset="-122"/>
                <a:cs typeface="IBM Plex Sans Arabic" pitchFamily="34" charset="-120"/>
              </a:rPr>
              <a:t>لكل منصة عمل حر قواعدها العمرية. فمنصة Fiverr مثلاً تشترط أن يكون البائع 18 سنة فأكثر، وتسمح لمن هم بين 13 و17 بالاستخدام عبر حساب وليّ الأمر فقط. يتدرّب الطلاب دون 18 مع شركاء مجتمعيين يرتّبهم البرنامج.</a:t>
            </a:r>
            <a:endParaRPr lang="ar-SA"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12</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11 · كيف يتعلّم الطالب</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شرح قصير ثم بناء، وكل جلسة تنتهي بشيء منجَز</a:t>
            </a:r>
            <a:endParaRPr lang="ar-SA" sz="2600" dirty="0"/>
          </a:p>
        </p:txBody>
      </p:sp>
      <p:graphicFrame>
        <p:nvGraphicFramePr>
          <p:cNvPr id="7" name="Chart 0" descr=""/>
          <p:cNvGraphicFramePr/>
          <p:nvPr/>
        </p:nvGraphicFramePr>
        <p:xfrm>
          <a:off x="8534095" y="1783080"/>
          <a:ext cx="3108960" cy="310896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9174175" y="2788920"/>
            <a:ext cx="1828800" cy="685800"/>
          </a:xfrm>
          <a:prstGeom prst="rect">
            <a:avLst/>
          </a:prstGeom>
          <a:noFill/>
          <a:ln/>
        </p:spPr>
        <p:txBody>
          <a:bodyPr wrap="square" lIns="0" tIns="0" rIns="0" bIns="0" rtlCol="0" anchor="t"/>
          <a:lstStyle/>
          <a:p>
            <a:pPr rtl="1" algn="ctr" indent="0" marL="0">
              <a:lnSpc>
                <a:spcPct val="100000"/>
              </a:lnSpc>
              <a:buNone/>
            </a:pPr>
            <a:r>
              <a:rPr lang="ar-SA" altLang="en-US" sz="3800" b="1" dirty="0">
                <a:solidFill>
                  <a:srgbClr val="1A1A1A"/>
                </a:solidFill>
                <a:latin typeface="Cairo" pitchFamily="34" charset="0"/>
                <a:ea typeface="Cairo" pitchFamily="34" charset="-122"/>
                <a:cs typeface="Cairo" pitchFamily="34" charset="-120"/>
              </a:rPr>
              <a:t>70%</a:t>
            </a:r>
            <a:endParaRPr lang="ar-SA" sz="3800" dirty="0"/>
          </a:p>
        </p:txBody>
      </p:sp>
      <p:sp>
        <p:nvSpPr>
          <p:cNvPr id="9" name="Text 5"/>
          <p:cNvSpPr txBox="1"/>
          <p:nvPr/>
        </p:nvSpPr>
        <p:spPr>
          <a:xfrm>
            <a:off x="9174175" y="3429000"/>
            <a:ext cx="1828800" cy="320040"/>
          </a:xfrm>
          <a:prstGeom prst="rect">
            <a:avLst/>
          </a:prstGeom>
          <a:noFill/>
          <a:ln/>
        </p:spPr>
        <p:txBody>
          <a:bodyPr wrap="square" lIns="0" tIns="0" rIns="0" bIns="0" rtlCol="0" anchor="t"/>
          <a:lstStyle/>
          <a:p>
            <a:pPr rtl="1" algn="ctr" indent="0" marL="0">
              <a:lnSpc>
                <a:spcPct val="100000"/>
              </a:lnSpc>
              <a:buNone/>
            </a:pPr>
            <a:r>
              <a:rPr lang="ar-SA" altLang="en-US" sz="1400" dirty="0">
                <a:solidFill>
                  <a:srgbClr val="727274"/>
                </a:solidFill>
                <a:latin typeface="IBM Plex Sans Arabic" pitchFamily="34" charset="0"/>
                <a:ea typeface="IBM Plex Sans Arabic" pitchFamily="34" charset="-122"/>
                <a:cs typeface="IBM Plex Sans Arabic" pitchFamily="34" charset="-120"/>
              </a:rPr>
              <a:t>عملي</a:t>
            </a:r>
            <a:endParaRPr lang="ar-SA" sz="1400" dirty="0"/>
          </a:p>
        </p:txBody>
      </p:sp>
      <p:sp>
        <p:nvSpPr>
          <p:cNvPr id="10" name="Shape 6"/>
          <p:cNvSpPr/>
          <p:nvPr/>
        </p:nvSpPr>
        <p:spPr>
          <a:xfrm>
            <a:off x="11140135" y="5093208"/>
            <a:ext cx="182880" cy="182880"/>
          </a:xfrm>
          <a:prstGeom prst="ellipse">
            <a:avLst/>
          </a:prstGeom>
          <a:solidFill>
            <a:srgbClr val="4DB449"/>
          </a:solidFill>
          <a:ln w="6350">
            <a:solidFill>
              <a:srgbClr val="4DB449"/>
            </a:solidFill>
            <a:prstDash val="solid"/>
          </a:ln>
        </p:spPr>
      </p:sp>
      <p:sp>
        <p:nvSpPr>
          <p:cNvPr id="11" name="Text 7"/>
          <p:cNvSpPr txBox="1"/>
          <p:nvPr/>
        </p:nvSpPr>
        <p:spPr>
          <a:xfrm>
            <a:off x="8396935" y="5029200"/>
            <a:ext cx="2651760" cy="310896"/>
          </a:xfrm>
          <a:prstGeom prst="rect">
            <a:avLst/>
          </a:prstGeom>
          <a:noFill/>
          <a:ln/>
        </p:spPr>
        <p:txBody>
          <a:bodyPr wrap="square" lIns="0" tIns="0" rIns="0" bIns="0" rtlCol="0" anchor="ctr"/>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عملي: 67.5 ساعة</a:t>
            </a:r>
            <a:endParaRPr lang="ar-SA" sz="1300" dirty="0"/>
          </a:p>
        </p:txBody>
      </p:sp>
      <p:sp>
        <p:nvSpPr>
          <p:cNvPr id="12" name="Shape 8"/>
          <p:cNvSpPr/>
          <p:nvPr/>
        </p:nvSpPr>
        <p:spPr>
          <a:xfrm>
            <a:off x="11140135" y="5458968"/>
            <a:ext cx="182880" cy="182880"/>
          </a:xfrm>
          <a:prstGeom prst="ellipse">
            <a:avLst/>
          </a:prstGeom>
          <a:solidFill>
            <a:srgbClr val="727274"/>
          </a:solidFill>
          <a:ln w="6350">
            <a:solidFill>
              <a:srgbClr val="727274"/>
            </a:solidFill>
            <a:prstDash val="solid"/>
          </a:ln>
        </p:spPr>
      </p:sp>
      <p:sp>
        <p:nvSpPr>
          <p:cNvPr id="13" name="Text 9"/>
          <p:cNvSpPr txBox="1"/>
          <p:nvPr/>
        </p:nvSpPr>
        <p:spPr>
          <a:xfrm>
            <a:off x="8396935" y="5394960"/>
            <a:ext cx="2651760" cy="310896"/>
          </a:xfrm>
          <a:prstGeom prst="rect">
            <a:avLst/>
          </a:prstGeom>
          <a:noFill/>
          <a:ln/>
        </p:spPr>
        <p:txBody>
          <a:bodyPr wrap="square" lIns="0" tIns="0" rIns="0" bIns="0" rtlCol="0" anchor="ctr"/>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نظري: 28.5 ساعة</a:t>
            </a:r>
            <a:endParaRPr lang="ar-SA" sz="1300" dirty="0"/>
          </a:p>
        </p:txBody>
      </p:sp>
      <p:sp>
        <p:nvSpPr>
          <p:cNvPr id="14" name="Shape 10"/>
          <p:cNvSpPr/>
          <p:nvPr/>
        </p:nvSpPr>
        <p:spPr>
          <a:xfrm>
            <a:off x="4373575" y="1783080"/>
            <a:ext cx="3566160" cy="1143000"/>
          </a:xfrm>
          <a:prstGeom prst="roundRect">
            <a:avLst>
              <a:gd name="adj" fmla="val 8000"/>
            </a:avLst>
          </a:prstGeom>
          <a:solidFill>
            <a:srgbClr val="F2F4F1"/>
          </a:solidFill>
          <a:ln w="12700">
            <a:solidFill>
              <a:srgbClr val="F2F4F1"/>
            </a:solidFill>
            <a:prstDash val="solid"/>
          </a:ln>
        </p:spPr>
      </p:sp>
      <p:sp>
        <p:nvSpPr>
          <p:cNvPr id="15" name="Shape 11"/>
          <p:cNvSpPr/>
          <p:nvPr/>
        </p:nvSpPr>
        <p:spPr>
          <a:xfrm>
            <a:off x="7116775" y="2057400"/>
            <a:ext cx="594360" cy="594360"/>
          </a:xfrm>
          <a:prstGeom prst="ellipse">
            <a:avLst/>
          </a:prstGeom>
          <a:solidFill>
            <a:srgbClr val="4DB449"/>
          </a:solidFill>
          <a:ln w="6350">
            <a:solidFill>
              <a:srgbClr val="4DB449"/>
            </a:solidFill>
            <a:prstDash val="solid"/>
          </a:ln>
        </p:spPr>
      </p:sp>
      <p:pic>
        <p:nvPicPr>
          <p:cNvPr id="16" name="Image 1" descr="preencoded.png">    </p:cNvPr>
          <p:cNvPicPr>
            <a:picLocks noChangeAspect="1"/>
          </p:cNvPicPr>
          <p:nvPr/>
        </p:nvPicPr>
        <p:blipFill>
          <a:blip r:embed="rId3"/>
          <a:stretch>
            <a:fillRect/>
          </a:stretch>
        </p:blipFill>
        <p:spPr>
          <a:xfrm>
            <a:off x="7244791" y="2185416"/>
            <a:ext cx="338328" cy="338328"/>
          </a:xfrm>
          <a:prstGeom prst="rect">
            <a:avLst/>
          </a:prstGeom>
        </p:spPr>
      </p:pic>
      <p:sp>
        <p:nvSpPr>
          <p:cNvPr id="17" name="Text 12"/>
          <p:cNvSpPr txBox="1"/>
          <p:nvPr/>
        </p:nvSpPr>
        <p:spPr>
          <a:xfrm>
            <a:off x="4556455" y="1965960"/>
            <a:ext cx="2377440" cy="411480"/>
          </a:xfrm>
          <a:prstGeom prst="rect">
            <a:avLst/>
          </a:prstGeom>
          <a:noFill/>
          <a:ln/>
        </p:spPr>
        <p:txBody>
          <a:bodyPr wrap="square" lIns="0" tIns="0" rIns="0" bIns="0" rtlCol="0" anchor="t"/>
          <a:lstStyle/>
          <a:p>
            <a:pPr rtl="1" algn="r" indent="0" marL="0">
              <a:lnSpc>
                <a:spcPct val="100000"/>
              </a:lnSpc>
              <a:buNone/>
            </a:pPr>
            <a:r>
              <a:rPr lang="ar-SA" altLang="en-US" sz="1800" b="1" dirty="0">
                <a:solidFill>
                  <a:srgbClr val="1A1A1A"/>
                </a:solidFill>
                <a:latin typeface="Cairo" pitchFamily="34" charset="0"/>
                <a:ea typeface="Cairo" pitchFamily="34" charset="-122"/>
                <a:cs typeface="Cairo" pitchFamily="34" charset="-120"/>
              </a:rPr>
              <a:t>1. شاهِد</a:t>
            </a:r>
            <a:endParaRPr lang="ar-SA" sz="1800" dirty="0"/>
          </a:p>
        </p:txBody>
      </p:sp>
      <p:sp>
        <p:nvSpPr>
          <p:cNvPr id="18" name="Text 13"/>
          <p:cNvSpPr txBox="1"/>
          <p:nvPr/>
        </p:nvSpPr>
        <p:spPr>
          <a:xfrm>
            <a:off x="4556455" y="2386584"/>
            <a:ext cx="2377440" cy="41148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مفهوم قصير وعرض مباشر</a:t>
            </a:r>
            <a:endParaRPr lang="ar-SA" sz="1350" dirty="0"/>
          </a:p>
        </p:txBody>
      </p:sp>
      <p:sp>
        <p:nvSpPr>
          <p:cNvPr id="19" name="Shape 14"/>
          <p:cNvSpPr/>
          <p:nvPr/>
        </p:nvSpPr>
        <p:spPr>
          <a:xfrm>
            <a:off x="533095" y="1783080"/>
            <a:ext cx="3566160" cy="1143000"/>
          </a:xfrm>
          <a:prstGeom prst="roundRect">
            <a:avLst>
              <a:gd name="adj" fmla="val 8000"/>
            </a:avLst>
          </a:prstGeom>
          <a:solidFill>
            <a:srgbClr val="F2F4F1"/>
          </a:solidFill>
          <a:ln w="12700">
            <a:solidFill>
              <a:srgbClr val="F2F4F1"/>
            </a:solidFill>
            <a:prstDash val="solid"/>
          </a:ln>
        </p:spPr>
      </p:sp>
      <p:sp>
        <p:nvSpPr>
          <p:cNvPr id="20" name="Shape 15"/>
          <p:cNvSpPr/>
          <p:nvPr/>
        </p:nvSpPr>
        <p:spPr>
          <a:xfrm>
            <a:off x="3276295" y="2057400"/>
            <a:ext cx="594360" cy="594360"/>
          </a:xfrm>
          <a:prstGeom prst="ellipse">
            <a:avLst/>
          </a:prstGeom>
          <a:solidFill>
            <a:srgbClr val="4DB449"/>
          </a:solidFill>
          <a:ln w="6350">
            <a:solidFill>
              <a:srgbClr val="4DB449"/>
            </a:solidFill>
            <a:prstDash val="solid"/>
          </a:ln>
        </p:spPr>
      </p:sp>
      <p:pic>
        <p:nvPicPr>
          <p:cNvPr id="21" name="Image 2" descr="preencoded.png">    </p:cNvPr>
          <p:cNvPicPr>
            <a:picLocks noChangeAspect="1"/>
          </p:cNvPicPr>
          <p:nvPr/>
        </p:nvPicPr>
        <p:blipFill>
          <a:blip r:embed="rId4"/>
          <a:stretch>
            <a:fillRect/>
          </a:stretch>
        </p:blipFill>
        <p:spPr>
          <a:xfrm>
            <a:off x="3404311" y="2185416"/>
            <a:ext cx="338328" cy="338328"/>
          </a:xfrm>
          <a:prstGeom prst="rect">
            <a:avLst/>
          </a:prstGeom>
        </p:spPr>
      </p:pic>
      <p:sp>
        <p:nvSpPr>
          <p:cNvPr id="22" name="Text 16"/>
          <p:cNvSpPr txBox="1"/>
          <p:nvPr/>
        </p:nvSpPr>
        <p:spPr>
          <a:xfrm>
            <a:off x="715975" y="1965960"/>
            <a:ext cx="2377440" cy="411480"/>
          </a:xfrm>
          <a:prstGeom prst="rect">
            <a:avLst/>
          </a:prstGeom>
          <a:noFill/>
          <a:ln/>
        </p:spPr>
        <p:txBody>
          <a:bodyPr wrap="square" lIns="0" tIns="0" rIns="0" bIns="0" rtlCol="0" anchor="t"/>
          <a:lstStyle/>
          <a:p>
            <a:pPr rtl="1" algn="r" indent="0" marL="0">
              <a:lnSpc>
                <a:spcPct val="100000"/>
              </a:lnSpc>
              <a:buNone/>
            </a:pPr>
            <a:r>
              <a:rPr lang="ar-SA" altLang="en-US" sz="1800" b="1" dirty="0">
                <a:solidFill>
                  <a:srgbClr val="1A1A1A"/>
                </a:solidFill>
                <a:latin typeface="Cairo" pitchFamily="34" charset="0"/>
                <a:ea typeface="Cairo" pitchFamily="34" charset="-122"/>
                <a:cs typeface="Cairo" pitchFamily="34" charset="-120"/>
              </a:rPr>
              <a:t>2. جرِّب</a:t>
            </a:r>
            <a:endParaRPr lang="ar-SA" sz="1800" dirty="0"/>
          </a:p>
        </p:txBody>
      </p:sp>
      <p:sp>
        <p:nvSpPr>
          <p:cNvPr id="23" name="Text 17"/>
          <p:cNvSpPr txBox="1"/>
          <p:nvPr/>
        </p:nvSpPr>
        <p:spPr>
          <a:xfrm>
            <a:off x="715975" y="2386584"/>
            <a:ext cx="2377440" cy="41148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تمرين موجّه ضمن ثنائيات</a:t>
            </a:r>
            <a:endParaRPr lang="ar-SA" sz="1350" dirty="0"/>
          </a:p>
        </p:txBody>
      </p:sp>
      <p:sp>
        <p:nvSpPr>
          <p:cNvPr id="24" name="Shape 18"/>
          <p:cNvSpPr/>
          <p:nvPr/>
        </p:nvSpPr>
        <p:spPr>
          <a:xfrm>
            <a:off x="533095" y="3200400"/>
            <a:ext cx="3566160" cy="1143000"/>
          </a:xfrm>
          <a:prstGeom prst="roundRect">
            <a:avLst>
              <a:gd name="adj" fmla="val 8000"/>
            </a:avLst>
          </a:prstGeom>
          <a:solidFill>
            <a:srgbClr val="000000"/>
          </a:solidFill>
          <a:ln w="12700">
            <a:solidFill>
              <a:srgbClr val="000000"/>
            </a:solidFill>
            <a:prstDash val="solid"/>
          </a:ln>
        </p:spPr>
      </p:sp>
      <p:sp>
        <p:nvSpPr>
          <p:cNvPr id="25" name="Shape 19"/>
          <p:cNvSpPr/>
          <p:nvPr/>
        </p:nvSpPr>
        <p:spPr>
          <a:xfrm>
            <a:off x="3276295" y="3474720"/>
            <a:ext cx="594360" cy="594360"/>
          </a:xfrm>
          <a:prstGeom prst="ellipse">
            <a:avLst/>
          </a:prstGeom>
          <a:solidFill>
            <a:srgbClr val="A6D04B"/>
          </a:solidFill>
          <a:ln w="6350">
            <a:solidFill>
              <a:srgbClr val="A6D04B"/>
            </a:solidFill>
            <a:prstDash val="solid"/>
          </a:ln>
        </p:spPr>
      </p:sp>
      <p:pic>
        <p:nvPicPr>
          <p:cNvPr id="26" name="Image 3" descr="preencoded.png">    </p:cNvPr>
          <p:cNvPicPr>
            <a:picLocks noChangeAspect="1"/>
          </p:cNvPicPr>
          <p:nvPr/>
        </p:nvPicPr>
        <p:blipFill>
          <a:blip r:embed="rId5"/>
          <a:stretch>
            <a:fillRect/>
          </a:stretch>
        </p:blipFill>
        <p:spPr>
          <a:xfrm>
            <a:off x="3404311" y="3602736"/>
            <a:ext cx="338328" cy="338328"/>
          </a:xfrm>
          <a:prstGeom prst="rect">
            <a:avLst/>
          </a:prstGeom>
        </p:spPr>
      </p:pic>
      <p:sp>
        <p:nvSpPr>
          <p:cNvPr id="27" name="Text 20"/>
          <p:cNvSpPr txBox="1"/>
          <p:nvPr/>
        </p:nvSpPr>
        <p:spPr>
          <a:xfrm>
            <a:off x="715975" y="3383280"/>
            <a:ext cx="2377440" cy="411480"/>
          </a:xfrm>
          <a:prstGeom prst="rect">
            <a:avLst/>
          </a:prstGeom>
          <a:noFill/>
          <a:ln/>
        </p:spPr>
        <p:txBody>
          <a:bodyPr wrap="square" lIns="0" tIns="0" rIns="0" bIns="0" rtlCol="0" anchor="t"/>
          <a:lstStyle/>
          <a:p>
            <a:pPr rtl="1" algn="r" indent="0" marL="0">
              <a:lnSpc>
                <a:spcPct val="100000"/>
              </a:lnSpc>
              <a:buNone/>
            </a:pPr>
            <a:r>
              <a:rPr lang="ar-SA" altLang="en-US" sz="1800" b="1" dirty="0">
                <a:solidFill>
                  <a:srgbClr val="FFFFFF"/>
                </a:solidFill>
                <a:latin typeface="Cairo" pitchFamily="34" charset="0"/>
                <a:ea typeface="Cairo" pitchFamily="34" charset="-122"/>
                <a:cs typeface="Cairo" pitchFamily="34" charset="-120"/>
              </a:rPr>
              <a:t>3. ابنِ</a:t>
            </a:r>
            <a:endParaRPr lang="ar-SA" sz="1800" dirty="0"/>
          </a:p>
        </p:txBody>
      </p:sp>
      <p:sp>
        <p:nvSpPr>
          <p:cNvPr id="28" name="Text 21"/>
          <p:cNvSpPr txBox="1"/>
          <p:nvPr/>
        </p:nvSpPr>
        <p:spPr>
          <a:xfrm>
            <a:off x="715975" y="3803904"/>
            <a:ext cx="2377440" cy="41148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D6D8D4"/>
                </a:solidFill>
                <a:latin typeface="IBM Plex Sans Arabic" pitchFamily="34" charset="0"/>
                <a:ea typeface="IBM Plex Sans Arabic" pitchFamily="34" charset="-122"/>
                <a:cs typeface="IBM Plex Sans Arabic" pitchFamily="34" charset="-120"/>
              </a:rPr>
              <a:t>تطبيق على عميل المشروع الختامي</a:t>
            </a:r>
            <a:endParaRPr lang="ar-SA" sz="1350" dirty="0"/>
          </a:p>
        </p:txBody>
      </p:sp>
      <p:sp>
        <p:nvSpPr>
          <p:cNvPr id="29" name="Shape 22"/>
          <p:cNvSpPr/>
          <p:nvPr/>
        </p:nvSpPr>
        <p:spPr>
          <a:xfrm>
            <a:off x="4373575" y="3200400"/>
            <a:ext cx="3566160" cy="1143000"/>
          </a:xfrm>
          <a:prstGeom prst="roundRect">
            <a:avLst>
              <a:gd name="adj" fmla="val 8000"/>
            </a:avLst>
          </a:prstGeom>
          <a:solidFill>
            <a:srgbClr val="F2F4F1"/>
          </a:solidFill>
          <a:ln w="12700">
            <a:solidFill>
              <a:srgbClr val="F2F4F1"/>
            </a:solidFill>
            <a:prstDash val="solid"/>
          </a:ln>
        </p:spPr>
      </p:sp>
      <p:sp>
        <p:nvSpPr>
          <p:cNvPr id="30" name="Shape 23"/>
          <p:cNvSpPr/>
          <p:nvPr/>
        </p:nvSpPr>
        <p:spPr>
          <a:xfrm>
            <a:off x="7116775" y="3474720"/>
            <a:ext cx="594360" cy="594360"/>
          </a:xfrm>
          <a:prstGeom prst="ellipse">
            <a:avLst/>
          </a:prstGeom>
          <a:solidFill>
            <a:srgbClr val="4DB449"/>
          </a:solidFill>
          <a:ln w="6350">
            <a:solidFill>
              <a:srgbClr val="4DB449"/>
            </a:solidFill>
            <a:prstDash val="solid"/>
          </a:ln>
        </p:spPr>
      </p:sp>
      <p:pic>
        <p:nvPicPr>
          <p:cNvPr id="31" name="Image 4" descr="preencoded.png">    </p:cNvPr>
          <p:cNvPicPr>
            <a:picLocks noChangeAspect="1"/>
          </p:cNvPicPr>
          <p:nvPr/>
        </p:nvPicPr>
        <p:blipFill>
          <a:blip r:embed="rId6"/>
          <a:stretch>
            <a:fillRect/>
          </a:stretch>
        </p:blipFill>
        <p:spPr>
          <a:xfrm>
            <a:off x="7244791" y="3602736"/>
            <a:ext cx="338328" cy="338328"/>
          </a:xfrm>
          <a:prstGeom prst="rect">
            <a:avLst/>
          </a:prstGeom>
        </p:spPr>
      </p:pic>
      <p:sp>
        <p:nvSpPr>
          <p:cNvPr id="32" name="Text 24"/>
          <p:cNvSpPr txBox="1"/>
          <p:nvPr/>
        </p:nvSpPr>
        <p:spPr>
          <a:xfrm>
            <a:off x="4556455" y="3383280"/>
            <a:ext cx="2377440" cy="411480"/>
          </a:xfrm>
          <a:prstGeom prst="rect">
            <a:avLst/>
          </a:prstGeom>
          <a:noFill/>
          <a:ln/>
        </p:spPr>
        <p:txBody>
          <a:bodyPr wrap="square" lIns="0" tIns="0" rIns="0" bIns="0" rtlCol="0" anchor="t"/>
          <a:lstStyle/>
          <a:p>
            <a:pPr rtl="1" algn="r" indent="0" marL="0">
              <a:lnSpc>
                <a:spcPct val="100000"/>
              </a:lnSpc>
              <a:buNone/>
            </a:pPr>
            <a:r>
              <a:rPr lang="ar-SA" altLang="en-US" sz="1800" b="1" dirty="0">
                <a:solidFill>
                  <a:srgbClr val="1A1A1A"/>
                </a:solidFill>
                <a:latin typeface="Cairo" pitchFamily="34" charset="0"/>
                <a:ea typeface="Cairo" pitchFamily="34" charset="-122"/>
                <a:cs typeface="Cairo" pitchFamily="34" charset="-120"/>
              </a:rPr>
              <a:t>4. اعرض</a:t>
            </a:r>
            <a:endParaRPr lang="ar-SA" sz="1800" dirty="0"/>
          </a:p>
        </p:txBody>
      </p:sp>
      <p:sp>
        <p:nvSpPr>
          <p:cNvPr id="33" name="Text 25"/>
          <p:cNvSpPr txBox="1"/>
          <p:nvPr/>
        </p:nvSpPr>
        <p:spPr>
          <a:xfrm>
            <a:off x="4556455" y="3803904"/>
            <a:ext cx="2377440" cy="411480"/>
          </a:xfrm>
          <a:prstGeom prst="rect">
            <a:avLst/>
          </a:prstGeom>
          <a:noFill/>
          <a:ln/>
        </p:spPr>
        <p:txBody>
          <a:bodyPr wrap="square" lIns="0" tIns="0" rIns="0" bIns="0" rtlCol="0" anchor="t"/>
          <a:lstStyle/>
          <a:p>
            <a:pPr rtl="1" algn="r" indent="0" marL="0">
              <a:lnSpc>
                <a:spcPct val="100000"/>
              </a:lnSpc>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مشاركة، ملاحظات، تحسين</a:t>
            </a:r>
            <a:endParaRPr lang="ar-SA" sz="1350" dirty="0"/>
          </a:p>
        </p:txBody>
      </p:sp>
      <p:pic>
        <p:nvPicPr>
          <p:cNvPr id="34" name="Image 5" descr="preencoded.png">    </p:cNvPr>
          <p:cNvPicPr>
            <a:picLocks noChangeAspect="1"/>
          </p:cNvPicPr>
          <p:nvPr/>
        </p:nvPicPr>
        <p:blipFill>
          <a:blip r:embed="rId7"/>
          <a:stretch>
            <a:fillRect/>
          </a:stretch>
        </p:blipFill>
        <p:spPr>
          <a:xfrm>
            <a:off x="3989527" y="2816352"/>
            <a:ext cx="493776" cy="493776"/>
          </a:xfrm>
          <a:prstGeom prst="rect">
            <a:avLst/>
          </a:prstGeom>
        </p:spPr>
      </p:pic>
      <p:sp>
        <p:nvSpPr>
          <p:cNvPr id="35" name="Text 26"/>
          <p:cNvSpPr txBox="1"/>
          <p:nvPr/>
        </p:nvSpPr>
        <p:spPr>
          <a:xfrm>
            <a:off x="548640" y="4782312"/>
            <a:ext cx="7391095" cy="365760"/>
          </a:xfrm>
          <a:prstGeom prst="rect">
            <a:avLst/>
          </a:prstGeom>
          <a:noFill/>
          <a:ln/>
        </p:spPr>
        <p:txBody>
          <a:bodyPr wrap="square" lIns="0" tIns="0" rIns="0" bIns="0" rtlCol="0" anchor="t"/>
          <a:lstStyle/>
          <a:p>
            <a:pPr rtl="1" algn="r" indent="0" marL="0">
              <a:lnSpc>
                <a:spcPct val="100000"/>
              </a:lnSpc>
              <a:buNone/>
            </a:pPr>
            <a:r>
              <a:rPr lang="ar-SA" altLang="en-US" sz="1500" b="1" dirty="0">
                <a:solidFill>
                  <a:srgbClr val="1A1A1A"/>
                </a:solidFill>
                <a:latin typeface="Cairo" pitchFamily="34" charset="0"/>
                <a:ea typeface="Cairo" pitchFamily="34" charset="-122"/>
                <a:cs typeface="Cairo" pitchFamily="34" charset="-120"/>
              </a:rPr>
              <a:t>جلسة نموذجية مدتها 3 ساعات</a:t>
            </a:r>
            <a:endParaRPr lang="ar-SA" sz="1500" dirty="0"/>
          </a:p>
        </p:txBody>
      </p:sp>
      <p:sp>
        <p:nvSpPr>
          <p:cNvPr id="36" name="Shape 27"/>
          <p:cNvSpPr/>
          <p:nvPr/>
        </p:nvSpPr>
        <p:spPr>
          <a:xfrm>
            <a:off x="5923229" y="5239512"/>
            <a:ext cx="2016506" cy="457200"/>
          </a:xfrm>
          <a:prstGeom prst="rect">
            <a:avLst/>
          </a:prstGeom>
          <a:solidFill>
            <a:srgbClr val="727274"/>
          </a:solidFill>
          <a:ln w="12700">
            <a:solidFill>
              <a:srgbClr val="727274"/>
            </a:solidFill>
            <a:prstDash val="solid"/>
          </a:ln>
        </p:spPr>
      </p:sp>
      <p:sp>
        <p:nvSpPr>
          <p:cNvPr id="37" name="Text 28"/>
          <p:cNvSpPr txBox="1"/>
          <p:nvPr/>
        </p:nvSpPr>
        <p:spPr>
          <a:xfrm>
            <a:off x="5968949" y="5239512"/>
            <a:ext cx="1925066" cy="457200"/>
          </a:xfrm>
          <a:prstGeom prst="rect">
            <a:avLst/>
          </a:prstGeom>
          <a:noFill/>
          <a:ln/>
        </p:spPr>
        <p:txBody>
          <a:bodyPr wrap="square" lIns="0" tIns="0" rIns="0" bIns="0" rtlCol="0" anchor="ctr"/>
          <a:lstStyle/>
          <a:p>
            <a:pPr rtl="1" algn="ctr" indent="0" marL="0">
              <a:lnSpc>
                <a:spcPct val="100000"/>
              </a:lnSpc>
              <a:buNone/>
            </a:pPr>
            <a:r>
              <a:rPr lang="ar-SA" altLang="en-US" sz="1300" b="1" dirty="0">
                <a:solidFill>
                  <a:srgbClr val="FFFFFF"/>
                </a:solidFill>
                <a:latin typeface="IBM Plex Sans Arabic" pitchFamily="34" charset="0"/>
                <a:ea typeface="IBM Plex Sans Arabic" pitchFamily="34" charset="-122"/>
                <a:cs typeface="IBM Plex Sans Arabic" pitchFamily="34" charset="-120"/>
              </a:rPr>
              <a:t>المفهوم والعرض</a:t>
            </a:r>
            <a:endParaRPr lang="ar-SA" sz="1300" dirty="0"/>
          </a:p>
        </p:txBody>
      </p:sp>
      <p:sp>
        <p:nvSpPr>
          <p:cNvPr id="38" name="Text 29"/>
          <p:cNvSpPr txBox="1"/>
          <p:nvPr/>
        </p:nvSpPr>
        <p:spPr>
          <a:xfrm>
            <a:off x="5923229" y="5742432"/>
            <a:ext cx="2016506" cy="274320"/>
          </a:xfrm>
          <a:prstGeom prst="rect">
            <a:avLst/>
          </a:prstGeom>
          <a:noFill/>
          <a:ln/>
        </p:spPr>
        <p:txBody>
          <a:bodyPr wrap="square" lIns="0" tIns="0" rIns="0" bIns="0" rtlCol="0" anchor="t"/>
          <a:lstStyle/>
          <a:p>
            <a:pPr algn="ctr" indent="0" marL="0">
              <a:lnSpc>
                <a:spcPct val="100000"/>
              </a:lnSpc>
              <a:buNone/>
            </a:pPr>
            <a:r>
              <a:rPr lang="ar-SA" altLang="en-US" sz="1100" dirty="0">
                <a:solidFill>
                  <a:srgbClr val="727274"/>
                </a:solidFill>
                <a:latin typeface="IBM Plex Sans Arabic" pitchFamily="34" charset="0"/>
                <a:ea typeface="IBM Plex Sans Arabic" pitchFamily="34" charset="-122"/>
                <a:cs typeface="IBM Plex Sans Arabic" pitchFamily="34" charset="-120"/>
              </a:rPr>
              <a:t>0:00–0:50</a:t>
            </a:r>
            <a:endParaRPr lang="ar-SA" sz="1100" dirty="0"/>
          </a:p>
        </p:txBody>
      </p:sp>
      <p:sp>
        <p:nvSpPr>
          <p:cNvPr id="39" name="Shape 30"/>
          <p:cNvSpPr/>
          <p:nvPr/>
        </p:nvSpPr>
        <p:spPr>
          <a:xfrm>
            <a:off x="1611757" y="5239512"/>
            <a:ext cx="4274896" cy="457200"/>
          </a:xfrm>
          <a:prstGeom prst="rect">
            <a:avLst/>
          </a:prstGeom>
          <a:solidFill>
            <a:srgbClr val="4DB449"/>
          </a:solidFill>
          <a:ln w="12700">
            <a:solidFill>
              <a:srgbClr val="4DB449"/>
            </a:solidFill>
            <a:prstDash val="solid"/>
          </a:ln>
        </p:spPr>
      </p:sp>
      <p:sp>
        <p:nvSpPr>
          <p:cNvPr id="40" name="Text 31"/>
          <p:cNvSpPr txBox="1"/>
          <p:nvPr/>
        </p:nvSpPr>
        <p:spPr>
          <a:xfrm>
            <a:off x="1657477" y="5239512"/>
            <a:ext cx="4183456" cy="457200"/>
          </a:xfrm>
          <a:prstGeom prst="rect">
            <a:avLst/>
          </a:prstGeom>
          <a:noFill/>
          <a:ln/>
        </p:spPr>
        <p:txBody>
          <a:bodyPr wrap="square" lIns="0" tIns="0" rIns="0" bIns="0" rtlCol="0" anchor="ctr"/>
          <a:lstStyle/>
          <a:p>
            <a:pPr rtl="1" algn="ctr" indent="0" marL="0">
              <a:lnSpc>
                <a:spcPct val="100000"/>
              </a:lnSpc>
              <a:buNone/>
            </a:pPr>
            <a:r>
              <a:rPr lang="ar-SA" altLang="en-US" sz="1300" b="1" dirty="0">
                <a:solidFill>
                  <a:srgbClr val="000000"/>
                </a:solidFill>
                <a:latin typeface="IBM Plex Sans Arabic" pitchFamily="34" charset="0"/>
                <a:ea typeface="IBM Plex Sans Arabic" pitchFamily="34" charset="-122"/>
                <a:cs typeface="IBM Plex Sans Arabic" pitchFamily="34" charset="-120"/>
              </a:rPr>
              <a:t>بناء عملي</a:t>
            </a:r>
            <a:endParaRPr lang="ar-SA" sz="1300" dirty="0"/>
          </a:p>
        </p:txBody>
      </p:sp>
      <p:sp>
        <p:nvSpPr>
          <p:cNvPr id="41" name="Text 32"/>
          <p:cNvSpPr txBox="1"/>
          <p:nvPr/>
        </p:nvSpPr>
        <p:spPr>
          <a:xfrm>
            <a:off x="1611757" y="5742432"/>
            <a:ext cx="4274896" cy="274320"/>
          </a:xfrm>
          <a:prstGeom prst="rect">
            <a:avLst/>
          </a:prstGeom>
          <a:noFill/>
          <a:ln/>
        </p:spPr>
        <p:txBody>
          <a:bodyPr wrap="square" lIns="0" tIns="0" rIns="0" bIns="0" rtlCol="0" anchor="t"/>
          <a:lstStyle/>
          <a:p>
            <a:pPr algn="ctr" indent="0" marL="0">
              <a:lnSpc>
                <a:spcPct val="100000"/>
              </a:lnSpc>
              <a:buNone/>
            </a:pPr>
            <a:r>
              <a:rPr lang="ar-SA" altLang="en-US" sz="1100" dirty="0">
                <a:solidFill>
                  <a:srgbClr val="727274"/>
                </a:solidFill>
                <a:latin typeface="IBM Plex Sans Arabic" pitchFamily="34" charset="0"/>
                <a:ea typeface="IBM Plex Sans Arabic" pitchFamily="34" charset="-122"/>
                <a:cs typeface="IBM Plex Sans Arabic" pitchFamily="34" charset="-120"/>
              </a:rPr>
              <a:t>0:50–2:35</a:t>
            </a:r>
            <a:endParaRPr lang="ar-SA" sz="1100" dirty="0"/>
          </a:p>
        </p:txBody>
      </p:sp>
      <p:sp>
        <p:nvSpPr>
          <p:cNvPr id="42" name="Shape 33"/>
          <p:cNvSpPr/>
          <p:nvPr/>
        </p:nvSpPr>
        <p:spPr>
          <a:xfrm>
            <a:off x="585216" y="5239512"/>
            <a:ext cx="989965" cy="457200"/>
          </a:xfrm>
          <a:prstGeom prst="rect">
            <a:avLst/>
          </a:prstGeom>
          <a:solidFill>
            <a:srgbClr val="000000"/>
          </a:solidFill>
          <a:ln w="12700">
            <a:solidFill>
              <a:srgbClr val="000000"/>
            </a:solidFill>
            <a:prstDash val="solid"/>
          </a:ln>
        </p:spPr>
      </p:sp>
      <p:sp>
        <p:nvSpPr>
          <p:cNvPr id="43" name="Text 34"/>
          <p:cNvSpPr txBox="1"/>
          <p:nvPr/>
        </p:nvSpPr>
        <p:spPr>
          <a:xfrm>
            <a:off x="630936" y="5239512"/>
            <a:ext cx="898525" cy="457200"/>
          </a:xfrm>
          <a:prstGeom prst="rect">
            <a:avLst/>
          </a:prstGeom>
          <a:noFill/>
          <a:ln/>
        </p:spPr>
        <p:txBody>
          <a:bodyPr wrap="square" lIns="0" tIns="0" rIns="0" bIns="0" rtlCol="0" anchor="ctr"/>
          <a:lstStyle/>
          <a:p>
            <a:pPr rtl="1" algn="ctr" indent="0" marL="0">
              <a:lnSpc>
                <a:spcPct val="100000"/>
              </a:lnSpc>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العرض والملاحظات</a:t>
            </a:r>
            <a:endParaRPr lang="ar-SA" sz="1100" dirty="0"/>
          </a:p>
        </p:txBody>
      </p:sp>
      <p:sp>
        <p:nvSpPr>
          <p:cNvPr id="44" name="Text 35"/>
          <p:cNvSpPr txBox="1"/>
          <p:nvPr/>
        </p:nvSpPr>
        <p:spPr>
          <a:xfrm>
            <a:off x="585216" y="5742432"/>
            <a:ext cx="989965" cy="274320"/>
          </a:xfrm>
          <a:prstGeom prst="rect">
            <a:avLst/>
          </a:prstGeom>
          <a:noFill/>
          <a:ln/>
        </p:spPr>
        <p:txBody>
          <a:bodyPr wrap="square" lIns="0" tIns="0" rIns="0" bIns="0" rtlCol="0" anchor="t"/>
          <a:lstStyle/>
          <a:p>
            <a:pPr algn="ctr" indent="0" marL="0">
              <a:lnSpc>
                <a:spcPct val="100000"/>
              </a:lnSpc>
              <a:buNone/>
            </a:pPr>
            <a:r>
              <a:rPr lang="ar-SA" altLang="en-US" sz="1100" dirty="0">
                <a:solidFill>
                  <a:srgbClr val="727274"/>
                </a:solidFill>
                <a:latin typeface="IBM Plex Sans Arabic" pitchFamily="34" charset="0"/>
                <a:ea typeface="IBM Plex Sans Arabic" pitchFamily="34" charset="-122"/>
                <a:cs typeface="IBM Plex Sans Arabic" pitchFamily="34" charset="-120"/>
              </a:rPr>
              <a:t>2:35–3:00</a:t>
            </a:r>
            <a:endParaRPr lang="ar-SA"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13</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12 · المشروع الختامي</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وكالة رقمية مصغّرة بالذكاء الاصطناعي</a:t>
            </a:r>
            <a:endParaRPr lang="ar-SA" sz="2600" dirty="0"/>
          </a:p>
        </p:txBody>
      </p:sp>
      <p:sp>
        <p:nvSpPr>
          <p:cNvPr id="7" name="Text 4"/>
          <p:cNvSpPr txBox="1"/>
          <p:nvPr/>
        </p:nvSpPr>
        <p:spPr>
          <a:xfrm>
            <a:off x="2224735" y="1371600"/>
            <a:ext cx="9418320" cy="365760"/>
          </a:xfrm>
          <a:prstGeom prst="rect">
            <a:avLst/>
          </a:prstGeom>
          <a:noFill/>
          <a:ln/>
        </p:spPr>
        <p:txBody>
          <a:bodyPr wrap="square" lIns="0" tIns="0" rIns="0" bIns="0" rtlCol="0" anchor="t"/>
          <a:lstStyle/>
          <a:p>
            <a:pPr rtl="1" algn="r" indent="0" marL="0">
              <a:lnSpc>
                <a:spcPct val="100000"/>
              </a:lnSpc>
              <a:buNone/>
            </a:pPr>
            <a:r>
              <a:rPr lang="ar-SA" altLang="en-US" sz="1500" dirty="0">
                <a:solidFill>
                  <a:srgbClr val="3C3E3B"/>
                </a:solidFill>
                <a:latin typeface="IBM Plex Sans Arabic" pitchFamily="34" charset="0"/>
                <a:ea typeface="IBM Plex Sans Arabic" pitchFamily="34" charset="-122"/>
                <a:cs typeface="IBM Plex Sans Arabic" pitchFamily="34" charset="-120"/>
              </a:rPr>
              <a:t>تختار فرق من 3 إلى 4 طلاب عميلاً حقيقياً أو واقعياً، وتسلّم له حزمة حملة متكاملة.</a:t>
            </a:r>
            <a:endParaRPr lang="ar-SA" sz="1500" dirty="0"/>
          </a:p>
        </p:txBody>
      </p:sp>
      <p:sp>
        <p:nvSpPr>
          <p:cNvPr id="8" name="Shape 5"/>
          <p:cNvSpPr/>
          <p:nvPr/>
        </p:nvSpPr>
        <p:spPr>
          <a:xfrm>
            <a:off x="10509199" y="1901952"/>
            <a:ext cx="1133856" cy="365760"/>
          </a:xfrm>
          <a:prstGeom prst="roundRect">
            <a:avLst>
              <a:gd name="adj" fmla="val 50000"/>
            </a:avLst>
          </a:prstGeom>
          <a:solidFill>
            <a:srgbClr val="F2F4F1"/>
          </a:solidFill>
          <a:ln w="9525">
            <a:solidFill>
              <a:srgbClr val="F2F4F1"/>
            </a:solidFill>
            <a:prstDash val="solid"/>
          </a:ln>
        </p:spPr>
      </p:sp>
      <p:sp>
        <p:nvSpPr>
          <p:cNvPr id="9" name="Text 6"/>
          <p:cNvSpPr txBox="1"/>
          <p:nvPr/>
        </p:nvSpPr>
        <p:spPr>
          <a:xfrm>
            <a:off x="10618927" y="1901952"/>
            <a:ext cx="914400" cy="365760"/>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1A1A1A"/>
                </a:solidFill>
                <a:latin typeface="IBM Plex Sans Arabic" pitchFamily="34" charset="0"/>
                <a:ea typeface="IBM Plex Sans Arabic" pitchFamily="34" charset="-122"/>
                <a:cs typeface="IBM Plex Sans Arabic" pitchFamily="34" charset="-120"/>
              </a:rPr>
              <a:t>مشروع صغير</a:t>
            </a:r>
            <a:endParaRPr lang="ar-SA" sz="1200" dirty="0"/>
          </a:p>
        </p:txBody>
      </p:sp>
      <p:sp>
        <p:nvSpPr>
          <p:cNvPr id="10" name="Shape 7"/>
          <p:cNvSpPr/>
          <p:nvPr/>
        </p:nvSpPr>
        <p:spPr>
          <a:xfrm>
            <a:off x="8863279" y="1901952"/>
            <a:ext cx="1536192" cy="365760"/>
          </a:xfrm>
          <a:prstGeom prst="roundRect">
            <a:avLst>
              <a:gd name="adj" fmla="val 50000"/>
            </a:avLst>
          </a:prstGeom>
          <a:solidFill>
            <a:srgbClr val="F2F4F1"/>
          </a:solidFill>
          <a:ln w="9525">
            <a:solidFill>
              <a:srgbClr val="F2F4F1"/>
            </a:solidFill>
            <a:prstDash val="solid"/>
          </a:ln>
        </p:spPr>
      </p:sp>
      <p:sp>
        <p:nvSpPr>
          <p:cNvPr id="11" name="Text 8"/>
          <p:cNvSpPr txBox="1"/>
          <p:nvPr/>
        </p:nvSpPr>
        <p:spPr>
          <a:xfrm>
            <a:off x="8973007" y="1901952"/>
            <a:ext cx="1316736" cy="365760"/>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1A1A1A"/>
                </a:solidFill>
                <a:latin typeface="IBM Plex Sans Arabic" pitchFamily="34" charset="0"/>
                <a:ea typeface="IBM Plex Sans Arabic" pitchFamily="34" charset="-122"/>
                <a:cs typeface="IBM Plex Sans Arabic" pitchFamily="34" charset="-120"/>
              </a:rPr>
              <a:t>منظمة غير ربحية</a:t>
            </a:r>
            <a:endParaRPr lang="ar-SA" sz="1200" dirty="0"/>
          </a:p>
        </p:txBody>
      </p:sp>
      <p:sp>
        <p:nvSpPr>
          <p:cNvPr id="12" name="Shape 9"/>
          <p:cNvSpPr/>
          <p:nvPr/>
        </p:nvSpPr>
        <p:spPr>
          <a:xfrm>
            <a:off x="7297826" y="1901952"/>
            <a:ext cx="1455725" cy="365760"/>
          </a:xfrm>
          <a:prstGeom prst="roundRect">
            <a:avLst>
              <a:gd name="adj" fmla="val 50000"/>
            </a:avLst>
          </a:prstGeom>
          <a:solidFill>
            <a:srgbClr val="F2F4F1"/>
          </a:solidFill>
          <a:ln w="9525">
            <a:solidFill>
              <a:srgbClr val="F2F4F1"/>
            </a:solidFill>
            <a:prstDash val="solid"/>
          </a:ln>
        </p:spPr>
      </p:sp>
      <p:sp>
        <p:nvSpPr>
          <p:cNvPr id="13" name="Text 10"/>
          <p:cNvSpPr txBox="1"/>
          <p:nvPr/>
        </p:nvSpPr>
        <p:spPr>
          <a:xfrm>
            <a:off x="7407554" y="1901952"/>
            <a:ext cx="1236269" cy="365760"/>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1A1A1A"/>
                </a:solidFill>
                <a:latin typeface="IBM Plex Sans Arabic" pitchFamily="34" charset="0"/>
                <a:ea typeface="IBM Plex Sans Arabic" pitchFamily="34" charset="-122"/>
                <a:cs typeface="IBM Plex Sans Arabic" pitchFamily="34" charset="-120"/>
              </a:rPr>
              <a:t>مبادرة مجتمعية</a:t>
            </a:r>
            <a:endParaRPr lang="ar-SA" sz="1200" dirty="0"/>
          </a:p>
        </p:txBody>
      </p:sp>
      <p:sp>
        <p:nvSpPr>
          <p:cNvPr id="14" name="Shape 11"/>
          <p:cNvSpPr/>
          <p:nvPr/>
        </p:nvSpPr>
        <p:spPr>
          <a:xfrm>
            <a:off x="6134710" y="1901952"/>
            <a:ext cx="1053389" cy="365760"/>
          </a:xfrm>
          <a:prstGeom prst="roundRect">
            <a:avLst>
              <a:gd name="adj" fmla="val 50000"/>
            </a:avLst>
          </a:prstGeom>
          <a:solidFill>
            <a:srgbClr val="F2F4F1"/>
          </a:solidFill>
          <a:ln w="9525">
            <a:solidFill>
              <a:srgbClr val="F2F4F1"/>
            </a:solidFill>
            <a:prstDash val="solid"/>
          </a:ln>
        </p:spPr>
      </p:sp>
      <p:sp>
        <p:nvSpPr>
          <p:cNvPr id="15" name="Text 12"/>
          <p:cNvSpPr txBox="1"/>
          <p:nvPr/>
        </p:nvSpPr>
        <p:spPr>
          <a:xfrm>
            <a:off x="6244438" y="1901952"/>
            <a:ext cx="833933" cy="365760"/>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1A1A1A"/>
                </a:solidFill>
                <a:latin typeface="IBM Plex Sans Arabic" pitchFamily="34" charset="0"/>
                <a:ea typeface="IBM Plex Sans Arabic" pitchFamily="34" charset="-122"/>
                <a:cs typeface="IBM Plex Sans Arabic" pitchFamily="34" charset="-120"/>
              </a:rPr>
              <a:t>متجر محلي</a:t>
            </a:r>
            <a:endParaRPr lang="ar-SA" sz="1200" dirty="0"/>
          </a:p>
        </p:txBody>
      </p:sp>
      <p:sp>
        <p:nvSpPr>
          <p:cNvPr id="16" name="Shape 13"/>
          <p:cNvSpPr/>
          <p:nvPr/>
        </p:nvSpPr>
        <p:spPr>
          <a:xfrm>
            <a:off x="5373929" y="1901952"/>
            <a:ext cx="651053" cy="365760"/>
          </a:xfrm>
          <a:prstGeom prst="roundRect">
            <a:avLst>
              <a:gd name="adj" fmla="val 50000"/>
            </a:avLst>
          </a:prstGeom>
          <a:solidFill>
            <a:srgbClr val="F2F4F1"/>
          </a:solidFill>
          <a:ln w="9525">
            <a:solidFill>
              <a:srgbClr val="F2F4F1"/>
            </a:solidFill>
            <a:prstDash val="solid"/>
          </a:ln>
        </p:spPr>
      </p:sp>
      <p:sp>
        <p:nvSpPr>
          <p:cNvPr id="17" name="Text 14"/>
          <p:cNvSpPr txBox="1"/>
          <p:nvPr/>
        </p:nvSpPr>
        <p:spPr>
          <a:xfrm>
            <a:off x="5483657" y="1901952"/>
            <a:ext cx="431597" cy="365760"/>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1A1A1A"/>
                </a:solidFill>
                <a:latin typeface="IBM Plex Sans Arabic" pitchFamily="34" charset="0"/>
                <a:ea typeface="IBM Plex Sans Arabic" pitchFamily="34" charset="-122"/>
                <a:cs typeface="IBM Plex Sans Arabic" pitchFamily="34" charset="-120"/>
              </a:rPr>
              <a:t>مطعم</a:t>
            </a:r>
            <a:endParaRPr lang="ar-SA" sz="1200" dirty="0"/>
          </a:p>
        </p:txBody>
      </p:sp>
      <p:sp>
        <p:nvSpPr>
          <p:cNvPr id="18" name="Shape 15"/>
          <p:cNvSpPr/>
          <p:nvPr/>
        </p:nvSpPr>
        <p:spPr>
          <a:xfrm>
            <a:off x="4049878" y="1901952"/>
            <a:ext cx="1214323" cy="365760"/>
          </a:xfrm>
          <a:prstGeom prst="roundRect">
            <a:avLst>
              <a:gd name="adj" fmla="val 50000"/>
            </a:avLst>
          </a:prstGeom>
          <a:solidFill>
            <a:srgbClr val="F2F4F1"/>
          </a:solidFill>
          <a:ln w="9525">
            <a:solidFill>
              <a:srgbClr val="F2F4F1"/>
            </a:solidFill>
            <a:prstDash val="solid"/>
          </a:ln>
        </p:spPr>
      </p:sp>
      <p:sp>
        <p:nvSpPr>
          <p:cNvPr id="19" name="Text 16"/>
          <p:cNvSpPr txBox="1"/>
          <p:nvPr/>
        </p:nvSpPr>
        <p:spPr>
          <a:xfrm>
            <a:off x="4159606" y="1901952"/>
            <a:ext cx="994867" cy="365760"/>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1A1A1A"/>
                </a:solidFill>
                <a:latin typeface="IBM Plex Sans Arabic" pitchFamily="34" charset="0"/>
                <a:ea typeface="IBM Plex Sans Arabic" pitchFamily="34" charset="-122"/>
                <a:cs typeface="IBM Plex Sans Arabic" pitchFamily="34" charset="-120"/>
              </a:rPr>
              <a:t>علامة شخصية</a:t>
            </a:r>
            <a:endParaRPr lang="ar-SA" sz="1200" dirty="0"/>
          </a:p>
        </p:txBody>
      </p:sp>
      <p:sp>
        <p:nvSpPr>
          <p:cNvPr id="20" name="Shape 17"/>
          <p:cNvSpPr/>
          <p:nvPr/>
        </p:nvSpPr>
        <p:spPr>
          <a:xfrm>
            <a:off x="2564892" y="1901952"/>
            <a:ext cx="1375258" cy="365760"/>
          </a:xfrm>
          <a:prstGeom prst="roundRect">
            <a:avLst>
              <a:gd name="adj" fmla="val 50000"/>
            </a:avLst>
          </a:prstGeom>
          <a:solidFill>
            <a:srgbClr val="F2F4F1"/>
          </a:solidFill>
          <a:ln w="9525">
            <a:solidFill>
              <a:srgbClr val="F2F4F1"/>
            </a:solidFill>
            <a:prstDash val="solid"/>
          </a:ln>
        </p:spPr>
      </p:sp>
      <p:sp>
        <p:nvSpPr>
          <p:cNvPr id="21" name="Text 18"/>
          <p:cNvSpPr txBox="1"/>
          <p:nvPr/>
        </p:nvSpPr>
        <p:spPr>
          <a:xfrm>
            <a:off x="2674620" y="1901952"/>
            <a:ext cx="1155802" cy="365760"/>
          </a:xfrm>
          <a:prstGeom prst="rect">
            <a:avLst/>
          </a:prstGeom>
          <a:noFill/>
          <a:ln/>
        </p:spPr>
        <p:txBody>
          <a:bodyPr wrap="square" lIns="0" tIns="0" rIns="0" bIns="0" rtlCol="0" anchor="ctr"/>
          <a:lstStyle/>
          <a:p>
            <a:pPr rtl="1" algn="ctr" indent="0" marL="0">
              <a:lnSpc>
                <a:spcPct val="100000"/>
              </a:lnSpc>
              <a:buNone/>
            </a:pPr>
            <a:r>
              <a:rPr lang="ar-SA" altLang="en-US" sz="1200" dirty="0">
                <a:solidFill>
                  <a:srgbClr val="1A1A1A"/>
                </a:solidFill>
                <a:latin typeface="IBM Plex Sans Arabic" pitchFamily="34" charset="0"/>
                <a:ea typeface="IBM Plex Sans Arabic" pitchFamily="34" charset="-122"/>
                <a:cs typeface="IBM Plex Sans Arabic" pitchFamily="34" charset="-120"/>
              </a:rPr>
              <a:t>قضية اجتماعية</a:t>
            </a:r>
            <a:endParaRPr lang="ar-SA" sz="1200" dirty="0"/>
          </a:p>
        </p:txBody>
      </p:sp>
      <p:sp>
        <p:nvSpPr>
          <p:cNvPr id="22" name="Shape 19"/>
          <p:cNvSpPr/>
          <p:nvPr/>
        </p:nvSpPr>
        <p:spPr>
          <a:xfrm>
            <a:off x="9570476" y="2514600"/>
            <a:ext cx="2072579" cy="457200"/>
          </a:xfrm>
          <a:prstGeom prst="roundRect">
            <a:avLst>
              <a:gd name="adj" fmla="val 20000"/>
            </a:avLst>
          </a:prstGeom>
          <a:solidFill>
            <a:srgbClr val="000000"/>
          </a:solidFill>
          <a:ln w="12700">
            <a:solidFill>
              <a:srgbClr val="000000"/>
            </a:solidFill>
            <a:prstDash val="solid"/>
          </a:ln>
        </p:spPr>
      </p:sp>
      <p:sp>
        <p:nvSpPr>
          <p:cNvPr id="23" name="Text 20"/>
          <p:cNvSpPr txBox="1"/>
          <p:nvPr/>
        </p:nvSpPr>
        <p:spPr>
          <a:xfrm>
            <a:off x="9707636" y="2514600"/>
            <a:ext cx="1798259" cy="45720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A6D04B"/>
                </a:solidFill>
                <a:latin typeface="Cairo" pitchFamily="34" charset="0"/>
                <a:ea typeface="Cairo" pitchFamily="34" charset="-122"/>
                <a:cs typeface="Cairo" pitchFamily="34" charset="-120"/>
              </a:rPr>
              <a:t>الاستكشاف</a:t>
            </a:r>
            <a:endParaRPr lang="ar-SA" sz="1500" dirty="0"/>
          </a:p>
        </p:txBody>
      </p:sp>
      <p:sp>
        <p:nvSpPr>
          <p:cNvPr id="24" name="Shape 21"/>
          <p:cNvSpPr/>
          <p:nvPr/>
        </p:nvSpPr>
        <p:spPr>
          <a:xfrm>
            <a:off x="9570476" y="3063240"/>
            <a:ext cx="2072579" cy="2743200"/>
          </a:xfrm>
          <a:prstGeom prst="roundRect">
            <a:avLst>
              <a:gd name="adj" fmla="val 4412"/>
            </a:avLst>
          </a:prstGeom>
          <a:solidFill>
            <a:srgbClr val="F2F4F1"/>
          </a:solidFill>
          <a:ln w="12700">
            <a:solidFill>
              <a:srgbClr val="F2F4F1"/>
            </a:solidFill>
            <a:prstDash val="solid"/>
          </a:ln>
        </p:spPr>
      </p:sp>
      <p:sp>
        <p:nvSpPr>
          <p:cNvPr id="25" name="Shape 22"/>
          <p:cNvSpPr/>
          <p:nvPr/>
        </p:nvSpPr>
        <p:spPr>
          <a:xfrm>
            <a:off x="11286439" y="3209544"/>
            <a:ext cx="246888" cy="246888"/>
          </a:xfrm>
          <a:prstGeom prst="ellipse">
            <a:avLst/>
          </a:prstGeom>
          <a:solidFill>
            <a:srgbClr val="4DB449"/>
          </a:solidFill>
          <a:ln w="6350">
            <a:solidFill>
              <a:srgbClr val="4DB449"/>
            </a:solidFill>
            <a:prstDash val="solid"/>
          </a:ln>
        </p:spPr>
      </p:sp>
      <p:sp>
        <p:nvSpPr>
          <p:cNvPr id="26" name="Text 23"/>
          <p:cNvSpPr txBox="1"/>
          <p:nvPr/>
        </p:nvSpPr>
        <p:spPr>
          <a:xfrm>
            <a:off x="11286439" y="3209544"/>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a:t>
            </a:r>
            <a:endParaRPr lang="ar-SA" sz="900" dirty="0"/>
          </a:p>
        </p:txBody>
      </p:sp>
      <p:sp>
        <p:nvSpPr>
          <p:cNvPr id="27" name="Text 24"/>
          <p:cNvSpPr txBox="1"/>
          <p:nvPr/>
        </p:nvSpPr>
        <p:spPr>
          <a:xfrm>
            <a:off x="9643628" y="3172968"/>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البحث</a:t>
            </a:r>
            <a:endParaRPr lang="ar-SA" sz="1250" dirty="0"/>
          </a:p>
        </p:txBody>
      </p:sp>
      <p:sp>
        <p:nvSpPr>
          <p:cNvPr id="28" name="Shape 25"/>
          <p:cNvSpPr/>
          <p:nvPr/>
        </p:nvSpPr>
        <p:spPr>
          <a:xfrm>
            <a:off x="11286439" y="3534156"/>
            <a:ext cx="246888" cy="246888"/>
          </a:xfrm>
          <a:prstGeom prst="ellipse">
            <a:avLst/>
          </a:prstGeom>
          <a:solidFill>
            <a:srgbClr val="4DB449"/>
          </a:solidFill>
          <a:ln w="6350">
            <a:solidFill>
              <a:srgbClr val="4DB449"/>
            </a:solidFill>
            <a:prstDash val="solid"/>
          </a:ln>
        </p:spPr>
      </p:sp>
      <p:sp>
        <p:nvSpPr>
          <p:cNvPr id="29" name="Text 26"/>
          <p:cNvSpPr txBox="1"/>
          <p:nvPr/>
        </p:nvSpPr>
        <p:spPr>
          <a:xfrm>
            <a:off x="11286439" y="3534156"/>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2</a:t>
            </a:r>
            <a:endParaRPr lang="ar-SA" sz="900" dirty="0"/>
          </a:p>
        </p:txBody>
      </p:sp>
      <p:sp>
        <p:nvSpPr>
          <p:cNvPr id="30" name="Text 27"/>
          <p:cNvSpPr txBox="1"/>
          <p:nvPr/>
        </p:nvSpPr>
        <p:spPr>
          <a:xfrm>
            <a:off x="9643628" y="3497580"/>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موجز العميل</a:t>
            </a:r>
            <a:endParaRPr lang="ar-SA" sz="1250" dirty="0"/>
          </a:p>
        </p:txBody>
      </p:sp>
      <p:sp>
        <p:nvSpPr>
          <p:cNvPr id="31" name="Shape 28"/>
          <p:cNvSpPr/>
          <p:nvPr/>
        </p:nvSpPr>
        <p:spPr>
          <a:xfrm>
            <a:off x="11286439" y="3858768"/>
            <a:ext cx="246888" cy="246888"/>
          </a:xfrm>
          <a:prstGeom prst="ellipse">
            <a:avLst/>
          </a:prstGeom>
          <a:solidFill>
            <a:srgbClr val="4DB449"/>
          </a:solidFill>
          <a:ln w="6350">
            <a:solidFill>
              <a:srgbClr val="4DB449"/>
            </a:solidFill>
            <a:prstDash val="solid"/>
          </a:ln>
        </p:spPr>
      </p:sp>
      <p:sp>
        <p:nvSpPr>
          <p:cNvPr id="32" name="Text 29"/>
          <p:cNvSpPr txBox="1"/>
          <p:nvPr/>
        </p:nvSpPr>
        <p:spPr>
          <a:xfrm>
            <a:off x="11286439" y="3858768"/>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3</a:t>
            </a:r>
            <a:endParaRPr lang="ar-SA" sz="900" dirty="0"/>
          </a:p>
        </p:txBody>
      </p:sp>
      <p:sp>
        <p:nvSpPr>
          <p:cNvPr id="33" name="Text 30"/>
          <p:cNvSpPr txBox="1"/>
          <p:nvPr/>
        </p:nvSpPr>
        <p:spPr>
          <a:xfrm>
            <a:off x="9643628" y="3822192"/>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شخصية الجمهور</a:t>
            </a:r>
            <a:endParaRPr lang="ar-SA" sz="1250" dirty="0"/>
          </a:p>
        </p:txBody>
      </p:sp>
      <p:sp>
        <p:nvSpPr>
          <p:cNvPr id="34" name="Shape 31"/>
          <p:cNvSpPr/>
          <p:nvPr/>
        </p:nvSpPr>
        <p:spPr>
          <a:xfrm>
            <a:off x="11286439" y="4183380"/>
            <a:ext cx="246888" cy="246888"/>
          </a:xfrm>
          <a:prstGeom prst="ellipse">
            <a:avLst/>
          </a:prstGeom>
          <a:solidFill>
            <a:srgbClr val="4DB449"/>
          </a:solidFill>
          <a:ln w="6350">
            <a:solidFill>
              <a:srgbClr val="4DB449"/>
            </a:solidFill>
            <a:prstDash val="solid"/>
          </a:ln>
        </p:spPr>
      </p:sp>
      <p:sp>
        <p:nvSpPr>
          <p:cNvPr id="35" name="Text 32"/>
          <p:cNvSpPr txBox="1"/>
          <p:nvPr/>
        </p:nvSpPr>
        <p:spPr>
          <a:xfrm>
            <a:off x="11286439" y="4183380"/>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4</a:t>
            </a:r>
            <a:endParaRPr lang="ar-SA" sz="900" dirty="0"/>
          </a:p>
        </p:txBody>
      </p:sp>
      <p:sp>
        <p:nvSpPr>
          <p:cNvPr id="36" name="Text 33"/>
          <p:cNvSpPr txBox="1"/>
          <p:nvPr/>
        </p:nvSpPr>
        <p:spPr>
          <a:xfrm>
            <a:off x="9643628" y="4146804"/>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الهدف التسويقي</a:t>
            </a:r>
            <a:endParaRPr lang="ar-SA" sz="1250" dirty="0"/>
          </a:p>
        </p:txBody>
      </p:sp>
      <p:sp>
        <p:nvSpPr>
          <p:cNvPr id="37" name="Shape 34"/>
          <p:cNvSpPr/>
          <p:nvPr/>
        </p:nvSpPr>
        <p:spPr>
          <a:xfrm>
            <a:off x="7315017" y="2514600"/>
            <a:ext cx="2072579" cy="457200"/>
          </a:xfrm>
          <a:prstGeom prst="roundRect">
            <a:avLst>
              <a:gd name="adj" fmla="val 20000"/>
            </a:avLst>
          </a:prstGeom>
          <a:solidFill>
            <a:srgbClr val="000000"/>
          </a:solidFill>
          <a:ln w="12700">
            <a:solidFill>
              <a:srgbClr val="000000"/>
            </a:solidFill>
            <a:prstDash val="solid"/>
          </a:ln>
        </p:spPr>
      </p:sp>
      <p:sp>
        <p:nvSpPr>
          <p:cNvPr id="38" name="Text 35"/>
          <p:cNvSpPr txBox="1"/>
          <p:nvPr/>
        </p:nvSpPr>
        <p:spPr>
          <a:xfrm>
            <a:off x="7452177" y="2514600"/>
            <a:ext cx="1798259" cy="45720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A6D04B"/>
                </a:solidFill>
                <a:latin typeface="Cairo" pitchFamily="34" charset="0"/>
                <a:ea typeface="Cairo" pitchFamily="34" charset="-122"/>
                <a:cs typeface="Cairo" pitchFamily="34" charset="-120"/>
              </a:rPr>
              <a:t>التخطيط</a:t>
            </a:r>
            <a:endParaRPr lang="ar-SA" sz="1500" dirty="0"/>
          </a:p>
        </p:txBody>
      </p:sp>
      <p:sp>
        <p:nvSpPr>
          <p:cNvPr id="39" name="Shape 36"/>
          <p:cNvSpPr/>
          <p:nvPr/>
        </p:nvSpPr>
        <p:spPr>
          <a:xfrm>
            <a:off x="7315017" y="3063240"/>
            <a:ext cx="2072579" cy="2743200"/>
          </a:xfrm>
          <a:prstGeom prst="roundRect">
            <a:avLst>
              <a:gd name="adj" fmla="val 4412"/>
            </a:avLst>
          </a:prstGeom>
          <a:solidFill>
            <a:srgbClr val="F2F4F1"/>
          </a:solidFill>
          <a:ln w="12700">
            <a:solidFill>
              <a:srgbClr val="F2F4F1"/>
            </a:solidFill>
            <a:prstDash val="solid"/>
          </a:ln>
        </p:spPr>
      </p:sp>
      <p:sp>
        <p:nvSpPr>
          <p:cNvPr id="40" name="Shape 37"/>
          <p:cNvSpPr/>
          <p:nvPr/>
        </p:nvSpPr>
        <p:spPr>
          <a:xfrm>
            <a:off x="9030980" y="3209544"/>
            <a:ext cx="246888" cy="246888"/>
          </a:xfrm>
          <a:prstGeom prst="ellipse">
            <a:avLst/>
          </a:prstGeom>
          <a:solidFill>
            <a:srgbClr val="A6D04B"/>
          </a:solidFill>
          <a:ln w="6350">
            <a:solidFill>
              <a:srgbClr val="A6D04B"/>
            </a:solidFill>
            <a:prstDash val="solid"/>
          </a:ln>
        </p:spPr>
      </p:sp>
      <p:sp>
        <p:nvSpPr>
          <p:cNvPr id="41" name="Text 38"/>
          <p:cNvSpPr txBox="1"/>
          <p:nvPr/>
        </p:nvSpPr>
        <p:spPr>
          <a:xfrm>
            <a:off x="9030980" y="3209544"/>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5</a:t>
            </a:r>
            <a:endParaRPr lang="ar-SA" sz="900" dirty="0"/>
          </a:p>
        </p:txBody>
      </p:sp>
      <p:sp>
        <p:nvSpPr>
          <p:cNvPr id="42" name="Text 39"/>
          <p:cNvSpPr txBox="1"/>
          <p:nvPr/>
        </p:nvSpPr>
        <p:spPr>
          <a:xfrm>
            <a:off x="7388169" y="3172968"/>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استراتيجية المحتوى</a:t>
            </a:r>
            <a:endParaRPr lang="ar-SA" sz="1250" dirty="0"/>
          </a:p>
        </p:txBody>
      </p:sp>
      <p:sp>
        <p:nvSpPr>
          <p:cNvPr id="43" name="Shape 40"/>
          <p:cNvSpPr/>
          <p:nvPr/>
        </p:nvSpPr>
        <p:spPr>
          <a:xfrm>
            <a:off x="9030980" y="3534156"/>
            <a:ext cx="246888" cy="246888"/>
          </a:xfrm>
          <a:prstGeom prst="ellipse">
            <a:avLst/>
          </a:prstGeom>
          <a:solidFill>
            <a:srgbClr val="A6D04B"/>
          </a:solidFill>
          <a:ln w="6350">
            <a:solidFill>
              <a:srgbClr val="A6D04B"/>
            </a:solidFill>
            <a:prstDash val="solid"/>
          </a:ln>
        </p:spPr>
      </p:sp>
      <p:sp>
        <p:nvSpPr>
          <p:cNvPr id="44" name="Text 41"/>
          <p:cNvSpPr txBox="1"/>
          <p:nvPr/>
        </p:nvSpPr>
        <p:spPr>
          <a:xfrm>
            <a:off x="9030980" y="3534156"/>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6</a:t>
            </a:r>
            <a:endParaRPr lang="ar-SA" sz="900" dirty="0"/>
          </a:p>
        </p:txBody>
      </p:sp>
      <p:sp>
        <p:nvSpPr>
          <p:cNvPr id="45" name="Text 42"/>
          <p:cNvSpPr txBox="1"/>
          <p:nvPr/>
        </p:nvSpPr>
        <p:spPr>
          <a:xfrm>
            <a:off x="7388169" y="3497580"/>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تقويم المحتوى</a:t>
            </a:r>
            <a:endParaRPr lang="ar-SA" sz="1250" dirty="0"/>
          </a:p>
        </p:txBody>
      </p:sp>
      <p:sp>
        <p:nvSpPr>
          <p:cNvPr id="46" name="Shape 43"/>
          <p:cNvSpPr/>
          <p:nvPr/>
        </p:nvSpPr>
        <p:spPr>
          <a:xfrm>
            <a:off x="9030980" y="3858768"/>
            <a:ext cx="246888" cy="246888"/>
          </a:xfrm>
          <a:prstGeom prst="ellipse">
            <a:avLst/>
          </a:prstGeom>
          <a:solidFill>
            <a:srgbClr val="A6D04B"/>
          </a:solidFill>
          <a:ln w="6350">
            <a:solidFill>
              <a:srgbClr val="A6D04B"/>
            </a:solidFill>
            <a:prstDash val="solid"/>
          </a:ln>
        </p:spPr>
      </p:sp>
      <p:sp>
        <p:nvSpPr>
          <p:cNvPr id="47" name="Text 44"/>
          <p:cNvSpPr txBox="1"/>
          <p:nvPr/>
        </p:nvSpPr>
        <p:spPr>
          <a:xfrm>
            <a:off x="9030980" y="3858768"/>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7</a:t>
            </a:r>
            <a:endParaRPr lang="ar-SA" sz="900" dirty="0"/>
          </a:p>
        </p:txBody>
      </p:sp>
      <p:sp>
        <p:nvSpPr>
          <p:cNvPr id="48" name="Text 45"/>
          <p:cNvSpPr txBox="1"/>
          <p:nvPr/>
        </p:nvSpPr>
        <p:spPr>
          <a:xfrm>
            <a:off x="7388169" y="3822192"/>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الحملة التسويقية</a:t>
            </a:r>
            <a:endParaRPr lang="ar-SA" sz="1250" dirty="0"/>
          </a:p>
        </p:txBody>
      </p:sp>
      <p:sp>
        <p:nvSpPr>
          <p:cNvPr id="49" name="Shape 46"/>
          <p:cNvSpPr/>
          <p:nvPr/>
        </p:nvSpPr>
        <p:spPr>
          <a:xfrm>
            <a:off x="5059558" y="2514600"/>
            <a:ext cx="2072579" cy="457200"/>
          </a:xfrm>
          <a:prstGeom prst="roundRect">
            <a:avLst>
              <a:gd name="adj" fmla="val 20000"/>
            </a:avLst>
          </a:prstGeom>
          <a:solidFill>
            <a:srgbClr val="000000"/>
          </a:solidFill>
          <a:ln w="12700">
            <a:solidFill>
              <a:srgbClr val="000000"/>
            </a:solidFill>
            <a:prstDash val="solid"/>
          </a:ln>
        </p:spPr>
      </p:sp>
      <p:sp>
        <p:nvSpPr>
          <p:cNvPr id="50" name="Text 47"/>
          <p:cNvSpPr txBox="1"/>
          <p:nvPr/>
        </p:nvSpPr>
        <p:spPr>
          <a:xfrm>
            <a:off x="5196718" y="2514600"/>
            <a:ext cx="1798259" cy="45720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A6D04B"/>
                </a:solidFill>
                <a:latin typeface="Cairo" pitchFamily="34" charset="0"/>
                <a:ea typeface="Cairo" pitchFamily="34" charset="-122"/>
                <a:cs typeface="Cairo" pitchFamily="34" charset="-120"/>
              </a:rPr>
              <a:t>الإنتاج</a:t>
            </a:r>
            <a:endParaRPr lang="ar-SA" sz="1500" dirty="0"/>
          </a:p>
        </p:txBody>
      </p:sp>
      <p:sp>
        <p:nvSpPr>
          <p:cNvPr id="51" name="Shape 48"/>
          <p:cNvSpPr/>
          <p:nvPr/>
        </p:nvSpPr>
        <p:spPr>
          <a:xfrm>
            <a:off x="5059558" y="3063240"/>
            <a:ext cx="2072579" cy="2743200"/>
          </a:xfrm>
          <a:prstGeom prst="roundRect">
            <a:avLst>
              <a:gd name="adj" fmla="val 4412"/>
            </a:avLst>
          </a:prstGeom>
          <a:solidFill>
            <a:srgbClr val="F2F4F1"/>
          </a:solidFill>
          <a:ln w="12700">
            <a:solidFill>
              <a:srgbClr val="F2F4F1"/>
            </a:solidFill>
            <a:prstDash val="solid"/>
          </a:ln>
        </p:spPr>
      </p:sp>
      <p:sp>
        <p:nvSpPr>
          <p:cNvPr id="52" name="Shape 49"/>
          <p:cNvSpPr/>
          <p:nvPr/>
        </p:nvSpPr>
        <p:spPr>
          <a:xfrm>
            <a:off x="6775521" y="3209544"/>
            <a:ext cx="246888" cy="246888"/>
          </a:xfrm>
          <a:prstGeom prst="ellipse">
            <a:avLst/>
          </a:prstGeom>
          <a:solidFill>
            <a:srgbClr val="4DB449"/>
          </a:solidFill>
          <a:ln w="6350">
            <a:solidFill>
              <a:srgbClr val="4DB449"/>
            </a:solidFill>
            <a:prstDash val="solid"/>
          </a:ln>
        </p:spPr>
      </p:sp>
      <p:sp>
        <p:nvSpPr>
          <p:cNvPr id="53" name="Text 50"/>
          <p:cNvSpPr txBox="1"/>
          <p:nvPr/>
        </p:nvSpPr>
        <p:spPr>
          <a:xfrm>
            <a:off x="6775521" y="3209544"/>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8</a:t>
            </a:r>
            <a:endParaRPr lang="ar-SA" sz="900" dirty="0"/>
          </a:p>
        </p:txBody>
      </p:sp>
      <p:sp>
        <p:nvSpPr>
          <p:cNvPr id="54" name="Text 51"/>
          <p:cNvSpPr txBox="1"/>
          <p:nvPr/>
        </p:nvSpPr>
        <p:spPr>
          <a:xfrm>
            <a:off x="5132710" y="3172968"/>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شخصية رقمية</a:t>
            </a:r>
            <a:endParaRPr lang="ar-SA" sz="1250" dirty="0"/>
          </a:p>
        </p:txBody>
      </p:sp>
      <p:sp>
        <p:nvSpPr>
          <p:cNvPr id="55" name="Shape 52"/>
          <p:cNvSpPr/>
          <p:nvPr/>
        </p:nvSpPr>
        <p:spPr>
          <a:xfrm>
            <a:off x="6775521" y="3534156"/>
            <a:ext cx="246888" cy="246888"/>
          </a:xfrm>
          <a:prstGeom prst="ellipse">
            <a:avLst/>
          </a:prstGeom>
          <a:solidFill>
            <a:srgbClr val="4DB449"/>
          </a:solidFill>
          <a:ln w="6350">
            <a:solidFill>
              <a:srgbClr val="4DB449"/>
            </a:solidFill>
            <a:prstDash val="solid"/>
          </a:ln>
        </p:spPr>
      </p:sp>
      <p:sp>
        <p:nvSpPr>
          <p:cNvPr id="56" name="Text 53"/>
          <p:cNvSpPr txBox="1"/>
          <p:nvPr/>
        </p:nvSpPr>
        <p:spPr>
          <a:xfrm>
            <a:off x="6775521" y="3534156"/>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9</a:t>
            </a:r>
            <a:endParaRPr lang="ar-SA" sz="900" dirty="0"/>
          </a:p>
        </p:txBody>
      </p:sp>
      <p:sp>
        <p:nvSpPr>
          <p:cNvPr id="57" name="Text 54"/>
          <p:cNvSpPr txBox="1"/>
          <p:nvPr/>
        </p:nvSpPr>
        <p:spPr>
          <a:xfrm>
            <a:off x="5132710" y="3497580"/>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ملف الصوت</a:t>
            </a:r>
            <a:endParaRPr lang="ar-SA" sz="1250" dirty="0"/>
          </a:p>
        </p:txBody>
      </p:sp>
      <p:sp>
        <p:nvSpPr>
          <p:cNvPr id="58" name="Shape 55"/>
          <p:cNvSpPr/>
          <p:nvPr/>
        </p:nvSpPr>
        <p:spPr>
          <a:xfrm>
            <a:off x="6775521" y="3858768"/>
            <a:ext cx="246888" cy="246888"/>
          </a:xfrm>
          <a:prstGeom prst="ellipse">
            <a:avLst/>
          </a:prstGeom>
          <a:solidFill>
            <a:srgbClr val="4DB449"/>
          </a:solidFill>
          <a:ln w="6350">
            <a:solidFill>
              <a:srgbClr val="4DB449"/>
            </a:solidFill>
            <a:prstDash val="solid"/>
          </a:ln>
        </p:spPr>
      </p:sp>
      <p:sp>
        <p:nvSpPr>
          <p:cNvPr id="59" name="Text 56"/>
          <p:cNvSpPr txBox="1"/>
          <p:nvPr/>
        </p:nvSpPr>
        <p:spPr>
          <a:xfrm>
            <a:off x="6775521" y="3858768"/>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10</a:t>
            </a:r>
            <a:endParaRPr lang="ar-SA" sz="900" dirty="0"/>
          </a:p>
        </p:txBody>
      </p:sp>
      <p:sp>
        <p:nvSpPr>
          <p:cNvPr id="60" name="Text 57"/>
          <p:cNvSpPr txBox="1"/>
          <p:nvPr/>
        </p:nvSpPr>
        <p:spPr>
          <a:xfrm>
            <a:off x="5132710" y="3822192"/>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المواد البصرية</a:t>
            </a:r>
            <a:endParaRPr lang="ar-SA" sz="1250" dirty="0"/>
          </a:p>
        </p:txBody>
      </p:sp>
      <p:sp>
        <p:nvSpPr>
          <p:cNvPr id="61" name="Shape 58"/>
          <p:cNvSpPr/>
          <p:nvPr/>
        </p:nvSpPr>
        <p:spPr>
          <a:xfrm>
            <a:off x="6775521" y="4183380"/>
            <a:ext cx="246888" cy="246888"/>
          </a:xfrm>
          <a:prstGeom prst="ellipse">
            <a:avLst/>
          </a:prstGeom>
          <a:solidFill>
            <a:srgbClr val="4DB449"/>
          </a:solidFill>
          <a:ln w="6350">
            <a:solidFill>
              <a:srgbClr val="4DB449"/>
            </a:solidFill>
            <a:prstDash val="solid"/>
          </a:ln>
        </p:spPr>
      </p:sp>
      <p:sp>
        <p:nvSpPr>
          <p:cNvPr id="62" name="Text 59"/>
          <p:cNvSpPr txBox="1"/>
          <p:nvPr/>
        </p:nvSpPr>
        <p:spPr>
          <a:xfrm>
            <a:off x="6775521" y="4183380"/>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11</a:t>
            </a:r>
            <a:endParaRPr lang="ar-SA" sz="900" dirty="0"/>
          </a:p>
        </p:txBody>
      </p:sp>
      <p:sp>
        <p:nvSpPr>
          <p:cNvPr id="63" name="Text 60"/>
          <p:cNvSpPr txBox="1"/>
          <p:nvPr/>
        </p:nvSpPr>
        <p:spPr>
          <a:xfrm>
            <a:off x="5132710" y="4146804"/>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سيناريوهات الفيديو</a:t>
            </a:r>
            <a:endParaRPr lang="ar-SA" sz="1250" dirty="0"/>
          </a:p>
        </p:txBody>
      </p:sp>
      <p:sp>
        <p:nvSpPr>
          <p:cNvPr id="64" name="Shape 61"/>
          <p:cNvSpPr/>
          <p:nvPr/>
        </p:nvSpPr>
        <p:spPr>
          <a:xfrm>
            <a:off x="6775521" y="4507992"/>
            <a:ext cx="246888" cy="246888"/>
          </a:xfrm>
          <a:prstGeom prst="ellipse">
            <a:avLst/>
          </a:prstGeom>
          <a:solidFill>
            <a:srgbClr val="4DB449"/>
          </a:solidFill>
          <a:ln w="6350">
            <a:solidFill>
              <a:srgbClr val="4DB449"/>
            </a:solidFill>
            <a:prstDash val="solid"/>
          </a:ln>
        </p:spPr>
      </p:sp>
      <p:sp>
        <p:nvSpPr>
          <p:cNvPr id="65" name="Text 62"/>
          <p:cNvSpPr txBox="1"/>
          <p:nvPr/>
        </p:nvSpPr>
        <p:spPr>
          <a:xfrm>
            <a:off x="6775521" y="4507992"/>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12</a:t>
            </a:r>
            <a:endParaRPr lang="ar-SA" sz="900" dirty="0"/>
          </a:p>
        </p:txBody>
      </p:sp>
      <p:sp>
        <p:nvSpPr>
          <p:cNvPr id="66" name="Text 63"/>
          <p:cNvSpPr txBox="1"/>
          <p:nvPr/>
        </p:nvSpPr>
        <p:spPr>
          <a:xfrm>
            <a:off x="5132710" y="4471416"/>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اللوحة المصوّرة</a:t>
            </a:r>
            <a:endParaRPr lang="ar-SA" sz="1250" dirty="0"/>
          </a:p>
        </p:txBody>
      </p:sp>
      <p:sp>
        <p:nvSpPr>
          <p:cNvPr id="67" name="Shape 64"/>
          <p:cNvSpPr/>
          <p:nvPr/>
        </p:nvSpPr>
        <p:spPr>
          <a:xfrm>
            <a:off x="6775521" y="4832604"/>
            <a:ext cx="246888" cy="246888"/>
          </a:xfrm>
          <a:prstGeom prst="ellipse">
            <a:avLst/>
          </a:prstGeom>
          <a:solidFill>
            <a:srgbClr val="4DB449"/>
          </a:solidFill>
          <a:ln w="6350">
            <a:solidFill>
              <a:srgbClr val="4DB449"/>
            </a:solidFill>
            <a:prstDash val="solid"/>
          </a:ln>
        </p:spPr>
      </p:sp>
      <p:sp>
        <p:nvSpPr>
          <p:cNvPr id="68" name="Text 65"/>
          <p:cNvSpPr txBox="1"/>
          <p:nvPr/>
        </p:nvSpPr>
        <p:spPr>
          <a:xfrm>
            <a:off x="6775521" y="4832604"/>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13</a:t>
            </a:r>
            <a:endParaRPr lang="ar-SA" sz="900" dirty="0"/>
          </a:p>
        </p:txBody>
      </p:sp>
      <p:sp>
        <p:nvSpPr>
          <p:cNvPr id="69" name="Text 66"/>
          <p:cNvSpPr txBox="1"/>
          <p:nvPr/>
        </p:nvSpPr>
        <p:spPr>
          <a:xfrm>
            <a:off x="5132710" y="4796028"/>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فيديو بالذكاء الاصطناعي</a:t>
            </a:r>
            <a:endParaRPr lang="ar-SA" sz="1250" dirty="0"/>
          </a:p>
        </p:txBody>
      </p:sp>
      <p:sp>
        <p:nvSpPr>
          <p:cNvPr id="70" name="Shape 67"/>
          <p:cNvSpPr/>
          <p:nvPr/>
        </p:nvSpPr>
        <p:spPr>
          <a:xfrm>
            <a:off x="6775521" y="5157216"/>
            <a:ext cx="246888" cy="246888"/>
          </a:xfrm>
          <a:prstGeom prst="ellipse">
            <a:avLst/>
          </a:prstGeom>
          <a:solidFill>
            <a:srgbClr val="4DB449"/>
          </a:solidFill>
          <a:ln w="6350">
            <a:solidFill>
              <a:srgbClr val="4DB449"/>
            </a:solidFill>
            <a:prstDash val="solid"/>
          </a:ln>
        </p:spPr>
      </p:sp>
      <p:sp>
        <p:nvSpPr>
          <p:cNvPr id="71" name="Text 68"/>
          <p:cNvSpPr txBox="1"/>
          <p:nvPr/>
        </p:nvSpPr>
        <p:spPr>
          <a:xfrm>
            <a:off x="6775521" y="5157216"/>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14</a:t>
            </a:r>
            <a:endParaRPr lang="ar-SA" sz="900" dirty="0"/>
          </a:p>
        </p:txBody>
      </p:sp>
      <p:sp>
        <p:nvSpPr>
          <p:cNvPr id="72" name="Text 69"/>
          <p:cNvSpPr txBox="1"/>
          <p:nvPr/>
        </p:nvSpPr>
        <p:spPr>
          <a:xfrm>
            <a:off x="5132710" y="5120640"/>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الفيديو النهائي بعد المونتاج</a:t>
            </a:r>
            <a:endParaRPr lang="ar-SA" sz="1250" dirty="0"/>
          </a:p>
        </p:txBody>
      </p:sp>
      <p:sp>
        <p:nvSpPr>
          <p:cNvPr id="73" name="Shape 70"/>
          <p:cNvSpPr/>
          <p:nvPr/>
        </p:nvSpPr>
        <p:spPr>
          <a:xfrm>
            <a:off x="6775521" y="5481828"/>
            <a:ext cx="246888" cy="246888"/>
          </a:xfrm>
          <a:prstGeom prst="ellipse">
            <a:avLst/>
          </a:prstGeom>
          <a:solidFill>
            <a:srgbClr val="4DB449"/>
          </a:solidFill>
          <a:ln w="6350">
            <a:solidFill>
              <a:srgbClr val="4DB449"/>
            </a:solidFill>
            <a:prstDash val="solid"/>
          </a:ln>
        </p:spPr>
      </p:sp>
      <p:sp>
        <p:nvSpPr>
          <p:cNvPr id="74" name="Text 71"/>
          <p:cNvSpPr txBox="1"/>
          <p:nvPr/>
        </p:nvSpPr>
        <p:spPr>
          <a:xfrm>
            <a:off x="6775521" y="5481828"/>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15</a:t>
            </a:r>
            <a:endParaRPr lang="ar-SA" sz="900" dirty="0"/>
          </a:p>
        </p:txBody>
      </p:sp>
      <p:sp>
        <p:nvSpPr>
          <p:cNvPr id="75" name="Text 72"/>
          <p:cNvSpPr txBox="1"/>
          <p:nvPr/>
        </p:nvSpPr>
        <p:spPr>
          <a:xfrm>
            <a:off x="5132710" y="5445252"/>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منشورات التواصل</a:t>
            </a:r>
            <a:endParaRPr lang="ar-SA" sz="1250" dirty="0"/>
          </a:p>
        </p:txBody>
      </p:sp>
      <p:sp>
        <p:nvSpPr>
          <p:cNvPr id="76" name="Shape 73"/>
          <p:cNvSpPr/>
          <p:nvPr/>
        </p:nvSpPr>
        <p:spPr>
          <a:xfrm>
            <a:off x="2804099" y="2514600"/>
            <a:ext cx="2072579" cy="457200"/>
          </a:xfrm>
          <a:prstGeom prst="roundRect">
            <a:avLst>
              <a:gd name="adj" fmla="val 20000"/>
            </a:avLst>
          </a:prstGeom>
          <a:solidFill>
            <a:srgbClr val="000000"/>
          </a:solidFill>
          <a:ln w="12700">
            <a:solidFill>
              <a:srgbClr val="000000"/>
            </a:solidFill>
            <a:prstDash val="solid"/>
          </a:ln>
        </p:spPr>
      </p:sp>
      <p:sp>
        <p:nvSpPr>
          <p:cNvPr id="77" name="Text 74"/>
          <p:cNvSpPr txBox="1"/>
          <p:nvPr/>
        </p:nvSpPr>
        <p:spPr>
          <a:xfrm>
            <a:off x="2941259" y="2514600"/>
            <a:ext cx="1798259" cy="45720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A6D04B"/>
                </a:solidFill>
                <a:latin typeface="Cairo" pitchFamily="34" charset="0"/>
                <a:ea typeface="Cairo" pitchFamily="34" charset="-122"/>
                <a:cs typeface="Cairo" pitchFamily="34" charset="-120"/>
              </a:rPr>
              <a:t>الأتمتة والإطلاق</a:t>
            </a:r>
            <a:endParaRPr lang="ar-SA" sz="1500" dirty="0"/>
          </a:p>
        </p:txBody>
      </p:sp>
      <p:sp>
        <p:nvSpPr>
          <p:cNvPr id="78" name="Shape 75"/>
          <p:cNvSpPr/>
          <p:nvPr/>
        </p:nvSpPr>
        <p:spPr>
          <a:xfrm>
            <a:off x="2804099" y="3063240"/>
            <a:ext cx="2072579" cy="2743200"/>
          </a:xfrm>
          <a:prstGeom prst="roundRect">
            <a:avLst>
              <a:gd name="adj" fmla="val 4412"/>
            </a:avLst>
          </a:prstGeom>
          <a:solidFill>
            <a:srgbClr val="F2F4F1"/>
          </a:solidFill>
          <a:ln w="12700">
            <a:solidFill>
              <a:srgbClr val="F2F4F1"/>
            </a:solidFill>
            <a:prstDash val="solid"/>
          </a:ln>
        </p:spPr>
      </p:sp>
      <p:sp>
        <p:nvSpPr>
          <p:cNvPr id="79" name="Shape 76"/>
          <p:cNvSpPr/>
          <p:nvPr/>
        </p:nvSpPr>
        <p:spPr>
          <a:xfrm>
            <a:off x="4520062" y="3209544"/>
            <a:ext cx="246888" cy="246888"/>
          </a:xfrm>
          <a:prstGeom prst="ellipse">
            <a:avLst/>
          </a:prstGeom>
          <a:solidFill>
            <a:srgbClr val="A6D04B"/>
          </a:solidFill>
          <a:ln w="6350">
            <a:solidFill>
              <a:srgbClr val="A6D04B"/>
            </a:solidFill>
            <a:prstDash val="solid"/>
          </a:ln>
        </p:spPr>
      </p:sp>
      <p:sp>
        <p:nvSpPr>
          <p:cNvPr id="80" name="Text 77"/>
          <p:cNvSpPr txBox="1"/>
          <p:nvPr/>
        </p:nvSpPr>
        <p:spPr>
          <a:xfrm>
            <a:off x="4520062" y="3209544"/>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16</a:t>
            </a:r>
            <a:endParaRPr lang="ar-SA" sz="900" dirty="0"/>
          </a:p>
        </p:txBody>
      </p:sp>
      <p:sp>
        <p:nvSpPr>
          <p:cNvPr id="81" name="Text 78"/>
          <p:cNvSpPr txBox="1"/>
          <p:nvPr/>
        </p:nvSpPr>
        <p:spPr>
          <a:xfrm>
            <a:off x="2877251" y="3172968"/>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أتمتة n8n</a:t>
            </a:r>
            <a:endParaRPr lang="ar-SA" sz="1250" dirty="0"/>
          </a:p>
        </p:txBody>
      </p:sp>
      <p:sp>
        <p:nvSpPr>
          <p:cNvPr id="82" name="Shape 79"/>
          <p:cNvSpPr/>
          <p:nvPr/>
        </p:nvSpPr>
        <p:spPr>
          <a:xfrm>
            <a:off x="4520062" y="3534156"/>
            <a:ext cx="246888" cy="246888"/>
          </a:xfrm>
          <a:prstGeom prst="ellipse">
            <a:avLst/>
          </a:prstGeom>
          <a:solidFill>
            <a:srgbClr val="A6D04B"/>
          </a:solidFill>
          <a:ln w="6350">
            <a:solidFill>
              <a:srgbClr val="A6D04B"/>
            </a:solidFill>
            <a:prstDash val="solid"/>
          </a:ln>
        </p:spPr>
      </p:sp>
      <p:sp>
        <p:nvSpPr>
          <p:cNvPr id="83" name="Text 80"/>
          <p:cNvSpPr txBox="1"/>
          <p:nvPr/>
        </p:nvSpPr>
        <p:spPr>
          <a:xfrm>
            <a:off x="4520062" y="3534156"/>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17</a:t>
            </a:r>
            <a:endParaRPr lang="ar-SA" sz="900" dirty="0"/>
          </a:p>
        </p:txBody>
      </p:sp>
      <p:sp>
        <p:nvSpPr>
          <p:cNvPr id="84" name="Text 81"/>
          <p:cNvSpPr txBox="1"/>
          <p:nvPr/>
        </p:nvSpPr>
        <p:spPr>
          <a:xfrm>
            <a:off x="2877251" y="3497580"/>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صفحة هبوط</a:t>
            </a:r>
            <a:endParaRPr lang="ar-SA" sz="1250" dirty="0"/>
          </a:p>
        </p:txBody>
      </p:sp>
      <p:sp>
        <p:nvSpPr>
          <p:cNvPr id="85" name="Shape 82"/>
          <p:cNvSpPr/>
          <p:nvPr/>
        </p:nvSpPr>
        <p:spPr>
          <a:xfrm>
            <a:off x="548640" y="2514600"/>
            <a:ext cx="2072579" cy="457200"/>
          </a:xfrm>
          <a:prstGeom prst="roundRect">
            <a:avLst>
              <a:gd name="adj" fmla="val 20000"/>
            </a:avLst>
          </a:prstGeom>
          <a:solidFill>
            <a:srgbClr val="000000"/>
          </a:solidFill>
          <a:ln w="12700">
            <a:solidFill>
              <a:srgbClr val="000000"/>
            </a:solidFill>
            <a:prstDash val="solid"/>
          </a:ln>
        </p:spPr>
      </p:sp>
      <p:sp>
        <p:nvSpPr>
          <p:cNvPr id="86" name="Text 83"/>
          <p:cNvSpPr txBox="1"/>
          <p:nvPr/>
        </p:nvSpPr>
        <p:spPr>
          <a:xfrm>
            <a:off x="685800" y="2514600"/>
            <a:ext cx="1798259" cy="457200"/>
          </a:xfrm>
          <a:prstGeom prst="rect">
            <a:avLst/>
          </a:prstGeom>
          <a:noFill/>
          <a:ln/>
        </p:spPr>
        <p:txBody>
          <a:bodyPr wrap="square" lIns="0" tIns="0" rIns="0" bIns="0" rtlCol="0" anchor="ctr"/>
          <a:lstStyle/>
          <a:p>
            <a:pPr rtl="1" algn="ctr" indent="0" marL="0">
              <a:lnSpc>
                <a:spcPct val="100000"/>
              </a:lnSpc>
              <a:buNone/>
            </a:pPr>
            <a:r>
              <a:rPr lang="ar-SA" altLang="en-US" sz="1500" b="1" dirty="0">
                <a:solidFill>
                  <a:srgbClr val="A6D04B"/>
                </a:solidFill>
                <a:latin typeface="Cairo" pitchFamily="34" charset="0"/>
                <a:ea typeface="Cairo" pitchFamily="34" charset="-122"/>
                <a:cs typeface="Cairo" pitchFamily="34" charset="-120"/>
              </a:rPr>
              <a:t>العرض</a:t>
            </a:r>
            <a:endParaRPr lang="ar-SA" sz="1500" dirty="0"/>
          </a:p>
        </p:txBody>
      </p:sp>
      <p:sp>
        <p:nvSpPr>
          <p:cNvPr id="87" name="Shape 84"/>
          <p:cNvSpPr/>
          <p:nvPr/>
        </p:nvSpPr>
        <p:spPr>
          <a:xfrm>
            <a:off x="548640" y="3063240"/>
            <a:ext cx="2072579" cy="2743200"/>
          </a:xfrm>
          <a:prstGeom prst="roundRect">
            <a:avLst>
              <a:gd name="adj" fmla="val 4412"/>
            </a:avLst>
          </a:prstGeom>
          <a:solidFill>
            <a:srgbClr val="F2F4F1"/>
          </a:solidFill>
          <a:ln w="12700">
            <a:solidFill>
              <a:srgbClr val="F2F4F1"/>
            </a:solidFill>
            <a:prstDash val="solid"/>
          </a:ln>
        </p:spPr>
      </p:sp>
      <p:sp>
        <p:nvSpPr>
          <p:cNvPr id="88" name="Shape 85"/>
          <p:cNvSpPr/>
          <p:nvPr/>
        </p:nvSpPr>
        <p:spPr>
          <a:xfrm>
            <a:off x="2264603" y="3209544"/>
            <a:ext cx="246888" cy="246888"/>
          </a:xfrm>
          <a:prstGeom prst="ellipse">
            <a:avLst/>
          </a:prstGeom>
          <a:solidFill>
            <a:srgbClr val="4DB449"/>
          </a:solidFill>
          <a:ln w="6350">
            <a:solidFill>
              <a:srgbClr val="4DB449"/>
            </a:solidFill>
            <a:prstDash val="solid"/>
          </a:ln>
        </p:spPr>
      </p:sp>
      <p:sp>
        <p:nvSpPr>
          <p:cNvPr id="89" name="Text 86"/>
          <p:cNvSpPr txBox="1"/>
          <p:nvPr/>
        </p:nvSpPr>
        <p:spPr>
          <a:xfrm>
            <a:off x="2264603" y="3209544"/>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18</a:t>
            </a:r>
            <a:endParaRPr lang="ar-SA" sz="900" dirty="0"/>
          </a:p>
        </p:txBody>
      </p:sp>
      <p:sp>
        <p:nvSpPr>
          <p:cNvPr id="90" name="Text 87"/>
          <p:cNvSpPr txBox="1"/>
          <p:nvPr/>
        </p:nvSpPr>
        <p:spPr>
          <a:xfrm>
            <a:off x="621792" y="3172968"/>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دراسة حالة للملف المهني</a:t>
            </a:r>
            <a:endParaRPr lang="ar-SA" sz="1250" dirty="0"/>
          </a:p>
        </p:txBody>
      </p:sp>
      <p:sp>
        <p:nvSpPr>
          <p:cNvPr id="91" name="Shape 88"/>
          <p:cNvSpPr/>
          <p:nvPr/>
        </p:nvSpPr>
        <p:spPr>
          <a:xfrm>
            <a:off x="2264603" y="3534156"/>
            <a:ext cx="246888" cy="246888"/>
          </a:xfrm>
          <a:prstGeom prst="ellipse">
            <a:avLst/>
          </a:prstGeom>
          <a:solidFill>
            <a:srgbClr val="4DB449"/>
          </a:solidFill>
          <a:ln w="6350">
            <a:solidFill>
              <a:srgbClr val="4DB449"/>
            </a:solidFill>
            <a:prstDash val="solid"/>
          </a:ln>
        </p:spPr>
      </p:sp>
      <p:sp>
        <p:nvSpPr>
          <p:cNvPr id="92" name="Text 89"/>
          <p:cNvSpPr txBox="1"/>
          <p:nvPr/>
        </p:nvSpPr>
        <p:spPr>
          <a:xfrm>
            <a:off x="2264603" y="3534156"/>
            <a:ext cx="246888" cy="246888"/>
          </a:xfrm>
          <a:prstGeom prst="rect">
            <a:avLst/>
          </a:prstGeom>
          <a:noFill/>
          <a:ln/>
        </p:spPr>
        <p:txBody>
          <a:bodyPr wrap="square" lIns="0" tIns="0" rIns="0" bIns="0" rtlCol="0" anchor="ctr"/>
          <a:lstStyle/>
          <a:p>
            <a:pPr rtl="1" algn="ctr" indent="0" marL="0">
              <a:lnSpc>
                <a:spcPct val="100000"/>
              </a:lnSpc>
              <a:buNone/>
            </a:pPr>
            <a:r>
              <a:rPr lang="ar-SA" altLang="en-US" sz="900" b="1" dirty="0">
                <a:solidFill>
                  <a:srgbClr val="000000"/>
                </a:solidFill>
                <a:latin typeface="IBM Plex Sans Arabic" pitchFamily="34" charset="0"/>
                <a:ea typeface="IBM Plex Sans Arabic" pitchFamily="34" charset="-122"/>
                <a:cs typeface="IBM Plex Sans Arabic" pitchFamily="34" charset="-120"/>
              </a:rPr>
              <a:t>19</a:t>
            </a:r>
            <a:endParaRPr lang="ar-SA" sz="900" dirty="0"/>
          </a:p>
        </p:txBody>
      </p:sp>
      <p:sp>
        <p:nvSpPr>
          <p:cNvPr id="93" name="Text 90"/>
          <p:cNvSpPr txBox="1"/>
          <p:nvPr/>
        </p:nvSpPr>
        <p:spPr>
          <a:xfrm>
            <a:off x="621792" y="3497580"/>
            <a:ext cx="1569659" cy="320040"/>
          </a:xfrm>
          <a:prstGeom prst="rect">
            <a:avLst/>
          </a:prstGeom>
          <a:noFill/>
          <a:ln/>
        </p:spPr>
        <p:txBody>
          <a:bodyPr wrap="square" lIns="0" tIns="0" rIns="0" bIns="0" rtlCol="0" anchor="ctr"/>
          <a:lstStyle/>
          <a:p>
            <a:pPr rtl="1" algn="r" indent="0" marL="0">
              <a:lnSpc>
                <a:spcPct val="100000"/>
              </a:lnSpc>
              <a:buNone/>
            </a:pPr>
            <a:r>
              <a:rPr lang="ar-SA" altLang="en-US" sz="1250" dirty="0">
                <a:solidFill>
                  <a:srgbClr val="1A1A1A"/>
                </a:solidFill>
                <a:latin typeface="IBM Plex Sans Arabic" pitchFamily="34" charset="0"/>
                <a:ea typeface="IBM Plex Sans Arabic" pitchFamily="34" charset="-122"/>
                <a:cs typeface="IBM Plex Sans Arabic" pitchFamily="34" charset="-120"/>
              </a:rPr>
              <a:t>العرض النهائي</a:t>
            </a:r>
            <a:endParaRPr lang="ar-SA" sz="1250" dirty="0"/>
          </a:p>
        </p:txBody>
      </p:sp>
      <p:pic>
        <p:nvPicPr>
          <p:cNvPr id="94" name="Image 1" descr="preencoded.png">    </p:cNvPr>
          <p:cNvPicPr>
            <a:picLocks noChangeAspect="1"/>
          </p:cNvPicPr>
          <p:nvPr/>
        </p:nvPicPr>
        <p:blipFill>
          <a:blip r:embed="rId2"/>
          <a:stretch>
            <a:fillRect/>
          </a:stretch>
        </p:blipFill>
        <p:spPr>
          <a:xfrm>
            <a:off x="11313871" y="5916168"/>
            <a:ext cx="329184" cy="329184"/>
          </a:xfrm>
          <a:prstGeom prst="rect">
            <a:avLst/>
          </a:prstGeom>
        </p:spPr>
      </p:pic>
      <p:sp>
        <p:nvSpPr>
          <p:cNvPr id="95" name="Text 91"/>
          <p:cNvSpPr txBox="1"/>
          <p:nvPr/>
        </p:nvSpPr>
        <p:spPr>
          <a:xfrm>
            <a:off x="670255" y="5897880"/>
            <a:ext cx="10515600" cy="365760"/>
          </a:xfrm>
          <a:prstGeom prst="rect">
            <a:avLst/>
          </a:prstGeom>
          <a:noFill/>
          <a:ln/>
        </p:spPr>
        <p:txBody>
          <a:bodyPr wrap="square" lIns="0" tIns="0" rIns="0" bIns="0" rtlCol="0" anchor="ctr"/>
          <a:lstStyle/>
          <a:p>
            <a:pPr rtl="1" algn="r" indent="0" marL="0">
              <a:lnSpc>
                <a:spcPct val="100000"/>
              </a:lnSpc>
              <a:buNone/>
            </a:pPr>
            <a:r>
              <a:rPr lang="ar-SA" altLang="en-US" sz="1300" b="1" dirty="0">
                <a:solidFill>
                  <a:srgbClr val="3C3E3B"/>
                </a:solidFill>
                <a:latin typeface="IBM Plex Sans Arabic" pitchFamily="34" charset="0"/>
                <a:ea typeface="IBM Plex Sans Arabic" pitchFamily="34" charset="-122"/>
                <a:cs typeface="IBM Plex Sans Arabic" pitchFamily="34" charset="-120"/>
              </a:rPr>
              <a:t>أدوار متناوبة داخل الفريق: مخطِّط استراتيجي · مسؤول المحتوى · مسؤول الصورة والفيديو · مسؤول الأتمتة</a:t>
            </a:r>
            <a:endParaRPr lang="ar-SA"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14</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13 · ماذا يأخذ كل طالب معه</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ملف أعمال من ثمانية أعمال حقيقية</a:t>
            </a:r>
            <a:endParaRPr lang="ar-SA" sz="2600" dirty="0"/>
          </a:p>
        </p:txBody>
      </p:sp>
      <p:sp>
        <p:nvSpPr>
          <p:cNvPr id="7" name="Shape 4"/>
          <p:cNvSpPr/>
          <p:nvPr/>
        </p:nvSpPr>
        <p:spPr>
          <a:xfrm>
            <a:off x="9040901" y="1783080"/>
            <a:ext cx="2602154" cy="1965960"/>
          </a:xfrm>
          <a:prstGeom prst="roundRect">
            <a:avLst>
              <a:gd name="adj" fmla="val 5581"/>
            </a:avLst>
          </a:prstGeom>
          <a:solidFill>
            <a:srgbClr val="EAF5E8"/>
          </a:solidFill>
          <a:ln w="12700">
            <a:solidFill>
              <a:srgbClr val="EAF5E8"/>
            </a:solidFill>
            <a:prstDash val="solid"/>
          </a:ln>
        </p:spPr>
      </p:sp>
      <p:sp>
        <p:nvSpPr>
          <p:cNvPr id="8" name="Shape 5"/>
          <p:cNvSpPr/>
          <p:nvPr/>
        </p:nvSpPr>
        <p:spPr>
          <a:xfrm>
            <a:off x="10728655" y="2057400"/>
            <a:ext cx="640080" cy="640080"/>
          </a:xfrm>
          <a:prstGeom prst="ellipse">
            <a:avLst/>
          </a:prstGeom>
          <a:solidFill>
            <a:srgbClr val="4DB449"/>
          </a:solidFill>
          <a:ln w="6350">
            <a:solidFill>
              <a:srgbClr val="4DB449"/>
            </a:solidFill>
            <a:prstDash val="solid"/>
          </a:ln>
        </p:spPr>
      </p:sp>
      <p:pic>
        <p:nvPicPr>
          <p:cNvPr id="9" name="Image 1" descr="preencoded.png">    </p:cNvPr>
          <p:cNvPicPr>
            <a:picLocks noChangeAspect="1"/>
          </p:cNvPicPr>
          <p:nvPr/>
        </p:nvPicPr>
        <p:blipFill>
          <a:blip r:embed="rId2"/>
          <a:stretch>
            <a:fillRect/>
          </a:stretch>
        </p:blipFill>
        <p:spPr>
          <a:xfrm>
            <a:off x="10884103" y="2212848"/>
            <a:ext cx="329184" cy="329184"/>
          </a:xfrm>
          <a:prstGeom prst="rect">
            <a:avLst/>
          </a:prstGeom>
        </p:spPr>
      </p:pic>
      <p:sp>
        <p:nvSpPr>
          <p:cNvPr id="10" name="Text 6"/>
          <p:cNvSpPr txBox="1"/>
          <p:nvPr/>
        </p:nvSpPr>
        <p:spPr>
          <a:xfrm>
            <a:off x="9315221" y="210312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727274"/>
                </a:solidFill>
                <a:latin typeface="IBM Plex Sans Arabic" pitchFamily="34" charset="0"/>
                <a:ea typeface="IBM Plex Sans Arabic" pitchFamily="34" charset="-122"/>
                <a:cs typeface="IBM Plex Sans Arabic" pitchFamily="34" charset="-120"/>
              </a:rPr>
              <a:t>01</a:t>
            </a:r>
            <a:endParaRPr lang="ar-SA" sz="1400" dirty="0"/>
          </a:p>
        </p:txBody>
      </p:sp>
      <p:sp>
        <p:nvSpPr>
          <p:cNvPr id="11" name="Text 7"/>
          <p:cNvSpPr txBox="1"/>
          <p:nvPr/>
        </p:nvSpPr>
        <p:spPr>
          <a:xfrm>
            <a:off x="9315221" y="280720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مكتبة أوامر</a:t>
            </a:r>
            <a:endParaRPr lang="ar-SA" sz="1700" dirty="0"/>
          </a:p>
        </p:txBody>
      </p:sp>
      <p:sp>
        <p:nvSpPr>
          <p:cNvPr id="12" name="Text 8"/>
          <p:cNvSpPr txBox="1"/>
          <p:nvPr/>
        </p:nvSpPr>
        <p:spPr>
          <a:xfrm>
            <a:off x="9315221" y="317296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أكثر من 10 أوامر مجرّبة وحزمة سياق</a:t>
            </a:r>
            <a:endParaRPr lang="ar-SA" sz="1300" dirty="0"/>
          </a:p>
        </p:txBody>
      </p:sp>
      <p:sp>
        <p:nvSpPr>
          <p:cNvPr id="13" name="Shape 9"/>
          <p:cNvSpPr/>
          <p:nvPr/>
        </p:nvSpPr>
        <p:spPr>
          <a:xfrm>
            <a:off x="6210148" y="1783080"/>
            <a:ext cx="2602154" cy="1965960"/>
          </a:xfrm>
          <a:prstGeom prst="roundRect">
            <a:avLst>
              <a:gd name="adj" fmla="val 5581"/>
            </a:avLst>
          </a:prstGeom>
          <a:solidFill>
            <a:srgbClr val="EAF5E8"/>
          </a:solidFill>
          <a:ln w="12700">
            <a:solidFill>
              <a:srgbClr val="EAF5E8"/>
            </a:solidFill>
            <a:prstDash val="solid"/>
          </a:ln>
        </p:spPr>
      </p:sp>
      <p:sp>
        <p:nvSpPr>
          <p:cNvPr id="14" name="Shape 10"/>
          <p:cNvSpPr/>
          <p:nvPr/>
        </p:nvSpPr>
        <p:spPr>
          <a:xfrm>
            <a:off x="7897901" y="2057400"/>
            <a:ext cx="640080" cy="640080"/>
          </a:xfrm>
          <a:prstGeom prst="ellipse">
            <a:avLst/>
          </a:prstGeom>
          <a:solidFill>
            <a:srgbClr val="4DB449"/>
          </a:solidFill>
          <a:ln w="6350">
            <a:solidFill>
              <a:srgbClr val="4DB449"/>
            </a:solidFill>
            <a:prstDash val="solid"/>
          </a:ln>
        </p:spPr>
      </p:sp>
      <p:pic>
        <p:nvPicPr>
          <p:cNvPr id="15" name="Image 2" descr="preencoded.png">    </p:cNvPr>
          <p:cNvPicPr>
            <a:picLocks noChangeAspect="1"/>
          </p:cNvPicPr>
          <p:nvPr/>
        </p:nvPicPr>
        <p:blipFill>
          <a:blip r:embed="rId3"/>
          <a:stretch>
            <a:fillRect/>
          </a:stretch>
        </p:blipFill>
        <p:spPr>
          <a:xfrm>
            <a:off x="8053349" y="2212848"/>
            <a:ext cx="329184" cy="329184"/>
          </a:xfrm>
          <a:prstGeom prst="rect">
            <a:avLst/>
          </a:prstGeom>
        </p:spPr>
      </p:pic>
      <p:sp>
        <p:nvSpPr>
          <p:cNvPr id="16" name="Text 11"/>
          <p:cNvSpPr txBox="1"/>
          <p:nvPr/>
        </p:nvSpPr>
        <p:spPr>
          <a:xfrm>
            <a:off x="6484468" y="210312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727274"/>
                </a:solidFill>
                <a:latin typeface="IBM Plex Sans Arabic" pitchFamily="34" charset="0"/>
                <a:ea typeface="IBM Plex Sans Arabic" pitchFamily="34" charset="-122"/>
                <a:cs typeface="IBM Plex Sans Arabic" pitchFamily="34" charset="-120"/>
              </a:rPr>
              <a:t>02</a:t>
            </a:r>
            <a:endParaRPr lang="ar-SA" sz="1400" dirty="0"/>
          </a:p>
        </p:txBody>
      </p:sp>
      <p:sp>
        <p:nvSpPr>
          <p:cNvPr id="17" name="Text 12"/>
          <p:cNvSpPr txBox="1"/>
          <p:nvPr/>
        </p:nvSpPr>
        <p:spPr>
          <a:xfrm>
            <a:off x="6484468" y="280720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موجز إبداعي</a:t>
            </a:r>
            <a:endParaRPr lang="ar-SA" sz="1700" dirty="0"/>
          </a:p>
        </p:txBody>
      </p:sp>
      <p:sp>
        <p:nvSpPr>
          <p:cNvPr id="18" name="Text 13"/>
          <p:cNvSpPr txBox="1"/>
          <p:nvPr/>
        </p:nvSpPr>
        <p:spPr>
          <a:xfrm>
            <a:off x="6484468" y="317296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موجز من صفحة واحدة بعد مقابلة عميل</a:t>
            </a:r>
            <a:endParaRPr lang="ar-SA" sz="1300" dirty="0"/>
          </a:p>
        </p:txBody>
      </p:sp>
      <p:sp>
        <p:nvSpPr>
          <p:cNvPr id="19" name="Shape 14"/>
          <p:cNvSpPr/>
          <p:nvPr/>
        </p:nvSpPr>
        <p:spPr>
          <a:xfrm>
            <a:off x="3379394" y="1783080"/>
            <a:ext cx="2602154" cy="1965960"/>
          </a:xfrm>
          <a:prstGeom prst="roundRect">
            <a:avLst>
              <a:gd name="adj" fmla="val 5581"/>
            </a:avLst>
          </a:prstGeom>
          <a:solidFill>
            <a:srgbClr val="EAF5E8"/>
          </a:solidFill>
          <a:ln w="12700">
            <a:solidFill>
              <a:srgbClr val="EAF5E8"/>
            </a:solidFill>
            <a:prstDash val="solid"/>
          </a:ln>
        </p:spPr>
      </p:sp>
      <p:sp>
        <p:nvSpPr>
          <p:cNvPr id="20" name="Shape 15"/>
          <p:cNvSpPr/>
          <p:nvPr/>
        </p:nvSpPr>
        <p:spPr>
          <a:xfrm>
            <a:off x="5067148" y="2057400"/>
            <a:ext cx="640080" cy="640080"/>
          </a:xfrm>
          <a:prstGeom prst="ellipse">
            <a:avLst/>
          </a:prstGeom>
          <a:solidFill>
            <a:srgbClr val="4DB449"/>
          </a:solidFill>
          <a:ln w="6350">
            <a:solidFill>
              <a:srgbClr val="4DB449"/>
            </a:solidFill>
            <a:prstDash val="solid"/>
          </a:ln>
        </p:spPr>
      </p:sp>
      <p:pic>
        <p:nvPicPr>
          <p:cNvPr id="21" name="Image 3" descr="preencoded.png">    </p:cNvPr>
          <p:cNvPicPr>
            <a:picLocks noChangeAspect="1"/>
          </p:cNvPicPr>
          <p:nvPr/>
        </p:nvPicPr>
        <p:blipFill>
          <a:blip r:embed="rId4"/>
          <a:stretch>
            <a:fillRect/>
          </a:stretch>
        </p:blipFill>
        <p:spPr>
          <a:xfrm>
            <a:off x="5222596" y="2212848"/>
            <a:ext cx="329184" cy="329184"/>
          </a:xfrm>
          <a:prstGeom prst="rect">
            <a:avLst/>
          </a:prstGeom>
        </p:spPr>
      </p:pic>
      <p:sp>
        <p:nvSpPr>
          <p:cNvPr id="22" name="Text 16"/>
          <p:cNvSpPr txBox="1"/>
          <p:nvPr/>
        </p:nvSpPr>
        <p:spPr>
          <a:xfrm>
            <a:off x="3653714" y="210312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727274"/>
                </a:solidFill>
                <a:latin typeface="IBM Plex Sans Arabic" pitchFamily="34" charset="0"/>
                <a:ea typeface="IBM Plex Sans Arabic" pitchFamily="34" charset="-122"/>
                <a:cs typeface="IBM Plex Sans Arabic" pitchFamily="34" charset="-120"/>
              </a:rPr>
              <a:t>03</a:t>
            </a:r>
            <a:endParaRPr lang="ar-SA" sz="1400" dirty="0"/>
          </a:p>
        </p:txBody>
      </p:sp>
      <p:sp>
        <p:nvSpPr>
          <p:cNvPr id="23" name="Text 17"/>
          <p:cNvSpPr txBox="1"/>
          <p:nvPr/>
        </p:nvSpPr>
        <p:spPr>
          <a:xfrm>
            <a:off x="3653714" y="280720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محتوى التواصل</a:t>
            </a:r>
            <a:endParaRPr lang="ar-SA" sz="1700" dirty="0"/>
          </a:p>
        </p:txBody>
      </p:sp>
      <p:sp>
        <p:nvSpPr>
          <p:cNvPr id="24" name="Text 18"/>
          <p:cNvSpPr txBox="1"/>
          <p:nvPr/>
        </p:nvSpPr>
        <p:spPr>
          <a:xfrm>
            <a:off x="3653714" y="317296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كاروسيل وخمسة نصوص مع CTA</a:t>
            </a:r>
            <a:endParaRPr lang="ar-SA" sz="1300" dirty="0"/>
          </a:p>
        </p:txBody>
      </p:sp>
      <p:sp>
        <p:nvSpPr>
          <p:cNvPr id="25" name="Shape 19"/>
          <p:cNvSpPr/>
          <p:nvPr/>
        </p:nvSpPr>
        <p:spPr>
          <a:xfrm>
            <a:off x="548640" y="1783080"/>
            <a:ext cx="2602154" cy="1965960"/>
          </a:xfrm>
          <a:prstGeom prst="roundRect">
            <a:avLst>
              <a:gd name="adj" fmla="val 5581"/>
            </a:avLst>
          </a:prstGeom>
          <a:solidFill>
            <a:srgbClr val="EAF5E8"/>
          </a:solidFill>
          <a:ln w="12700">
            <a:solidFill>
              <a:srgbClr val="EAF5E8"/>
            </a:solidFill>
            <a:prstDash val="solid"/>
          </a:ln>
        </p:spPr>
      </p:sp>
      <p:sp>
        <p:nvSpPr>
          <p:cNvPr id="26" name="Shape 20"/>
          <p:cNvSpPr/>
          <p:nvPr/>
        </p:nvSpPr>
        <p:spPr>
          <a:xfrm>
            <a:off x="2236394" y="2057400"/>
            <a:ext cx="640080" cy="640080"/>
          </a:xfrm>
          <a:prstGeom prst="ellipse">
            <a:avLst/>
          </a:prstGeom>
          <a:solidFill>
            <a:srgbClr val="4DB449"/>
          </a:solidFill>
          <a:ln w="6350">
            <a:solidFill>
              <a:srgbClr val="4DB449"/>
            </a:solidFill>
            <a:prstDash val="solid"/>
          </a:ln>
        </p:spPr>
      </p:sp>
      <p:pic>
        <p:nvPicPr>
          <p:cNvPr id="27" name="Image 4" descr="preencoded.png">    </p:cNvPr>
          <p:cNvPicPr>
            <a:picLocks noChangeAspect="1"/>
          </p:cNvPicPr>
          <p:nvPr/>
        </p:nvPicPr>
        <p:blipFill>
          <a:blip r:embed="rId5"/>
          <a:stretch>
            <a:fillRect/>
          </a:stretch>
        </p:blipFill>
        <p:spPr>
          <a:xfrm>
            <a:off x="2391842" y="2212848"/>
            <a:ext cx="329184" cy="329184"/>
          </a:xfrm>
          <a:prstGeom prst="rect">
            <a:avLst/>
          </a:prstGeom>
        </p:spPr>
      </p:pic>
      <p:sp>
        <p:nvSpPr>
          <p:cNvPr id="28" name="Text 21"/>
          <p:cNvSpPr txBox="1"/>
          <p:nvPr/>
        </p:nvSpPr>
        <p:spPr>
          <a:xfrm>
            <a:off x="822960" y="210312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727274"/>
                </a:solidFill>
                <a:latin typeface="IBM Plex Sans Arabic" pitchFamily="34" charset="0"/>
                <a:ea typeface="IBM Plex Sans Arabic" pitchFamily="34" charset="-122"/>
                <a:cs typeface="IBM Plex Sans Arabic" pitchFamily="34" charset="-120"/>
              </a:rPr>
              <a:t>04</a:t>
            </a:r>
            <a:endParaRPr lang="ar-SA" sz="1400" dirty="0"/>
          </a:p>
        </p:txBody>
      </p:sp>
      <p:sp>
        <p:nvSpPr>
          <p:cNvPr id="29" name="Text 22"/>
          <p:cNvSpPr txBox="1"/>
          <p:nvPr/>
        </p:nvSpPr>
        <p:spPr>
          <a:xfrm>
            <a:off x="822960" y="280720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الشخصية والصور</a:t>
            </a:r>
            <a:endParaRPr lang="ar-SA" sz="1700" dirty="0"/>
          </a:p>
        </p:txBody>
      </p:sp>
      <p:sp>
        <p:nvSpPr>
          <p:cNvPr id="30" name="Text 23"/>
          <p:cNvSpPr txBox="1"/>
          <p:nvPr/>
        </p:nvSpPr>
        <p:spPr>
          <a:xfrm>
            <a:off x="822960" y="317296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بطاقة شخصية ومجموعة من ست صور</a:t>
            </a:r>
            <a:endParaRPr lang="ar-SA" sz="1300" dirty="0"/>
          </a:p>
        </p:txBody>
      </p:sp>
      <p:sp>
        <p:nvSpPr>
          <p:cNvPr id="31" name="Shape 24"/>
          <p:cNvSpPr/>
          <p:nvPr/>
        </p:nvSpPr>
        <p:spPr>
          <a:xfrm>
            <a:off x="9040901" y="3977640"/>
            <a:ext cx="2602154" cy="1965960"/>
          </a:xfrm>
          <a:prstGeom prst="roundRect">
            <a:avLst>
              <a:gd name="adj" fmla="val 5581"/>
            </a:avLst>
          </a:prstGeom>
          <a:solidFill>
            <a:srgbClr val="000000"/>
          </a:solidFill>
          <a:ln w="12700">
            <a:solidFill>
              <a:srgbClr val="000000"/>
            </a:solidFill>
            <a:prstDash val="solid"/>
          </a:ln>
        </p:spPr>
      </p:sp>
      <p:sp>
        <p:nvSpPr>
          <p:cNvPr id="32" name="Shape 25"/>
          <p:cNvSpPr/>
          <p:nvPr/>
        </p:nvSpPr>
        <p:spPr>
          <a:xfrm>
            <a:off x="10728655" y="4251960"/>
            <a:ext cx="640080" cy="640080"/>
          </a:xfrm>
          <a:prstGeom prst="ellipse">
            <a:avLst/>
          </a:prstGeom>
          <a:solidFill>
            <a:srgbClr val="A6D04B"/>
          </a:solidFill>
          <a:ln w="6350">
            <a:solidFill>
              <a:srgbClr val="A6D04B"/>
            </a:solidFill>
            <a:prstDash val="solid"/>
          </a:ln>
        </p:spPr>
      </p:sp>
      <p:pic>
        <p:nvPicPr>
          <p:cNvPr id="33" name="Image 5" descr="preencoded.png">    </p:cNvPr>
          <p:cNvPicPr>
            <a:picLocks noChangeAspect="1"/>
          </p:cNvPicPr>
          <p:nvPr/>
        </p:nvPicPr>
        <p:blipFill>
          <a:blip r:embed="rId6"/>
          <a:stretch>
            <a:fillRect/>
          </a:stretch>
        </p:blipFill>
        <p:spPr>
          <a:xfrm>
            <a:off x="10884103" y="4407408"/>
            <a:ext cx="329184" cy="329184"/>
          </a:xfrm>
          <a:prstGeom prst="rect">
            <a:avLst/>
          </a:prstGeom>
        </p:spPr>
      </p:pic>
      <p:sp>
        <p:nvSpPr>
          <p:cNvPr id="34" name="Text 26"/>
          <p:cNvSpPr txBox="1"/>
          <p:nvPr/>
        </p:nvSpPr>
        <p:spPr>
          <a:xfrm>
            <a:off x="9315221" y="429768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A6D04B"/>
                </a:solidFill>
                <a:latin typeface="IBM Plex Sans Arabic" pitchFamily="34" charset="0"/>
                <a:ea typeface="IBM Plex Sans Arabic" pitchFamily="34" charset="-122"/>
                <a:cs typeface="IBM Plex Sans Arabic" pitchFamily="34" charset="-120"/>
              </a:rPr>
              <a:t>05</a:t>
            </a:r>
            <a:endParaRPr lang="ar-SA" sz="1400" dirty="0"/>
          </a:p>
        </p:txBody>
      </p:sp>
      <p:sp>
        <p:nvSpPr>
          <p:cNvPr id="35" name="Text 27"/>
          <p:cNvSpPr txBox="1"/>
          <p:nvPr/>
        </p:nvSpPr>
        <p:spPr>
          <a:xfrm>
            <a:off x="9315221" y="500176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فيديو قصير</a:t>
            </a:r>
            <a:endParaRPr lang="ar-SA" sz="1700" dirty="0"/>
          </a:p>
        </p:txBody>
      </p:sp>
      <p:sp>
        <p:nvSpPr>
          <p:cNvPr id="36" name="Text 28"/>
          <p:cNvSpPr txBox="1"/>
          <p:nvPr/>
        </p:nvSpPr>
        <p:spPr>
          <a:xfrm>
            <a:off x="9315221" y="536752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D6D8D4"/>
                </a:solidFill>
                <a:latin typeface="IBM Plex Sans Arabic" pitchFamily="34" charset="0"/>
                <a:ea typeface="IBM Plex Sans Arabic" pitchFamily="34" charset="-122"/>
                <a:cs typeface="IBM Plex Sans Arabic" pitchFamily="34" charset="-120"/>
              </a:rPr>
              <a:t>فيديو نهائي مدته من 30 إلى 45 ثانية</a:t>
            </a:r>
            <a:endParaRPr lang="ar-SA" sz="1300" dirty="0"/>
          </a:p>
        </p:txBody>
      </p:sp>
      <p:sp>
        <p:nvSpPr>
          <p:cNvPr id="37" name="Shape 29"/>
          <p:cNvSpPr/>
          <p:nvPr/>
        </p:nvSpPr>
        <p:spPr>
          <a:xfrm>
            <a:off x="6210148" y="3977640"/>
            <a:ext cx="2602154" cy="1965960"/>
          </a:xfrm>
          <a:prstGeom prst="roundRect">
            <a:avLst>
              <a:gd name="adj" fmla="val 5581"/>
            </a:avLst>
          </a:prstGeom>
          <a:solidFill>
            <a:srgbClr val="EAF5E8"/>
          </a:solidFill>
          <a:ln w="12700">
            <a:solidFill>
              <a:srgbClr val="EAF5E8"/>
            </a:solidFill>
            <a:prstDash val="solid"/>
          </a:ln>
        </p:spPr>
      </p:sp>
      <p:sp>
        <p:nvSpPr>
          <p:cNvPr id="38" name="Shape 30"/>
          <p:cNvSpPr/>
          <p:nvPr/>
        </p:nvSpPr>
        <p:spPr>
          <a:xfrm>
            <a:off x="7897901" y="4251960"/>
            <a:ext cx="640080" cy="640080"/>
          </a:xfrm>
          <a:prstGeom prst="ellipse">
            <a:avLst/>
          </a:prstGeom>
          <a:solidFill>
            <a:srgbClr val="4DB449"/>
          </a:solidFill>
          <a:ln w="6350">
            <a:solidFill>
              <a:srgbClr val="4DB449"/>
            </a:solidFill>
            <a:prstDash val="solid"/>
          </a:ln>
        </p:spPr>
      </p:sp>
      <p:pic>
        <p:nvPicPr>
          <p:cNvPr id="39" name="Image 6" descr="preencoded.png">    </p:cNvPr>
          <p:cNvPicPr>
            <a:picLocks noChangeAspect="1"/>
          </p:cNvPicPr>
          <p:nvPr/>
        </p:nvPicPr>
        <p:blipFill>
          <a:blip r:embed="rId7"/>
          <a:stretch>
            <a:fillRect/>
          </a:stretch>
        </p:blipFill>
        <p:spPr>
          <a:xfrm>
            <a:off x="8053349" y="4407408"/>
            <a:ext cx="329184" cy="329184"/>
          </a:xfrm>
          <a:prstGeom prst="rect">
            <a:avLst/>
          </a:prstGeom>
        </p:spPr>
      </p:pic>
      <p:sp>
        <p:nvSpPr>
          <p:cNvPr id="40" name="Text 31"/>
          <p:cNvSpPr txBox="1"/>
          <p:nvPr/>
        </p:nvSpPr>
        <p:spPr>
          <a:xfrm>
            <a:off x="6484468" y="429768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727274"/>
                </a:solidFill>
                <a:latin typeface="IBM Plex Sans Arabic" pitchFamily="34" charset="0"/>
                <a:ea typeface="IBM Plex Sans Arabic" pitchFamily="34" charset="-122"/>
                <a:cs typeface="IBM Plex Sans Arabic" pitchFamily="34" charset="-120"/>
              </a:rPr>
              <a:t>06</a:t>
            </a:r>
            <a:endParaRPr lang="ar-SA" sz="1400" dirty="0"/>
          </a:p>
        </p:txBody>
      </p:sp>
      <p:sp>
        <p:nvSpPr>
          <p:cNvPr id="41" name="Text 32"/>
          <p:cNvSpPr txBox="1"/>
          <p:nvPr/>
        </p:nvSpPr>
        <p:spPr>
          <a:xfrm>
            <a:off x="6484468" y="500176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خطة تسويق</a:t>
            </a:r>
            <a:endParaRPr lang="ar-SA" sz="1700" dirty="0"/>
          </a:p>
        </p:txBody>
      </p:sp>
      <p:sp>
        <p:nvSpPr>
          <p:cNvPr id="42" name="Text 33"/>
          <p:cNvSpPr txBox="1"/>
          <p:nvPr/>
        </p:nvSpPr>
        <p:spPr>
          <a:xfrm>
            <a:off x="6484468" y="536752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شخصية الجمهور والتقويم والحملة</a:t>
            </a:r>
            <a:endParaRPr lang="ar-SA" sz="1300" dirty="0"/>
          </a:p>
        </p:txBody>
      </p:sp>
      <p:sp>
        <p:nvSpPr>
          <p:cNvPr id="43" name="Shape 34"/>
          <p:cNvSpPr/>
          <p:nvPr/>
        </p:nvSpPr>
        <p:spPr>
          <a:xfrm>
            <a:off x="3379394" y="3977640"/>
            <a:ext cx="2602154" cy="1965960"/>
          </a:xfrm>
          <a:prstGeom prst="roundRect">
            <a:avLst>
              <a:gd name="adj" fmla="val 5581"/>
            </a:avLst>
          </a:prstGeom>
          <a:solidFill>
            <a:srgbClr val="000000"/>
          </a:solidFill>
          <a:ln w="12700">
            <a:solidFill>
              <a:srgbClr val="000000"/>
            </a:solidFill>
            <a:prstDash val="solid"/>
          </a:ln>
        </p:spPr>
      </p:sp>
      <p:sp>
        <p:nvSpPr>
          <p:cNvPr id="44" name="Shape 35"/>
          <p:cNvSpPr/>
          <p:nvPr/>
        </p:nvSpPr>
        <p:spPr>
          <a:xfrm>
            <a:off x="5067148" y="4251960"/>
            <a:ext cx="640080" cy="640080"/>
          </a:xfrm>
          <a:prstGeom prst="ellipse">
            <a:avLst/>
          </a:prstGeom>
          <a:solidFill>
            <a:srgbClr val="A6D04B"/>
          </a:solidFill>
          <a:ln w="6350">
            <a:solidFill>
              <a:srgbClr val="A6D04B"/>
            </a:solidFill>
            <a:prstDash val="solid"/>
          </a:ln>
        </p:spPr>
      </p:sp>
      <p:pic>
        <p:nvPicPr>
          <p:cNvPr id="45" name="Image 7" descr="preencoded.png">    </p:cNvPr>
          <p:cNvPicPr>
            <a:picLocks noChangeAspect="1"/>
          </p:cNvPicPr>
          <p:nvPr/>
        </p:nvPicPr>
        <p:blipFill>
          <a:blip r:embed="rId8"/>
          <a:stretch>
            <a:fillRect/>
          </a:stretch>
        </p:blipFill>
        <p:spPr>
          <a:xfrm>
            <a:off x="5222596" y="4407408"/>
            <a:ext cx="329184" cy="329184"/>
          </a:xfrm>
          <a:prstGeom prst="rect">
            <a:avLst/>
          </a:prstGeom>
        </p:spPr>
      </p:pic>
      <p:sp>
        <p:nvSpPr>
          <p:cNvPr id="46" name="Text 36"/>
          <p:cNvSpPr txBox="1"/>
          <p:nvPr/>
        </p:nvSpPr>
        <p:spPr>
          <a:xfrm>
            <a:off x="3653714" y="429768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A6D04B"/>
                </a:solidFill>
                <a:latin typeface="IBM Plex Sans Arabic" pitchFamily="34" charset="0"/>
                <a:ea typeface="IBM Plex Sans Arabic" pitchFamily="34" charset="-122"/>
                <a:cs typeface="IBM Plex Sans Arabic" pitchFamily="34" charset="-120"/>
              </a:rPr>
              <a:t>07</a:t>
            </a:r>
            <a:endParaRPr lang="ar-SA" sz="1400" dirty="0"/>
          </a:p>
        </p:txBody>
      </p:sp>
      <p:sp>
        <p:nvSpPr>
          <p:cNvPr id="47" name="Text 37"/>
          <p:cNvSpPr txBox="1"/>
          <p:nvPr/>
        </p:nvSpPr>
        <p:spPr>
          <a:xfrm>
            <a:off x="3653714" y="500176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FFFFFF"/>
                </a:solidFill>
                <a:latin typeface="Cairo" pitchFamily="34" charset="0"/>
                <a:ea typeface="Cairo" pitchFamily="34" charset="-122"/>
                <a:cs typeface="Cairo" pitchFamily="34" charset="-120"/>
              </a:rPr>
              <a:t>أتمتة</a:t>
            </a:r>
            <a:endParaRPr lang="ar-SA" sz="1700" dirty="0"/>
          </a:p>
        </p:txBody>
      </p:sp>
      <p:sp>
        <p:nvSpPr>
          <p:cNvPr id="48" name="Text 38"/>
          <p:cNvSpPr txBox="1"/>
          <p:nvPr/>
        </p:nvSpPr>
        <p:spPr>
          <a:xfrm>
            <a:off x="3653714" y="536752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D6D8D4"/>
                </a:solidFill>
                <a:latin typeface="IBM Plex Sans Arabic" pitchFamily="34" charset="0"/>
                <a:ea typeface="IBM Plex Sans Arabic" pitchFamily="34" charset="-122"/>
                <a:cs typeface="IBM Plex Sans Arabic" pitchFamily="34" charset="-120"/>
              </a:rPr>
              <a:t>سير عمل محتوى يعمل على n8n</a:t>
            </a:r>
            <a:endParaRPr lang="ar-SA" sz="1300" dirty="0"/>
          </a:p>
        </p:txBody>
      </p:sp>
      <p:sp>
        <p:nvSpPr>
          <p:cNvPr id="49" name="Shape 39"/>
          <p:cNvSpPr/>
          <p:nvPr/>
        </p:nvSpPr>
        <p:spPr>
          <a:xfrm>
            <a:off x="548640" y="3977640"/>
            <a:ext cx="2602154" cy="1965960"/>
          </a:xfrm>
          <a:prstGeom prst="roundRect">
            <a:avLst>
              <a:gd name="adj" fmla="val 5581"/>
            </a:avLst>
          </a:prstGeom>
          <a:solidFill>
            <a:srgbClr val="EAF5E8"/>
          </a:solidFill>
          <a:ln w="12700">
            <a:solidFill>
              <a:srgbClr val="EAF5E8"/>
            </a:solidFill>
            <a:prstDash val="solid"/>
          </a:ln>
        </p:spPr>
      </p:sp>
      <p:sp>
        <p:nvSpPr>
          <p:cNvPr id="50" name="Shape 40"/>
          <p:cNvSpPr/>
          <p:nvPr/>
        </p:nvSpPr>
        <p:spPr>
          <a:xfrm>
            <a:off x="2236394" y="4251960"/>
            <a:ext cx="640080" cy="640080"/>
          </a:xfrm>
          <a:prstGeom prst="ellipse">
            <a:avLst/>
          </a:prstGeom>
          <a:solidFill>
            <a:srgbClr val="4DB449"/>
          </a:solidFill>
          <a:ln w="6350">
            <a:solidFill>
              <a:srgbClr val="4DB449"/>
            </a:solidFill>
            <a:prstDash val="solid"/>
          </a:ln>
        </p:spPr>
      </p:sp>
      <p:pic>
        <p:nvPicPr>
          <p:cNvPr id="51" name="Image 8" descr="preencoded.png">    </p:cNvPr>
          <p:cNvPicPr>
            <a:picLocks noChangeAspect="1"/>
          </p:cNvPicPr>
          <p:nvPr/>
        </p:nvPicPr>
        <p:blipFill>
          <a:blip r:embed="rId9"/>
          <a:stretch>
            <a:fillRect/>
          </a:stretch>
        </p:blipFill>
        <p:spPr>
          <a:xfrm>
            <a:off x="2391842" y="4407408"/>
            <a:ext cx="329184" cy="329184"/>
          </a:xfrm>
          <a:prstGeom prst="rect">
            <a:avLst/>
          </a:prstGeom>
        </p:spPr>
      </p:pic>
      <p:sp>
        <p:nvSpPr>
          <p:cNvPr id="52" name="Text 41"/>
          <p:cNvSpPr txBox="1"/>
          <p:nvPr/>
        </p:nvSpPr>
        <p:spPr>
          <a:xfrm>
            <a:off x="822960" y="4297680"/>
            <a:ext cx="548640" cy="365760"/>
          </a:xfrm>
          <a:prstGeom prst="rect">
            <a:avLst/>
          </a:prstGeom>
          <a:noFill/>
          <a:ln/>
        </p:spPr>
        <p:txBody>
          <a:bodyPr wrap="square" lIns="0" tIns="0" rIns="0" bIns="0" rtlCol="0" anchor="t"/>
          <a:lstStyle/>
          <a:p>
            <a:pPr rtl="1" algn="l" indent="0" marL="0">
              <a:lnSpc>
                <a:spcPct val="100000"/>
              </a:lnSpc>
              <a:buNone/>
            </a:pPr>
            <a:r>
              <a:rPr lang="ar-SA" altLang="en-US" sz="1400" b="1" dirty="0">
                <a:solidFill>
                  <a:srgbClr val="727274"/>
                </a:solidFill>
                <a:latin typeface="IBM Plex Sans Arabic" pitchFamily="34" charset="0"/>
                <a:ea typeface="IBM Plex Sans Arabic" pitchFamily="34" charset="-122"/>
                <a:cs typeface="IBM Plex Sans Arabic" pitchFamily="34" charset="-120"/>
              </a:rPr>
              <a:t>08</a:t>
            </a:r>
            <a:endParaRPr lang="ar-SA" sz="1400" dirty="0"/>
          </a:p>
        </p:txBody>
      </p:sp>
      <p:sp>
        <p:nvSpPr>
          <p:cNvPr id="53" name="Text 42"/>
          <p:cNvSpPr txBox="1"/>
          <p:nvPr/>
        </p:nvSpPr>
        <p:spPr>
          <a:xfrm>
            <a:off x="822960" y="5001768"/>
            <a:ext cx="2053514" cy="384048"/>
          </a:xfrm>
          <a:prstGeom prst="rect">
            <a:avLst/>
          </a:prstGeom>
          <a:noFill/>
          <a:ln/>
        </p:spPr>
        <p:txBody>
          <a:bodyPr wrap="square" lIns="0" tIns="0" rIns="0" bIns="0" rtlCol="0" anchor="t"/>
          <a:lstStyle/>
          <a:p>
            <a:pPr rtl="1" algn="r" indent="0" marL="0">
              <a:lnSpc>
                <a:spcPct val="100000"/>
              </a:lnSpc>
              <a:buNone/>
            </a:pPr>
            <a:r>
              <a:rPr lang="ar-SA" altLang="en-US" sz="1700" b="1" dirty="0">
                <a:solidFill>
                  <a:srgbClr val="1A1A1A"/>
                </a:solidFill>
                <a:latin typeface="Cairo" pitchFamily="34" charset="0"/>
                <a:ea typeface="Cairo" pitchFamily="34" charset="-122"/>
                <a:cs typeface="Cairo" pitchFamily="34" charset="-120"/>
              </a:rPr>
              <a:t>صفحة الملف المهني</a:t>
            </a:r>
            <a:endParaRPr lang="ar-SA" sz="1700" dirty="0"/>
          </a:p>
        </p:txBody>
      </p:sp>
      <p:sp>
        <p:nvSpPr>
          <p:cNvPr id="54" name="Text 43"/>
          <p:cNvSpPr txBox="1"/>
          <p:nvPr/>
        </p:nvSpPr>
        <p:spPr>
          <a:xfrm>
            <a:off x="822960" y="5367528"/>
            <a:ext cx="2053514" cy="502920"/>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صفحة منشورة ودراسة حالة</a:t>
            </a:r>
            <a:endParaRPr lang="ar-SA"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15</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14 · قياس النجاح</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النجاح مهارة وعمل منجَز وجاهزية، لا دخل مالي فقط</a:t>
            </a:r>
            <a:endParaRPr lang="ar-SA"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108960"/>
                <a:gridCol w="4690872"/>
                <a:gridCol w="3291840"/>
              </a:tblGrid>
              <a:tr h="429768">
                <a:tc>
                  <a:txBody>
                    <a:bodyPr/>
                    <a:lstStyle/>
                    <a:p>
                      <a:pPr rtl="1" algn="r" indent="0" marL="0">
                        <a:buNone/>
                      </a:pPr>
                      <a:r>
                        <a:rPr lang="ar-SA" altLang="en-US" sz="1400" b="1" dirty="0">
                          <a:solidFill>
                            <a:srgbClr val="A6D04B"/>
                          </a:solidFill>
                          <a:latin typeface="Cairo" pitchFamily="34" charset="0"/>
                          <a:ea typeface="Cairo" pitchFamily="34" charset="-122"/>
                          <a:cs typeface="Cairo" pitchFamily="34" charset="-120"/>
                        </a:rPr>
                        <a:t>المستهدف المقترح</a:t>
                      </a:r>
                      <a:endParaRPr lang="ar-SA" sz="1400" dirty="0">
                        <a:latin typeface="Cairo" charset="0"/>
                        <a:ea typeface="Cairo" charset="0"/>
                        <a:cs typeface="Cairo"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00000"/>
                    </a:solidFill>
                  </a:tcPr>
                </a:tc>
                <a:tc>
                  <a:txBody>
                    <a:bodyPr/>
                    <a:lstStyle/>
                    <a:p>
                      <a:pPr rtl="1" algn="r" indent="0" marL="0">
                        <a:buNone/>
                      </a:pPr>
                      <a:r>
                        <a:rPr lang="ar-SA" altLang="en-US" sz="1400" b="1" dirty="0">
                          <a:solidFill>
                            <a:srgbClr val="A6D04B"/>
                          </a:solidFill>
                          <a:latin typeface="Cairo" pitchFamily="34" charset="0"/>
                          <a:ea typeface="Cairo" pitchFamily="34" charset="-122"/>
                          <a:cs typeface="Cairo" pitchFamily="34" charset="-120"/>
                        </a:rPr>
                        <a:t>طريقة القياس</a:t>
                      </a:r>
                      <a:endParaRPr lang="ar-SA" sz="1400" dirty="0">
                        <a:latin typeface="Cairo" charset="0"/>
                        <a:ea typeface="Cairo" charset="0"/>
                        <a:cs typeface="Cairo"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00000"/>
                    </a:solidFill>
                  </a:tcPr>
                </a:tc>
                <a:tc>
                  <a:txBody>
                    <a:bodyPr/>
                    <a:lstStyle/>
                    <a:p>
                      <a:pPr rtl="1" algn="r" indent="0" marL="0">
                        <a:buNone/>
                      </a:pPr>
                      <a:r>
                        <a:rPr lang="ar-SA" altLang="en-US" sz="1400" b="1" dirty="0">
                          <a:solidFill>
                            <a:srgbClr val="A6D04B"/>
                          </a:solidFill>
                          <a:latin typeface="Cairo" pitchFamily="34" charset="0"/>
                          <a:ea typeface="Cairo" pitchFamily="34" charset="-122"/>
                          <a:cs typeface="Cairo" pitchFamily="34" charset="-120"/>
                        </a:rPr>
                        <a:t>المؤشر</a:t>
                      </a:r>
                      <a:endParaRPr lang="ar-SA" sz="1400" dirty="0">
                        <a:latin typeface="Cairo" charset="0"/>
                        <a:ea typeface="Cairo" charset="0"/>
                        <a:cs typeface="Cairo"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00000"/>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85% من الطلاب</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حضور 80% من الجلسات أو أكثر</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إتمام البرنامج</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+25 نقطة في المتوسط</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التقييم نفسه في البداية والنهاية</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التحسّن بين التقييمين</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تسليم 90%</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تسليم مخرجات الوحدات</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المهام العملية</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85% من الطلاب</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فيديو نهائي يحقق المعايير</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مشروع الفيديو</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80% من الطلاب</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سير عمل يعمل من البداية للنهاية</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مشروع الأتمتة</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80% من الفرق</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درجة 3 من 4 أو أعلى</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المشروع الختامي والعرض</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80% من الطلاب</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صفحة منشورة فيها 3 أعمال أو أكثر</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اكتمال الملف المهني</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75% من الطلاب</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dirty="0">
                          <a:solidFill>
                            <a:srgbClr val="3C3E3B"/>
                          </a:solidFill>
                          <a:latin typeface="IBM Plex Sans Arabic" pitchFamily="34" charset="0"/>
                          <a:ea typeface="IBM Plex Sans Arabic" pitchFamily="34" charset="-122"/>
                          <a:cs typeface="IBM Plex Sans Arabic" pitchFamily="34" charset="-120"/>
                        </a:rPr>
                        <a:t>استيفاء قائمة الجاهزية</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rtl="1" algn="r" indent="0" marL="0">
                        <a:buNone/>
                      </a:pPr>
                      <a:r>
                        <a:rPr lang="ar-SA" altLang="en-US" sz="1350" b="1" dirty="0">
                          <a:solidFill>
                            <a:srgbClr val="1A1A1A"/>
                          </a:solidFill>
                          <a:latin typeface="IBM Plex Sans Arabic" pitchFamily="34" charset="0"/>
                          <a:ea typeface="IBM Plex Sans Arabic" pitchFamily="34" charset="-122"/>
                          <a:cs typeface="IBM Plex Sans Arabic" pitchFamily="34" charset="-120"/>
                        </a:rPr>
                        <a:t>الجاهزية للعمل الحر</a:t>
                      </a:r>
                      <a:endParaRPr lang="ar-SA" sz="1350" dirty="0">
                        <a:latin typeface="IBM Plex Sans Arabic" charset="0"/>
                        <a:ea typeface="IBM Plex Sans Arabic" charset="0"/>
                        <a:cs typeface="IBM Plex Sans Arabic"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bl>
          </a:graphicData>
        </a:graphic>
      </p:graphicFrame>
      <p:sp>
        <p:nvSpPr>
          <p:cNvPr id="8" name="Shape 4"/>
          <p:cNvSpPr/>
          <p:nvPr/>
        </p:nvSpPr>
        <p:spPr>
          <a:xfrm>
            <a:off x="658368" y="2313432"/>
            <a:ext cx="1033272" cy="237744"/>
          </a:xfrm>
          <a:prstGeom prst="roundRect">
            <a:avLst>
              <a:gd name="adj" fmla="val 50000"/>
            </a:avLst>
          </a:prstGeom>
          <a:solidFill>
            <a:srgbClr val="EAF5E8"/>
          </a:solidFill>
          <a:ln w="9525">
            <a:solidFill>
              <a:srgbClr val="4DB449"/>
            </a:solidFill>
            <a:prstDash val="solid"/>
          </a:ln>
        </p:spPr>
      </p:sp>
      <p:sp>
        <p:nvSpPr>
          <p:cNvPr id="9" name="Text 5"/>
          <p:cNvSpPr txBox="1"/>
          <p:nvPr/>
        </p:nvSpPr>
        <p:spPr>
          <a:xfrm>
            <a:off x="658368" y="2313432"/>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10" name="Shape 6"/>
          <p:cNvSpPr/>
          <p:nvPr/>
        </p:nvSpPr>
        <p:spPr>
          <a:xfrm>
            <a:off x="658368" y="2743200"/>
            <a:ext cx="1033272" cy="237744"/>
          </a:xfrm>
          <a:prstGeom prst="roundRect">
            <a:avLst>
              <a:gd name="adj" fmla="val 50000"/>
            </a:avLst>
          </a:prstGeom>
          <a:solidFill>
            <a:srgbClr val="EAF5E8"/>
          </a:solidFill>
          <a:ln w="9525">
            <a:solidFill>
              <a:srgbClr val="4DB449"/>
            </a:solidFill>
            <a:prstDash val="solid"/>
          </a:ln>
        </p:spPr>
      </p:sp>
      <p:sp>
        <p:nvSpPr>
          <p:cNvPr id="11" name="Text 7"/>
          <p:cNvSpPr txBox="1"/>
          <p:nvPr/>
        </p:nvSpPr>
        <p:spPr>
          <a:xfrm>
            <a:off x="658368" y="2743200"/>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12" name="Shape 8"/>
          <p:cNvSpPr/>
          <p:nvPr/>
        </p:nvSpPr>
        <p:spPr>
          <a:xfrm>
            <a:off x="658368" y="3172968"/>
            <a:ext cx="1033272" cy="237744"/>
          </a:xfrm>
          <a:prstGeom prst="roundRect">
            <a:avLst>
              <a:gd name="adj" fmla="val 50000"/>
            </a:avLst>
          </a:prstGeom>
          <a:solidFill>
            <a:srgbClr val="EAF5E8"/>
          </a:solidFill>
          <a:ln w="9525">
            <a:solidFill>
              <a:srgbClr val="4DB449"/>
            </a:solidFill>
            <a:prstDash val="solid"/>
          </a:ln>
        </p:spPr>
      </p:sp>
      <p:sp>
        <p:nvSpPr>
          <p:cNvPr id="13" name="Text 9"/>
          <p:cNvSpPr txBox="1"/>
          <p:nvPr/>
        </p:nvSpPr>
        <p:spPr>
          <a:xfrm>
            <a:off x="658368" y="3172968"/>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14" name="Shape 10"/>
          <p:cNvSpPr/>
          <p:nvPr/>
        </p:nvSpPr>
        <p:spPr>
          <a:xfrm>
            <a:off x="658368" y="3602736"/>
            <a:ext cx="1033272" cy="237744"/>
          </a:xfrm>
          <a:prstGeom prst="roundRect">
            <a:avLst>
              <a:gd name="adj" fmla="val 50000"/>
            </a:avLst>
          </a:prstGeom>
          <a:solidFill>
            <a:srgbClr val="EAF5E8"/>
          </a:solidFill>
          <a:ln w="9525">
            <a:solidFill>
              <a:srgbClr val="4DB449"/>
            </a:solidFill>
            <a:prstDash val="solid"/>
          </a:ln>
        </p:spPr>
      </p:sp>
      <p:sp>
        <p:nvSpPr>
          <p:cNvPr id="15" name="Text 11"/>
          <p:cNvSpPr txBox="1"/>
          <p:nvPr/>
        </p:nvSpPr>
        <p:spPr>
          <a:xfrm>
            <a:off x="658368" y="3602736"/>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16" name="Shape 12"/>
          <p:cNvSpPr/>
          <p:nvPr/>
        </p:nvSpPr>
        <p:spPr>
          <a:xfrm>
            <a:off x="658368" y="4032504"/>
            <a:ext cx="1033272" cy="237744"/>
          </a:xfrm>
          <a:prstGeom prst="roundRect">
            <a:avLst>
              <a:gd name="adj" fmla="val 50000"/>
            </a:avLst>
          </a:prstGeom>
          <a:solidFill>
            <a:srgbClr val="EAF5E8"/>
          </a:solidFill>
          <a:ln w="9525">
            <a:solidFill>
              <a:srgbClr val="4DB449"/>
            </a:solidFill>
            <a:prstDash val="solid"/>
          </a:ln>
        </p:spPr>
      </p:sp>
      <p:sp>
        <p:nvSpPr>
          <p:cNvPr id="17" name="Text 13"/>
          <p:cNvSpPr txBox="1"/>
          <p:nvPr/>
        </p:nvSpPr>
        <p:spPr>
          <a:xfrm>
            <a:off x="658368" y="4032504"/>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18" name="Shape 14"/>
          <p:cNvSpPr/>
          <p:nvPr/>
        </p:nvSpPr>
        <p:spPr>
          <a:xfrm>
            <a:off x="658368" y="4462272"/>
            <a:ext cx="1033272" cy="237744"/>
          </a:xfrm>
          <a:prstGeom prst="roundRect">
            <a:avLst>
              <a:gd name="adj" fmla="val 50000"/>
            </a:avLst>
          </a:prstGeom>
          <a:solidFill>
            <a:srgbClr val="EAF5E8"/>
          </a:solidFill>
          <a:ln w="9525">
            <a:solidFill>
              <a:srgbClr val="4DB449"/>
            </a:solidFill>
            <a:prstDash val="solid"/>
          </a:ln>
        </p:spPr>
      </p:sp>
      <p:sp>
        <p:nvSpPr>
          <p:cNvPr id="19" name="Text 15"/>
          <p:cNvSpPr txBox="1"/>
          <p:nvPr/>
        </p:nvSpPr>
        <p:spPr>
          <a:xfrm>
            <a:off x="658368" y="4462272"/>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20" name="Shape 16"/>
          <p:cNvSpPr/>
          <p:nvPr/>
        </p:nvSpPr>
        <p:spPr>
          <a:xfrm>
            <a:off x="658368" y="4892040"/>
            <a:ext cx="1033272" cy="237744"/>
          </a:xfrm>
          <a:prstGeom prst="roundRect">
            <a:avLst>
              <a:gd name="adj" fmla="val 50000"/>
            </a:avLst>
          </a:prstGeom>
          <a:solidFill>
            <a:srgbClr val="EAF5E8"/>
          </a:solidFill>
          <a:ln w="9525">
            <a:solidFill>
              <a:srgbClr val="4DB449"/>
            </a:solidFill>
            <a:prstDash val="solid"/>
          </a:ln>
        </p:spPr>
      </p:sp>
      <p:sp>
        <p:nvSpPr>
          <p:cNvPr id="21" name="Text 17"/>
          <p:cNvSpPr txBox="1"/>
          <p:nvPr/>
        </p:nvSpPr>
        <p:spPr>
          <a:xfrm>
            <a:off x="658368" y="4892040"/>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22" name="Shape 18"/>
          <p:cNvSpPr/>
          <p:nvPr/>
        </p:nvSpPr>
        <p:spPr>
          <a:xfrm>
            <a:off x="658368" y="5321808"/>
            <a:ext cx="1033272" cy="237744"/>
          </a:xfrm>
          <a:prstGeom prst="roundRect">
            <a:avLst>
              <a:gd name="adj" fmla="val 50000"/>
            </a:avLst>
          </a:prstGeom>
          <a:solidFill>
            <a:srgbClr val="EAF5E8"/>
          </a:solidFill>
          <a:ln w="9525">
            <a:solidFill>
              <a:srgbClr val="4DB449"/>
            </a:solidFill>
            <a:prstDash val="solid"/>
          </a:ln>
        </p:spPr>
      </p:sp>
      <p:sp>
        <p:nvSpPr>
          <p:cNvPr id="23" name="Text 19"/>
          <p:cNvSpPr txBox="1"/>
          <p:nvPr/>
        </p:nvSpPr>
        <p:spPr>
          <a:xfrm>
            <a:off x="658368" y="5321808"/>
            <a:ext cx="1033272" cy="237744"/>
          </a:xfrm>
          <a:prstGeom prst="rect">
            <a:avLst/>
          </a:prstGeom>
          <a:noFill/>
          <a:ln/>
        </p:spPr>
        <p:txBody>
          <a:bodyPr wrap="square" lIns="0" tIns="0" rIns="0" bIns="0" rtlCol="0" anchor="ctr"/>
          <a:lstStyle/>
          <a:p>
            <a:pPr rtl="1" algn="ctr" indent="0" marL="0">
              <a:buNone/>
            </a:pPr>
            <a:r>
              <a:rPr lang="ar-SA" altLang="en-US" sz="950" b="1" dirty="0">
                <a:solidFill>
                  <a:srgbClr val="1A1A1A"/>
                </a:solidFill>
                <a:latin typeface="IBM Plex Sans Arabic" pitchFamily="34" charset="0"/>
                <a:ea typeface="IBM Plex Sans Arabic" pitchFamily="34" charset="-122"/>
                <a:cs typeface="IBM Plex Sans Arabic" pitchFamily="34" charset="-120"/>
              </a:rPr>
              <a:t>مقترح</a:t>
            </a:r>
            <a:endParaRPr lang="ar-SA" sz="950" dirty="0"/>
          </a:p>
        </p:txBody>
      </p:sp>
      <p:sp>
        <p:nvSpPr>
          <p:cNvPr id="24" name="Text 20"/>
          <p:cNvSpPr txBox="1"/>
          <p:nvPr/>
        </p:nvSpPr>
        <p:spPr>
          <a:xfrm>
            <a:off x="548640" y="5760720"/>
            <a:ext cx="11094415" cy="320040"/>
          </a:xfrm>
          <a:prstGeom prst="rect">
            <a:avLst/>
          </a:prstGeom>
          <a:noFill/>
          <a:ln/>
        </p:spPr>
        <p:txBody>
          <a:bodyPr wrap="square" lIns="0" tIns="0" rIns="0" bIns="0" rtlCol="0" anchor="t"/>
          <a:lstStyle/>
          <a:p>
            <a:pPr rtl="1" algn="r" indent="0" marL="0">
              <a:lnSpc>
                <a:spcPct val="100000"/>
              </a:lnSpc>
              <a:buNone/>
            </a:pPr>
            <a:r>
              <a:rPr lang="ar-SA" altLang="en-US" sz="1100" dirty="0">
                <a:solidFill>
                  <a:srgbClr val="727274"/>
                </a:solidFill>
                <a:latin typeface="IBM Plex Sans Arabic" pitchFamily="34" charset="0"/>
                <a:ea typeface="IBM Plex Sans Arabic" pitchFamily="34" charset="-122"/>
                <a:cs typeface="IBM Plex Sans Arabic" pitchFamily="34" charset="-120"/>
              </a:rPr>
              <a:t>جميع المستهدفات مقترحة، وتُعتمد مع فريق البرنامج قبل الإطلاق.</a:t>
            </a:r>
            <a:endParaRPr lang="ar-SA"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548640" y="384048"/>
            <a:ext cx="1286501" cy="457200"/>
          </a:xfrm>
          <a:prstGeom prst="rect">
            <a:avLst/>
          </a:prstGeom>
        </p:spPr>
      </p:pic>
      <p:sp>
        <p:nvSpPr>
          <p:cNvPr id="3"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4"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16</a:t>
            </a:r>
            <a:endParaRPr lang="ar-SA" sz="900" dirty="0"/>
          </a:p>
        </p:txBody>
      </p:sp>
      <p:sp>
        <p:nvSpPr>
          <p:cNvPr id="5"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15 · نموذج التنفيذ</a:t>
            </a:r>
            <a:endParaRPr lang="ar-SA" sz="1100" dirty="0"/>
          </a:p>
        </p:txBody>
      </p:sp>
      <p:sp>
        <p:nvSpPr>
          <p:cNvPr id="6"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اثنا عشر أسبوعاً، وثلاث جلسات أسبوعياً</a:t>
            </a:r>
            <a:endParaRPr lang="ar-SA" sz="2600" dirty="0"/>
          </a:p>
        </p:txBody>
      </p:sp>
      <p:sp>
        <p:nvSpPr>
          <p:cNvPr id="7" name="Text 4"/>
          <p:cNvSpPr txBox="1"/>
          <p:nvPr/>
        </p:nvSpPr>
        <p:spPr>
          <a:xfrm>
            <a:off x="878174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a:t>
            </a:r>
            <a:endParaRPr lang="ar-SA" sz="1100" dirty="0"/>
          </a:p>
        </p:txBody>
      </p:sp>
      <p:sp>
        <p:nvSpPr>
          <p:cNvPr id="8" name="Shape 5"/>
          <p:cNvSpPr/>
          <p:nvPr/>
        </p:nvSpPr>
        <p:spPr>
          <a:xfrm>
            <a:off x="8790889" y="2148840"/>
            <a:ext cx="419862" cy="3712464"/>
          </a:xfrm>
          <a:prstGeom prst="rect">
            <a:avLst/>
          </a:prstGeom>
          <a:solidFill>
            <a:srgbClr val="F7F8F6"/>
          </a:solidFill>
          <a:ln w="12700">
            <a:solidFill>
              <a:srgbClr val="F7F8F6"/>
            </a:solidFill>
            <a:prstDash val="solid"/>
          </a:ln>
        </p:spPr>
      </p:sp>
      <p:sp>
        <p:nvSpPr>
          <p:cNvPr id="9" name="Text 6"/>
          <p:cNvSpPr txBox="1"/>
          <p:nvPr/>
        </p:nvSpPr>
        <p:spPr>
          <a:xfrm>
            <a:off x="834359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2</a:t>
            </a:r>
            <a:endParaRPr lang="ar-SA" sz="1100" dirty="0"/>
          </a:p>
        </p:txBody>
      </p:sp>
      <p:sp>
        <p:nvSpPr>
          <p:cNvPr id="10" name="Shape 7"/>
          <p:cNvSpPr/>
          <p:nvPr/>
        </p:nvSpPr>
        <p:spPr>
          <a:xfrm>
            <a:off x="8352739" y="2148840"/>
            <a:ext cx="419862" cy="3712464"/>
          </a:xfrm>
          <a:prstGeom prst="rect">
            <a:avLst/>
          </a:prstGeom>
          <a:solidFill>
            <a:srgbClr val="FFFFFF"/>
          </a:solidFill>
          <a:ln w="12700">
            <a:solidFill>
              <a:srgbClr val="FFFFFF"/>
            </a:solidFill>
            <a:prstDash val="solid"/>
          </a:ln>
        </p:spPr>
      </p:sp>
      <p:sp>
        <p:nvSpPr>
          <p:cNvPr id="11" name="Text 8"/>
          <p:cNvSpPr txBox="1"/>
          <p:nvPr/>
        </p:nvSpPr>
        <p:spPr>
          <a:xfrm>
            <a:off x="790544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3</a:t>
            </a:r>
            <a:endParaRPr lang="ar-SA" sz="1100" dirty="0"/>
          </a:p>
        </p:txBody>
      </p:sp>
      <p:sp>
        <p:nvSpPr>
          <p:cNvPr id="12" name="Shape 9"/>
          <p:cNvSpPr/>
          <p:nvPr/>
        </p:nvSpPr>
        <p:spPr>
          <a:xfrm>
            <a:off x="7914589" y="2148840"/>
            <a:ext cx="419862" cy="3712464"/>
          </a:xfrm>
          <a:prstGeom prst="rect">
            <a:avLst/>
          </a:prstGeom>
          <a:solidFill>
            <a:srgbClr val="F7F8F6"/>
          </a:solidFill>
          <a:ln w="12700">
            <a:solidFill>
              <a:srgbClr val="F7F8F6"/>
            </a:solidFill>
            <a:prstDash val="solid"/>
          </a:ln>
        </p:spPr>
      </p:sp>
      <p:sp>
        <p:nvSpPr>
          <p:cNvPr id="13" name="Text 10"/>
          <p:cNvSpPr txBox="1"/>
          <p:nvPr/>
        </p:nvSpPr>
        <p:spPr>
          <a:xfrm>
            <a:off x="746729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4</a:t>
            </a:r>
            <a:endParaRPr lang="ar-SA" sz="1100" dirty="0"/>
          </a:p>
        </p:txBody>
      </p:sp>
      <p:sp>
        <p:nvSpPr>
          <p:cNvPr id="14" name="Shape 11"/>
          <p:cNvSpPr/>
          <p:nvPr/>
        </p:nvSpPr>
        <p:spPr>
          <a:xfrm>
            <a:off x="7476439" y="2148840"/>
            <a:ext cx="419862" cy="3712464"/>
          </a:xfrm>
          <a:prstGeom prst="rect">
            <a:avLst/>
          </a:prstGeom>
          <a:solidFill>
            <a:srgbClr val="FFFFFF"/>
          </a:solidFill>
          <a:ln w="12700">
            <a:solidFill>
              <a:srgbClr val="FFFFFF"/>
            </a:solidFill>
            <a:prstDash val="solid"/>
          </a:ln>
        </p:spPr>
      </p:sp>
      <p:sp>
        <p:nvSpPr>
          <p:cNvPr id="15" name="Text 12"/>
          <p:cNvSpPr txBox="1"/>
          <p:nvPr/>
        </p:nvSpPr>
        <p:spPr>
          <a:xfrm>
            <a:off x="702914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5</a:t>
            </a:r>
            <a:endParaRPr lang="ar-SA" sz="1100" dirty="0"/>
          </a:p>
        </p:txBody>
      </p:sp>
      <p:sp>
        <p:nvSpPr>
          <p:cNvPr id="16" name="Shape 13"/>
          <p:cNvSpPr/>
          <p:nvPr/>
        </p:nvSpPr>
        <p:spPr>
          <a:xfrm>
            <a:off x="7038289" y="2148840"/>
            <a:ext cx="419862" cy="3712464"/>
          </a:xfrm>
          <a:prstGeom prst="rect">
            <a:avLst/>
          </a:prstGeom>
          <a:solidFill>
            <a:srgbClr val="F7F8F6"/>
          </a:solidFill>
          <a:ln w="12700">
            <a:solidFill>
              <a:srgbClr val="F7F8F6"/>
            </a:solidFill>
            <a:prstDash val="solid"/>
          </a:ln>
        </p:spPr>
      </p:sp>
      <p:sp>
        <p:nvSpPr>
          <p:cNvPr id="17" name="Text 14"/>
          <p:cNvSpPr txBox="1"/>
          <p:nvPr/>
        </p:nvSpPr>
        <p:spPr>
          <a:xfrm>
            <a:off x="659099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6</a:t>
            </a:r>
            <a:endParaRPr lang="ar-SA" sz="1100" dirty="0"/>
          </a:p>
        </p:txBody>
      </p:sp>
      <p:sp>
        <p:nvSpPr>
          <p:cNvPr id="18" name="Shape 15"/>
          <p:cNvSpPr/>
          <p:nvPr/>
        </p:nvSpPr>
        <p:spPr>
          <a:xfrm>
            <a:off x="6600139" y="2148840"/>
            <a:ext cx="419862" cy="3712464"/>
          </a:xfrm>
          <a:prstGeom prst="rect">
            <a:avLst/>
          </a:prstGeom>
          <a:solidFill>
            <a:srgbClr val="FFFFFF"/>
          </a:solidFill>
          <a:ln w="12700">
            <a:solidFill>
              <a:srgbClr val="FFFFFF"/>
            </a:solidFill>
            <a:prstDash val="solid"/>
          </a:ln>
        </p:spPr>
      </p:sp>
      <p:sp>
        <p:nvSpPr>
          <p:cNvPr id="19" name="Text 16"/>
          <p:cNvSpPr txBox="1"/>
          <p:nvPr/>
        </p:nvSpPr>
        <p:spPr>
          <a:xfrm>
            <a:off x="615284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7</a:t>
            </a:r>
            <a:endParaRPr lang="ar-SA" sz="1100" dirty="0"/>
          </a:p>
        </p:txBody>
      </p:sp>
      <p:sp>
        <p:nvSpPr>
          <p:cNvPr id="20" name="Shape 17"/>
          <p:cNvSpPr/>
          <p:nvPr/>
        </p:nvSpPr>
        <p:spPr>
          <a:xfrm>
            <a:off x="6161989" y="2148840"/>
            <a:ext cx="419862" cy="3712464"/>
          </a:xfrm>
          <a:prstGeom prst="rect">
            <a:avLst/>
          </a:prstGeom>
          <a:solidFill>
            <a:srgbClr val="F7F8F6"/>
          </a:solidFill>
          <a:ln w="12700">
            <a:solidFill>
              <a:srgbClr val="F7F8F6"/>
            </a:solidFill>
            <a:prstDash val="solid"/>
          </a:ln>
        </p:spPr>
      </p:sp>
      <p:sp>
        <p:nvSpPr>
          <p:cNvPr id="21" name="Text 18"/>
          <p:cNvSpPr txBox="1"/>
          <p:nvPr/>
        </p:nvSpPr>
        <p:spPr>
          <a:xfrm>
            <a:off x="571469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8</a:t>
            </a:r>
            <a:endParaRPr lang="ar-SA" sz="1100" dirty="0"/>
          </a:p>
        </p:txBody>
      </p:sp>
      <p:sp>
        <p:nvSpPr>
          <p:cNvPr id="22" name="Shape 19"/>
          <p:cNvSpPr/>
          <p:nvPr/>
        </p:nvSpPr>
        <p:spPr>
          <a:xfrm>
            <a:off x="5723839" y="2148840"/>
            <a:ext cx="419862" cy="3712464"/>
          </a:xfrm>
          <a:prstGeom prst="rect">
            <a:avLst/>
          </a:prstGeom>
          <a:solidFill>
            <a:srgbClr val="FFFFFF"/>
          </a:solidFill>
          <a:ln w="12700">
            <a:solidFill>
              <a:srgbClr val="FFFFFF"/>
            </a:solidFill>
            <a:prstDash val="solid"/>
          </a:ln>
        </p:spPr>
      </p:sp>
      <p:sp>
        <p:nvSpPr>
          <p:cNvPr id="23" name="Text 20"/>
          <p:cNvSpPr txBox="1"/>
          <p:nvPr/>
        </p:nvSpPr>
        <p:spPr>
          <a:xfrm>
            <a:off x="527654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9</a:t>
            </a:r>
            <a:endParaRPr lang="ar-SA" sz="1100" dirty="0"/>
          </a:p>
        </p:txBody>
      </p:sp>
      <p:sp>
        <p:nvSpPr>
          <p:cNvPr id="24" name="Shape 21"/>
          <p:cNvSpPr/>
          <p:nvPr/>
        </p:nvSpPr>
        <p:spPr>
          <a:xfrm>
            <a:off x="5285689" y="2148840"/>
            <a:ext cx="419862" cy="3712464"/>
          </a:xfrm>
          <a:prstGeom prst="rect">
            <a:avLst/>
          </a:prstGeom>
          <a:solidFill>
            <a:srgbClr val="F7F8F6"/>
          </a:solidFill>
          <a:ln w="12700">
            <a:solidFill>
              <a:srgbClr val="F7F8F6"/>
            </a:solidFill>
            <a:prstDash val="solid"/>
          </a:ln>
        </p:spPr>
      </p:sp>
      <p:sp>
        <p:nvSpPr>
          <p:cNvPr id="25" name="Text 22"/>
          <p:cNvSpPr txBox="1"/>
          <p:nvPr/>
        </p:nvSpPr>
        <p:spPr>
          <a:xfrm>
            <a:off x="483839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10</a:t>
            </a:r>
            <a:endParaRPr lang="ar-SA" sz="1100" dirty="0"/>
          </a:p>
        </p:txBody>
      </p:sp>
      <p:sp>
        <p:nvSpPr>
          <p:cNvPr id="26" name="Shape 23"/>
          <p:cNvSpPr/>
          <p:nvPr/>
        </p:nvSpPr>
        <p:spPr>
          <a:xfrm>
            <a:off x="4847539" y="2148840"/>
            <a:ext cx="419862" cy="3712464"/>
          </a:xfrm>
          <a:prstGeom prst="rect">
            <a:avLst/>
          </a:prstGeom>
          <a:solidFill>
            <a:srgbClr val="FFFFFF"/>
          </a:solidFill>
          <a:ln w="12700">
            <a:solidFill>
              <a:srgbClr val="FFFFFF"/>
            </a:solidFill>
            <a:prstDash val="solid"/>
          </a:ln>
        </p:spPr>
      </p:sp>
      <p:sp>
        <p:nvSpPr>
          <p:cNvPr id="27" name="Text 24"/>
          <p:cNvSpPr txBox="1"/>
          <p:nvPr/>
        </p:nvSpPr>
        <p:spPr>
          <a:xfrm>
            <a:off x="440024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11</a:t>
            </a:r>
            <a:endParaRPr lang="ar-SA" sz="1100" dirty="0"/>
          </a:p>
        </p:txBody>
      </p:sp>
      <p:sp>
        <p:nvSpPr>
          <p:cNvPr id="28" name="Shape 25"/>
          <p:cNvSpPr/>
          <p:nvPr/>
        </p:nvSpPr>
        <p:spPr>
          <a:xfrm>
            <a:off x="4409389" y="2148840"/>
            <a:ext cx="419862" cy="3712464"/>
          </a:xfrm>
          <a:prstGeom prst="rect">
            <a:avLst/>
          </a:prstGeom>
          <a:solidFill>
            <a:srgbClr val="F7F8F6"/>
          </a:solidFill>
          <a:ln w="12700">
            <a:solidFill>
              <a:srgbClr val="F7F8F6"/>
            </a:solidFill>
            <a:prstDash val="solid"/>
          </a:ln>
        </p:spPr>
      </p:sp>
      <p:sp>
        <p:nvSpPr>
          <p:cNvPr id="29" name="Text 26"/>
          <p:cNvSpPr txBox="1"/>
          <p:nvPr/>
        </p:nvSpPr>
        <p:spPr>
          <a:xfrm>
            <a:off x="3962095" y="1828800"/>
            <a:ext cx="438150" cy="274320"/>
          </a:xfrm>
          <a:prstGeom prst="rect">
            <a:avLst/>
          </a:prstGeom>
          <a:noFill/>
          <a:ln/>
        </p:spPr>
        <p:txBody>
          <a:bodyPr wrap="square" lIns="0" tIns="0" rIns="0" bIns="0" rtlCol="0" anchor="t"/>
          <a:lstStyle/>
          <a:p>
            <a:pPr rtl="1" algn="ct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12</a:t>
            </a:r>
            <a:endParaRPr lang="ar-SA" sz="1100" dirty="0"/>
          </a:p>
        </p:txBody>
      </p:sp>
      <p:sp>
        <p:nvSpPr>
          <p:cNvPr id="30" name="Shape 27"/>
          <p:cNvSpPr/>
          <p:nvPr/>
        </p:nvSpPr>
        <p:spPr>
          <a:xfrm>
            <a:off x="3971239" y="2148840"/>
            <a:ext cx="419862" cy="3712464"/>
          </a:xfrm>
          <a:prstGeom prst="rect">
            <a:avLst/>
          </a:prstGeom>
          <a:solidFill>
            <a:srgbClr val="EAF5E8"/>
          </a:solidFill>
          <a:ln w="12700">
            <a:solidFill>
              <a:srgbClr val="EAF5E8"/>
            </a:solidFill>
            <a:prstDash val="solid"/>
          </a:ln>
        </p:spPr>
      </p:sp>
      <p:sp>
        <p:nvSpPr>
          <p:cNvPr id="31" name="Text 28"/>
          <p:cNvSpPr txBox="1"/>
          <p:nvPr/>
        </p:nvSpPr>
        <p:spPr>
          <a:xfrm>
            <a:off x="3779215" y="5907024"/>
            <a:ext cx="803910" cy="274320"/>
          </a:xfrm>
          <a:prstGeom prst="rect">
            <a:avLst/>
          </a:prstGeom>
          <a:noFill/>
          <a:ln/>
        </p:spPr>
        <p:txBody>
          <a:bodyPr wrap="square" lIns="0" tIns="0" rIns="0" bIns="0" rtlCol="0" anchor="t"/>
          <a:lstStyle/>
          <a:p>
            <a:pPr rtl="1" algn="ctr" indent="0" marL="0">
              <a:lnSpc>
                <a:spcPct val="100000"/>
              </a:lnSpc>
              <a:buNone/>
            </a:pPr>
            <a:r>
              <a:rPr lang="ar-SA" altLang="en-US" sz="1000" dirty="0">
                <a:solidFill>
                  <a:srgbClr val="727274"/>
                </a:solidFill>
                <a:latin typeface="IBM Plex Sans Arabic" pitchFamily="34" charset="0"/>
                <a:ea typeface="IBM Plex Sans Arabic" pitchFamily="34" charset="-122"/>
                <a:cs typeface="IBM Plex Sans Arabic" pitchFamily="34" charset="-120"/>
              </a:rPr>
              <a:t>احتياطي</a:t>
            </a:r>
            <a:endParaRPr lang="ar-SA" sz="1000" dirty="0"/>
          </a:p>
        </p:txBody>
      </p:sp>
      <p:sp>
        <p:nvSpPr>
          <p:cNvPr id="32" name="Text 29"/>
          <p:cNvSpPr txBox="1"/>
          <p:nvPr/>
        </p:nvSpPr>
        <p:spPr>
          <a:xfrm>
            <a:off x="9311335" y="1828800"/>
            <a:ext cx="23317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أسبوع</a:t>
            </a:r>
            <a:endParaRPr lang="ar-SA" sz="1100" dirty="0"/>
          </a:p>
        </p:txBody>
      </p:sp>
      <p:sp>
        <p:nvSpPr>
          <p:cNvPr id="33" name="Text 30"/>
          <p:cNvSpPr txBox="1"/>
          <p:nvPr/>
        </p:nvSpPr>
        <p:spPr>
          <a:xfrm>
            <a:off x="9311335" y="2194560"/>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M1 التهيئة وأساسيات AI</a:t>
            </a:r>
            <a:endParaRPr lang="ar-SA" sz="1100" dirty="0"/>
          </a:p>
        </p:txBody>
      </p:sp>
      <p:sp>
        <p:nvSpPr>
          <p:cNvPr id="34" name="Shape 31"/>
          <p:cNvSpPr/>
          <p:nvPr/>
        </p:nvSpPr>
        <p:spPr>
          <a:xfrm>
            <a:off x="8946083" y="2240280"/>
            <a:ext cx="255524" cy="219456"/>
          </a:xfrm>
          <a:prstGeom prst="roundRect">
            <a:avLst>
              <a:gd name="adj" fmla="val 20833"/>
            </a:avLst>
          </a:prstGeom>
          <a:solidFill>
            <a:srgbClr val="727274"/>
          </a:solidFill>
          <a:ln w="12700">
            <a:solidFill>
              <a:srgbClr val="727274"/>
            </a:solidFill>
            <a:prstDash val="solid"/>
          </a:ln>
        </p:spPr>
      </p:sp>
      <p:sp>
        <p:nvSpPr>
          <p:cNvPr id="35" name="Text 32"/>
          <p:cNvSpPr txBox="1"/>
          <p:nvPr/>
        </p:nvSpPr>
        <p:spPr>
          <a:xfrm>
            <a:off x="9311335" y="2523744"/>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M2 الأوامر والسياق</a:t>
            </a:r>
            <a:endParaRPr lang="ar-SA" sz="1100" dirty="0"/>
          </a:p>
        </p:txBody>
      </p:sp>
      <p:sp>
        <p:nvSpPr>
          <p:cNvPr id="36" name="Shape 33"/>
          <p:cNvSpPr/>
          <p:nvPr/>
        </p:nvSpPr>
        <p:spPr>
          <a:xfrm>
            <a:off x="8653983" y="2569464"/>
            <a:ext cx="255524" cy="219456"/>
          </a:xfrm>
          <a:prstGeom prst="roundRect">
            <a:avLst>
              <a:gd name="adj" fmla="val 20833"/>
            </a:avLst>
          </a:prstGeom>
          <a:solidFill>
            <a:srgbClr val="727274"/>
          </a:solidFill>
          <a:ln w="12700">
            <a:solidFill>
              <a:srgbClr val="727274"/>
            </a:solidFill>
            <a:prstDash val="solid"/>
          </a:ln>
        </p:spPr>
      </p:sp>
      <p:sp>
        <p:nvSpPr>
          <p:cNvPr id="37" name="Text 34"/>
          <p:cNvSpPr txBox="1"/>
          <p:nvPr/>
        </p:nvSpPr>
        <p:spPr>
          <a:xfrm>
            <a:off x="9311335" y="2852928"/>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M3 البحث وموجز العميل</a:t>
            </a:r>
            <a:endParaRPr lang="ar-SA" sz="1100" dirty="0"/>
          </a:p>
        </p:txBody>
      </p:sp>
      <p:sp>
        <p:nvSpPr>
          <p:cNvPr id="38" name="Shape 35"/>
          <p:cNvSpPr/>
          <p:nvPr/>
        </p:nvSpPr>
        <p:spPr>
          <a:xfrm>
            <a:off x="8361883" y="2898648"/>
            <a:ext cx="255524" cy="219456"/>
          </a:xfrm>
          <a:prstGeom prst="roundRect">
            <a:avLst>
              <a:gd name="adj" fmla="val 20833"/>
            </a:avLst>
          </a:prstGeom>
          <a:solidFill>
            <a:srgbClr val="727274"/>
          </a:solidFill>
          <a:ln w="12700">
            <a:solidFill>
              <a:srgbClr val="727274"/>
            </a:solidFill>
            <a:prstDash val="solid"/>
          </a:ln>
        </p:spPr>
      </p:sp>
      <p:sp>
        <p:nvSpPr>
          <p:cNvPr id="39" name="Text 36"/>
          <p:cNvSpPr txBox="1"/>
          <p:nvPr/>
        </p:nvSpPr>
        <p:spPr>
          <a:xfrm>
            <a:off x="9311335" y="3182112"/>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M4 المحتوى والكتابة التسويقية</a:t>
            </a:r>
            <a:endParaRPr lang="ar-SA" sz="1100" dirty="0"/>
          </a:p>
        </p:txBody>
      </p:sp>
      <p:sp>
        <p:nvSpPr>
          <p:cNvPr id="40" name="Shape 37"/>
          <p:cNvSpPr/>
          <p:nvPr/>
        </p:nvSpPr>
        <p:spPr>
          <a:xfrm>
            <a:off x="7923733" y="3227832"/>
            <a:ext cx="401574" cy="219456"/>
          </a:xfrm>
          <a:prstGeom prst="roundRect">
            <a:avLst>
              <a:gd name="adj" fmla="val 20833"/>
            </a:avLst>
          </a:prstGeom>
          <a:solidFill>
            <a:srgbClr val="4DB449"/>
          </a:solidFill>
          <a:ln w="12700">
            <a:solidFill>
              <a:srgbClr val="4DB449"/>
            </a:solidFill>
            <a:prstDash val="solid"/>
          </a:ln>
        </p:spPr>
      </p:sp>
      <p:sp>
        <p:nvSpPr>
          <p:cNvPr id="41" name="Text 38"/>
          <p:cNvSpPr txBox="1"/>
          <p:nvPr/>
        </p:nvSpPr>
        <p:spPr>
          <a:xfrm>
            <a:off x="9311335" y="3511296"/>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M5 الشخصية والصوت والصورة</a:t>
            </a:r>
            <a:endParaRPr lang="ar-SA" sz="1100" dirty="0"/>
          </a:p>
        </p:txBody>
      </p:sp>
      <p:sp>
        <p:nvSpPr>
          <p:cNvPr id="42" name="Shape 39"/>
          <p:cNvSpPr/>
          <p:nvPr/>
        </p:nvSpPr>
        <p:spPr>
          <a:xfrm>
            <a:off x="7339533" y="3557016"/>
            <a:ext cx="547624" cy="219456"/>
          </a:xfrm>
          <a:prstGeom prst="roundRect">
            <a:avLst>
              <a:gd name="adj" fmla="val 20833"/>
            </a:avLst>
          </a:prstGeom>
          <a:solidFill>
            <a:srgbClr val="A6D04B"/>
          </a:solidFill>
          <a:ln w="12700">
            <a:solidFill>
              <a:srgbClr val="A6D04B"/>
            </a:solidFill>
            <a:prstDash val="solid"/>
          </a:ln>
        </p:spPr>
      </p:sp>
      <p:sp>
        <p:nvSpPr>
          <p:cNvPr id="43" name="Text 40"/>
          <p:cNvSpPr txBox="1"/>
          <p:nvPr/>
        </p:nvSpPr>
        <p:spPr>
          <a:xfrm>
            <a:off x="9311335" y="3840480"/>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M6 السيناريو واللوحة المصوّرة</a:t>
            </a:r>
            <a:endParaRPr lang="ar-SA" sz="1100" dirty="0"/>
          </a:p>
        </p:txBody>
      </p:sp>
      <p:sp>
        <p:nvSpPr>
          <p:cNvPr id="44" name="Shape 41"/>
          <p:cNvSpPr/>
          <p:nvPr/>
        </p:nvSpPr>
        <p:spPr>
          <a:xfrm>
            <a:off x="6901383" y="3886200"/>
            <a:ext cx="401574" cy="219456"/>
          </a:xfrm>
          <a:prstGeom prst="roundRect">
            <a:avLst>
              <a:gd name="adj" fmla="val 20833"/>
            </a:avLst>
          </a:prstGeom>
          <a:solidFill>
            <a:srgbClr val="A6D04B"/>
          </a:solidFill>
          <a:ln w="12700">
            <a:solidFill>
              <a:srgbClr val="A6D04B"/>
            </a:solidFill>
            <a:prstDash val="solid"/>
          </a:ln>
        </p:spPr>
      </p:sp>
      <p:sp>
        <p:nvSpPr>
          <p:cNvPr id="45" name="Text 42"/>
          <p:cNvSpPr txBox="1"/>
          <p:nvPr/>
        </p:nvSpPr>
        <p:spPr>
          <a:xfrm>
            <a:off x="9311335" y="4169664"/>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M7 الفيديو والمونتاج</a:t>
            </a:r>
            <a:endParaRPr lang="ar-SA" sz="1100" dirty="0"/>
          </a:p>
        </p:txBody>
      </p:sp>
      <p:sp>
        <p:nvSpPr>
          <p:cNvPr id="46" name="Shape 43"/>
          <p:cNvSpPr/>
          <p:nvPr/>
        </p:nvSpPr>
        <p:spPr>
          <a:xfrm>
            <a:off x="6317183" y="4215384"/>
            <a:ext cx="547624" cy="219456"/>
          </a:xfrm>
          <a:prstGeom prst="roundRect">
            <a:avLst>
              <a:gd name="adj" fmla="val 20833"/>
            </a:avLst>
          </a:prstGeom>
          <a:solidFill>
            <a:srgbClr val="A6D04B"/>
          </a:solidFill>
          <a:ln w="12700">
            <a:solidFill>
              <a:srgbClr val="A6D04B"/>
            </a:solidFill>
            <a:prstDash val="solid"/>
          </a:ln>
        </p:spPr>
      </p:sp>
      <p:sp>
        <p:nvSpPr>
          <p:cNvPr id="47" name="Text 44"/>
          <p:cNvSpPr txBox="1"/>
          <p:nvPr/>
        </p:nvSpPr>
        <p:spPr>
          <a:xfrm>
            <a:off x="9311335" y="4498848"/>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M8 التسويق الرقمي</a:t>
            </a:r>
            <a:endParaRPr lang="ar-SA" sz="1100" dirty="0"/>
          </a:p>
        </p:txBody>
      </p:sp>
      <p:sp>
        <p:nvSpPr>
          <p:cNvPr id="48" name="Shape 45"/>
          <p:cNvSpPr/>
          <p:nvPr/>
        </p:nvSpPr>
        <p:spPr>
          <a:xfrm>
            <a:off x="5879033" y="4544568"/>
            <a:ext cx="401574" cy="219456"/>
          </a:xfrm>
          <a:prstGeom prst="roundRect">
            <a:avLst>
              <a:gd name="adj" fmla="val 20833"/>
            </a:avLst>
          </a:prstGeom>
          <a:solidFill>
            <a:srgbClr val="000000"/>
          </a:solidFill>
          <a:ln w="12700">
            <a:solidFill>
              <a:srgbClr val="000000"/>
            </a:solidFill>
            <a:prstDash val="solid"/>
          </a:ln>
        </p:spPr>
      </p:sp>
      <p:sp>
        <p:nvSpPr>
          <p:cNvPr id="49" name="Text 46"/>
          <p:cNvSpPr txBox="1"/>
          <p:nvPr/>
        </p:nvSpPr>
        <p:spPr>
          <a:xfrm>
            <a:off x="9311335" y="4828032"/>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M9 أتمتة n8n</a:t>
            </a:r>
            <a:endParaRPr lang="ar-SA" sz="1100" dirty="0"/>
          </a:p>
        </p:txBody>
      </p:sp>
      <p:sp>
        <p:nvSpPr>
          <p:cNvPr id="50" name="Shape 47"/>
          <p:cNvSpPr/>
          <p:nvPr/>
        </p:nvSpPr>
        <p:spPr>
          <a:xfrm>
            <a:off x="5294833" y="4873752"/>
            <a:ext cx="547624" cy="219456"/>
          </a:xfrm>
          <a:prstGeom prst="roundRect">
            <a:avLst>
              <a:gd name="adj" fmla="val 20833"/>
            </a:avLst>
          </a:prstGeom>
          <a:solidFill>
            <a:srgbClr val="4DB449"/>
          </a:solidFill>
          <a:ln w="12700">
            <a:solidFill>
              <a:srgbClr val="4DB449"/>
            </a:solidFill>
            <a:prstDash val="solid"/>
          </a:ln>
        </p:spPr>
      </p:sp>
      <p:sp>
        <p:nvSpPr>
          <p:cNvPr id="51" name="Text 48"/>
          <p:cNvSpPr txBox="1"/>
          <p:nvPr/>
        </p:nvSpPr>
        <p:spPr>
          <a:xfrm>
            <a:off x="9311335" y="5157216"/>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M10 الملف المهني والعمل الحر</a:t>
            </a:r>
            <a:endParaRPr lang="ar-SA" sz="1100" dirty="0"/>
          </a:p>
        </p:txBody>
      </p:sp>
      <p:sp>
        <p:nvSpPr>
          <p:cNvPr id="52" name="Shape 49"/>
          <p:cNvSpPr/>
          <p:nvPr/>
        </p:nvSpPr>
        <p:spPr>
          <a:xfrm>
            <a:off x="5002733" y="5202936"/>
            <a:ext cx="255524" cy="219456"/>
          </a:xfrm>
          <a:prstGeom prst="roundRect">
            <a:avLst>
              <a:gd name="adj" fmla="val 20833"/>
            </a:avLst>
          </a:prstGeom>
          <a:solidFill>
            <a:srgbClr val="A6D04B"/>
          </a:solidFill>
          <a:ln w="12700">
            <a:solidFill>
              <a:srgbClr val="A6D04B"/>
            </a:solidFill>
            <a:prstDash val="solid"/>
          </a:ln>
        </p:spPr>
      </p:sp>
      <p:sp>
        <p:nvSpPr>
          <p:cNvPr id="53" name="Text 50"/>
          <p:cNvSpPr txBox="1"/>
          <p:nvPr/>
        </p:nvSpPr>
        <p:spPr>
          <a:xfrm>
            <a:off x="9311335" y="5486400"/>
            <a:ext cx="2331720" cy="292608"/>
          </a:xfrm>
          <a:prstGeom prst="rect">
            <a:avLst/>
          </a:prstGeom>
          <a:noFill/>
          <a:ln/>
        </p:spPr>
        <p:txBody>
          <a:bodyPr wrap="square" lIns="0" tIns="0" rIns="0" bIns="0" rtlCol="0" anchor="ctr"/>
          <a:lstStyle/>
          <a:p>
            <a:pPr rtl="1" algn="r" indent="0" marL="0">
              <a:lnSpc>
                <a:spcPct val="100000"/>
              </a:lnSpc>
              <a:buNone/>
            </a:pPr>
            <a:r>
              <a:rPr lang="ar-SA" altLang="en-US" sz="1100" dirty="0">
                <a:solidFill>
                  <a:srgbClr val="1A1A1A"/>
                </a:solidFill>
                <a:latin typeface="IBM Plex Sans Arabic" pitchFamily="34" charset="0"/>
                <a:ea typeface="IBM Plex Sans Arabic" pitchFamily="34" charset="-122"/>
                <a:cs typeface="IBM Plex Sans Arabic" pitchFamily="34" charset="-120"/>
              </a:rPr>
              <a:t>M11 المشروع الختامي ويوم العرض</a:t>
            </a:r>
            <a:endParaRPr lang="ar-SA" sz="1100" dirty="0"/>
          </a:p>
        </p:txBody>
      </p:sp>
      <p:sp>
        <p:nvSpPr>
          <p:cNvPr id="54" name="Shape 51"/>
          <p:cNvSpPr/>
          <p:nvPr/>
        </p:nvSpPr>
        <p:spPr>
          <a:xfrm>
            <a:off x="4564583" y="5532120"/>
            <a:ext cx="401574" cy="219456"/>
          </a:xfrm>
          <a:prstGeom prst="roundRect">
            <a:avLst>
              <a:gd name="adj" fmla="val 20833"/>
            </a:avLst>
          </a:prstGeom>
          <a:solidFill>
            <a:srgbClr val="000000"/>
          </a:solidFill>
          <a:ln w="12700">
            <a:solidFill>
              <a:srgbClr val="000000"/>
            </a:solidFill>
            <a:prstDash val="solid"/>
          </a:ln>
        </p:spPr>
      </p:sp>
      <p:sp>
        <p:nvSpPr>
          <p:cNvPr id="55" name="Shape 52"/>
          <p:cNvSpPr/>
          <p:nvPr/>
        </p:nvSpPr>
        <p:spPr>
          <a:xfrm>
            <a:off x="3459175" y="1847088"/>
            <a:ext cx="457200" cy="457200"/>
          </a:xfrm>
          <a:prstGeom prst="ellipse">
            <a:avLst/>
          </a:prstGeom>
          <a:solidFill>
            <a:srgbClr val="4DB449"/>
          </a:solidFill>
          <a:ln w="6350">
            <a:solidFill>
              <a:srgbClr val="4DB449"/>
            </a:solidFill>
            <a:prstDash val="solid"/>
          </a:ln>
        </p:spPr>
      </p:sp>
      <p:pic>
        <p:nvPicPr>
          <p:cNvPr id="56" name="Image 1" descr="preencoded.png">    </p:cNvPr>
          <p:cNvPicPr>
            <a:picLocks noChangeAspect="1"/>
          </p:cNvPicPr>
          <p:nvPr/>
        </p:nvPicPr>
        <p:blipFill>
          <a:blip r:embed="rId2"/>
          <a:stretch>
            <a:fillRect/>
          </a:stretch>
        </p:blipFill>
        <p:spPr>
          <a:xfrm>
            <a:off x="3568903" y="1956816"/>
            <a:ext cx="237744" cy="237744"/>
          </a:xfrm>
          <a:prstGeom prst="rect">
            <a:avLst/>
          </a:prstGeom>
        </p:spPr>
      </p:pic>
      <p:sp>
        <p:nvSpPr>
          <p:cNvPr id="57" name="Text 53"/>
          <p:cNvSpPr txBox="1"/>
          <p:nvPr/>
        </p:nvSpPr>
        <p:spPr>
          <a:xfrm>
            <a:off x="548640" y="1792224"/>
            <a:ext cx="2773375" cy="274320"/>
          </a:xfrm>
          <a:prstGeom prst="rect">
            <a:avLst/>
          </a:prstGeom>
          <a:noFill/>
          <a:ln/>
        </p:spPr>
        <p:txBody>
          <a:bodyPr wrap="square" lIns="0" tIns="0" rIns="0" bIns="0" rtlCol="0" anchor="t"/>
          <a:lstStyle/>
          <a:p>
            <a:pPr rtl="1" algn="r" indent="0" marL="0">
              <a:lnSpc>
                <a:spcPct val="100000"/>
              </a:lnSpc>
              <a:buNone/>
            </a:pPr>
            <a:r>
              <a:rPr lang="ar-SA" altLang="en-US" sz="1300" b="1" dirty="0">
                <a:solidFill>
                  <a:srgbClr val="1A1A1A"/>
                </a:solidFill>
                <a:latin typeface="Cairo" pitchFamily="34" charset="0"/>
                <a:ea typeface="Cairo" pitchFamily="34" charset="-122"/>
                <a:cs typeface="Cairo" pitchFamily="34" charset="-120"/>
              </a:rPr>
              <a:t>الصيغة</a:t>
            </a:r>
            <a:endParaRPr lang="ar-SA" sz="1300" dirty="0"/>
          </a:p>
        </p:txBody>
      </p:sp>
      <p:sp>
        <p:nvSpPr>
          <p:cNvPr id="58" name="Text 54"/>
          <p:cNvSpPr txBox="1"/>
          <p:nvPr/>
        </p:nvSpPr>
        <p:spPr>
          <a:xfrm>
            <a:off x="548640" y="2075688"/>
            <a:ext cx="2773375" cy="411480"/>
          </a:xfrm>
          <a:prstGeom prst="rect">
            <a:avLst/>
          </a:prstGeom>
          <a:noFill/>
          <a:ln/>
        </p:spPr>
        <p:txBody>
          <a:bodyPr wrap="square" lIns="0" tIns="0" rIns="0" bIns="0" rtlCol="0" anchor="t"/>
          <a:lstStyle/>
          <a:p>
            <a:pPr rtl="1" algn="r" indent="0" marL="0">
              <a:lnSpc>
                <a:spcPct val="95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حضوري في مختبر حاسوب (مقترح)</a:t>
            </a:r>
            <a:endParaRPr lang="ar-SA" sz="1200" dirty="0"/>
          </a:p>
        </p:txBody>
      </p:sp>
      <p:sp>
        <p:nvSpPr>
          <p:cNvPr id="59" name="Shape 55"/>
          <p:cNvSpPr/>
          <p:nvPr/>
        </p:nvSpPr>
        <p:spPr>
          <a:xfrm>
            <a:off x="3459175" y="2560320"/>
            <a:ext cx="457200" cy="457200"/>
          </a:xfrm>
          <a:prstGeom prst="ellipse">
            <a:avLst/>
          </a:prstGeom>
          <a:solidFill>
            <a:srgbClr val="4DB449"/>
          </a:solidFill>
          <a:ln w="6350">
            <a:solidFill>
              <a:srgbClr val="4DB449"/>
            </a:solidFill>
            <a:prstDash val="solid"/>
          </a:ln>
        </p:spPr>
      </p:sp>
      <p:pic>
        <p:nvPicPr>
          <p:cNvPr id="60" name="Image 2" descr="preencoded.png">    </p:cNvPr>
          <p:cNvPicPr>
            <a:picLocks noChangeAspect="1"/>
          </p:cNvPicPr>
          <p:nvPr/>
        </p:nvPicPr>
        <p:blipFill>
          <a:blip r:embed="rId3"/>
          <a:stretch>
            <a:fillRect/>
          </a:stretch>
        </p:blipFill>
        <p:spPr>
          <a:xfrm>
            <a:off x="3568903" y="2670048"/>
            <a:ext cx="237744" cy="237744"/>
          </a:xfrm>
          <a:prstGeom prst="rect">
            <a:avLst/>
          </a:prstGeom>
        </p:spPr>
      </p:pic>
      <p:sp>
        <p:nvSpPr>
          <p:cNvPr id="61" name="Text 56"/>
          <p:cNvSpPr txBox="1"/>
          <p:nvPr/>
        </p:nvSpPr>
        <p:spPr>
          <a:xfrm>
            <a:off x="548640" y="2505456"/>
            <a:ext cx="2773375" cy="274320"/>
          </a:xfrm>
          <a:prstGeom prst="rect">
            <a:avLst/>
          </a:prstGeom>
          <a:noFill/>
          <a:ln/>
        </p:spPr>
        <p:txBody>
          <a:bodyPr wrap="square" lIns="0" tIns="0" rIns="0" bIns="0" rtlCol="0" anchor="t"/>
          <a:lstStyle/>
          <a:p>
            <a:pPr rtl="1" algn="r" indent="0" marL="0">
              <a:lnSpc>
                <a:spcPct val="100000"/>
              </a:lnSpc>
              <a:buNone/>
            </a:pPr>
            <a:r>
              <a:rPr lang="ar-SA" altLang="en-US" sz="1300" b="1" dirty="0">
                <a:solidFill>
                  <a:srgbClr val="1A1A1A"/>
                </a:solidFill>
                <a:latin typeface="Cairo" pitchFamily="34" charset="0"/>
                <a:ea typeface="Cairo" pitchFamily="34" charset="-122"/>
                <a:cs typeface="Cairo" pitchFamily="34" charset="-120"/>
              </a:rPr>
              <a:t>الإيقاع</a:t>
            </a:r>
            <a:endParaRPr lang="ar-SA" sz="1300" dirty="0"/>
          </a:p>
        </p:txBody>
      </p:sp>
      <p:sp>
        <p:nvSpPr>
          <p:cNvPr id="62" name="Text 57"/>
          <p:cNvSpPr txBox="1"/>
          <p:nvPr/>
        </p:nvSpPr>
        <p:spPr>
          <a:xfrm>
            <a:off x="548640" y="2788920"/>
            <a:ext cx="2773375" cy="411480"/>
          </a:xfrm>
          <a:prstGeom prst="rect">
            <a:avLst/>
          </a:prstGeom>
          <a:noFill/>
          <a:ln/>
        </p:spPr>
        <p:txBody>
          <a:bodyPr wrap="square" lIns="0" tIns="0" rIns="0" bIns="0" rtlCol="0" anchor="t"/>
          <a:lstStyle/>
          <a:p>
            <a:pPr rtl="1" algn="r" indent="0" marL="0">
              <a:lnSpc>
                <a:spcPct val="95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3 جلسات × 3 ساعات أسبوعياً</a:t>
            </a:r>
            <a:endParaRPr lang="ar-SA" sz="1200" dirty="0"/>
          </a:p>
        </p:txBody>
      </p:sp>
      <p:sp>
        <p:nvSpPr>
          <p:cNvPr id="63" name="Shape 58"/>
          <p:cNvSpPr/>
          <p:nvPr/>
        </p:nvSpPr>
        <p:spPr>
          <a:xfrm>
            <a:off x="3459175" y="3273552"/>
            <a:ext cx="457200" cy="457200"/>
          </a:xfrm>
          <a:prstGeom prst="ellipse">
            <a:avLst/>
          </a:prstGeom>
          <a:solidFill>
            <a:srgbClr val="4DB449"/>
          </a:solidFill>
          <a:ln w="6350">
            <a:solidFill>
              <a:srgbClr val="4DB449"/>
            </a:solidFill>
            <a:prstDash val="solid"/>
          </a:ln>
        </p:spPr>
      </p:sp>
      <p:pic>
        <p:nvPicPr>
          <p:cNvPr id="64" name="Image 3" descr="preencoded.png">    </p:cNvPr>
          <p:cNvPicPr>
            <a:picLocks noChangeAspect="1"/>
          </p:cNvPicPr>
          <p:nvPr/>
        </p:nvPicPr>
        <p:blipFill>
          <a:blip r:embed="rId4"/>
          <a:stretch>
            <a:fillRect/>
          </a:stretch>
        </p:blipFill>
        <p:spPr>
          <a:xfrm>
            <a:off x="3568903" y="3383280"/>
            <a:ext cx="237744" cy="237744"/>
          </a:xfrm>
          <a:prstGeom prst="rect">
            <a:avLst/>
          </a:prstGeom>
        </p:spPr>
      </p:pic>
      <p:sp>
        <p:nvSpPr>
          <p:cNvPr id="65" name="Text 59"/>
          <p:cNvSpPr txBox="1"/>
          <p:nvPr/>
        </p:nvSpPr>
        <p:spPr>
          <a:xfrm>
            <a:off x="548640" y="3218688"/>
            <a:ext cx="2773375" cy="274320"/>
          </a:xfrm>
          <a:prstGeom prst="rect">
            <a:avLst/>
          </a:prstGeom>
          <a:noFill/>
          <a:ln/>
        </p:spPr>
        <p:txBody>
          <a:bodyPr wrap="square" lIns="0" tIns="0" rIns="0" bIns="0" rtlCol="0" anchor="t"/>
          <a:lstStyle/>
          <a:p>
            <a:pPr rtl="1" algn="r" indent="0" marL="0">
              <a:lnSpc>
                <a:spcPct val="100000"/>
              </a:lnSpc>
              <a:buNone/>
            </a:pPr>
            <a:r>
              <a:rPr lang="ar-SA" altLang="en-US" sz="1300" b="1" dirty="0">
                <a:solidFill>
                  <a:srgbClr val="1A1A1A"/>
                </a:solidFill>
                <a:latin typeface="Cairo" pitchFamily="34" charset="0"/>
                <a:ea typeface="Cairo" pitchFamily="34" charset="-122"/>
                <a:cs typeface="Cairo" pitchFamily="34" charset="-120"/>
              </a:rPr>
              <a:t>الفريق</a:t>
            </a:r>
            <a:endParaRPr lang="ar-SA" sz="1300" dirty="0"/>
          </a:p>
        </p:txBody>
      </p:sp>
      <p:sp>
        <p:nvSpPr>
          <p:cNvPr id="66" name="Text 60"/>
          <p:cNvSpPr txBox="1"/>
          <p:nvPr/>
        </p:nvSpPr>
        <p:spPr>
          <a:xfrm>
            <a:off x="548640" y="3502152"/>
            <a:ext cx="2773375" cy="411480"/>
          </a:xfrm>
          <a:prstGeom prst="rect">
            <a:avLst/>
          </a:prstGeom>
          <a:noFill/>
          <a:ln/>
        </p:spPr>
        <p:txBody>
          <a:bodyPr wrap="square" lIns="0" tIns="0" rIns="0" bIns="0" rtlCol="0" anchor="t"/>
          <a:lstStyle/>
          <a:p>
            <a:pPr rtl="1" algn="r" indent="0" marL="0">
              <a:lnSpc>
                <a:spcPct val="95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مدرب رئيسي + مساعد لكل مجموعة</a:t>
            </a:r>
            <a:endParaRPr lang="ar-SA" sz="1200" dirty="0"/>
          </a:p>
        </p:txBody>
      </p:sp>
      <p:sp>
        <p:nvSpPr>
          <p:cNvPr id="67" name="Shape 61"/>
          <p:cNvSpPr/>
          <p:nvPr/>
        </p:nvSpPr>
        <p:spPr>
          <a:xfrm>
            <a:off x="3459175" y="3986784"/>
            <a:ext cx="457200" cy="457200"/>
          </a:xfrm>
          <a:prstGeom prst="ellipse">
            <a:avLst/>
          </a:prstGeom>
          <a:solidFill>
            <a:srgbClr val="4DB449"/>
          </a:solidFill>
          <a:ln w="6350">
            <a:solidFill>
              <a:srgbClr val="4DB449"/>
            </a:solidFill>
            <a:prstDash val="solid"/>
          </a:ln>
        </p:spPr>
      </p:sp>
      <p:pic>
        <p:nvPicPr>
          <p:cNvPr id="68" name="Image 4" descr="preencoded.png">    </p:cNvPr>
          <p:cNvPicPr>
            <a:picLocks noChangeAspect="1"/>
          </p:cNvPicPr>
          <p:nvPr/>
        </p:nvPicPr>
        <p:blipFill>
          <a:blip r:embed="rId5"/>
          <a:stretch>
            <a:fillRect/>
          </a:stretch>
        </p:blipFill>
        <p:spPr>
          <a:xfrm>
            <a:off x="3568903" y="4096512"/>
            <a:ext cx="237744" cy="237744"/>
          </a:xfrm>
          <a:prstGeom prst="rect">
            <a:avLst/>
          </a:prstGeom>
        </p:spPr>
      </p:pic>
      <p:sp>
        <p:nvSpPr>
          <p:cNvPr id="69" name="Text 62"/>
          <p:cNvSpPr txBox="1"/>
          <p:nvPr/>
        </p:nvSpPr>
        <p:spPr>
          <a:xfrm>
            <a:off x="548640" y="3931920"/>
            <a:ext cx="2773375" cy="274320"/>
          </a:xfrm>
          <a:prstGeom prst="rect">
            <a:avLst/>
          </a:prstGeom>
          <a:noFill/>
          <a:ln/>
        </p:spPr>
        <p:txBody>
          <a:bodyPr wrap="square" lIns="0" tIns="0" rIns="0" bIns="0" rtlCol="0" anchor="t"/>
          <a:lstStyle/>
          <a:p>
            <a:pPr rtl="1" algn="r" indent="0" marL="0">
              <a:lnSpc>
                <a:spcPct val="100000"/>
              </a:lnSpc>
              <a:buNone/>
            </a:pPr>
            <a:r>
              <a:rPr lang="ar-SA" altLang="en-US" sz="1300" b="1" dirty="0">
                <a:solidFill>
                  <a:srgbClr val="1A1A1A"/>
                </a:solidFill>
                <a:latin typeface="Cairo" pitchFamily="34" charset="0"/>
                <a:ea typeface="Cairo" pitchFamily="34" charset="-122"/>
                <a:cs typeface="Cairo" pitchFamily="34" charset="-120"/>
              </a:rPr>
              <a:t>حجم المجموعة</a:t>
            </a:r>
            <a:endParaRPr lang="ar-SA" sz="1300" dirty="0"/>
          </a:p>
        </p:txBody>
      </p:sp>
      <p:sp>
        <p:nvSpPr>
          <p:cNvPr id="70" name="Text 63"/>
          <p:cNvSpPr txBox="1"/>
          <p:nvPr/>
        </p:nvSpPr>
        <p:spPr>
          <a:xfrm>
            <a:off x="548640" y="4215384"/>
            <a:ext cx="2773375" cy="411480"/>
          </a:xfrm>
          <a:prstGeom prst="rect">
            <a:avLst/>
          </a:prstGeom>
          <a:noFill/>
          <a:ln/>
        </p:spPr>
        <p:txBody>
          <a:bodyPr wrap="square" lIns="0" tIns="0" rIns="0" bIns="0" rtlCol="0" anchor="t"/>
          <a:lstStyle/>
          <a:p>
            <a:pPr rtl="1" algn="r" indent="0" marL="0">
              <a:lnSpc>
                <a:spcPct val="95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20 طالباً وطالبة (مقترح)</a:t>
            </a:r>
            <a:endParaRPr lang="ar-SA" sz="1200" dirty="0"/>
          </a:p>
        </p:txBody>
      </p:sp>
      <p:sp>
        <p:nvSpPr>
          <p:cNvPr id="71" name="Shape 64"/>
          <p:cNvSpPr/>
          <p:nvPr/>
        </p:nvSpPr>
        <p:spPr>
          <a:xfrm>
            <a:off x="3459175" y="4700016"/>
            <a:ext cx="457200" cy="457200"/>
          </a:xfrm>
          <a:prstGeom prst="ellipse">
            <a:avLst/>
          </a:prstGeom>
          <a:solidFill>
            <a:srgbClr val="4DB449"/>
          </a:solidFill>
          <a:ln w="6350">
            <a:solidFill>
              <a:srgbClr val="4DB449"/>
            </a:solidFill>
            <a:prstDash val="solid"/>
          </a:ln>
        </p:spPr>
      </p:sp>
      <p:pic>
        <p:nvPicPr>
          <p:cNvPr id="72" name="Image 5" descr="preencoded.png">    </p:cNvPr>
          <p:cNvPicPr>
            <a:picLocks noChangeAspect="1"/>
          </p:cNvPicPr>
          <p:nvPr/>
        </p:nvPicPr>
        <p:blipFill>
          <a:blip r:embed="rId6"/>
          <a:stretch>
            <a:fillRect/>
          </a:stretch>
        </p:blipFill>
        <p:spPr>
          <a:xfrm>
            <a:off x="3568903" y="4809744"/>
            <a:ext cx="237744" cy="237744"/>
          </a:xfrm>
          <a:prstGeom prst="rect">
            <a:avLst/>
          </a:prstGeom>
        </p:spPr>
      </p:pic>
      <p:sp>
        <p:nvSpPr>
          <p:cNvPr id="73" name="Text 65"/>
          <p:cNvSpPr txBox="1"/>
          <p:nvPr/>
        </p:nvSpPr>
        <p:spPr>
          <a:xfrm>
            <a:off x="548640" y="4645152"/>
            <a:ext cx="2773375" cy="274320"/>
          </a:xfrm>
          <a:prstGeom prst="rect">
            <a:avLst/>
          </a:prstGeom>
          <a:noFill/>
          <a:ln/>
        </p:spPr>
        <p:txBody>
          <a:bodyPr wrap="square" lIns="0" tIns="0" rIns="0" bIns="0" rtlCol="0" anchor="t"/>
          <a:lstStyle/>
          <a:p>
            <a:pPr rtl="1" algn="r" indent="0" marL="0">
              <a:lnSpc>
                <a:spcPct val="100000"/>
              </a:lnSpc>
              <a:buNone/>
            </a:pPr>
            <a:r>
              <a:rPr lang="ar-SA" altLang="en-US" sz="1300" b="1" dirty="0">
                <a:solidFill>
                  <a:srgbClr val="1A1A1A"/>
                </a:solidFill>
                <a:latin typeface="Cairo" pitchFamily="34" charset="0"/>
                <a:ea typeface="Cairo" pitchFamily="34" charset="-122"/>
                <a:cs typeface="Cairo" pitchFamily="34" charset="-120"/>
              </a:rPr>
              <a:t>التجهيزات</a:t>
            </a:r>
            <a:endParaRPr lang="ar-SA" sz="1300" dirty="0"/>
          </a:p>
        </p:txBody>
      </p:sp>
      <p:sp>
        <p:nvSpPr>
          <p:cNvPr id="74" name="Text 66"/>
          <p:cNvSpPr txBox="1"/>
          <p:nvPr/>
        </p:nvSpPr>
        <p:spPr>
          <a:xfrm>
            <a:off x="548640" y="4928616"/>
            <a:ext cx="2773375" cy="411480"/>
          </a:xfrm>
          <a:prstGeom prst="rect">
            <a:avLst/>
          </a:prstGeom>
          <a:noFill/>
          <a:ln/>
        </p:spPr>
        <p:txBody>
          <a:bodyPr wrap="square" lIns="0" tIns="0" rIns="0" bIns="0" rtlCol="0" anchor="t"/>
          <a:lstStyle/>
          <a:p>
            <a:pPr rtl="1" algn="r" indent="0" marL="0">
              <a:lnSpc>
                <a:spcPct val="95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حاسوب لكل طالب، إنترنت مستقر، سماعات، ركن تسجيل</a:t>
            </a:r>
            <a:endParaRPr lang="ar-SA" sz="1200" dirty="0"/>
          </a:p>
        </p:txBody>
      </p:sp>
      <p:sp>
        <p:nvSpPr>
          <p:cNvPr id="75" name="Shape 67"/>
          <p:cNvSpPr/>
          <p:nvPr/>
        </p:nvSpPr>
        <p:spPr>
          <a:xfrm>
            <a:off x="3459175" y="5413248"/>
            <a:ext cx="457200" cy="457200"/>
          </a:xfrm>
          <a:prstGeom prst="ellipse">
            <a:avLst/>
          </a:prstGeom>
          <a:solidFill>
            <a:srgbClr val="000000"/>
          </a:solidFill>
          <a:ln w="6350">
            <a:solidFill>
              <a:srgbClr val="000000"/>
            </a:solidFill>
            <a:prstDash val="solid"/>
          </a:ln>
        </p:spPr>
      </p:sp>
      <p:pic>
        <p:nvPicPr>
          <p:cNvPr id="76" name="Image 6" descr="preencoded.png">    </p:cNvPr>
          <p:cNvPicPr>
            <a:picLocks noChangeAspect="1"/>
          </p:cNvPicPr>
          <p:nvPr/>
        </p:nvPicPr>
        <p:blipFill>
          <a:blip r:embed="rId7"/>
          <a:stretch>
            <a:fillRect/>
          </a:stretch>
        </p:blipFill>
        <p:spPr>
          <a:xfrm>
            <a:off x="3568903" y="5522976"/>
            <a:ext cx="237744" cy="237744"/>
          </a:xfrm>
          <a:prstGeom prst="rect">
            <a:avLst/>
          </a:prstGeom>
        </p:spPr>
      </p:pic>
      <p:sp>
        <p:nvSpPr>
          <p:cNvPr id="77" name="Text 68"/>
          <p:cNvSpPr txBox="1"/>
          <p:nvPr/>
        </p:nvSpPr>
        <p:spPr>
          <a:xfrm>
            <a:off x="548640" y="5358384"/>
            <a:ext cx="2773375" cy="274320"/>
          </a:xfrm>
          <a:prstGeom prst="rect">
            <a:avLst/>
          </a:prstGeom>
          <a:noFill/>
          <a:ln/>
        </p:spPr>
        <p:txBody>
          <a:bodyPr wrap="square" lIns="0" tIns="0" rIns="0" bIns="0" rtlCol="0" anchor="t"/>
          <a:lstStyle/>
          <a:p>
            <a:pPr rtl="1" algn="r" indent="0" marL="0">
              <a:lnSpc>
                <a:spcPct val="100000"/>
              </a:lnSpc>
              <a:buNone/>
            </a:pPr>
            <a:r>
              <a:rPr lang="ar-SA" altLang="en-US" sz="1300" b="1" dirty="0">
                <a:solidFill>
                  <a:srgbClr val="1A1A1A"/>
                </a:solidFill>
                <a:latin typeface="Cairo" pitchFamily="34" charset="0"/>
                <a:ea typeface="Cairo" pitchFamily="34" charset="-122"/>
                <a:cs typeface="Cairo" pitchFamily="34" charset="-120"/>
              </a:rPr>
              <a:t>المكان والمواعيد</a:t>
            </a:r>
            <a:endParaRPr lang="ar-SA" sz="1300" dirty="0"/>
          </a:p>
        </p:txBody>
      </p:sp>
      <p:sp>
        <p:nvSpPr>
          <p:cNvPr id="78" name="Text 69"/>
          <p:cNvSpPr txBox="1"/>
          <p:nvPr/>
        </p:nvSpPr>
        <p:spPr>
          <a:xfrm>
            <a:off x="548640" y="5641848"/>
            <a:ext cx="2773375" cy="411480"/>
          </a:xfrm>
          <a:prstGeom prst="rect">
            <a:avLst/>
          </a:prstGeom>
          <a:noFill/>
          <a:ln/>
        </p:spPr>
        <p:txBody>
          <a:bodyPr wrap="square" lIns="0" tIns="0" rIns="0" bIns="0" rtlCol="0" anchor="t"/>
          <a:lstStyle/>
          <a:p>
            <a:pPr rtl="1" algn="r" indent="0" marL="0">
              <a:lnSpc>
                <a:spcPct val="95000"/>
              </a:lnSpc>
              <a:buNone/>
            </a:pPr>
            <a:r>
              <a:rPr lang="ar-SA" altLang="en-US" sz="1200" dirty="0">
                <a:solidFill>
                  <a:srgbClr val="3C3E3B"/>
                </a:solidFill>
                <a:latin typeface="IBM Plex Sans Arabic" pitchFamily="34" charset="0"/>
                <a:ea typeface="IBM Plex Sans Arabic" pitchFamily="34" charset="-122"/>
                <a:cs typeface="IBM Plex Sans Arabic" pitchFamily="34" charset="-120"/>
              </a:rPr>
              <a:t>تُحدَّد لاحقاً</a:t>
            </a:r>
            <a:endParaRPr lang="ar-SA"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3"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727274"/>
                </a:solidFill>
                <a:latin typeface="IBM Plex Sans Arabic" pitchFamily="34" charset="0"/>
                <a:ea typeface="IBM Plex Sans Arabic" pitchFamily="34" charset="-122"/>
                <a:cs typeface="IBM Plex Sans Arabic" pitchFamily="34" charset="-120"/>
              </a:rPr>
              <a:t>17</a:t>
            </a:r>
            <a:endParaRPr lang="ar-SA" sz="900" dirty="0"/>
          </a:p>
        </p:txBody>
      </p:sp>
      <p:sp>
        <p:nvSpPr>
          <p:cNvPr id="4" name="Text 2"/>
          <p:cNvSpPr txBox="1"/>
          <p:nvPr/>
        </p:nvSpPr>
        <p:spPr>
          <a:xfrm>
            <a:off x="2681935" y="384048"/>
            <a:ext cx="8961120" cy="274320"/>
          </a:xfrm>
          <a:prstGeom prst="rect">
            <a:avLst/>
          </a:prstGeom>
          <a:noFill/>
          <a:ln/>
        </p:spPr>
        <p:txBody>
          <a:bodyPr wrap="square" lIns="0" tIns="0" rIns="0" bIns="0" rtlCol="0" anchor="t"/>
          <a:lstStyle/>
          <a:p>
            <a:pPr rtl="1" algn="r" indent="0" marL="0">
              <a:lnSpc>
                <a:spcPct val="100000"/>
              </a:lnSpc>
              <a:buNone/>
            </a:pPr>
            <a:r>
              <a:rPr lang="ar-SA" altLang="en-US" sz="1100" b="1" dirty="0">
                <a:solidFill>
                  <a:srgbClr val="727274"/>
                </a:solidFill>
                <a:latin typeface="IBM Plex Sans Arabic" pitchFamily="34" charset="0"/>
                <a:ea typeface="IBM Plex Sans Arabic" pitchFamily="34" charset="-122"/>
                <a:cs typeface="IBM Plex Sans Arabic" pitchFamily="34" charset="-120"/>
              </a:rPr>
              <a:t>16 · الأمان جزء من التصميم</a:t>
            </a:r>
            <a:endParaRPr lang="ar-SA" sz="1100" dirty="0"/>
          </a:p>
        </p:txBody>
      </p:sp>
      <p:sp>
        <p:nvSpPr>
          <p:cNvPr id="5" name="Text 3"/>
          <p:cNvSpPr txBox="1"/>
          <p:nvPr/>
        </p:nvSpPr>
        <p:spPr>
          <a:xfrm>
            <a:off x="2224735" y="676656"/>
            <a:ext cx="9418320" cy="914400"/>
          </a:xfrm>
          <a:prstGeom prst="rect">
            <a:avLst/>
          </a:prstGeom>
          <a:noFill/>
          <a:ln/>
        </p:spPr>
        <p:txBody>
          <a:bodyPr wrap="square" lIns="0" tIns="0" rIns="0" bIns="0" rtlCol="0" anchor="t"/>
          <a:lstStyle/>
          <a:p>
            <a:pPr rtl="1" algn="r" indent="0" marL="0">
              <a:lnSpc>
                <a:spcPct val="95000"/>
              </a:lnSpc>
              <a:buNone/>
            </a:pPr>
            <a:r>
              <a:rPr lang="ar-SA" altLang="en-US" sz="2600" b="1" dirty="0">
                <a:solidFill>
                  <a:srgbClr val="1A1A1A"/>
                </a:solidFill>
                <a:latin typeface="Cairo" pitchFamily="34" charset="0"/>
                <a:ea typeface="Cairo" pitchFamily="34" charset="-122"/>
                <a:cs typeface="Cairo" pitchFamily="34" charset="-120"/>
              </a:rPr>
              <a:t>الاستخدام المسؤول جزء من كل وحدة، لا ملحق في نهايتها</a:t>
            </a:r>
            <a:endParaRPr lang="ar-SA" sz="2600" dirty="0"/>
          </a:p>
        </p:txBody>
      </p:sp>
      <p:sp>
        <p:nvSpPr>
          <p:cNvPr id="6" name="Shape 4"/>
          <p:cNvSpPr/>
          <p:nvPr/>
        </p:nvSpPr>
        <p:spPr>
          <a:xfrm>
            <a:off x="8625535" y="1783080"/>
            <a:ext cx="3017520" cy="4389120"/>
          </a:xfrm>
          <a:prstGeom prst="roundRect">
            <a:avLst>
              <a:gd name="adj" fmla="val 3636"/>
            </a:avLst>
          </a:prstGeom>
          <a:solidFill>
            <a:srgbClr val="000000"/>
          </a:solidFill>
          <a:ln w="12700">
            <a:solidFill>
              <a:srgbClr val="000000"/>
            </a:solidFill>
            <a:prstDash val="solid"/>
          </a:ln>
        </p:spPr>
      </p:sp>
      <p:pic>
        <p:nvPicPr>
          <p:cNvPr id="7" name="Image 0" descr="Green Circle logo">    </p:cNvPr>
          <p:cNvPicPr>
            <a:picLocks noChangeAspect="1"/>
          </p:cNvPicPr>
          <p:nvPr/>
        </p:nvPicPr>
        <p:blipFill>
          <a:blip r:embed="rId1"/>
          <a:stretch>
            <a:fillRect/>
          </a:stretch>
        </p:blipFill>
        <p:spPr>
          <a:xfrm>
            <a:off x="8854135" y="2057400"/>
            <a:ext cx="2560320" cy="909893"/>
          </a:xfrm>
          <a:prstGeom prst="rect">
            <a:avLst/>
          </a:prstGeom>
        </p:spPr>
      </p:pic>
      <p:sp>
        <p:nvSpPr>
          <p:cNvPr id="8" name="Text 5"/>
          <p:cNvSpPr txBox="1"/>
          <p:nvPr/>
        </p:nvSpPr>
        <p:spPr>
          <a:xfrm>
            <a:off x="8899855" y="3154680"/>
            <a:ext cx="2468880" cy="365760"/>
          </a:xfrm>
          <a:prstGeom prst="rect">
            <a:avLst/>
          </a:prstGeom>
          <a:noFill/>
          <a:ln/>
        </p:spPr>
        <p:txBody>
          <a:bodyPr wrap="square" lIns="0" tIns="0" rIns="0" bIns="0" rtlCol="0" anchor="t"/>
          <a:lstStyle/>
          <a:p>
            <a:pPr algn="r" indent="0" marL="0">
              <a:lnSpc>
                <a:spcPct val="100000"/>
              </a:lnSpc>
              <a:buNone/>
            </a:pPr>
            <a:r>
              <a:rPr lang="ar-SA" altLang="en-US" sz="1700" b="1" dirty="0">
                <a:solidFill>
                  <a:srgbClr val="A6D04B"/>
                </a:solidFill>
                <a:latin typeface="Cairo" pitchFamily="34" charset="0"/>
                <a:ea typeface="Cairo" pitchFamily="34" charset="-122"/>
                <a:cs typeface="Cairo" pitchFamily="34" charset="-120"/>
              </a:rPr>
              <a:t>be aware..be secure</a:t>
            </a:r>
            <a:endParaRPr lang="ar-SA" sz="1700" dirty="0"/>
          </a:p>
        </p:txBody>
      </p:sp>
      <p:sp>
        <p:nvSpPr>
          <p:cNvPr id="9" name="Text 6"/>
          <p:cNvSpPr txBox="1"/>
          <p:nvPr/>
        </p:nvSpPr>
        <p:spPr>
          <a:xfrm>
            <a:off x="8899855" y="3611880"/>
            <a:ext cx="2468880" cy="91440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FFFFFF"/>
                </a:solidFill>
                <a:latin typeface="IBM Plex Sans Arabic" pitchFamily="34" charset="0"/>
                <a:ea typeface="IBM Plex Sans Arabic" pitchFamily="34" charset="-122"/>
                <a:cs typeface="IBM Plex Sans Arabic" pitchFamily="34" charset="-120"/>
              </a:rPr>
              <a:t>عبارة Green Circle هذه تتحوّل هنا إلى قواعد عمل داخل قاعة التدريب.</a:t>
            </a:r>
            <a:endParaRPr lang="ar-SA" sz="1500" dirty="0"/>
          </a:p>
        </p:txBody>
      </p:sp>
      <p:sp>
        <p:nvSpPr>
          <p:cNvPr id="10" name="Text 7"/>
          <p:cNvSpPr txBox="1"/>
          <p:nvPr/>
        </p:nvSpPr>
        <p:spPr>
          <a:xfrm>
            <a:off x="8899855" y="4617720"/>
            <a:ext cx="2468880" cy="32004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A6D04B"/>
                </a:solidFill>
                <a:latin typeface="IBM Plex Sans Arabic" pitchFamily="34" charset="0"/>
                <a:ea typeface="IBM Plex Sans Arabic" pitchFamily="34" charset="-122"/>
                <a:cs typeface="IBM Plex Sans Arabic" pitchFamily="34" charset="-120"/>
              </a:rPr>
              <a:t>أين تظهر هذه القواعد</a:t>
            </a:r>
            <a:endParaRPr lang="ar-SA" sz="1200" dirty="0"/>
          </a:p>
        </p:txBody>
      </p:sp>
      <p:sp>
        <p:nvSpPr>
          <p:cNvPr id="11" name="Text 8"/>
          <p:cNvSpPr txBox="1"/>
          <p:nvPr/>
        </p:nvSpPr>
        <p:spPr>
          <a:xfrm>
            <a:off x="8899855" y="4956048"/>
            <a:ext cx="2468880" cy="1051560"/>
          </a:xfrm>
          <a:prstGeom prst="rect">
            <a:avLst/>
          </a:prstGeom>
          <a:noFill/>
          <a:ln/>
        </p:spPr>
        <p:txBody>
          <a:bodyPr wrap="square" lIns="0" tIns="0" rIns="0" bIns="0" rtlCol="0" anchor="t"/>
          <a:lstStyle/>
          <a:p>
            <a:pPr rtl="1" algn="r" marL="177800" indent="-177800">
              <a:lnSpc>
                <a:spcPct val="100000"/>
              </a:lnSpc>
              <a:spcAft>
                <a:spcPts val="400"/>
              </a:spcAft>
              <a:buSzPct val="100000"/>
              <a:buChar char="•"/>
            </a:pPr>
            <a:r>
              <a:rPr lang="ar-SA" altLang="en-US" sz="1350" dirty="0">
                <a:solidFill>
                  <a:srgbClr val="D6D8D4"/>
                </a:solidFill>
                <a:latin typeface="IBM Plex Sans Arabic" pitchFamily="34" charset="0"/>
                <a:ea typeface="IBM Plex Sans Arabic" pitchFamily="34" charset="-122"/>
                <a:cs typeface="IBM Plex Sans Arabic" pitchFamily="34" charset="-120"/>
              </a:rPr>
              <a:t>ميثاق السلوك</a:t>
            </a:r>
            <a:endParaRPr lang="ar-SA" sz="1350" dirty="0"/>
          </a:p>
          <a:p>
            <a:pPr rtl="1" algn="r" marL="177800" indent="-177800">
              <a:lnSpc>
                <a:spcPct val="100000"/>
              </a:lnSpc>
              <a:spcAft>
                <a:spcPts val="400"/>
              </a:spcAft>
              <a:buSzPct val="100000"/>
              <a:buChar char="•"/>
            </a:pPr>
            <a:r>
              <a:rPr lang="ar-SA" altLang="en-US" sz="1350" dirty="0">
                <a:solidFill>
                  <a:srgbClr val="D6D8D4"/>
                </a:solidFill>
                <a:latin typeface="IBM Plex Sans Arabic" pitchFamily="34" charset="0"/>
                <a:ea typeface="IBM Plex Sans Arabic" pitchFamily="34" charset="-122"/>
                <a:cs typeface="IBM Plex Sans Arabic" pitchFamily="34" charset="-120"/>
              </a:rPr>
              <a:t>نموذج موافقة وليّ الأمر</a:t>
            </a:r>
            <a:endParaRPr lang="ar-SA" sz="1350" dirty="0"/>
          </a:p>
          <a:p>
            <a:pPr rtl="1" algn="r" marL="177800" indent="-177800">
              <a:lnSpc>
                <a:spcPct val="100000"/>
              </a:lnSpc>
              <a:spcAft>
                <a:spcPts val="400"/>
              </a:spcAft>
              <a:buSzPct val="100000"/>
              <a:buChar char="•"/>
            </a:pPr>
            <a:r>
              <a:rPr lang="ar-SA" altLang="en-US" sz="1350" dirty="0">
                <a:solidFill>
                  <a:srgbClr val="D6D8D4"/>
                </a:solidFill>
                <a:latin typeface="IBM Plex Sans Arabic" pitchFamily="34" charset="0"/>
                <a:ea typeface="IBM Plex Sans Arabic" pitchFamily="34" charset="-122"/>
                <a:cs typeface="IBM Plex Sans Arabic" pitchFamily="34" charset="-120"/>
              </a:rPr>
              <a:t>قائمة تحقق في كل وحدة</a:t>
            </a:r>
            <a:endParaRPr lang="ar-SA" sz="1350" dirty="0"/>
          </a:p>
        </p:txBody>
      </p:sp>
      <p:sp>
        <p:nvSpPr>
          <p:cNvPr id="12" name="Shape 9"/>
          <p:cNvSpPr/>
          <p:nvPr/>
        </p:nvSpPr>
        <p:spPr>
          <a:xfrm>
            <a:off x="4564228" y="1783080"/>
            <a:ext cx="3786988" cy="1325880"/>
          </a:xfrm>
          <a:prstGeom prst="roundRect">
            <a:avLst>
              <a:gd name="adj" fmla="val 6897"/>
            </a:avLst>
          </a:prstGeom>
          <a:solidFill>
            <a:srgbClr val="F2F4F1"/>
          </a:solidFill>
          <a:ln w="12700">
            <a:solidFill>
              <a:srgbClr val="F2F4F1"/>
            </a:solidFill>
            <a:prstDash val="solid"/>
          </a:ln>
        </p:spPr>
      </p:sp>
      <p:sp>
        <p:nvSpPr>
          <p:cNvPr id="13" name="Shape 10"/>
          <p:cNvSpPr/>
          <p:nvPr/>
        </p:nvSpPr>
        <p:spPr>
          <a:xfrm>
            <a:off x="7647127" y="2011680"/>
            <a:ext cx="502920" cy="502920"/>
          </a:xfrm>
          <a:prstGeom prst="ellipse">
            <a:avLst/>
          </a:prstGeom>
          <a:solidFill>
            <a:srgbClr val="000000"/>
          </a:solidFill>
          <a:ln w="635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7756855" y="2121408"/>
            <a:ext cx="283464" cy="283464"/>
          </a:xfrm>
          <a:prstGeom prst="rect">
            <a:avLst/>
          </a:prstGeom>
        </p:spPr>
      </p:pic>
      <p:sp>
        <p:nvSpPr>
          <p:cNvPr id="15" name="Text 11"/>
          <p:cNvSpPr txBox="1"/>
          <p:nvPr/>
        </p:nvSpPr>
        <p:spPr>
          <a:xfrm>
            <a:off x="4747108" y="1947672"/>
            <a:ext cx="2735428" cy="36576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أدوات مُراجَعة عمرياً</a:t>
            </a:r>
            <a:endParaRPr lang="ar-SA" sz="1600" dirty="0"/>
          </a:p>
        </p:txBody>
      </p:sp>
      <p:sp>
        <p:nvSpPr>
          <p:cNvPr id="16" name="Text 12"/>
          <p:cNvSpPr txBox="1"/>
          <p:nvPr/>
        </p:nvSpPr>
        <p:spPr>
          <a:xfrm>
            <a:off x="4747108" y="2313432"/>
            <a:ext cx="2735428" cy="749808"/>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نراجع شروط العمر لكل أداة قبل استخدامها. أدوات 18+ تُعرض فقط لمن هم دون 18.</a:t>
            </a:r>
            <a:endParaRPr lang="ar-SA" sz="1300" dirty="0"/>
          </a:p>
        </p:txBody>
      </p:sp>
      <p:sp>
        <p:nvSpPr>
          <p:cNvPr id="17" name="Shape 13"/>
          <p:cNvSpPr/>
          <p:nvPr/>
        </p:nvSpPr>
        <p:spPr>
          <a:xfrm>
            <a:off x="548640" y="1783080"/>
            <a:ext cx="3786988" cy="1325880"/>
          </a:xfrm>
          <a:prstGeom prst="roundRect">
            <a:avLst>
              <a:gd name="adj" fmla="val 6897"/>
            </a:avLst>
          </a:prstGeom>
          <a:solidFill>
            <a:srgbClr val="F2F4F1"/>
          </a:solidFill>
          <a:ln w="12700">
            <a:solidFill>
              <a:srgbClr val="F2F4F1"/>
            </a:solidFill>
            <a:prstDash val="solid"/>
          </a:ln>
        </p:spPr>
      </p:sp>
      <p:sp>
        <p:nvSpPr>
          <p:cNvPr id="18" name="Shape 14"/>
          <p:cNvSpPr/>
          <p:nvPr/>
        </p:nvSpPr>
        <p:spPr>
          <a:xfrm>
            <a:off x="3631540" y="2011680"/>
            <a:ext cx="502920" cy="502920"/>
          </a:xfrm>
          <a:prstGeom prst="ellipse">
            <a:avLst/>
          </a:prstGeom>
          <a:solidFill>
            <a:srgbClr val="000000"/>
          </a:solidFill>
          <a:ln w="6350">
            <a:solidFill>
              <a:srgbClr val="000000"/>
            </a:solidFill>
            <a:prstDash val="solid"/>
          </a:ln>
        </p:spPr>
      </p:sp>
      <p:pic>
        <p:nvPicPr>
          <p:cNvPr id="19" name="Image 2" descr="preencoded.png">    </p:cNvPr>
          <p:cNvPicPr>
            <a:picLocks noChangeAspect="1"/>
          </p:cNvPicPr>
          <p:nvPr/>
        </p:nvPicPr>
        <p:blipFill>
          <a:blip r:embed="rId3"/>
          <a:stretch>
            <a:fillRect/>
          </a:stretch>
        </p:blipFill>
        <p:spPr>
          <a:xfrm>
            <a:off x="3741268" y="2121408"/>
            <a:ext cx="283464" cy="283464"/>
          </a:xfrm>
          <a:prstGeom prst="rect">
            <a:avLst/>
          </a:prstGeom>
        </p:spPr>
      </p:pic>
      <p:sp>
        <p:nvSpPr>
          <p:cNvPr id="20" name="Text 15"/>
          <p:cNvSpPr txBox="1"/>
          <p:nvPr/>
        </p:nvSpPr>
        <p:spPr>
          <a:xfrm>
            <a:off x="731520" y="1947672"/>
            <a:ext cx="2735428" cy="36576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موافقة وليّ الأمر</a:t>
            </a:r>
            <a:endParaRPr lang="ar-SA" sz="1600" dirty="0"/>
          </a:p>
        </p:txBody>
      </p:sp>
      <p:sp>
        <p:nvSpPr>
          <p:cNvPr id="21" name="Text 16"/>
          <p:cNvSpPr txBox="1"/>
          <p:nvPr/>
        </p:nvSpPr>
        <p:spPr>
          <a:xfrm>
            <a:off x="731520" y="2313432"/>
            <a:ext cx="2735428" cy="749808"/>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موافقة موقّعة لكل طالب دون 18، تشمل الحسابات والمحتوى.</a:t>
            </a:r>
            <a:endParaRPr lang="ar-SA" sz="1300" dirty="0"/>
          </a:p>
        </p:txBody>
      </p:sp>
      <p:sp>
        <p:nvSpPr>
          <p:cNvPr id="22" name="Shape 17"/>
          <p:cNvSpPr/>
          <p:nvPr/>
        </p:nvSpPr>
        <p:spPr>
          <a:xfrm>
            <a:off x="4564228" y="3310128"/>
            <a:ext cx="3786988" cy="1325880"/>
          </a:xfrm>
          <a:prstGeom prst="roundRect">
            <a:avLst>
              <a:gd name="adj" fmla="val 6897"/>
            </a:avLst>
          </a:prstGeom>
          <a:solidFill>
            <a:srgbClr val="F2F4F1"/>
          </a:solidFill>
          <a:ln w="12700">
            <a:solidFill>
              <a:srgbClr val="F2F4F1"/>
            </a:solidFill>
            <a:prstDash val="solid"/>
          </a:ln>
        </p:spPr>
      </p:sp>
      <p:sp>
        <p:nvSpPr>
          <p:cNvPr id="23" name="Shape 18"/>
          <p:cNvSpPr/>
          <p:nvPr/>
        </p:nvSpPr>
        <p:spPr>
          <a:xfrm>
            <a:off x="7647127" y="3538728"/>
            <a:ext cx="502920" cy="502920"/>
          </a:xfrm>
          <a:prstGeom prst="ellipse">
            <a:avLst/>
          </a:prstGeom>
          <a:solidFill>
            <a:srgbClr val="000000"/>
          </a:solidFill>
          <a:ln w="6350">
            <a:solidFill>
              <a:srgbClr val="000000"/>
            </a:solidFill>
            <a:prstDash val="solid"/>
          </a:ln>
        </p:spPr>
      </p:sp>
      <p:pic>
        <p:nvPicPr>
          <p:cNvPr id="24" name="Image 3" descr="preencoded.png">    </p:cNvPr>
          <p:cNvPicPr>
            <a:picLocks noChangeAspect="1"/>
          </p:cNvPicPr>
          <p:nvPr/>
        </p:nvPicPr>
        <p:blipFill>
          <a:blip r:embed="rId4"/>
          <a:stretch>
            <a:fillRect/>
          </a:stretch>
        </p:blipFill>
        <p:spPr>
          <a:xfrm>
            <a:off x="7756855" y="3648456"/>
            <a:ext cx="283464" cy="283464"/>
          </a:xfrm>
          <a:prstGeom prst="rect">
            <a:avLst/>
          </a:prstGeom>
        </p:spPr>
      </p:pic>
      <p:sp>
        <p:nvSpPr>
          <p:cNvPr id="25" name="Text 19"/>
          <p:cNvSpPr txBox="1"/>
          <p:nvPr/>
        </p:nvSpPr>
        <p:spPr>
          <a:xfrm>
            <a:off x="4747108" y="3474720"/>
            <a:ext cx="2735428" cy="36576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لا شبه بأشخاص حقيقيين</a:t>
            </a:r>
            <a:endParaRPr lang="ar-SA" sz="1600" dirty="0"/>
          </a:p>
        </p:txBody>
      </p:sp>
      <p:sp>
        <p:nvSpPr>
          <p:cNvPr id="26" name="Text 20"/>
          <p:cNvSpPr txBox="1"/>
          <p:nvPr/>
        </p:nvSpPr>
        <p:spPr>
          <a:xfrm>
            <a:off x="4747108" y="3840480"/>
            <a:ext cx="2735428" cy="749808"/>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لا نولّد أو ننسخ وجه أو صوت أي شخص حقيقي دون موافقته.</a:t>
            </a:r>
            <a:endParaRPr lang="ar-SA" sz="1300" dirty="0"/>
          </a:p>
        </p:txBody>
      </p:sp>
      <p:sp>
        <p:nvSpPr>
          <p:cNvPr id="27" name="Shape 21"/>
          <p:cNvSpPr/>
          <p:nvPr/>
        </p:nvSpPr>
        <p:spPr>
          <a:xfrm>
            <a:off x="548640" y="3310128"/>
            <a:ext cx="3786988" cy="1325880"/>
          </a:xfrm>
          <a:prstGeom prst="roundRect">
            <a:avLst>
              <a:gd name="adj" fmla="val 6897"/>
            </a:avLst>
          </a:prstGeom>
          <a:solidFill>
            <a:srgbClr val="F2F4F1"/>
          </a:solidFill>
          <a:ln w="12700">
            <a:solidFill>
              <a:srgbClr val="F2F4F1"/>
            </a:solidFill>
            <a:prstDash val="solid"/>
          </a:ln>
        </p:spPr>
      </p:sp>
      <p:sp>
        <p:nvSpPr>
          <p:cNvPr id="28" name="Shape 22"/>
          <p:cNvSpPr/>
          <p:nvPr/>
        </p:nvSpPr>
        <p:spPr>
          <a:xfrm>
            <a:off x="3631540" y="3538728"/>
            <a:ext cx="502920" cy="502920"/>
          </a:xfrm>
          <a:prstGeom prst="ellipse">
            <a:avLst/>
          </a:prstGeom>
          <a:solidFill>
            <a:srgbClr val="000000"/>
          </a:solidFill>
          <a:ln w="6350">
            <a:solidFill>
              <a:srgbClr val="000000"/>
            </a:solidFill>
            <a:prstDash val="solid"/>
          </a:ln>
        </p:spPr>
      </p:sp>
      <p:pic>
        <p:nvPicPr>
          <p:cNvPr id="29" name="Image 4" descr="preencoded.png">    </p:cNvPr>
          <p:cNvPicPr>
            <a:picLocks noChangeAspect="1"/>
          </p:cNvPicPr>
          <p:nvPr/>
        </p:nvPicPr>
        <p:blipFill>
          <a:blip r:embed="rId5"/>
          <a:stretch>
            <a:fillRect/>
          </a:stretch>
        </p:blipFill>
        <p:spPr>
          <a:xfrm>
            <a:off x="3741268" y="3648456"/>
            <a:ext cx="283464" cy="283464"/>
          </a:xfrm>
          <a:prstGeom prst="rect">
            <a:avLst/>
          </a:prstGeom>
        </p:spPr>
      </p:pic>
      <p:sp>
        <p:nvSpPr>
          <p:cNvPr id="30" name="Text 23"/>
          <p:cNvSpPr txBox="1"/>
          <p:nvPr/>
        </p:nvSpPr>
        <p:spPr>
          <a:xfrm>
            <a:off x="731520" y="3474720"/>
            <a:ext cx="2735428" cy="36576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حماية بيانات الاعتماد</a:t>
            </a:r>
            <a:endParaRPr lang="ar-SA" sz="1600" dirty="0"/>
          </a:p>
        </p:txBody>
      </p:sp>
      <p:sp>
        <p:nvSpPr>
          <p:cNvPr id="31" name="Text 24"/>
          <p:cNvSpPr txBox="1"/>
          <p:nvPr/>
        </p:nvSpPr>
        <p:spPr>
          <a:xfrm>
            <a:off x="731520" y="3840480"/>
            <a:ext cx="2735428" cy="749808"/>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مفاتيح API وكلمات الدخول ملك البرنامج ويديرها، ولا تُسلَّم للطلاب.</a:t>
            </a:r>
            <a:endParaRPr lang="ar-SA" sz="1300" dirty="0"/>
          </a:p>
        </p:txBody>
      </p:sp>
      <p:sp>
        <p:nvSpPr>
          <p:cNvPr id="32" name="Shape 25"/>
          <p:cNvSpPr/>
          <p:nvPr/>
        </p:nvSpPr>
        <p:spPr>
          <a:xfrm>
            <a:off x="4564228" y="4837176"/>
            <a:ext cx="3786988" cy="1325880"/>
          </a:xfrm>
          <a:prstGeom prst="roundRect">
            <a:avLst>
              <a:gd name="adj" fmla="val 6897"/>
            </a:avLst>
          </a:prstGeom>
          <a:solidFill>
            <a:srgbClr val="F2F4F1"/>
          </a:solidFill>
          <a:ln w="12700">
            <a:solidFill>
              <a:srgbClr val="F2F4F1"/>
            </a:solidFill>
            <a:prstDash val="solid"/>
          </a:ln>
        </p:spPr>
      </p:sp>
      <p:sp>
        <p:nvSpPr>
          <p:cNvPr id="33" name="Shape 26"/>
          <p:cNvSpPr/>
          <p:nvPr/>
        </p:nvSpPr>
        <p:spPr>
          <a:xfrm>
            <a:off x="7647127" y="5065776"/>
            <a:ext cx="502920" cy="502920"/>
          </a:xfrm>
          <a:prstGeom prst="ellipse">
            <a:avLst/>
          </a:prstGeom>
          <a:solidFill>
            <a:srgbClr val="000000"/>
          </a:solidFill>
          <a:ln w="6350">
            <a:solidFill>
              <a:srgbClr val="000000"/>
            </a:solidFill>
            <a:prstDash val="solid"/>
          </a:ln>
        </p:spPr>
      </p:sp>
      <p:pic>
        <p:nvPicPr>
          <p:cNvPr id="34" name="Image 5" descr="preencoded.png">    </p:cNvPr>
          <p:cNvPicPr>
            <a:picLocks noChangeAspect="1"/>
          </p:cNvPicPr>
          <p:nvPr/>
        </p:nvPicPr>
        <p:blipFill>
          <a:blip r:embed="rId6"/>
          <a:stretch>
            <a:fillRect/>
          </a:stretch>
        </p:blipFill>
        <p:spPr>
          <a:xfrm>
            <a:off x="7756855" y="5175504"/>
            <a:ext cx="283464" cy="283464"/>
          </a:xfrm>
          <a:prstGeom prst="rect">
            <a:avLst/>
          </a:prstGeom>
        </p:spPr>
      </p:pic>
      <p:sp>
        <p:nvSpPr>
          <p:cNvPr id="35" name="Text 27"/>
          <p:cNvSpPr txBox="1"/>
          <p:nvPr/>
        </p:nvSpPr>
        <p:spPr>
          <a:xfrm>
            <a:off x="4747108" y="5001768"/>
            <a:ext cx="2735428" cy="36576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تحقّق قبل النشر</a:t>
            </a:r>
            <a:endParaRPr lang="ar-SA" sz="1600" dirty="0"/>
          </a:p>
        </p:txBody>
      </p:sp>
      <p:sp>
        <p:nvSpPr>
          <p:cNvPr id="36" name="Text 28"/>
          <p:cNvSpPr txBox="1"/>
          <p:nvPr/>
        </p:nvSpPr>
        <p:spPr>
          <a:xfrm>
            <a:off x="4747108" y="5367528"/>
            <a:ext cx="2735428" cy="749808"/>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نتحقق من المعلومات في مصادرها، ونُفصح عن المحتوى المولَّد.</a:t>
            </a:r>
            <a:endParaRPr lang="ar-SA" sz="1300" dirty="0"/>
          </a:p>
        </p:txBody>
      </p:sp>
      <p:sp>
        <p:nvSpPr>
          <p:cNvPr id="37" name="Shape 29"/>
          <p:cNvSpPr/>
          <p:nvPr/>
        </p:nvSpPr>
        <p:spPr>
          <a:xfrm>
            <a:off x="548640" y="4837176"/>
            <a:ext cx="3786988" cy="1325880"/>
          </a:xfrm>
          <a:prstGeom prst="roundRect">
            <a:avLst>
              <a:gd name="adj" fmla="val 6897"/>
            </a:avLst>
          </a:prstGeom>
          <a:solidFill>
            <a:srgbClr val="F2F4F1"/>
          </a:solidFill>
          <a:ln w="12700">
            <a:solidFill>
              <a:srgbClr val="F2F4F1"/>
            </a:solidFill>
            <a:prstDash val="solid"/>
          </a:ln>
        </p:spPr>
      </p:sp>
      <p:sp>
        <p:nvSpPr>
          <p:cNvPr id="38" name="Shape 30"/>
          <p:cNvSpPr/>
          <p:nvPr/>
        </p:nvSpPr>
        <p:spPr>
          <a:xfrm>
            <a:off x="3631540" y="5065776"/>
            <a:ext cx="502920" cy="502920"/>
          </a:xfrm>
          <a:prstGeom prst="ellipse">
            <a:avLst/>
          </a:prstGeom>
          <a:solidFill>
            <a:srgbClr val="000000"/>
          </a:solidFill>
          <a:ln w="6350">
            <a:solidFill>
              <a:srgbClr val="000000"/>
            </a:solidFill>
            <a:prstDash val="solid"/>
          </a:ln>
        </p:spPr>
      </p:sp>
      <p:pic>
        <p:nvPicPr>
          <p:cNvPr id="39" name="Image 6" descr="preencoded.png">    </p:cNvPr>
          <p:cNvPicPr>
            <a:picLocks noChangeAspect="1"/>
          </p:cNvPicPr>
          <p:nvPr/>
        </p:nvPicPr>
        <p:blipFill>
          <a:blip r:embed="rId7"/>
          <a:stretch>
            <a:fillRect/>
          </a:stretch>
        </p:blipFill>
        <p:spPr>
          <a:xfrm>
            <a:off x="3741268" y="5175504"/>
            <a:ext cx="283464" cy="283464"/>
          </a:xfrm>
          <a:prstGeom prst="rect">
            <a:avLst/>
          </a:prstGeom>
        </p:spPr>
      </p:pic>
      <p:sp>
        <p:nvSpPr>
          <p:cNvPr id="40" name="Text 31"/>
          <p:cNvSpPr txBox="1"/>
          <p:nvPr/>
        </p:nvSpPr>
        <p:spPr>
          <a:xfrm>
            <a:off x="731520" y="5001768"/>
            <a:ext cx="2735428" cy="365760"/>
          </a:xfrm>
          <a:prstGeom prst="rect">
            <a:avLst/>
          </a:prstGeom>
          <a:noFill/>
          <a:ln/>
        </p:spPr>
        <p:txBody>
          <a:bodyPr wrap="square" lIns="0" tIns="0" rIns="0" bIns="0" rtlCol="0" anchor="t"/>
          <a:lstStyle/>
          <a:p>
            <a:pPr rtl="1" algn="r" indent="0" marL="0">
              <a:lnSpc>
                <a:spcPct val="100000"/>
              </a:lnSpc>
              <a:buNone/>
            </a:pPr>
            <a:r>
              <a:rPr lang="ar-SA" altLang="en-US" sz="1600" b="1" dirty="0">
                <a:solidFill>
                  <a:srgbClr val="1A1A1A"/>
                </a:solidFill>
                <a:latin typeface="Cairo" pitchFamily="34" charset="0"/>
                <a:ea typeface="Cairo" pitchFamily="34" charset="-122"/>
                <a:cs typeface="Cairo" pitchFamily="34" charset="-120"/>
              </a:rPr>
              <a:t>الخصوصية أولاً</a:t>
            </a:r>
            <a:endParaRPr lang="ar-SA" sz="1600" dirty="0"/>
          </a:p>
        </p:txBody>
      </p:sp>
      <p:sp>
        <p:nvSpPr>
          <p:cNvPr id="41" name="Text 32"/>
          <p:cNvSpPr txBox="1"/>
          <p:nvPr/>
        </p:nvSpPr>
        <p:spPr>
          <a:xfrm>
            <a:off x="731520" y="5367528"/>
            <a:ext cx="2735428" cy="749808"/>
          </a:xfrm>
          <a:prstGeom prst="rect">
            <a:avLst/>
          </a:prstGeom>
          <a:noFill/>
          <a:ln/>
        </p:spPr>
        <p:txBody>
          <a:bodyPr wrap="square" lIns="0" tIns="0" rIns="0" bIns="0" rtlCol="0" anchor="t"/>
          <a:lstStyle/>
          <a:p>
            <a:pPr rtl="1" algn="r" indent="0" marL="0">
              <a:lnSpc>
                <a:spcPct val="100000"/>
              </a:lnSpc>
              <a:buNone/>
            </a:pPr>
            <a:r>
              <a:rPr lang="ar-SA" altLang="en-US" sz="1300" dirty="0">
                <a:solidFill>
                  <a:srgbClr val="3C3E3B"/>
                </a:solidFill>
                <a:latin typeface="IBM Plex Sans Arabic" pitchFamily="34" charset="0"/>
                <a:ea typeface="IBM Plex Sans Arabic" pitchFamily="34" charset="-122"/>
                <a:cs typeface="IBM Plex Sans Arabic" pitchFamily="34" charset="-120"/>
              </a:rPr>
              <a:t>لا تُدخل بيانات شخصية للطلاب أو العملاء في أدوات الذكاء الاصطناعي.</a:t>
            </a:r>
            <a:endParaRPr lang="ar-SA"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242255" y="6446520"/>
            <a:ext cx="6400800" cy="228600"/>
          </a:xfrm>
          <a:prstGeom prst="rect">
            <a:avLst/>
          </a:prstGeom>
          <a:noFill/>
          <a:ln/>
        </p:spPr>
        <p:txBody>
          <a:bodyPr wrap="square" lIns="0" tIns="0" rIns="0" bIns="0" rtlCol="0" anchor="t"/>
          <a:lstStyle/>
          <a:p>
            <a:pPr rtl="1" algn="r"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برنامج صُنّاع المحتوى بالذكاء الاصطناعي · مذكرة مفاهيمية</a:t>
            </a:r>
            <a:endParaRPr lang="ar-SA" sz="900" dirty="0"/>
          </a:p>
        </p:txBody>
      </p:sp>
      <p:sp>
        <p:nvSpPr>
          <p:cNvPr id="3" name="Text 1"/>
          <p:cNvSpPr txBox="1"/>
          <p:nvPr/>
        </p:nvSpPr>
        <p:spPr>
          <a:xfrm>
            <a:off x="548640" y="6446520"/>
            <a:ext cx="548640" cy="228600"/>
          </a:xfrm>
          <a:prstGeom prst="rect">
            <a:avLst/>
          </a:prstGeom>
          <a:noFill/>
          <a:ln/>
        </p:spPr>
        <p:txBody>
          <a:bodyPr wrap="square" lIns="0" tIns="0" rIns="0" bIns="0" rtlCol="0" anchor="t"/>
          <a:lstStyle/>
          <a:p>
            <a:pPr rtl="1" algn="l" indent="0" marL="0">
              <a:lnSpc>
                <a:spcPct val="100000"/>
              </a:lnSpc>
              <a:buNone/>
            </a:pPr>
            <a:r>
              <a:rPr lang="ar-SA" altLang="en-US" sz="900" dirty="0">
                <a:solidFill>
                  <a:srgbClr val="8A8C88"/>
                </a:solidFill>
                <a:latin typeface="IBM Plex Sans Arabic" pitchFamily="34" charset="0"/>
                <a:ea typeface="IBM Plex Sans Arabic" pitchFamily="34" charset="-122"/>
                <a:cs typeface="IBM Plex Sans Arabic" pitchFamily="34" charset="-120"/>
              </a:rPr>
              <a:t>18</a:t>
            </a:r>
            <a:endParaRPr lang="ar-SA" sz="900" dirty="0"/>
          </a:p>
        </p:txBody>
      </p:sp>
      <p:pic>
        <p:nvPicPr>
          <p:cNvPr id="4" name="Image 0" descr="Green Circle logo">    </p:cNvPr>
          <p:cNvPicPr>
            <a:picLocks noChangeAspect="1"/>
          </p:cNvPicPr>
          <p:nvPr/>
        </p:nvPicPr>
        <p:blipFill>
          <a:blip r:embed="rId1"/>
          <a:stretch>
            <a:fillRect/>
          </a:stretch>
        </p:blipFill>
        <p:spPr>
          <a:xfrm>
            <a:off x="8899855" y="457200"/>
            <a:ext cx="2743200" cy="974886"/>
          </a:xfrm>
          <a:prstGeom prst="rect">
            <a:avLst/>
          </a:prstGeom>
        </p:spPr>
      </p:pic>
      <p:sp>
        <p:nvSpPr>
          <p:cNvPr id="5" name="Text 2"/>
          <p:cNvSpPr txBox="1"/>
          <p:nvPr/>
        </p:nvSpPr>
        <p:spPr>
          <a:xfrm>
            <a:off x="5699455" y="1600200"/>
            <a:ext cx="5943600" cy="274320"/>
          </a:xfrm>
          <a:prstGeom prst="rect">
            <a:avLst/>
          </a:prstGeom>
          <a:noFill/>
          <a:ln/>
        </p:spPr>
        <p:txBody>
          <a:bodyPr wrap="square" lIns="0" tIns="0" rIns="0" bIns="0" rtlCol="0" anchor="t"/>
          <a:lstStyle/>
          <a:p>
            <a:pPr rtl="1" algn="r" indent="0" marL="0">
              <a:lnSpc>
                <a:spcPct val="100000"/>
              </a:lnSpc>
              <a:buNone/>
            </a:pPr>
            <a:r>
              <a:rPr lang="ar-SA" altLang="en-US" sz="1200" b="1" dirty="0">
                <a:solidFill>
                  <a:srgbClr val="A6D04B"/>
                </a:solidFill>
                <a:latin typeface="IBM Plex Sans Arabic" pitchFamily="34" charset="0"/>
                <a:ea typeface="IBM Plex Sans Arabic" pitchFamily="34" charset="-122"/>
                <a:cs typeface="IBM Plex Sans Arabic" pitchFamily="34" charset="-120"/>
              </a:rPr>
              <a:t>الخطوات التالية</a:t>
            </a:r>
            <a:endParaRPr lang="ar-SA" sz="1200" dirty="0"/>
          </a:p>
        </p:txBody>
      </p:sp>
      <p:sp>
        <p:nvSpPr>
          <p:cNvPr id="6" name="Text 3"/>
          <p:cNvSpPr txBox="1"/>
          <p:nvPr/>
        </p:nvSpPr>
        <p:spPr>
          <a:xfrm>
            <a:off x="5699455" y="1920240"/>
            <a:ext cx="5943600" cy="685800"/>
          </a:xfrm>
          <a:prstGeom prst="rect">
            <a:avLst/>
          </a:prstGeom>
          <a:noFill/>
          <a:ln/>
        </p:spPr>
        <p:txBody>
          <a:bodyPr wrap="square" lIns="0" tIns="0" rIns="0" bIns="0" rtlCol="0" anchor="t"/>
          <a:lstStyle/>
          <a:p>
            <a:pPr rtl="1" algn="r" indent="0" marL="0">
              <a:lnSpc>
                <a:spcPct val="100000"/>
              </a:lnSpc>
              <a:buNone/>
            </a:pPr>
            <a:r>
              <a:rPr lang="ar-SA" altLang="en-US" sz="3000" b="1" dirty="0">
                <a:solidFill>
                  <a:srgbClr val="FFFFFF"/>
                </a:solidFill>
                <a:latin typeface="Cairo" pitchFamily="34" charset="0"/>
                <a:ea typeface="Cairo" pitchFamily="34" charset="-122"/>
                <a:cs typeface="Cairo" pitchFamily="34" charset="-120"/>
              </a:rPr>
              <a:t>ما الذي يتركه هذا البرنامج</a:t>
            </a:r>
            <a:endParaRPr lang="ar-SA" sz="3000" dirty="0"/>
          </a:p>
        </p:txBody>
      </p:sp>
      <p:sp>
        <p:nvSpPr>
          <p:cNvPr id="7" name="Text 4"/>
          <p:cNvSpPr txBox="1"/>
          <p:nvPr/>
        </p:nvSpPr>
        <p:spPr>
          <a:xfrm>
            <a:off x="5790895" y="2880360"/>
            <a:ext cx="5852160" cy="457200"/>
          </a:xfrm>
          <a:prstGeom prst="rect">
            <a:avLst/>
          </a:prstGeom>
          <a:noFill/>
          <a:ln/>
        </p:spPr>
        <p:txBody>
          <a:bodyPr wrap="square" lIns="0" tIns="0" rIns="0" bIns="0" rtlCol="0" anchor="t"/>
          <a:lstStyle/>
          <a:p>
            <a:pPr rtl="1" algn="r" indent="0" marL="0">
              <a:lnSpc>
                <a:spcPct val="100000"/>
              </a:lnSpc>
              <a:buNone/>
            </a:pPr>
            <a:r>
              <a:rPr lang="ar-SA" altLang="en-US" sz="2400" b="1" dirty="0">
                <a:solidFill>
                  <a:srgbClr val="A6D04B"/>
                </a:solidFill>
                <a:latin typeface="Cairo" pitchFamily="34" charset="0"/>
                <a:ea typeface="Cairo" pitchFamily="34" charset="-122"/>
                <a:cs typeface="Cairo" pitchFamily="34" charset="-120"/>
              </a:rPr>
              <a:t>مهارة</a:t>
            </a:r>
            <a:endParaRPr lang="ar-SA" sz="2400" dirty="0"/>
          </a:p>
        </p:txBody>
      </p:sp>
      <p:sp>
        <p:nvSpPr>
          <p:cNvPr id="8" name="Text 5"/>
          <p:cNvSpPr txBox="1"/>
          <p:nvPr/>
        </p:nvSpPr>
        <p:spPr>
          <a:xfrm>
            <a:off x="5790895" y="3337560"/>
            <a:ext cx="5852160" cy="411480"/>
          </a:xfrm>
          <a:prstGeom prst="rect">
            <a:avLst/>
          </a:prstGeom>
          <a:noFill/>
          <a:ln/>
        </p:spPr>
        <p:txBody>
          <a:bodyPr wrap="square" lIns="0" tIns="0" rIns="0" bIns="0" rtlCol="0" anchor="t"/>
          <a:lstStyle/>
          <a:p>
            <a:pPr rtl="1" algn="r" indent="0" marL="0">
              <a:lnSpc>
                <a:spcPct val="100000"/>
              </a:lnSpc>
              <a:buNone/>
            </a:pPr>
            <a:r>
              <a:rPr lang="ar-SA" altLang="en-US" sz="1500" dirty="0">
                <a:solidFill>
                  <a:srgbClr val="D6D8D4"/>
                </a:solidFill>
                <a:latin typeface="IBM Plex Sans Arabic" pitchFamily="34" charset="0"/>
                <a:ea typeface="IBM Plex Sans Arabic" pitchFamily="34" charset="-122"/>
                <a:cs typeface="IBM Plex Sans Arabic" pitchFamily="34" charset="-120"/>
              </a:rPr>
              <a:t>شباب قادرون على استلام موجز وتسليم حملة كاملة</a:t>
            </a:r>
            <a:endParaRPr lang="ar-SA" sz="1500" dirty="0"/>
          </a:p>
        </p:txBody>
      </p:sp>
      <p:sp>
        <p:nvSpPr>
          <p:cNvPr id="9" name="Text 6"/>
          <p:cNvSpPr txBox="1"/>
          <p:nvPr/>
        </p:nvSpPr>
        <p:spPr>
          <a:xfrm>
            <a:off x="5790895" y="3904488"/>
            <a:ext cx="5852160" cy="457200"/>
          </a:xfrm>
          <a:prstGeom prst="rect">
            <a:avLst/>
          </a:prstGeom>
          <a:noFill/>
          <a:ln/>
        </p:spPr>
        <p:txBody>
          <a:bodyPr wrap="square" lIns="0" tIns="0" rIns="0" bIns="0" rtlCol="0" anchor="t"/>
          <a:lstStyle/>
          <a:p>
            <a:pPr rtl="1" algn="r" indent="0" marL="0">
              <a:lnSpc>
                <a:spcPct val="100000"/>
              </a:lnSpc>
              <a:buNone/>
            </a:pPr>
            <a:r>
              <a:rPr lang="ar-SA" altLang="en-US" sz="2400" b="1" dirty="0">
                <a:solidFill>
                  <a:srgbClr val="4DB449"/>
                </a:solidFill>
                <a:latin typeface="Cairo" pitchFamily="34" charset="0"/>
                <a:ea typeface="Cairo" pitchFamily="34" charset="-122"/>
                <a:cs typeface="Cairo" pitchFamily="34" charset="-120"/>
              </a:rPr>
              <a:t>دليل</a:t>
            </a:r>
            <a:endParaRPr lang="ar-SA" sz="2400" dirty="0"/>
          </a:p>
        </p:txBody>
      </p:sp>
      <p:sp>
        <p:nvSpPr>
          <p:cNvPr id="10" name="Text 7"/>
          <p:cNvSpPr txBox="1"/>
          <p:nvPr/>
        </p:nvSpPr>
        <p:spPr>
          <a:xfrm>
            <a:off x="5790895" y="4361688"/>
            <a:ext cx="5852160" cy="411480"/>
          </a:xfrm>
          <a:prstGeom prst="rect">
            <a:avLst/>
          </a:prstGeom>
          <a:noFill/>
          <a:ln/>
        </p:spPr>
        <p:txBody>
          <a:bodyPr wrap="square" lIns="0" tIns="0" rIns="0" bIns="0" rtlCol="0" anchor="t"/>
          <a:lstStyle/>
          <a:p>
            <a:pPr rtl="1" algn="r" indent="0" marL="0">
              <a:lnSpc>
                <a:spcPct val="100000"/>
              </a:lnSpc>
              <a:buNone/>
            </a:pPr>
            <a:r>
              <a:rPr lang="ar-SA" altLang="en-US" sz="1500" dirty="0">
                <a:solidFill>
                  <a:srgbClr val="D6D8D4"/>
                </a:solidFill>
                <a:latin typeface="IBM Plex Sans Arabic" pitchFamily="34" charset="0"/>
                <a:ea typeface="IBM Plex Sans Arabic" pitchFamily="34" charset="-122"/>
                <a:cs typeface="IBM Plex Sans Arabic" pitchFamily="34" charset="-120"/>
              </a:rPr>
              <a:t>ملفات أعمال ومشاريع ختامية يمكن للآخرين رؤيتها</a:t>
            </a:r>
            <a:endParaRPr lang="ar-SA" sz="1500" dirty="0"/>
          </a:p>
        </p:txBody>
      </p:sp>
      <p:sp>
        <p:nvSpPr>
          <p:cNvPr id="11" name="Text 8"/>
          <p:cNvSpPr txBox="1"/>
          <p:nvPr/>
        </p:nvSpPr>
        <p:spPr>
          <a:xfrm>
            <a:off x="5790895" y="4928616"/>
            <a:ext cx="5852160" cy="457200"/>
          </a:xfrm>
          <a:prstGeom prst="rect">
            <a:avLst/>
          </a:prstGeom>
          <a:noFill/>
          <a:ln/>
        </p:spPr>
        <p:txBody>
          <a:bodyPr wrap="square" lIns="0" tIns="0" rIns="0" bIns="0" rtlCol="0" anchor="t"/>
          <a:lstStyle/>
          <a:p>
            <a:pPr rtl="1" algn="r" indent="0" marL="0">
              <a:lnSpc>
                <a:spcPct val="100000"/>
              </a:lnSpc>
              <a:buNone/>
            </a:pPr>
            <a:r>
              <a:rPr lang="ar-SA" altLang="en-US" sz="2400" b="1" dirty="0">
                <a:solidFill>
                  <a:srgbClr val="A6D04B"/>
                </a:solidFill>
                <a:latin typeface="Cairo" pitchFamily="34" charset="0"/>
                <a:ea typeface="Cairo" pitchFamily="34" charset="-122"/>
                <a:cs typeface="Cairo" pitchFamily="34" charset="-120"/>
              </a:rPr>
              <a:t>عادات</a:t>
            </a:r>
            <a:endParaRPr lang="ar-SA" sz="2400" dirty="0"/>
          </a:p>
        </p:txBody>
      </p:sp>
      <p:sp>
        <p:nvSpPr>
          <p:cNvPr id="12" name="Text 9"/>
          <p:cNvSpPr txBox="1"/>
          <p:nvPr/>
        </p:nvSpPr>
        <p:spPr>
          <a:xfrm>
            <a:off x="5790895" y="5385816"/>
            <a:ext cx="5852160" cy="411480"/>
          </a:xfrm>
          <a:prstGeom prst="rect">
            <a:avLst/>
          </a:prstGeom>
          <a:noFill/>
          <a:ln/>
        </p:spPr>
        <p:txBody>
          <a:bodyPr wrap="square" lIns="0" tIns="0" rIns="0" bIns="0" rtlCol="0" anchor="t"/>
          <a:lstStyle/>
          <a:p>
            <a:pPr rtl="1" algn="r" indent="0" marL="0">
              <a:lnSpc>
                <a:spcPct val="100000"/>
              </a:lnSpc>
              <a:buNone/>
            </a:pPr>
            <a:r>
              <a:rPr lang="ar-SA" altLang="en-US" sz="1500" dirty="0">
                <a:solidFill>
                  <a:srgbClr val="D6D8D4"/>
                </a:solidFill>
                <a:latin typeface="IBM Plex Sans Arabic" pitchFamily="34" charset="0"/>
                <a:ea typeface="IBM Plex Sans Arabic" pitchFamily="34" charset="-122"/>
                <a:cs typeface="IBM Plex Sans Arabic" pitchFamily="34" charset="-120"/>
              </a:rPr>
              <a:t>استخدام مسؤول وآمن وصادق للذكاء الاصطناعي</a:t>
            </a:r>
            <a:endParaRPr lang="ar-SA" sz="1500" dirty="0"/>
          </a:p>
        </p:txBody>
      </p:sp>
      <p:sp>
        <p:nvSpPr>
          <p:cNvPr id="13" name="Shape 10"/>
          <p:cNvSpPr/>
          <p:nvPr/>
        </p:nvSpPr>
        <p:spPr>
          <a:xfrm>
            <a:off x="548640" y="1600200"/>
            <a:ext cx="4693615" cy="4526280"/>
          </a:xfrm>
          <a:prstGeom prst="roundRect">
            <a:avLst>
              <a:gd name="adj" fmla="val 2424"/>
            </a:avLst>
          </a:prstGeom>
          <a:solidFill>
            <a:srgbClr val="161816"/>
          </a:solidFill>
          <a:ln w="9525">
            <a:solidFill>
              <a:srgbClr val="3A3D39"/>
            </a:solidFill>
            <a:prstDash val="solid"/>
          </a:ln>
        </p:spPr>
      </p:sp>
      <p:sp>
        <p:nvSpPr>
          <p:cNvPr id="14" name="Text 11"/>
          <p:cNvSpPr txBox="1"/>
          <p:nvPr/>
        </p:nvSpPr>
        <p:spPr>
          <a:xfrm>
            <a:off x="868680" y="1828800"/>
            <a:ext cx="4053535" cy="457200"/>
          </a:xfrm>
          <a:prstGeom prst="rect">
            <a:avLst/>
          </a:prstGeom>
          <a:noFill/>
          <a:ln/>
        </p:spPr>
        <p:txBody>
          <a:bodyPr wrap="square" lIns="0" tIns="0" rIns="0" bIns="0" rtlCol="0" anchor="t"/>
          <a:lstStyle/>
          <a:p>
            <a:pPr rtl="1" algn="r" indent="0" marL="0">
              <a:lnSpc>
                <a:spcPct val="100000"/>
              </a:lnSpc>
              <a:buNone/>
            </a:pPr>
            <a:r>
              <a:rPr lang="ar-SA" altLang="en-US" sz="1800" b="1" dirty="0">
                <a:solidFill>
                  <a:srgbClr val="FFFFFF"/>
                </a:solidFill>
                <a:latin typeface="Cairo" pitchFamily="34" charset="0"/>
                <a:ea typeface="Cairo" pitchFamily="34" charset="-122"/>
                <a:cs typeface="Cairo" pitchFamily="34" charset="-120"/>
              </a:rPr>
              <a:t>قرارات مطلوبة قبل الإطلاق</a:t>
            </a:r>
            <a:endParaRPr lang="ar-SA" sz="1800" dirty="0"/>
          </a:p>
        </p:txBody>
      </p:sp>
      <p:pic>
        <p:nvPicPr>
          <p:cNvPr id="15" name="Image 1" descr="preencoded.png">    </p:cNvPr>
          <p:cNvPicPr>
            <a:picLocks noChangeAspect="1"/>
          </p:cNvPicPr>
          <p:nvPr/>
        </p:nvPicPr>
        <p:blipFill>
          <a:blip r:embed="rId2"/>
          <a:stretch>
            <a:fillRect/>
          </a:stretch>
        </p:blipFill>
        <p:spPr>
          <a:xfrm>
            <a:off x="4593031" y="2505456"/>
            <a:ext cx="329184" cy="329184"/>
          </a:xfrm>
          <a:prstGeom prst="rect">
            <a:avLst/>
          </a:prstGeom>
        </p:spPr>
      </p:pic>
      <p:sp>
        <p:nvSpPr>
          <p:cNvPr id="16" name="Text 12"/>
          <p:cNvSpPr txBox="1"/>
          <p:nvPr/>
        </p:nvSpPr>
        <p:spPr>
          <a:xfrm>
            <a:off x="868680" y="2468880"/>
            <a:ext cx="3550615" cy="548640"/>
          </a:xfrm>
          <a:prstGeom prst="rect">
            <a:avLst/>
          </a:prstGeom>
          <a:noFill/>
          <a:ln/>
        </p:spPr>
        <p:txBody>
          <a:bodyPr wrap="square" lIns="0" tIns="0" rIns="0" bIns="0" rtlCol="0" anchor="t"/>
          <a:lstStyle/>
          <a:p>
            <a:pPr rtl="1" algn="r" indent="0" marL="0">
              <a:lnSpc>
                <a:spcPct val="100000"/>
              </a:lnSpc>
              <a:buNone/>
            </a:pPr>
            <a:r>
              <a:rPr lang="ar-SA" altLang="en-US" sz="1450" dirty="0">
                <a:solidFill>
                  <a:srgbClr val="FFFFFF"/>
                </a:solidFill>
                <a:latin typeface="IBM Plex Sans Arabic" pitchFamily="34" charset="0"/>
                <a:ea typeface="IBM Plex Sans Arabic" pitchFamily="34" charset="-122"/>
                <a:cs typeface="IBM Plex Sans Arabic" pitchFamily="34" charset="-120"/>
              </a:rPr>
              <a:t>مكان التنفيذ ومواعيده وحجم المجموعة</a:t>
            </a:r>
            <a:endParaRPr lang="ar-SA" sz="1450" dirty="0"/>
          </a:p>
        </p:txBody>
      </p:sp>
      <p:pic>
        <p:nvPicPr>
          <p:cNvPr id="17" name="Image 2" descr="preencoded.png">    </p:cNvPr>
          <p:cNvPicPr>
            <a:picLocks noChangeAspect="1"/>
          </p:cNvPicPr>
          <p:nvPr/>
        </p:nvPicPr>
        <p:blipFill>
          <a:blip r:embed="rId3"/>
          <a:stretch>
            <a:fillRect/>
          </a:stretch>
        </p:blipFill>
        <p:spPr>
          <a:xfrm>
            <a:off x="4593031" y="3191256"/>
            <a:ext cx="329184" cy="329184"/>
          </a:xfrm>
          <a:prstGeom prst="rect">
            <a:avLst/>
          </a:prstGeom>
        </p:spPr>
      </p:pic>
      <p:sp>
        <p:nvSpPr>
          <p:cNvPr id="18" name="Text 13"/>
          <p:cNvSpPr txBox="1"/>
          <p:nvPr/>
        </p:nvSpPr>
        <p:spPr>
          <a:xfrm>
            <a:off x="868680" y="3154680"/>
            <a:ext cx="3550615" cy="548640"/>
          </a:xfrm>
          <a:prstGeom prst="rect">
            <a:avLst/>
          </a:prstGeom>
          <a:noFill/>
          <a:ln/>
        </p:spPr>
        <p:txBody>
          <a:bodyPr wrap="square" lIns="0" tIns="0" rIns="0" bIns="0" rtlCol="0" anchor="t"/>
          <a:lstStyle/>
          <a:p>
            <a:pPr rtl="1" algn="r" indent="0" marL="0">
              <a:lnSpc>
                <a:spcPct val="100000"/>
              </a:lnSpc>
              <a:buNone/>
            </a:pPr>
            <a:r>
              <a:rPr lang="ar-SA" altLang="en-US" sz="1450" dirty="0">
                <a:solidFill>
                  <a:srgbClr val="FFFFFF"/>
                </a:solidFill>
                <a:latin typeface="IBM Plex Sans Arabic" pitchFamily="34" charset="0"/>
                <a:ea typeface="IBM Plex Sans Arabic" pitchFamily="34" charset="-122"/>
                <a:cs typeface="IBM Plex Sans Arabic" pitchFamily="34" charset="-120"/>
              </a:rPr>
              <a:t>طريقة استضافة n8n ومزوّد الذكاء الاصطناعي</a:t>
            </a:r>
            <a:endParaRPr lang="ar-SA" sz="1450" dirty="0"/>
          </a:p>
        </p:txBody>
      </p:sp>
      <p:pic>
        <p:nvPicPr>
          <p:cNvPr id="19" name="Image 3" descr="preencoded.png">    </p:cNvPr>
          <p:cNvPicPr>
            <a:picLocks noChangeAspect="1"/>
          </p:cNvPicPr>
          <p:nvPr/>
        </p:nvPicPr>
        <p:blipFill>
          <a:blip r:embed="rId4"/>
          <a:stretch>
            <a:fillRect/>
          </a:stretch>
        </p:blipFill>
        <p:spPr>
          <a:xfrm>
            <a:off x="4593031" y="3877056"/>
            <a:ext cx="329184" cy="329184"/>
          </a:xfrm>
          <a:prstGeom prst="rect">
            <a:avLst/>
          </a:prstGeom>
        </p:spPr>
      </p:pic>
      <p:sp>
        <p:nvSpPr>
          <p:cNvPr id="20" name="Text 14"/>
          <p:cNvSpPr txBox="1"/>
          <p:nvPr/>
        </p:nvSpPr>
        <p:spPr>
          <a:xfrm>
            <a:off x="868680" y="3840480"/>
            <a:ext cx="3550615" cy="548640"/>
          </a:xfrm>
          <a:prstGeom prst="rect">
            <a:avLst/>
          </a:prstGeom>
          <a:noFill/>
          <a:ln/>
        </p:spPr>
        <p:txBody>
          <a:bodyPr wrap="square" lIns="0" tIns="0" rIns="0" bIns="0" rtlCol="0" anchor="t"/>
          <a:lstStyle/>
          <a:p>
            <a:pPr rtl="1" algn="r" indent="0" marL="0">
              <a:lnSpc>
                <a:spcPct val="100000"/>
              </a:lnSpc>
              <a:buNone/>
            </a:pPr>
            <a:r>
              <a:rPr lang="ar-SA" altLang="en-US" sz="1450" dirty="0">
                <a:solidFill>
                  <a:srgbClr val="FFFFFF"/>
                </a:solidFill>
                <a:latin typeface="IBM Plex Sans Arabic" pitchFamily="34" charset="0"/>
                <a:ea typeface="IBM Plex Sans Arabic" pitchFamily="34" charset="-122"/>
                <a:cs typeface="IBM Plex Sans Arabic" pitchFamily="34" charset="-120"/>
              </a:rPr>
              <a:t>خطة الوصول إلى أدوات الفئة 18+، مثل Google Flow وأدوات الصوت</a:t>
            </a:r>
            <a:endParaRPr lang="ar-SA" sz="1450" dirty="0"/>
          </a:p>
        </p:txBody>
      </p:sp>
      <p:pic>
        <p:nvPicPr>
          <p:cNvPr id="21" name="Image 4" descr="preencoded.png">    </p:cNvPr>
          <p:cNvPicPr>
            <a:picLocks noChangeAspect="1"/>
          </p:cNvPicPr>
          <p:nvPr/>
        </p:nvPicPr>
        <p:blipFill>
          <a:blip r:embed="rId5"/>
          <a:stretch>
            <a:fillRect/>
          </a:stretch>
        </p:blipFill>
        <p:spPr>
          <a:xfrm>
            <a:off x="4593031" y="4562856"/>
            <a:ext cx="329184" cy="329184"/>
          </a:xfrm>
          <a:prstGeom prst="rect">
            <a:avLst/>
          </a:prstGeom>
        </p:spPr>
      </p:pic>
      <p:sp>
        <p:nvSpPr>
          <p:cNvPr id="22" name="Text 15"/>
          <p:cNvSpPr txBox="1"/>
          <p:nvPr/>
        </p:nvSpPr>
        <p:spPr>
          <a:xfrm>
            <a:off x="868680" y="4526280"/>
            <a:ext cx="3550615" cy="548640"/>
          </a:xfrm>
          <a:prstGeom prst="rect">
            <a:avLst/>
          </a:prstGeom>
          <a:noFill/>
          <a:ln/>
        </p:spPr>
        <p:txBody>
          <a:bodyPr wrap="square" lIns="0" tIns="0" rIns="0" bIns="0" rtlCol="0" anchor="t"/>
          <a:lstStyle/>
          <a:p>
            <a:pPr rtl="1" algn="r" indent="0" marL="0">
              <a:lnSpc>
                <a:spcPct val="100000"/>
              </a:lnSpc>
              <a:buNone/>
            </a:pPr>
            <a:r>
              <a:rPr lang="ar-SA" altLang="en-US" sz="1450" dirty="0">
                <a:solidFill>
                  <a:srgbClr val="FFFFFF"/>
                </a:solidFill>
                <a:latin typeface="IBM Plex Sans Arabic" pitchFamily="34" charset="0"/>
                <a:ea typeface="IBM Plex Sans Arabic" pitchFamily="34" charset="-122"/>
                <a:cs typeface="IBM Plex Sans Arabic" pitchFamily="34" charset="-120"/>
              </a:rPr>
              <a:t>شركاء مجتمعيون للتدرّب مع عملاء حقيقيين</a:t>
            </a:r>
            <a:endParaRPr lang="ar-SA" sz="1450" dirty="0"/>
          </a:p>
        </p:txBody>
      </p:sp>
      <p:pic>
        <p:nvPicPr>
          <p:cNvPr id="23" name="Image 5" descr="preencoded.png">    </p:cNvPr>
          <p:cNvPicPr>
            <a:picLocks noChangeAspect="1"/>
          </p:cNvPicPr>
          <p:nvPr/>
        </p:nvPicPr>
        <p:blipFill>
          <a:blip r:embed="rId6"/>
          <a:stretch>
            <a:fillRect/>
          </a:stretch>
        </p:blipFill>
        <p:spPr>
          <a:xfrm>
            <a:off x="4593031" y="5248656"/>
            <a:ext cx="329184" cy="329184"/>
          </a:xfrm>
          <a:prstGeom prst="rect">
            <a:avLst/>
          </a:prstGeom>
        </p:spPr>
      </p:pic>
      <p:sp>
        <p:nvSpPr>
          <p:cNvPr id="24" name="Text 16"/>
          <p:cNvSpPr txBox="1"/>
          <p:nvPr/>
        </p:nvSpPr>
        <p:spPr>
          <a:xfrm>
            <a:off x="868680" y="5212080"/>
            <a:ext cx="3550615" cy="548640"/>
          </a:xfrm>
          <a:prstGeom prst="rect">
            <a:avLst/>
          </a:prstGeom>
          <a:noFill/>
          <a:ln/>
        </p:spPr>
        <p:txBody>
          <a:bodyPr wrap="square" lIns="0" tIns="0" rIns="0" bIns="0" rtlCol="0" anchor="t"/>
          <a:lstStyle/>
          <a:p>
            <a:pPr rtl="1" algn="r" indent="0" marL="0">
              <a:lnSpc>
                <a:spcPct val="100000"/>
              </a:lnSpc>
              <a:buNone/>
            </a:pPr>
            <a:r>
              <a:rPr lang="ar-SA" altLang="en-US" sz="1450" dirty="0">
                <a:solidFill>
                  <a:srgbClr val="FFFFFF"/>
                </a:solidFill>
                <a:latin typeface="IBM Plex Sans Arabic" pitchFamily="34" charset="0"/>
                <a:ea typeface="IBM Plex Sans Arabic" pitchFamily="34" charset="-122"/>
                <a:cs typeface="IBM Plex Sans Arabic" pitchFamily="34" charset="-120"/>
              </a:rPr>
              <a:t>ضيوف يوم العرض وصيغة الشهادة</a:t>
            </a:r>
            <a:endParaRPr lang="ar-SA" sz="1450" dirty="0"/>
          </a:p>
        </p:txBody>
      </p:sp>
    </p:spTree>
  </p:cSld>
  <p:clrMapOvr>
    <a:masterClrMapping/>
  </p:clrMapOvr>
</p:sld>
</file>

<file path=ppt/theme/theme1.xml><?xml version="1.0" encoding="utf-8"?>
<a:theme xmlns:a="http://schemas.openxmlformats.org/drawingml/2006/main" name="Green Circle Training">
  <a:themeElements>
    <a:clrScheme name="Green Circle Training">
      <a:dk1>
        <a:srgbClr val="000000"/>
      </a:dk1>
      <a:lt1>
        <a:srgbClr val="FFFFFF"/>
      </a:lt1>
      <a:dk2>
        <a:srgbClr val="727274"/>
      </a:dk2>
      <a:lt2>
        <a:srgbClr val="EAF5E8"/>
      </a:lt2>
      <a:accent1>
        <a:srgbClr val="4DB449"/>
      </a:accent1>
      <a:accent2>
        <a:srgbClr val="A6D04B"/>
      </a:accent2>
      <a:accent3>
        <a:srgbClr val="727274"/>
      </a:accent3>
      <a:accent4>
        <a:srgbClr val="1A1A1A"/>
      </a:accent4>
      <a:accent5>
        <a:srgbClr val="4DB449"/>
      </a:accent5>
      <a:accent6>
        <a:srgbClr val="A6D04B"/>
      </a:accent6>
      <a:hlink>
        <a:srgbClr val="4DB449"/>
      </a:hlink>
      <a:folHlink>
        <a:srgbClr val="727274"/>
      </a:folHlink>
    </a:clrScheme>
    <a:fontScheme name="Green Circle Training">
      <a:majorFont>
        <a:latin typeface="Cai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Green Circle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صناعة المحتوى والتسويق الرقمي والأتمتة والعمل الحر بالذكاء الاصطناعي</dc:title>
  <dc:subject>PptxGenJS Presentation</dc:subject>
  <dc:creator>Green Circle</dc:creator>
  <cp:lastModifiedBy>Green Circle</cp:lastModifiedBy>
  <cp:revision>1</cp:revision>
  <dcterms:created xsi:type="dcterms:W3CDTF">2026-10-20T11:52:01Z</dcterms:created>
  <dcterms:modified xsi:type="dcterms:W3CDTF">2026-10-20T11:52:01Z</dcterms:modified>
</cp:coreProperties>
</file>