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promise: in 96 hours participants learn to use AI tools in practice and leave with finished work. The ring shows the eight production stages they learn to combine.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ideas carry the program: tools used by hand, several tools combined, and a portfolio of finished work as proof. Hours: 26 theory and 70 hands-on.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eight statements are the program's learning outcomes in plain words. Each one is backed by a mini project the participant completes.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one idea moves through eight stages. Under each stage are the tools participants use for it. Logos appear only for tools with an official published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 is to scale. Video, motion and audio is the largest track because production work needs the most hands-on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 choice is taught as a habit: start from the task and the data, not from the newest tool. Question 4 is where Green Circle's security focus comes in: what is safe to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parts are the checklist participants use all program long. The before-and-after example shows the difference in one glance.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 works in the terminal, VS Code and the desktop app, and is included with Claude Pro and Max plans. No prior programming is required; participants learn to describe, review and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 locations follow Claude Code's documentation: .claude/skills in the project, ~/.claude/skills for personal skills. Ready-made skills come from plugin marketplaces via the /plugin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tools return sources; participants are taught to open and check them. NotebookLM works only from the sources the participant adds.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 tools change fast; the program teaches the prompting and consistency techniques that carry across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Generated shots are only the raw material. Most of the hands-on time goes to planning, editing and finishing, where judgment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ElevenLabs covers text to speech, voice design, sound effects and music. Participants clone or imitate no real person's voice without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n8n's Form Trigger, AI Agent and Google Sheets nodes are standard nodes. Trainers set up the credentials; participants learn what API keys and OAuth are and why they stay private.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module ends with a mini project the participant completes and keeps. Theory is never more than about a third of any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project is the proof point for funders: each team shows one idea turned into a complete, published content package using the tools from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targets are proposals for agreement with the funder. The skills assessment is the same practical test at the start and end of the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what participants keep: a portfolio, a working toolkit and secure habits.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slideLayout" Target="../slideLayouts/slideLayout2.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6.png"/><Relationship Id="rId16" Type="http://schemas.openxmlformats.org/officeDocument/2006/relationships/image" Target="../media/image-4-16.png"/><Relationship Id="rId17" Type="http://schemas.openxmlformats.org/officeDocument/2006/relationships/slideLayout" Target="../slideLayouts/slideLayout3.xml"/><Relationship Id="rId1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4.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slideLayout" Target="../slideLayouts/slideLayout2.xml"/><Relationship Id="rId1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slideLayout" Target="../slideLayouts/slideLayout3.xml"/><Relationship Id="rId1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slideLayout" Target="../slideLayouts/slideLayout2.xml"/><Relationship Id="rId1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2.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slideLayout" Target="../slideLayouts/slideLayout3.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5.png"/><Relationship Id="rId8" Type="http://schemas.openxmlformats.org/officeDocument/2006/relationships/image" Target="../media/image-13-8.png"/><Relationship Id="rId9" Type="http://schemas.openxmlformats.org/officeDocument/2006/relationships/slideLayout" Target="../slideLayouts/slideLayout2.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image" Target="../media/image-14-12.png"/><Relationship Id="rId13" Type="http://schemas.openxmlformats.org/officeDocument/2006/relationships/image" Target="../media/image-14-13.png"/><Relationship Id="rId14" Type="http://schemas.openxmlformats.org/officeDocument/2006/relationships/image" Target="../media/image-14-14.png"/><Relationship Id="rId15" Type="http://schemas.openxmlformats.org/officeDocument/2006/relationships/image" Target="../media/image-14-15.png"/><Relationship Id="rId16" Type="http://schemas.openxmlformats.org/officeDocument/2006/relationships/slideLayout" Target="../slideLayouts/slideLayout3.xml"/><Relationship Id="rId1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image" Target="../media/image-16-14.png"/><Relationship Id="rId15" Type="http://schemas.openxmlformats.org/officeDocument/2006/relationships/image" Target="../media/image-16-15.png"/><Relationship Id="rId16" Type="http://schemas.openxmlformats.org/officeDocument/2006/relationships/slideLayout" Target="../slideLayouts/slideLayout2.xml"/><Relationship Id="rId1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2.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Green Circle logo">    </p:cNvPr>
          <p:cNvPicPr>
            <a:picLocks noChangeAspect="1"/>
          </p:cNvPicPr>
          <p:nvPr/>
        </p:nvPicPr>
        <p:blipFill>
          <a:blip r:embed="rId1"/>
          <a:stretch>
            <a:fillRect/>
          </a:stretch>
        </p:blipFill>
        <p:spPr>
          <a:xfrm>
            <a:off x="7711135" y="502920"/>
            <a:ext cx="3931920" cy="1397336"/>
          </a:xfrm>
          <a:prstGeom prst="rect">
            <a:avLst/>
          </a:prstGeom>
        </p:spPr>
      </p:pic>
      <p:sp>
        <p:nvSpPr>
          <p:cNvPr id="3" name="Text 0"/>
          <p:cNvSpPr txBox="1"/>
          <p:nvPr/>
        </p:nvSpPr>
        <p:spPr>
          <a:xfrm>
            <a:off x="5333695" y="2240280"/>
            <a:ext cx="6309360" cy="274320"/>
          </a:xfrm>
          <a:prstGeom prst="rect">
            <a:avLst/>
          </a:prstGeom>
          <a:noFill/>
          <a:ln/>
        </p:spPr>
        <p:txBody>
          <a:bodyPr wrap="square" lIns="0" tIns="0" rIns="0" bIns="0" rtlCol="0" anchor="t"/>
          <a:lstStyle/>
          <a:p>
            <a:pPr rtl="1" algn="r" indent="0" marL="0">
              <a:lnSpc>
                <a:spcPct val="100000"/>
              </a:lnSpc>
              <a:buNone/>
            </a:pPr>
            <a:r>
              <a:rPr lang="ar-SA" altLang="en-US" sz="1200" b="1" dirty="0">
                <a:solidFill>
                  <a:srgbClr val="A6D04B"/>
                </a:solidFill>
                <a:latin typeface="IBM Plex Sans Arabic" pitchFamily="34" charset="0"/>
                <a:ea typeface="IBM Plex Sans Arabic" pitchFamily="34" charset="-122"/>
                <a:cs typeface="IBM Plex Sans Arabic" pitchFamily="34" charset="-120"/>
              </a:rPr>
              <a:t>مذكرة مفاهيمية لبرنامج تدريبي · تشرين الأول (أكتوبر) 2026</a:t>
            </a:r>
            <a:endParaRPr lang="ar-SA" sz="1200" dirty="0"/>
          </a:p>
        </p:txBody>
      </p:sp>
      <p:sp>
        <p:nvSpPr>
          <p:cNvPr id="4" name="Text 1"/>
          <p:cNvSpPr txBox="1"/>
          <p:nvPr/>
        </p:nvSpPr>
        <p:spPr>
          <a:xfrm>
            <a:off x="5333695" y="2606040"/>
            <a:ext cx="6309360" cy="2011680"/>
          </a:xfrm>
          <a:prstGeom prst="rect">
            <a:avLst/>
          </a:prstGeom>
          <a:noFill/>
          <a:ln/>
        </p:spPr>
        <p:txBody>
          <a:bodyPr wrap="square" lIns="0" tIns="0" rIns="0" bIns="0" rtlCol="0" anchor="t"/>
          <a:lstStyle/>
          <a:p>
            <a:pPr rtl="1" algn="r" indent="0" marL="0">
              <a:lnSpc>
                <a:spcPct val="100000"/>
              </a:lnSpc>
              <a:buNone/>
            </a:pPr>
            <a:r>
              <a:rPr lang="ar-SA" altLang="en-US" sz="3200" b="1" dirty="0">
                <a:solidFill>
                  <a:srgbClr val="FFFFFF"/>
                </a:solidFill>
                <a:latin typeface="Cairo" pitchFamily="34" charset="0"/>
                <a:ea typeface="Cairo" pitchFamily="34" charset="-122"/>
                <a:cs typeface="Cairo" pitchFamily="34" charset="-120"/>
              </a:rPr>
              <a:t>صناعة المحتوى والتسويق الرقمي والأتمتة والعمل الحر بالذكاء الاصطناعي</a:t>
            </a:r>
            <a:endParaRPr lang="ar-SA" sz="3200" dirty="0"/>
          </a:p>
        </p:txBody>
      </p:sp>
      <p:sp>
        <p:nvSpPr>
          <p:cNvPr id="5" name="Text 2"/>
          <p:cNvSpPr txBox="1"/>
          <p:nvPr/>
        </p:nvSpPr>
        <p:spPr>
          <a:xfrm>
            <a:off x="5516575" y="4709160"/>
            <a:ext cx="6126480" cy="1097280"/>
          </a:xfrm>
          <a:prstGeom prst="rect">
            <a:avLst/>
          </a:prstGeom>
          <a:noFill/>
          <a:ln/>
        </p:spPr>
        <p:txBody>
          <a:bodyPr wrap="square" lIns="0" tIns="0" rIns="0" bIns="0" rtlCol="0" anchor="t"/>
          <a:lstStyle/>
          <a:p>
            <a:pPr rtl="1" algn="r" indent="0" marL="0">
              <a:lnSpc>
                <a:spcPct val="105000"/>
              </a:lnSpc>
              <a:buNone/>
            </a:pPr>
            <a:r>
              <a:rPr lang="ar-SA" altLang="en-US" sz="1600" dirty="0">
                <a:solidFill>
                  <a:srgbClr val="D6D8D4"/>
                </a:solidFill>
                <a:latin typeface="IBM Plex Sans Arabic" pitchFamily="34" charset="0"/>
                <a:ea typeface="IBM Plex Sans Arabic" pitchFamily="34" charset="-122"/>
                <a:cs typeface="IBM Plex Sans Arabic" pitchFamily="34" charset="-120"/>
              </a:rPr>
              <a:t>برنامج عملي مدته 96 ساعة، يتعلّم فيه المشاركون استخدام أدوات الذكاء الاصطناعي في البحث والكتابة والتصميم وإنتاج الفيديو والصوت والبناء بـ Claude Code وأتمتة العمل.</a:t>
            </a:r>
            <a:endParaRPr lang="ar-SA" sz="1600" dirty="0"/>
          </a:p>
        </p:txBody>
      </p:sp>
      <p:sp>
        <p:nvSpPr>
          <p:cNvPr id="6" name="Shape 3"/>
          <p:cNvSpPr/>
          <p:nvPr/>
        </p:nvSpPr>
        <p:spPr>
          <a:xfrm>
            <a:off x="1005840" y="1691640"/>
            <a:ext cx="3931920" cy="3931920"/>
          </a:xfrm>
          <a:prstGeom prst="ellipse">
            <a:avLst/>
          </a:prstGeom>
          <a:solidFill>
            <a:srgbClr val="000000">
              <a:alpha val="0"/>
            </a:srgbClr>
          </a:solidFill>
          <a:ln w="15875">
            <a:solidFill>
              <a:srgbClr val="2F332E"/>
            </a:solidFill>
            <a:prstDash val="dash"/>
          </a:ln>
        </p:spPr>
      </p:sp>
      <p:sp>
        <p:nvSpPr>
          <p:cNvPr id="7" name="Shape 4"/>
          <p:cNvSpPr/>
          <p:nvPr/>
        </p:nvSpPr>
        <p:spPr>
          <a:xfrm>
            <a:off x="2816352" y="1536192"/>
            <a:ext cx="310896" cy="310896"/>
          </a:xfrm>
          <a:prstGeom prst="ellipse">
            <a:avLst/>
          </a:prstGeom>
          <a:solidFill>
            <a:srgbClr val="4DB449"/>
          </a:solidFill>
          <a:ln w="6350">
            <a:solidFill>
              <a:srgbClr val="4DB449"/>
            </a:solidFill>
            <a:prstDash val="solid"/>
          </a:ln>
        </p:spPr>
      </p:sp>
      <p:sp>
        <p:nvSpPr>
          <p:cNvPr id="8" name="Text 5"/>
          <p:cNvSpPr txBox="1"/>
          <p:nvPr/>
        </p:nvSpPr>
        <p:spPr>
          <a:xfrm>
            <a:off x="2240280" y="1124712"/>
            <a:ext cx="1463040" cy="329184"/>
          </a:xfrm>
          <a:prstGeom prst="rect">
            <a:avLst/>
          </a:prstGeom>
          <a:noFill/>
          <a:ln/>
        </p:spPr>
        <p:txBody>
          <a:bodyPr wrap="square" lIns="0" tIns="0" rIns="0" bIns="0" rtlCol="0" anchor="ctr"/>
          <a:lstStyle/>
          <a:p>
            <a:pPr rtl="1" algn="ctr" indent="0" marL="0">
              <a:buNone/>
            </a:pPr>
            <a:r>
              <a:rPr lang="ar-SA" altLang="en-US" sz="1300" dirty="0">
                <a:solidFill>
                  <a:srgbClr val="FFFFFF"/>
                </a:solidFill>
                <a:latin typeface="IBM Plex Sans Arabic" pitchFamily="34" charset="0"/>
                <a:ea typeface="IBM Plex Sans Arabic" pitchFamily="34" charset="-122"/>
                <a:cs typeface="IBM Plex Sans Arabic" pitchFamily="34" charset="-120"/>
              </a:rPr>
              <a:t>البحث</a:t>
            </a:r>
            <a:endParaRPr lang="ar-SA" sz="1300" dirty="0"/>
          </a:p>
        </p:txBody>
      </p:sp>
      <p:sp>
        <p:nvSpPr>
          <p:cNvPr id="9" name="Shape 6"/>
          <p:cNvSpPr/>
          <p:nvPr/>
        </p:nvSpPr>
        <p:spPr>
          <a:xfrm>
            <a:off x="1426208" y="2112008"/>
            <a:ext cx="310896" cy="310896"/>
          </a:xfrm>
          <a:prstGeom prst="ellipse">
            <a:avLst/>
          </a:prstGeom>
          <a:solidFill>
            <a:srgbClr val="A6D04B"/>
          </a:solidFill>
          <a:ln w="6350">
            <a:solidFill>
              <a:srgbClr val="A6D04B"/>
            </a:solidFill>
            <a:prstDash val="solid"/>
          </a:ln>
        </p:spPr>
      </p:sp>
      <p:sp>
        <p:nvSpPr>
          <p:cNvPr id="10" name="Text 7"/>
          <p:cNvSpPr txBox="1"/>
          <p:nvPr/>
        </p:nvSpPr>
        <p:spPr>
          <a:xfrm>
            <a:off x="-137416" y="2102864"/>
            <a:ext cx="1463040" cy="329184"/>
          </a:xfrm>
          <a:prstGeom prst="rect">
            <a:avLst/>
          </a:prstGeom>
          <a:noFill/>
          <a:ln/>
        </p:spPr>
        <p:txBody>
          <a:bodyPr wrap="square" lIns="0" tIns="0" rIns="0" bIns="0" rtlCol="0" anchor="ctr"/>
          <a:lstStyle/>
          <a:p>
            <a:pPr rtl="1" algn="r" indent="0" marL="0">
              <a:buNone/>
            </a:pPr>
            <a:r>
              <a:rPr lang="ar-SA" altLang="en-US" sz="1300" dirty="0">
                <a:solidFill>
                  <a:srgbClr val="FFFFFF"/>
                </a:solidFill>
                <a:latin typeface="IBM Plex Sans Arabic" pitchFamily="34" charset="0"/>
                <a:ea typeface="IBM Plex Sans Arabic" pitchFamily="34" charset="-122"/>
                <a:cs typeface="IBM Plex Sans Arabic" pitchFamily="34" charset="-120"/>
              </a:rPr>
              <a:t>الكتابة</a:t>
            </a:r>
            <a:endParaRPr lang="ar-SA" sz="1300" dirty="0"/>
          </a:p>
        </p:txBody>
      </p:sp>
      <p:sp>
        <p:nvSpPr>
          <p:cNvPr id="11" name="Shape 8"/>
          <p:cNvSpPr/>
          <p:nvPr/>
        </p:nvSpPr>
        <p:spPr>
          <a:xfrm>
            <a:off x="850392" y="3502152"/>
            <a:ext cx="310896" cy="310896"/>
          </a:xfrm>
          <a:prstGeom prst="ellipse">
            <a:avLst/>
          </a:prstGeom>
          <a:solidFill>
            <a:srgbClr val="4DB449"/>
          </a:solidFill>
          <a:ln w="6350">
            <a:solidFill>
              <a:srgbClr val="4DB449"/>
            </a:solidFill>
            <a:prstDash val="solid"/>
          </a:ln>
        </p:spPr>
      </p:sp>
      <p:sp>
        <p:nvSpPr>
          <p:cNvPr id="12" name="Text 9"/>
          <p:cNvSpPr txBox="1"/>
          <p:nvPr/>
        </p:nvSpPr>
        <p:spPr>
          <a:xfrm>
            <a:off x="-713232" y="3493008"/>
            <a:ext cx="1463040" cy="329184"/>
          </a:xfrm>
          <a:prstGeom prst="rect">
            <a:avLst/>
          </a:prstGeom>
          <a:noFill/>
          <a:ln/>
        </p:spPr>
        <p:txBody>
          <a:bodyPr wrap="square" lIns="0" tIns="0" rIns="0" bIns="0" rtlCol="0" anchor="ctr"/>
          <a:lstStyle/>
          <a:p>
            <a:pPr rtl="1" algn="r" indent="0" marL="0">
              <a:buNone/>
            </a:pPr>
            <a:r>
              <a:rPr lang="ar-SA" altLang="en-US" sz="1300" dirty="0">
                <a:solidFill>
                  <a:srgbClr val="FFFFFF"/>
                </a:solidFill>
                <a:latin typeface="IBM Plex Sans Arabic" pitchFamily="34" charset="0"/>
                <a:ea typeface="IBM Plex Sans Arabic" pitchFamily="34" charset="-122"/>
                <a:cs typeface="IBM Plex Sans Arabic" pitchFamily="34" charset="-120"/>
              </a:rPr>
              <a:t>التصميم</a:t>
            </a:r>
            <a:endParaRPr lang="ar-SA" sz="1300" dirty="0"/>
          </a:p>
        </p:txBody>
      </p:sp>
      <p:sp>
        <p:nvSpPr>
          <p:cNvPr id="13" name="Shape 10"/>
          <p:cNvSpPr/>
          <p:nvPr/>
        </p:nvSpPr>
        <p:spPr>
          <a:xfrm>
            <a:off x="1426208" y="4892296"/>
            <a:ext cx="310896" cy="310896"/>
          </a:xfrm>
          <a:prstGeom prst="ellipse">
            <a:avLst/>
          </a:prstGeom>
          <a:solidFill>
            <a:srgbClr val="A6D04B"/>
          </a:solidFill>
          <a:ln w="6350">
            <a:solidFill>
              <a:srgbClr val="A6D04B"/>
            </a:solidFill>
            <a:prstDash val="solid"/>
          </a:ln>
        </p:spPr>
      </p:sp>
      <p:sp>
        <p:nvSpPr>
          <p:cNvPr id="14" name="Text 11"/>
          <p:cNvSpPr txBox="1"/>
          <p:nvPr/>
        </p:nvSpPr>
        <p:spPr>
          <a:xfrm>
            <a:off x="-137416" y="4883152"/>
            <a:ext cx="1463040" cy="329184"/>
          </a:xfrm>
          <a:prstGeom prst="rect">
            <a:avLst/>
          </a:prstGeom>
          <a:noFill/>
          <a:ln/>
        </p:spPr>
        <p:txBody>
          <a:bodyPr wrap="square" lIns="0" tIns="0" rIns="0" bIns="0" rtlCol="0" anchor="ctr"/>
          <a:lstStyle/>
          <a:p>
            <a:pPr rtl="1" algn="r" indent="0" marL="0">
              <a:buNone/>
            </a:pPr>
            <a:r>
              <a:rPr lang="ar-SA" altLang="en-US" sz="1300" dirty="0">
                <a:solidFill>
                  <a:srgbClr val="FFFFFF"/>
                </a:solidFill>
                <a:latin typeface="IBM Plex Sans Arabic" pitchFamily="34" charset="0"/>
                <a:ea typeface="IBM Plex Sans Arabic" pitchFamily="34" charset="-122"/>
                <a:cs typeface="IBM Plex Sans Arabic" pitchFamily="34" charset="-120"/>
              </a:rPr>
              <a:t>الصور</a:t>
            </a:r>
            <a:endParaRPr lang="ar-SA" sz="1300" dirty="0"/>
          </a:p>
        </p:txBody>
      </p:sp>
      <p:sp>
        <p:nvSpPr>
          <p:cNvPr id="15" name="Shape 12"/>
          <p:cNvSpPr/>
          <p:nvPr/>
        </p:nvSpPr>
        <p:spPr>
          <a:xfrm>
            <a:off x="2816352" y="5468112"/>
            <a:ext cx="310896" cy="310896"/>
          </a:xfrm>
          <a:prstGeom prst="ellipse">
            <a:avLst/>
          </a:prstGeom>
          <a:solidFill>
            <a:srgbClr val="4DB449"/>
          </a:solidFill>
          <a:ln w="6350">
            <a:solidFill>
              <a:srgbClr val="4DB449"/>
            </a:solidFill>
            <a:prstDash val="solid"/>
          </a:ln>
        </p:spPr>
      </p:sp>
      <p:sp>
        <p:nvSpPr>
          <p:cNvPr id="16" name="Text 13"/>
          <p:cNvSpPr txBox="1"/>
          <p:nvPr/>
        </p:nvSpPr>
        <p:spPr>
          <a:xfrm>
            <a:off x="2240280" y="5861304"/>
            <a:ext cx="1463040" cy="329184"/>
          </a:xfrm>
          <a:prstGeom prst="rect">
            <a:avLst/>
          </a:prstGeom>
          <a:noFill/>
          <a:ln/>
        </p:spPr>
        <p:txBody>
          <a:bodyPr wrap="square" lIns="0" tIns="0" rIns="0" bIns="0" rtlCol="0" anchor="ctr"/>
          <a:lstStyle/>
          <a:p>
            <a:pPr rtl="1" algn="ctr" indent="0" marL="0">
              <a:buNone/>
            </a:pPr>
            <a:r>
              <a:rPr lang="ar-SA" altLang="en-US" sz="1300" dirty="0">
                <a:solidFill>
                  <a:srgbClr val="FFFFFF"/>
                </a:solidFill>
                <a:latin typeface="IBM Plex Sans Arabic" pitchFamily="34" charset="0"/>
                <a:ea typeface="IBM Plex Sans Arabic" pitchFamily="34" charset="-122"/>
                <a:cs typeface="IBM Plex Sans Arabic" pitchFamily="34" charset="-120"/>
              </a:rPr>
              <a:t>الفيديو</a:t>
            </a:r>
            <a:endParaRPr lang="ar-SA" sz="1300" dirty="0"/>
          </a:p>
        </p:txBody>
      </p:sp>
      <p:sp>
        <p:nvSpPr>
          <p:cNvPr id="17" name="Shape 14"/>
          <p:cNvSpPr/>
          <p:nvPr/>
        </p:nvSpPr>
        <p:spPr>
          <a:xfrm>
            <a:off x="4206496" y="4892296"/>
            <a:ext cx="310896" cy="310896"/>
          </a:xfrm>
          <a:prstGeom prst="ellipse">
            <a:avLst/>
          </a:prstGeom>
          <a:solidFill>
            <a:srgbClr val="A6D04B"/>
          </a:solidFill>
          <a:ln w="6350">
            <a:solidFill>
              <a:srgbClr val="A6D04B"/>
            </a:solidFill>
            <a:prstDash val="solid"/>
          </a:ln>
        </p:spPr>
      </p:sp>
      <p:sp>
        <p:nvSpPr>
          <p:cNvPr id="18" name="Text 15"/>
          <p:cNvSpPr txBox="1"/>
          <p:nvPr/>
        </p:nvSpPr>
        <p:spPr>
          <a:xfrm>
            <a:off x="4617976" y="4883152"/>
            <a:ext cx="1463040" cy="329184"/>
          </a:xfrm>
          <a:prstGeom prst="rect">
            <a:avLst/>
          </a:prstGeom>
          <a:noFill/>
          <a:ln/>
        </p:spPr>
        <p:txBody>
          <a:bodyPr wrap="square" lIns="0" tIns="0" rIns="0" bIns="0" rtlCol="0" anchor="ctr"/>
          <a:lstStyle/>
          <a:p>
            <a:pPr rtl="1" algn="l" indent="0" marL="0">
              <a:buNone/>
            </a:pPr>
            <a:r>
              <a:rPr lang="ar-SA" altLang="en-US" sz="1300" dirty="0">
                <a:solidFill>
                  <a:srgbClr val="FFFFFF"/>
                </a:solidFill>
                <a:latin typeface="IBM Plex Sans Arabic" pitchFamily="34" charset="0"/>
                <a:ea typeface="IBM Plex Sans Arabic" pitchFamily="34" charset="-122"/>
                <a:cs typeface="IBM Plex Sans Arabic" pitchFamily="34" charset="-120"/>
              </a:rPr>
              <a:t>الصوت</a:t>
            </a:r>
            <a:endParaRPr lang="ar-SA" sz="1300" dirty="0"/>
          </a:p>
        </p:txBody>
      </p:sp>
      <p:sp>
        <p:nvSpPr>
          <p:cNvPr id="19" name="Shape 16"/>
          <p:cNvSpPr/>
          <p:nvPr/>
        </p:nvSpPr>
        <p:spPr>
          <a:xfrm>
            <a:off x="4782312" y="3502152"/>
            <a:ext cx="310896" cy="310896"/>
          </a:xfrm>
          <a:prstGeom prst="ellipse">
            <a:avLst/>
          </a:prstGeom>
          <a:solidFill>
            <a:srgbClr val="4DB449"/>
          </a:solidFill>
          <a:ln w="6350">
            <a:solidFill>
              <a:srgbClr val="4DB449"/>
            </a:solidFill>
            <a:prstDash val="solid"/>
          </a:ln>
        </p:spPr>
      </p:sp>
      <p:sp>
        <p:nvSpPr>
          <p:cNvPr id="20" name="Text 17"/>
          <p:cNvSpPr txBox="1"/>
          <p:nvPr/>
        </p:nvSpPr>
        <p:spPr>
          <a:xfrm>
            <a:off x="5193792" y="3493008"/>
            <a:ext cx="1463040" cy="329184"/>
          </a:xfrm>
          <a:prstGeom prst="rect">
            <a:avLst/>
          </a:prstGeom>
          <a:noFill/>
          <a:ln/>
        </p:spPr>
        <p:txBody>
          <a:bodyPr wrap="square" lIns="0" tIns="0" rIns="0" bIns="0" rtlCol="0" anchor="ctr"/>
          <a:lstStyle/>
          <a:p>
            <a:pPr rtl="1" algn="l" indent="0" marL="0">
              <a:buNone/>
            </a:pPr>
            <a:r>
              <a:rPr lang="ar-SA" altLang="en-US" sz="1300" dirty="0">
                <a:solidFill>
                  <a:srgbClr val="FFFFFF"/>
                </a:solidFill>
                <a:latin typeface="IBM Plex Sans Arabic" pitchFamily="34" charset="0"/>
                <a:ea typeface="IBM Plex Sans Arabic" pitchFamily="34" charset="-122"/>
                <a:cs typeface="IBM Plex Sans Arabic" pitchFamily="34" charset="-120"/>
              </a:rPr>
              <a:t>الكود</a:t>
            </a:r>
            <a:endParaRPr lang="ar-SA" sz="1300" dirty="0"/>
          </a:p>
        </p:txBody>
      </p:sp>
      <p:sp>
        <p:nvSpPr>
          <p:cNvPr id="21" name="Shape 18"/>
          <p:cNvSpPr/>
          <p:nvPr/>
        </p:nvSpPr>
        <p:spPr>
          <a:xfrm>
            <a:off x="4206496" y="2112008"/>
            <a:ext cx="310896" cy="310896"/>
          </a:xfrm>
          <a:prstGeom prst="ellipse">
            <a:avLst/>
          </a:prstGeom>
          <a:solidFill>
            <a:srgbClr val="A6D04B"/>
          </a:solidFill>
          <a:ln w="6350">
            <a:solidFill>
              <a:srgbClr val="A6D04B"/>
            </a:solidFill>
            <a:prstDash val="solid"/>
          </a:ln>
        </p:spPr>
      </p:sp>
      <p:sp>
        <p:nvSpPr>
          <p:cNvPr id="22" name="Text 19"/>
          <p:cNvSpPr txBox="1"/>
          <p:nvPr/>
        </p:nvSpPr>
        <p:spPr>
          <a:xfrm>
            <a:off x="4617976" y="2102864"/>
            <a:ext cx="1463040" cy="329184"/>
          </a:xfrm>
          <a:prstGeom prst="rect">
            <a:avLst/>
          </a:prstGeom>
          <a:noFill/>
          <a:ln/>
        </p:spPr>
        <p:txBody>
          <a:bodyPr wrap="square" lIns="0" tIns="0" rIns="0" bIns="0" rtlCol="0" anchor="ctr"/>
          <a:lstStyle/>
          <a:p>
            <a:pPr rtl="1" algn="l" indent="0" marL="0">
              <a:buNone/>
            </a:pPr>
            <a:r>
              <a:rPr lang="ar-SA" altLang="en-US" sz="1300" dirty="0">
                <a:solidFill>
                  <a:srgbClr val="FFFFFF"/>
                </a:solidFill>
                <a:latin typeface="IBM Plex Sans Arabic" pitchFamily="34" charset="0"/>
                <a:ea typeface="IBM Plex Sans Arabic" pitchFamily="34" charset="-122"/>
                <a:cs typeface="IBM Plex Sans Arabic" pitchFamily="34" charset="-120"/>
              </a:rPr>
              <a:t>الأتمتة</a:t>
            </a:r>
            <a:endParaRPr lang="ar-SA" sz="1300" dirty="0"/>
          </a:p>
        </p:txBody>
      </p:sp>
      <p:sp>
        <p:nvSpPr>
          <p:cNvPr id="23" name="Shape 20"/>
          <p:cNvSpPr/>
          <p:nvPr/>
        </p:nvSpPr>
        <p:spPr>
          <a:xfrm>
            <a:off x="2075688" y="2761488"/>
            <a:ext cx="1792224" cy="1792224"/>
          </a:xfrm>
          <a:prstGeom prst="ellipse">
            <a:avLst/>
          </a:prstGeom>
          <a:solidFill>
            <a:srgbClr val="4DB449"/>
          </a:solidFill>
          <a:ln w="12700">
            <a:solidFill>
              <a:srgbClr val="4DB449"/>
            </a:solidFill>
            <a:prstDash val="solid"/>
          </a:ln>
        </p:spPr>
      </p:sp>
      <p:sp>
        <p:nvSpPr>
          <p:cNvPr id="24" name="Text 21"/>
          <p:cNvSpPr txBox="1"/>
          <p:nvPr/>
        </p:nvSpPr>
        <p:spPr>
          <a:xfrm>
            <a:off x="2194560" y="3108960"/>
            <a:ext cx="1554480" cy="1097280"/>
          </a:xfrm>
          <a:prstGeom prst="rect">
            <a:avLst/>
          </a:prstGeom>
          <a:noFill/>
          <a:ln/>
        </p:spPr>
        <p:txBody>
          <a:bodyPr wrap="square" lIns="0" tIns="0" rIns="0" bIns="0" rtlCol="0" anchor="ctr"/>
          <a:lstStyle/>
          <a:p>
            <a:pPr rtl="1" algn="ctr" indent="0" marL="0">
              <a:buNone/>
            </a:pPr>
            <a:r>
              <a:rPr lang="ar-SA" altLang="en-US" sz="1500" b="1" dirty="0">
                <a:solidFill>
                  <a:srgbClr val="000000"/>
                </a:solidFill>
                <a:latin typeface="Cairo" pitchFamily="34" charset="0"/>
                <a:ea typeface="Cairo" pitchFamily="34" charset="-122"/>
                <a:cs typeface="Cairo" pitchFamily="34" charset="-120"/>
              </a:rPr>
              <a:t>من الفكرة إلى محتوى متكامل</a:t>
            </a:r>
            <a:endParaRPr lang="ar-SA"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Green Circle logo">    </p:cNvPr>
          <p:cNvPicPr>
            <a:picLocks noChangeAspect="1"/>
          </p:cNvPicPr>
          <p:nvPr/>
        </p:nvPicPr>
        <p:blipFill>
          <a:blip r:embed="rId1"/>
          <a:stretch>
            <a:fillRect/>
          </a:stretch>
        </p:blipFill>
        <p:spPr>
          <a:xfrm>
            <a:off x="548640" y="384048"/>
            <a:ext cx="1286501" cy="457200"/>
          </a:xfrm>
          <a:prstGeom prst="rect">
            <a:avLst/>
          </a:prstGeom>
        </p:spPr>
      </p:pic>
      <p:sp>
        <p:nvSpPr>
          <p:cNvPr id="3" name="Text 0"/>
          <p:cNvSpPr txBox="1"/>
          <p:nvPr/>
        </p:nvSpPr>
        <p:spPr>
          <a:xfrm>
            <a:off x="5242255" y="6446520"/>
            <a:ext cx="6400800" cy="228600"/>
          </a:xfrm>
          <a:prstGeom prst="rect">
            <a:avLst/>
          </a:prstGeom>
          <a:noFill/>
          <a:ln/>
        </p:spPr>
        <p:txBody>
          <a:bodyPr wrap="square" lIns="0" tIns="0" rIns="0" bIns="0" rtlCol="0" anchor="t"/>
          <a:lstStyle/>
          <a:p>
            <a:pPr rtl="1" algn="r" indent="0" marL="0">
              <a:lnSpc>
                <a:spcPct val="100000"/>
              </a:lnSpc>
              <a:buNone/>
            </a:pPr>
            <a:r>
              <a:rPr lang="ar-SA" altLang="en-US" sz="900" dirty="0">
                <a:solidFill>
                  <a:srgbClr val="727274"/>
                </a:solidFill>
                <a:latin typeface="IBM Plex Sans Arabic" pitchFamily="34" charset="0"/>
                <a:ea typeface="IBM Plex Sans Arabic" pitchFamily="34" charset="-122"/>
                <a:cs typeface="IBM Plex Sans Arabic" pitchFamily="34" charset="-120"/>
              </a:rPr>
              <a:t>برنامج صُنّاع المحتوى بالذكاء الاصطناعي · مذكرة مفاهيمية</a:t>
            </a:r>
            <a:endParaRPr lang="ar-SA" sz="900" dirty="0"/>
          </a:p>
        </p:txBody>
      </p:sp>
      <p:sp>
        <p:nvSpPr>
          <p:cNvPr id="4" name="Text 1"/>
          <p:cNvSpPr txBox="1"/>
          <p:nvPr/>
        </p:nvSpPr>
        <p:spPr>
          <a:xfrm>
            <a:off x="548640" y="6446520"/>
            <a:ext cx="548640" cy="228600"/>
          </a:xfrm>
          <a:prstGeom prst="rect">
            <a:avLst/>
          </a:prstGeom>
          <a:noFill/>
          <a:ln/>
        </p:spPr>
        <p:txBody>
          <a:bodyPr wrap="square" lIns="0" tIns="0" rIns="0" bIns="0" rtlCol="0" anchor="t"/>
          <a:lstStyle/>
          <a:p>
            <a:pPr rtl="1" algn="l" indent="0" marL="0">
              <a:lnSpc>
                <a:spcPct val="100000"/>
              </a:lnSpc>
              <a:buNone/>
            </a:pPr>
            <a:r>
              <a:rPr lang="ar-SA" altLang="en-US" sz="900" dirty="0">
                <a:solidFill>
                  <a:srgbClr val="727274"/>
                </a:solidFill>
                <a:latin typeface="IBM Plex Sans Arabic" pitchFamily="34" charset="0"/>
                <a:ea typeface="IBM Plex Sans Arabic" pitchFamily="34" charset="-122"/>
                <a:cs typeface="IBM Plex Sans Arabic" pitchFamily="34" charset="-120"/>
              </a:rPr>
              <a:t>2</a:t>
            </a:r>
            <a:endParaRPr lang="ar-SA" sz="900" dirty="0"/>
          </a:p>
        </p:txBody>
      </p:sp>
      <p:sp>
        <p:nvSpPr>
          <p:cNvPr id="5" name="Text 2"/>
          <p:cNvSpPr txBox="1"/>
          <p:nvPr/>
        </p:nvSpPr>
        <p:spPr>
          <a:xfrm>
            <a:off x="2681935" y="384048"/>
            <a:ext cx="8961120" cy="274320"/>
          </a:xfrm>
          <a:prstGeom prst="rect">
            <a:avLst/>
          </a:prstGeom>
          <a:noFill/>
          <a:ln/>
        </p:spPr>
        <p:txBody>
          <a:bodyPr wrap="square" lIns="0" tIns="0" rIns="0" bIns="0" rtlCol="0" anchor="t"/>
          <a:lstStyle/>
          <a:p>
            <a:pPr rtl="1" algn="r" indent="0" marL="0">
              <a:lnSpc>
                <a:spcPct val="100000"/>
              </a:lnSpc>
              <a:buNone/>
            </a:pPr>
            <a:r>
              <a:rPr lang="ar-SA" altLang="en-US" sz="1100" b="1" dirty="0">
                <a:solidFill>
                  <a:srgbClr val="727274"/>
                </a:solidFill>
                <a:latin typeface="IBM Plex Sans Arabic" pitchFamily="34" charset="0"/>
                <a:ea typeface="IBM Plex Sans Arabic" pitchFamily="34" charset="-122"/>
                <a:cs typeface="IBM Plex Sans Arabic" pitchFamily="34" charset="-120"/>
              </a:rPr>
              <a:t>01 · البرنامج</a:t>
            </a:r>
            <a:endParaRPr lang="ar-SA" sz="1100" dirty="0"/>
          </a:p>
        </p:txBody>
      </p:sp>
      <p:sp>
        <p:nvSpPr>
          <p:cNvPr id="6" name="Text 3"/>
          <p:cNvSpPr txBox="1"/>
          <p:nvPr/>
        </p:nvSpPr>
        <p:spPr>
          <a:xfrm>
            <a:off x="2224735" y="676656"/>
            <a:ext cx="9418320" cy="914400"/>
          </a:xfrm>
          <a:prstGeom prst="rect">
            <a:avLst/>
          </a:prstGeom>
          <a:noFill/>
          <a:ln/>
        </p:spPr>
        <p:txBody>
          <a:bodyPr wrap="square" lIns="0" tIns="0" rIns="0" bIns="0" rtlCol="0" anchor="t"/>
          <a:lstStyle/>
          <a:p>
            <a:pPr rtl="1" algn="r" indent="0" marL="0">
              <a:lnSpc>
                <a:spcPct val="95000"/>
              </a:lnSpc>
              <a:buNone/>
            </a:pPr>
            <a:r>
              <a:rPr lang="ar-SA" altLang="en-US" sz="2600" b="1" dirty="0">
                <a:solidFill>
                  <a:srgbClr val="1A1A1A"/>
                </a:solidFill>
                <a:latin typeface="Cairo" pitchFamily="34" charset="0"/>
                <a:ea typeface="Cairo" pitchFamily="34" charset="-122"/>
                <a:cs typeface="Cairo" pitchFamily="34" charset="-120"/>
              </a:rPr>
              <a:t>مهارات ذكاء اصطناعي عملية، تُكتسب بإنتاج عمل حقيقي</a:t>
            </a:r>
            <a:endParaRPr lang="ar-SA" sz="2600" dirty="0"/>
          </a:p>
        </p:txBody>
      </p:sp>
      <p:sp>
        <p:nvSpPr>
          <p:cNvPr id="7" name="Shape 4"/>
          <p:cNvSpPr/>
          <p:nvPr/>
        </p:nvSpPr>
        <p:spPr>
          <a:xfrm>
            <a:off x="11076127" y="1828800"/>
            <a:ext cx="566928" cy="566928"/>
          </a:xfrm>
          <a:prstGeom prst="ellipse">
            <a:avLst/>
          </a:prstGeom>
          <a:solidFill>
            <a:srgbClr val="4DB449"/>
          </a:solidFill>
          <a:ln w="6350">
            <a:solidFill>
              <a:srgbClr val="4DB449"/>
            </a:solidFill>
            <a:prstDash val="solid"/>
          </a:ln>
        </p:spPr>
      </p:sp>
      <p:sp>
        <p:nvSpPr>
          <p:cNvPr id="8" name="Text 5"/>
          <p:cNvSpPr txBox="1"/>
          <p:nvPr/>
        </p:nvSpPr>
        <p:spPr>
          <a:xfrm>
            <a:off x="5745175" y="1810512"/>
            <a:ext cx="5120640" cy="384048"/>
          </a:xfrm>
          <a:prstGeom prst="rect">
            <a:avLst/>
          </a:prstGeom>
          <a:noFill/>
          <a:ln/>
        </p:spPr>
        <p:txBody>
          <a:bodyPr wrap="square" lIns="0" tIns="0" rIns="0" bIns="0" rtlCol="0" anchor="t"/>
          <a:lstStyle/>
          <a:p>
            <a:pPr rtl="1" algn="r" indent="0" marL="0">
              <a:lnSpc>
                <a:spcPct val="100000"/>
              </a:lnSpc>
              <a:buNone/>
            </a:pPr>
            <a:r>
              <a:rPr lang="ar-SA" altLang="en-US" sz="1800" b="1" dirty="0">
                <a:solidFill>
                  <a:srgbClr val="1A1A1A"/>
                </a:solidFill>
                <a:latin typeface="Cairo" pitchFamily="34" charset="0"/>
                <a:ea typeface="Cairo" pitchFamily="34" charset="-122"/>
                <a:cs typeface="Cairo" pitchFamily="34" charset="-120"/>
              </a:rPr>
              <a:t>أدوات لا نظريات</a:t>
            </a:r>
            <a:endParaRPr lang="ar-SA" sz="1800" dirty="0"/>
          </a:p>
        </p:txBody>
      </p:sp>
      <p:sp>
        <p:nvSpPr>
          <p:cNvPr id="9" name="Text 6"/>
          <p:cNvSpPr txBox="1"/>
          <p:nvPr/>
        </p:nvSpPr>
        <p:spPr>
          <a:xfrm>
            <a:off x="5745175" y="2212848"/>
            <a:ext cx="5120640" cy="868680"/>
          </a:xfrm>
          <a:prstGeom prst="rect">
            <a:avLst/>
          </a:prstGeom>
          <a:noFill/>
          <a:ln/>
        </p:spPr>
        <p:txBody>
          <a:bodyPr wrap="square" lIns="0" tIns="0" rIns="0" bIns="0" rtlCol="0" anchor="t"/>
          <a:lstStyle/>
          <a:p>
            <a:pPr rtl="1" algn="r" indent="0" marL="0">
              <a:lnSpc>
                <a:spcPct val="102000"/>
              </a:lnSpc>
              <a:buNone/>
            </a:pPr>
            <a:r>
              <a:rPr lang="ar-SA" altLang="en-US" sz="1400" dirty="0">
                <a:solidFill>
                  <a:srgbClr val="3C3E3B"/>
                </a:solidFill>
                <a:latin typeface="IBM Plex Sans Arabic" pitchFamily="34" charset="0"/>
                <a:ea typeface="IBM Plex Sans Arabic" pitchFamily="34" charset="-122"/>
                <a:cs typeface="IBM Plex Sans Arabic" pitchFamily="34" charset="-120"/>
              </a:rPr>
              <a:t>كل وحدة مبنية حول أدوات يستخدمها المشارك بيده، من ChatGPT وClaude Code إلى Google Flow وElevenLabs وn8n.</a:t>
            </a:r>
            <a:endParaRPr lang="ar-SA" sz="1400" dirty="0"/>
          </a:p>
        </p:txBody>
      </p:sp>
      <p:sp>
        <p:nvSpPr>
          <p:cNvPr id="10" name="Shape 7"/>
          <p:cNvSpPr/>
          <p:nvPr/>
        </p:nvSpPr>
        <p:spPr>
          <a:xfrm>
            <a:off x="11076127" y="3246120"/>
            <a:ext cx="566928" cy="566928"/>
          </a:xfrm>
          <a:prstGeom prst="ellipse">
            <a:avLst/>
          </a:prstGeom>
          <a:solidFill>
            <a:srgbClr val="4DB449"/>
          </a:solidFill>
          <a:ln w="6350">
            <a:solidFill>
              <a:srgbClr val="4DB449"/>
            </a:solidFill>
            <a:prstDash val="solid"/>
          </a:ln>
        </p:spPr>
      </p:sp>
      <p:sp>
        <p:nvSpPr>
          <p:cNvPr id="11" name="Text 8"/>
          <p:cNvSpPr txBox="1"/>
          <p:nvPr/>
        </p:nvSpPr>
        <p:spPr>
          <a:xfrm>
            <a:off x="5745175" y="3227832"/>
            <a:ext cx="5120640" cy="384048"/>
          </a:xfrm>
          <a:prstGeom prst="rect">
            <a:avLst/>
          </a:prstGeom>
          <a:noFill/>
          <a:ln/>
        </p:spPr>
        <p:txBody>
          <a:bodyPr wrap="square" lIns="0" tIns="0" rIns="0" bIns="0" rtlCol="0" anchor="t"/>
          <a:lstStyle/>
          <a:p>
            <a:pPr rtl="1" algn="r" indent="0" marL="0">
              <a:lnSpc>
                <a:spcPct val="100000"/>
              </a:lnSpc>
              <a:buNone/>
            </a:pPr>
            <a:r>
              <a:rPr lang="ar-SA" altLang="en-US" sz="1800" b="1" dirty="0">
                <a:solidFill>
                  <a:srgbClr val="1A1A1A"/>
                </a:solidFill>
                <a:latin typeface="Cairo" pitchFamily="34" charset="0"/>
                <a:ea typeface="Cairo" pitchFamily="34" charset="-122"/>
                <a:cs typeface="Cairo" pitchFamily="34" charset="-120"/>
              </a:rPr>
              <a:t>فكرة واحدة وأدوات متعددة</a:t>
            </a:r>
            <a:endParaRPr lang="ar-SA" sz="1800" dirty="0"/>
          </a:p>
        </p:txBody>
      </p:sp>
      <p:sp>
        <p:nvSpPr>
          <p:cNvPr id="12" name="Text 9"/>
          <p:cNvSpPr txBox="1"/>
          <p:nvPr/>
        </p:nvSpPr>
        <p:spPr>
          <a:xfrm>
            <a:off x="5745175" y="3630168"/>
            <a:ext cx="5120640" cy="868680"/>
          </a:xfrm>
          <a:prstGeom prst="rect">
            <a:avLst/>
          </a:prstGeom>
          <a:noFill/>
          <a:ln/>
        </p:spPr>
        <p:txBody>
          <a:bodyPr wrap="square" lIns="0" tIns="0" rIns="0" bIns="0" rtlCol="0" anchor="t"/>
          <a:lstStyle/>
          <a:p>
            <a:pPr rtl="1" algn="r" indent="0" marL="0">
              <a:lnSpc>
                <a:spcPct val="102000"/>
              </a:lnSpc>
              <a:buNone/>
            </a:pPr>
            <a:r>
              <a:rPr lang="ar-SA" altLang="en-US" sz="1400" dirty="0">
                <a:solidFill>
                  <a:srgbClr val="3C3E3B"/>
                </a:solidFill>
                <a:latin typeface="IBM Plex Sans Arabic" pitchFamily="34" charset="0"/>
                <a:ea typeface="IBM Plex Sans Arabic" pitchFamily="34" charset="-122"/>
                <a:cs typeface="IBM Plex Sans Arabic" pitchFamily="34" charset="-120"/>
              </a:rPr>
              <a:t>يتعلّم المشارك الجمع بين عدة أدوات لتحويل فكرة واحدة إلى حزمة كاملة: نصوص وصور وفيديو وصوت وصفحة ويب وأتمتة.</a:t>
            </a:r>
            <a:endParaRPr lang="ar-SA" sz="1400" dirty="0"/>
          </a:p>
        </p:txBody>
      </p:sp>
      <p:sp>
        <p:nvSpPr>
          <p:cNvPr id="13" name="Shape 10"/>
          <p:cNvSpPr/>
          <p:nvPr/>
        </p:nvSpPr>
        <p:spPr>
          <a:xfrm>
            <a:off x="11076127" y="4663440"/>
            <a:ext cx="566928" cy="566928"/>
          </a:xfrm>
          <a:prstGeom prst="ellipse">
            <a:avLst/>
          </a:prstGeom>
          <a:solidFill>
            <a:srgbClr val="4DB449"/>
          </a:solidFill>
          <a:ln w="6350">
            <a:solidFill>
              <a:srgbClr val="4DB449"/>
            </a:solidFill>
            <a:prstDash val="solid"/>
          </a:ln>
        </p:spPr>
      </p:sp>
      <p:sp>
        <p:nvSpPr>
          <p:cNvPr id="14" name="Text 11"/>
          <p:cNvSpPr txBox="1"/>
          <p:nvPr/>
        </p:nvSpPr>
        <p:spPr>
          <a:xfrm>
            <a:off x="5745175" y="4645152"/>
            <a:ext cx="5120640" cy="384048"/>
          </a:xfrm>
          <a:prstGeom prst="rect">
            <a:avLst/>
          </a:prstGeom>
          <a:noFill/>
          <a:ln/>
        </p:spPr>
        <p:txBody>
          <a:bodyPr wrap="square" lIns="0" tIns="0" rIns="0" bIns="0" rtlCol="0" anchor="t"/>
          <a:lstStyle/>
          <a:p>
            <a:pPr rtl="1" algn="r" indent="0" marL="0">
              <a:lnSpc>
                <a:spcPct val="100000"/>
              </a:lnSpc>
              <a:buNone/>
            </a:pPr>
            <a:r>
              <a:rPr lang="ar-SA" altLang="en-US" sz="1800" b="1" dirty="0">
                <a:solidFill>
                  <a:srgbClr val="1A1A1A"/>
                </a:solidFill>
                <a:latin typeface="Cairo" pitchFamily="34" charset="0"/>
                <a:ea typeface="Cairo" pitchFamily="34" charset="-122"/>
                <a:cs typeface="Cairo" pitchFamily="34" charset="-120"/>
              </a:rPr>
              <a:t>دليل على المهارة</a:t>
            </a:r>
            <a:endParaRPr lang="ar-SA" sz="1800" dirty="0"/>
          </a:p>
        </p:txBody>
      </p:sp>
      <p:sp>
        <p:nvSpPr>
          <p:cNvPr id="15" name="Text 12"/>
          <p:cNvSpPr txBox="1"/>
          <p:nvPr/>
        </p:nvSpPr>
        <p:spPr>
          <a:xfrm>
            <a:off x="5745175" y="5047488"/>
            <a:ext cx="5120640" cy="868680"/>
          </a:xfrm>
          <a:prstGeom prst="rect">
            <a:avLst/>
          </a:prstGeom>
          <a:noFill/>
          <a:ln/>
        </p:spPr>
        <p:txBody>
          <a:bodyPr wrap="square" lIns="0" tIns="0" rIns="0" bIns="0" rtlCol="0" anchor="t"/>
          <a:lstStyle/>
          <a:p>
            <a:pPr rtl="1" algn="r" indent="0" marL="0">
              <a:lnSpc>
                <a:spcPct val="102000"/>
              </a:lnSpc>
              <a:buNone/>
            </a:pPr>
            <a:r>
              <a:rPr lang="ar-SA" altLang="en-US" sz="1400" dirty="0">
                <a:solidFill>
                  <a:srgbClr val="3C3E3B"/>
                </a:solidFill>
                <a:latin typeface="IBM Plex Sans Arabic" pitchFamily="34" charset="0"/>
                <a:ea typeface="IBM Plex Sans Arabic" pitchFamily="34" charset="-122"/>
                <a:cs typeface="IBM Plex Sans Arabic" pitchFamily="34" charset="-120"/>
              </a:rPr>
              <a:t>عشرة مشاريع مصغّرة ومشروع نهائي تمنح كل مشارك ملف أعمال منجزة يمكنه عرضه.</a:t>
            </a:r>
            <a:endParaRPr lang="ar-SA" sz="1400" dirty="0"/>
          </a:p>
        </p:txBody>
      </p:sp>
      <p:sp>
        <p:nvSpPr>
          <p:cNvPr id="16" name="Shape 13"/>
          <p:cNvSpPr/>
          <p:nvPr/>
        </p:nvSpPr>
        <p:spPr>
          <a:xfrm>
            <a:off x="548640" y="1783080"/>
            <a:ext cx="4922215" cy="4434840"/>
          </a:xfrm>
          <a:prstGeom prst="roundRect">
            <a:avLst>
              <a:gd name="adj" fmla="val 2887"/>
            </a:avLst>
          </a:prstGeom>
          <a:solidFill>
            <a:srgbClr val="000000"/>
          </a:solidFill>
          <a:ln w="12700">
            <a:solidFill>
              <a:srgbClr val="000000"/>
            </a:solidFill>
            <a:prstDash val="solid"/>
          </a:ln>
        </p:spPr>
      </p:sp>
      <p:sp>
        <p:nvSpPr>
          <p:cNvPr id="17" name="Text 14"/>
          <p:cNvSpPr txBox="1"/>
          <p:nvPr/>
        </p:nvSpPr>
        <p:spPr>
          <a:xfrm>
            <a:off x="3055468" y="2011680"/>
            <a:ext cx="2095348" cy="777240"/>
          </a:xfrm>
          <a:prstGeom prst="rect">
            <a:avLst/>
          </a:prstGeom>
          <a:noFill/>
          <a:ln/>
        </p:spPr>
        <p:txBody>
          <a:bodyPr wrap="square" lIns="0" tIns="0" rIns="0" bIns="0" rtlCol="0" anchor="b"/>
          <a:lstStyle/>
          <a:p>
            <a:pPr rtl="1" algn="r" indent="0" marL="0">
              <a:lnSpc>
                <a:spcPct val="100000"/>
              </a:lnSpc>
              <a:buNone/>
            </a:pPr>
            <a:r>
              <a:rPr lang="ar-SA" altLang="en-US" sz="4400" b="1" dirty="0">
                <a:solidFill>
                  <a:srgbClr val="A6D04B"/>
                </a:solidFill>
                <a:latin typeface="Cairo" pitchFamily="34" charset="0"/>
                <a:ea typeface="Cairo" pitchFamily="34" charset="-122"/>
                <a:cs typeface="Cairo" pitchFamily="34" charset="-120"/>
              </a:rPr>
              <a:t>96</a:t>
            </a:r>
            <a:endParaRPr lang="ar-SA" sz="4400" dirty="0"/>
          </a:p>
        </p:txBody>
      </p:sp>
      <p:sp>
        <p:nvSpPr>
          <p:cNvPr id="18" name="Text 15"/>
          <p:cNvSpPr txBox="1"/>
          <p:nvPr/>
        </p:nvSpPr>
        <p:spPr>
          <a:xfrm>
            <a:off x="3055468" y="2788920"/>
            <a:ext cx="2095348" cy="365760"/>
          </a:xfrm>
          <a:prstGeom prst="rect">
            <a:avLst/>
          </a:prstGeom>
          <a:noFill/>
          <a:ln/>
        </p:spPr>
        <p:txBody>
          <a:bodyPr wrap="square" lIns="0" tIns="0" rIns="0" bIns="0" rtlCol="0" anchor="t"/>
          <a:lstStyle/>
          <a:p>
            <a:pPr rtl="1" algn="r" indent="0" marL="0">
              <a:lnSpc>
                <a:spcPct val="100000"/>
              </a:lnSpc>
              <a:buNone/>
            </a:pPr>
            <a:r>
              <a:rPr lang="ar-SA" altLang="en-US" sz="1400" dirty="0">
                <a:solidFill>
                  <a:srgbClr val="FFFFFF"/>
                </a:solidFill>
                <a:latin typeface="IBM Plex Sans Arabic" pitchFamily="34" charset="0"/>
                <a:ea typeface="IBM Plex Sans Arabic" pitchFamily="34" charset="-122"/>
                <a:cs typeface="IBM Plex Sans Arabic" pitchFamily="34" charset="-120"/>
              </a:rPr>
              <a:t>ساعة تدريبية</a:t>
            </a:r>
            <a:endParaRPr lang="ar-SA" sz="1400" dirty="0"/>
          </a:p>
        </p:txBody>
      </p:sp>
      <p:sp>
        <p:nvSpPr>
          <p:cNvPr id="19" name="Text 16"/>
          <p:cNvSpPr txBox="1"/>
          <p:nvPr/>
        </p:nvSpPr>
        <p:spPr>
          <a:xfrm>
            <a:off x="868680" y="2011680"/>
            <a:ext cx="2095348" cy="777240"/>
          </a:xfrm>
          <a:prstGeom prst="rect">
            <a:avLst/>
          </a:prstGeom>
          <a:noFill/>
          <a:ln/>
        </p:spPr>
        <p:txBody>
          <a:bodyPr wrap="square" lIns="0" tIns="0" rIns="0" bIns="0" rtlCol="0" anchor="b"/>
          <a:lstStyle/>
          <a:p>
            <a:pPr rtl="1" algn="r" indent="0" marL="0">
              <a:lnSpc>
                <a:spcPct val="100000"/>
              </a:lnSpc>
              <a:buNone/>
            </a:pPr>
            <a:r>
              <a:rPr lang="ar-SA" altLang="en-US" sz="4400" b="1" dirty="0">
                <a:solidFill>
                  <a:srgbClr val="4DB449"/>
                </a:solidFill>
                <a:latin typeface="Cairo" pitchFamily="34" charset="0"/>
                <a:ea typeface="Cairo" pitchFamily="34" charset="-122"/>
                <a:cs typeface="Cairo" pitchFamily="34" charset="-120"/>
              </a:rPr>
              <a:t>32</a:t>
            </a:r>
            <a:endParaRPr lang="ar-SA" sz="4400" dirty="0"/>
          </a:p>
        </p:txBody>
      </p:sp>
      <p:sp>
        <p:nvSpPr>
          <p:cNvPr id="20" name="Text 17"/>
          <p:cNvSpPr txBox="1"/>
          <p:nvPr/>
        </p:nvSpPr>
        <p:spPr>
          <a:xfrm>
            <a:off x="868680" y="2788920"/>
            <a:ext cx="2095348" cy="365760"/>
          </a:xfrm>
          <a:prstGeom prst="rect">
            <a:avLst/>
          </a:prstGeom>
          <a:noFill/>
          <a:ln/>
        </p:spPr>
        <p:txBody>
          <a:bodyPr wrap="square" lIns="0" tIns="0" rIns="0" bIns="0" rtlCol="0" anchor="t"/>
          <a:lstStyle/>
          <a:p>
            <a:pPr rtl="1" algn="r" indent="0" marL="0">
              <a:lnSpc>
                <a:spcPct val="100000"/>
              </a:lnSpc>
              <a:buNone/>
            </a:pPr>
            <a:r>
              <a:rPr lang="ar-SA" altLang="en-US" sz="1400" dirty="0">
                <a:solidFill>
                  <a:srgbClr val="FFFFFF"/>
                </a:solidFill>
                <a:latin typeface="IBM Plex Sans Arabic" pitchFamily="34" charset="0"/>
                <a:ea typeface="IBM Plex Sans Arabic" pitchFamily="34" charset="-122"/>
                <a:cs typeface="IBM Plex Sans Arabic" pitchFamily="34" charset="-120"/>
              </a:rPr>
              <a:t>جلسة، مدة كل منها 3 ساعات</a:t>
            </a:r>
            <a:endParaRPr lang="ar-SA" sz="1400" dirty="0"/>
          </a:p>
        </p:txBody>
      </p:sp>
      <p:sp>
        <p:nvSpPr>
          <p:cNvPr id="21" name="Text 18"/>
          <p:cNvSpPr txBox="1"/>
          <p:nvPr/>
        </p:nvSpPr>
        <p:spPr>
          <a:xfrm>
            <a:off x="3055468" y="3383280"/>
            <a:ext cx="2095348" cy="777240"/>
          </a:xfrm>
          <a:prstGeom prst="rect">
            <a:avLst/>
          </a:prstGeom>
          <a:noFill/>
          <a:ln/>
        </p:spPr>
        <p:txBody>
          <a:bodyPr wrap="square" lIns="0" tIns="0" rIns="0" bIns="0" rtlCol="0" anchor="b"/>
          <a:lstStyle/>
          <a:p>
            <a:pPr rtl="1" algn="r" indent="0" marL="0">
              <a:lnSpc>
                <a:spcPct val="100000"/>
              </a:lnSpc>
              <a:buNone/>
            </a:pPr>
            <a:r>
              <a:rPr lang="ar-SA" altLang="en-US" sz="4400" b="1" dirty="0">
                <a:solidFill>
                  <a:srgbClr val="4DB449"/>
                </a:solidFill>
                <a:latin typeface="Cairo" pitchFamily="34" charset="0"/>
                <a:ea typeface="Cairo" pitchFamily="34" charset="-122"/>
                <a:cs typeface="Cairo" pitchFamily="34" charset="-120"/>
              </a:rPr>
              <a:t>12</a:t>
            </a:r>
            <a:endParaRPr lang="ar-SA" sz="4400" dirty="0"/>
          </a:p>
        </p:txBody>
      </p:sp>
      <p:sp>
        <p:nvSpPr>
          <p:cNvPr id="22" name="Text 19"/>
          <p:cNvSpPr txBox="1"/>
          <p:nvPr/>
        </p:nvSpPr>
        <p:spPr>
          <a:xfrm>
            <a:off x="3055468" y="4160520"/>
            <a:ext cx="2095348" cy="365760"/>
          </a:xfrm>
          <a:prstGeom prst="rect">
            <a:avLst/>
          </a:prstGeom>
          <a:noFill/>
          <a:ln/>
        </p:spPr>
        <p:txBody>
          <a:bodyPr wrap="square" lIns="0" tIns="0" rIns="0" bIns="0" rtlCol="0" anchor="t"/>
          <a:lstStyle/>
          <a:p>
            <a:pPr rtl="1" algn="r" indent="0" marL="0">
              <a:lnSpc>
                <a:spcPct val="100000"/>
              </a:lnSpc>
              <a:buNone/>
            </a:pPr>
            <a:r>
              <a:rPr lang="ar-SA" altLang="en-US" sz="1400" dirty="0">
                <a:solidFill>
                  <a:srgbClr val="FFFFFF"/>
                </a:solidFill>
                <a:latin typeface="IBM Plex Sans Arabic" pitchFamily="34" charset="0"/>
                <a:ea typeface="IBM Plex Sans Arabic" pitchFamily="34" charset="-122"/>
                <a:cs typeface="IBM Plex Sans Arabic" pitchFamily="34" charset="-120"/>
              </a:rPr>
              <a:t>أسبوعاً</a:t>
            </a:r>
            <a:endParaRPr lang="ar-SA" sz="1400" dirty="0"/>
          </a:p>
        </p:txBody>
      </p:sp>
      <p:sp>
        <p:nvSpPr>
          <p:cNvPr id="23" name="Text 20"/>
          <p:cNvSpPr txBox="1"/>
          <p:nvPr/>
        </p:nvSpPr>
        <p:spPr>
          <a:xfrm>
            <a:off x="868680" y="3383280"/>
            <a:ext cx="2095348" cy="777240"/>
          </a:xfrm>
          <a:prstGeom prst="rect">
            <a:avLst/>
          </a:prstGeom>
          <a:noFill/>
          <a:ln/>
        </p:spPr>
        <p:txBody>
          <a:bodyPr wrap="square" lIns="0" tIns="0" rIns="0" bIns="0" rtlCol="0" anchor="b"/>
          <a:lstStyle/>
          <a:p>
            <a:pPr rtl="1" algn="r" indent="0" marL="0">
              <a:lnSpc>
                <a:spcPct val="100000"/>
              </a:lnSpc>
              <a:buNone/>
            </a:pPr>
            <a:r>
              <a:rPr lang="ar-SA" altLang="en-US" sz="4400" b="1" dirty="0">
                <a:solidFill>
                  <a:srgbClr val="A6D04B"/>
                </a:solidFill>
                <a:latin typeface="Cairo" pitchFamily="34" charset="0"/>
                <a:ea typeface="Cairo" pitchFamily="34" charset="-122"/>
                <a:cs typeface="Cairo" pitchFamily="34" charset="-120"/>
              </a:rPr>
              <a:t>73%</a:t>
            </a:r>
            <a:endParaRPr lang="ar-SA" sz="4400" dirty="0"/>
          </a:p>
        </p:txBody>
      </p:sp>
      <p:sp>
        <p:nvSpPr>
          <p:cNvPr id="24" name="Text 21"/>
          <p:cNvSpPr txBox="1"/>
          <p:nvPr/>
        </p:nvSpPr>
        <p:spPr>
          <a:xfrm>
            <a:off x="868680" y="4160520"/>
            <a:ext cx="2095348" cy="365760"/>
          </a:xfrm>
          <a:prstGeom prst="rect">
            <a:avLst/>
          </a:prstGeom>
          <a:noFill/>
          <a:ln/>
        </p:spPr>
        <p:txBody>
          <a:bodyPr wrap="square" lIns="0" tIns="0" rIns="0" bIns="0" rtlCol="0" anchor="t"/>
          <a:lstStyle/>
          <a:p>
            <a:pPr rtl="1" algn="r" indent="0" marL="0">
              <a:lnSpc>
                <a:spcPct val="100000"/>
              </a:lnSpc>
              <a:buNone/>
            </a:pPr>
            <a:r>
              <a:rPr lang="ar-SA" altLang="en-US" sz="1400" dirty="0">
                <a:solidFill>
                  <a:srgbClr val="FFFFFF"/>
                </a:solidFill>
                <a:latin typeface="IBM Plex Sans Arabic" pitchFamily="34" charset="0"/>
                <a:ea typeface="IBM Plex Sans Arabic" pitchFamily="34" charset="-122"/>
                <a:cs typeface="IBM Plex Sans Arabic" pitchFamily="34" charset="-120"/>
              </a:rPr>
              <a:t>تطبيق عملي</a:t>
            </a:r>
            <a:endParaRPr lang="ar-SA" sz="1400" dirty="0"/>
          </a:p>
        </p:txBody>
      </p:sp>
      <p:sp>
        <p:nvSpPr>
          <p:cNvPr id="25" name="Text 22"/>
          <p:cNvSpPr txBox="1"/>
          <p:nvPr/>
        </p:nvSpPr>
        <p:spPr>
          <a:xfrm>
            <a:off x="3055468" y="4754880"/>
            <a:ext cx="2095348" cy="777240"/>
          </a:xfrm>
          <a:prstGeom prst="rect">
            <a:avLst/>
          </a:prstGeom>
          <a:noFill/>
          <a:ln/>
        </p:spPr>
        <p:txBody>
          <a:bodyPr wrap="square" lIns="0" tIns="0" rIns="0" bIns="0" rtlCol="0" anchor="b"/>
          <a:lstStyle/>
          <a:p>
            <a:pPr rtl="1" algn="r" indent="0" marL="0">
              <a:lnSpc>
                <a:spcPct val="100000"/>
              </a:lnSpc>
              <a:buNone/>
            </a:pPr>
            <a:r>
              <a:rPr lang="ar-SA" altLang="en-US" sz="4400" b="1" dirty="0">
                <a:solidFill>
                  <a:srgbClr val="A6D04B"/>
                </a:solidFill>
                <a:latin typeface="Cairo" pitchFamily="34" charset="0"/>
                <a:ea typeface="Cairo" pitchFamily="34" charset="-122"/>
                <a:cs typeface="Cairo" pitchFamily="34" charset="-120"/>
              </a:rPr>
              <a:t>10</a:t>
            </a:r>
            <a:endParaRPr lang="ar-SA" sz="4400" dirty="0"/>
          </a:p>
        </p:txBody>
      </p:sp>
      <p:sp>
        <p:nvSpPr>
          <p:cNvPr id="26" name="Text 23"/>
          <p:cNvSpPr txBox="1"/>
          <p:nvPr/>
        </p:nvSpPr>
        <p:spPr>
          <a:xfrm>
            <a:off x="3055468" y="5532120"/>
            <a:ext cx="2095348" cy="365760"/>
          </a:xfrm>
          <a:prstGeom prst="rect">
            <a:avLst/>
          </a:prstGeom>
          <a:noFill/>
          <a:ln/>
        </p:spPr>
        <p:txBody>
          <a:bodyPr wrap="square" lIns="0" tIns="0" rIns="0" bIns="0" rtlCol="0" anchor="t"/>
          <a:lstStyle/>
          <a:p>
            <a:pPr rtl="1" algn="r" indent="0" marL="0">
              <a:lnSpc>
                <a:spcPct val="100000"/>
              </a:lnSpc>
              <a:buNone/>
            </a:pPr>
            <a:r>
              <a:rPr lang="ar-SA" altLang="en-US" sz="1400" dirty="0">
                <a:solidFill>
                  <a:srgbClr val="FFFFFF"/>
                </a:solidFill>
                <a:latin typeface="IBM Plex Sans Arabic" pitchFamily="34" charset="0"/>
                <a:ea typeface="IBM Plex Sans Arabic" pitchFamily="34" charset="-122"/>
                <a:cs typeface="IBM Plex Sans Arabic" pitchFamily="34" charset="-120"/>
              </a:rPr>
              <a:t>مشاريع مصغّرة</a:t>
            </a:r>
            <a:endParaRPr lang="ar-SA" sz="1400" dirty="0"/>
          </a:p>
        </p:txBody>
      </p:sp>
      <p:sp>
        <p:nvSpPr>
          <p:cNvPr id="27" name="Text 24"/>
          <p:cNvSpPr txBox="1"/>
          <p:nvPr/>
        </p:nvSpPr>
        <p:spPr>
          <a:xfrm>
            <a:off x="868680" y="4754880"/>
            <a:ext cx="2095348" cy="777240"/>
          </a:xfrm>
          <a:prstGeom prst="rect">
            <a:avLst/>
          </a:prstGeom>
          <a:noFill/>
          <a:ln/>
        </p:spPr>
        <p:txBody>
          <a:bodyPr wrap="square" lIns="0" tIns="0" rIns="0" bIns="0" rtlCol="0" anchor="b"/>
          <a:lstStyle/>
          <a:p>
            <a:pPr rtl="1" algn="r" indent="0" marL="0">
              <a:lnSpc>
                <a:spcPct val="100000"/>
              </a:lnSpc>
              <a:buNone/>
            </a:pPr>
            <a:r>
              <a:rPr lang="ar-SA" altLang="en-US" sz="4400" b="1" dirty="0">
                <a:solidFill>
                  <a:srgbClr val="4DB449"/>
                </a:solidFill>
                <a:latin typeface="Cairo" pitchFamily="34" charset="0"/>
                <a:ea typeface="Cairo" pitchFamily="34" charset="-122"/>
                <a:cs typeface="Cairo" pitchFamily="34" charset="-120"/>
              </a:rPr>
              <a:t>1</a:t>
            </a:r>
            <a:endParaRPr lang="ar-SA" sz="4400" dirty="0"/>
          </a:p>
        </p:txBody>
      </p:sp>
      <p:sp>
        <p:nvSpPr>
          <p:cNvPr id="28" name="Text 25"/>
          <p:cNvSpPr txBox="1"/>
          <p:nvPr/>
        </p:nvSpPr>
        <p:spPr>
          <a:xfrm>
            <a:off x="868680" y="5532120"/>
            <a:ext cx="2095348" cy="365760"/>
          </a:xfrm>
          <a:prstGeom prst="rect">
            <a:avLst/>
          </a:prstGeom>
          <a:noFill/>
          <a:ln/>
        </p:spPr>
        <p:txBody>
          <a:bodyPr wrap="square" lIns="0" tIns="0" rIns="0" bIns="0" rtlCol="0" anchor="t"/>
          <a:lstStyle/>
          <a:p>
            <a:pPr rtl="1" algn="r" indent="0" marL="0">
              <a:lnSpc>
                <a:spcPct val="100000"/>
              </a:lnSpc>
              <a:buNone/>
            </a:pPr>
            <a:r>
              <a:rPr lang="ar-SA" altLang="en-US" sz="1400" dirty="0">
                <a:solidFill>
                  <a:srgbClr val="FFFFFF"/>
                </a:solidFill>
                <a:latin typeface="IBM Plex Sans Arabic" pitchFamily="34" charset="0"/>
                <a:ea typeface="IBM Plex Sans Arabic" pitchFamily="34" charset="-122"/>
                <a:cs typeface="IBM Plex Sans Arabic" pitchFamily="34" charset="-120"/>
              </a:rPr>
              <a:t>مشروع نهائي جماعي</a:t>
            </a:r>
            <a:endParaRPr lang="ar-SA" sz="1400" dirty="0"/>
          </a:p>
        </p:txBody>
      </p:sp>
      <p:pic>
        <p:nvPicPr>
          <p:cNvPr id="30" name="Image 1" descr="preencoded.png">    </p:cNvPr>
          <p:cNvPicPr>
            <a:picLocks noChangeAspect="1"/>
          </p:cNvPicPr>
          <p:nvPr/>
        </p:nvPicPr>
        <p:blipFill>
          <a:blip r:embed="rId2"/>
          <a:stretch>
            <a:fillRect/>
          </a:stretch>
        </p:blipFill>
        <p:spPr>
          <a:xfrm>
            <a:off x="11213287" y="3383280"/>
            <a:ext cx="292608" cy="292608"/>
          </a:xfrm>
          <a:prstGeom prst="rect">
            <a:avLst/>
          </a:prstGeom>
        </p:spPr>
      </p:pic>
      <p:pic>
        <p:nvPicPr>
          <p:cNvPr id="31" name="Image 2" descr="preencoded.png">    </p:cNvPr>
          <p:cNvPicPr>
            <a:picLocks noChangeAspect="1"/>
          </p:cNvPicPr>
          <p:nvPr/>
        </p:nvPicPr>
        <p:blipFill>
          <a:blip r:embed="rId3"/>
          <a:stretch>
            <a:fillRect/>
          </a:stretch>
        </p:blipFill>
        <p:spPr>
          <a:xfrm>
            <a:off x="11213287" y="4800600"/>
            <a:ext cx="292608" cy="292608"/>
          </a:xfrm>
          <a:prstGeom prst="rect">
            <a:avLst/>
          </a:prstGeom>
        </p:spPr>
      </p:pic>
      <p:pic>
        <p:nvPicPr>
          <p:cNvPr id="32" name="Image 3" descr="preencoded.png">    </p:cNvPr>
          <p:cNvPicPr>
            <a:picLocks noChangeAspect="1"/>
          </p:cNvPicPr>
          <p:nvPr/>
        </p:nvPicPr>
        <p:blipFill>
          <a:blip r:embed="rId4"/>
          <a:stretch>
            <a:fillRect/>
          </a:stretch>
        </p:blipFill>
        <p:spPr>
          <a:xfrm>
            <a:off x="11213287" y="1965960"/>
            <a:ext cx="292608" cy="29260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Green Circle logo">    </p:cNvPr>
          <p:cNvPicPr>
            <a:picLocks noChangeAspect="1"/>
          </p:cNvPicPr>
          <p:nvPr/>
        </p:nvPicPr>
        <p:blipFill>
          <a:blip r:embed="rId1"/>
          <a:stretch>
            <a:fillRect/>
          </a:stretch>
        </p:blipFill>
        <p:spPr>
          <a:xfrm>
            <a:off x="548640" y="384048"/>
            <a:ext cx="1286501" cy="457200"/>
          </a:xfrm>
          <a:prstGeom prst="rect">
            <a:avLst/>
          </a:prstGeom>
        </p:spPr>
      </p:pic>
      <p:sp>
        <p:nvSpPr>
          <p:cNvPr id="3" name="Text 0"/>
          <p:cNvSpPr txBox="1"/>
          <p:nvPr/>
        </p:nvSpPr>
        <p:spPr>
          <a:xfrm>
            <a:off x="5242255" y="6446520"/>
            <a:ext cx="6400800" cy="228600"/>
          </a:xfrm>
          <a:prstGeom prst="rect">
            <a:avLst/>
          </a:prstGeom>
          <a:noFill/>
          <a:ln/>
        </p:spPr>
        <p:txBody>
          <a:bodyPr wrap="square" lIns="0" tIns="0" rIns="0" bIns="0" rtlCol="0" anchor="t"/>
          <a:lstStyle/>
          <a:p>
            <a:pPr rtl="1" algn="r" indent="0" marL="0">
              <a:lnSpc>
                <a:spcPct val="100000"/>
              </a:lnSpc>
              <a:buNone/>
            </a:pPr>
            <a:r>
              <a:rPr lang="ar-SA" altLang="en-US" sz="900" dirty="0">
                <a:solidFill>
                  <a:srgbClr val="727274"/>
                </a:solidFill>
                <a:latin typeface="IBM Plex Sans Arabic" pitchFamily="34" charset="0"/>
                <a:ea typeface="IBM Plex Sans Arabic" pitchFamily="34" charset="-122"/>
                <a:cs typeface="IBM Plex Sans Arabic" pitchFamily="34" charset="-120"/>
              </a:rPr>
              <a:t>برنامج صُنّاع المحتوى بالذكاء الاصطناعي · مذكرة مفاهيمية</a:t>
            </a:r>
            <a:endParaRPr lang="ar-SA" sz="900" dirty="0"/>
          </a:p>
        </p:txBody>
      </p:sp>
      <p:sp>
        <p:nvSpPr>
          <p:cNvPr id="4" name="Text 1"/>
          <p:cNvSpPr txBox="1"/>
          <p:nvPr/>
        </p:nvSpPr>
        <p:spPr>
          <a:xfrm>
            <a:off x="548640" y="6446520"/>
            <a:ext cx="548640" cy="228600"/>
          </a:xfrm>
          <a:prstGeom prst="rect">
            <a:avLst/>
          </a:prstGeom>
          <a:noFill/>
          <a:ln/>
        </p:spPr>
        <p:txBody>
          <a:bodyPr wrap="square" lIns="0" tIns="0" rIns="0" bIns="0" rtlCol="0" anchor="t"/>
          <a:lstStyle/>
          <a:p>
            <a:pPr rtl="1" algn="l" indent="0" marL="0">
              <a:lnSpc>
                <a:spcPct val="100000"/>
              </a:lnSpc>
              <a:buNone/>
            </a:pPr>
            <a:r>
              <a:rPr lang="ar-SA" altLang="en-US" sz="900" dirty="0">
                <a:solidFill>
                  <a:srgbClr val="727274"/>
                </a:solidFill>
                <a:latin typeface="IBM Plex Sans Arabic" pitchFamily="34" charset="0"/>
                <a:ea typeface="IBM Plex Sans Arabic" pitchFamily="34" charset="-122"/>
                <a:cs typeface="IBM Plex Sans Arabic" pitchFamily="34" charset="-120"/>
              </a:rPr>
              <a:t>3</a:t>
            </a:r>
            <a:endParaRPr lang="ar-SA" sz="900" dirty="0"/>
          </a:p>
        </p:txBody>
      </p:sp>
      <p:sp>
        <p:nvSpPr>
          <p:cNvPr id="5" name="Text 2"/>
          <p:cNvSpPr txBox="1"/>
          <p:nvPr/>
        </p:nvSpPr>
        <p:spPr>
          <a:xfrm>
            <a:off x="2681935" y="384048"/>
            <a:ext cx="8961120" cy="274320"/>
          </a:xfrm>
          <a:prstGeom prst="rect">
            <a:avLst/>
          </a:prstGeom>
          <a:noFill/>
          <a:ln/>
        </p:spPr>
        <p:txBody>
          <a:bodyPr wrap="square" lIns="0" tIns="0" rIns="0" bIns="0" rtlCol="0" anchor="t"/>
          <a:lstStyle/>
          <a:p>
            <a:pPr rtl="1" algn="r" indent="0" marL="0">
              <a:lnSpc>
                <a:spcPct val="100000"/>
              </a:lnSpc>
              <a:buNone/>
            </a:pPr>
            <a:r>
              <a:rPr lang="ar-SA" altLang="en-US" sz="1100" b="1" dirty="0">
                <a:solidFill>
                  <a:srgbClr val="727274"/>
                </a:solidFill>
                <a:latin typeface="IBM Plex Sans Arabic" pitchFamily="34" charset="0"/>
                <a:ea typeface="IBM Plex Sans Arabic" pitchFamily="34" charset="-122"/>
                <a:cs typeface="IBM Plex Sans Arabic" pitchFamily="34" charset="-120"/>
              </a:rPr>
              <a:t>02 · ماذا سيستطيع المشاركون أن يفعلوا</a:t>
            </a:r>
            <a:endParaRPr lang="ar-SA" sz="1100" dirty="0"/>
          </a:p>
        </p:txBody>
      </p:sp>
      <p:sp>
        <p:nvSpPr>
          <p:cNvPr id="6" name="Text 3"/>
          <p:cNvSpPr txBox="1"/>
          <p:nvPr/>
        </p:nvSpPr>
        <p:spPr>
          <a:xfrm>
            <a:off x="2224735" y="676656"/>
            <a:ext cx="9418320" cy="914400"/>
          </a:xfrm>
          <a:prstGeom prst="rect">
            <a:avLst/>
          </a:prstGeom>
          <a:noFill/>
          <a:ln/>
        </p:spPr>
        <p:txBody>
          <a:bodyPr wrap="square" lIns="0" tIns="0" rIns="0" bIns="0" rtlCol="0" anchor="t"/>
          <a:lstStyle/>
          <a:p>
            <a:pPr rtl="1" algn="r" indent="0" marL="0">
              <a:lnSpc>
                <a:spcPct val="95000"/>
              </a:lnSpc>
              <a:buNone/>
            </a:pPr>
            <a:r>
              <a:rPr lang="ar-SA" altLang="en-US" sz="2600" b="1" dirty="0">
                <a:solidFill>
                  <a:srgbClr val="1A1A1A"/>
                </a:solidFill>
                <a:latin typeface="Cairo" pitchFamily="34" charset="0"/>
                <a:ea typeface="Cairo" pitchFamily="34" charset="-122"/>
                <a:cs typeface="Cairo" pitchFamily="34" charset="-120"/>
              </a:rPr>
              <a:t>بعد البرنامج، يستطيع كل مشارك أن</a:t>
            </a:r>
            <a:endParaRPr lang="ar-SA" sz="2600" dirty="0"/>
          </a:p>
        </p:txBody>
      </p:sp>
      <p:sp>
        <p:nvSpPr>
          <p:cNvPr id="7" name="Shape 4"/>
          <p:cNvSpPr/>
          <p:nvPr/>
        </p:nvSpPr>
        <p:spPr>
          <a:xfrm>
            <a:off x="9040901" y="1783080"/>
            <a:ext cx="2602154" cy="1965960"/>
          </a:xfrm>
          <a:prstGeom prst="roundRect">
            <a:avLst>
              <a:gd name="adj" fmla="val 5581"/>
            </a:avLst>
          </a:prstGeom>
          <a:solidFill>
            <a:srgbClr val="EAF5E8"/>
          </a:solidFill>
          <a:ln w="12700">
            <a:solidFill>
              <a:srgbClr val="EAF5E8"/>
            </a:solidFill>
            <a:prstDash val="solid"/>
          </a:ln>
        </p:spPr>
      </p:sp>
      <p:sp>
        <p:nvSpPr>
          <p:cNvPr id="8" name="Shape 5"/>
          <p:cNvSpPr/>
          <p:nvPr/>
        </p:nvSpPr>
        <p:spPr>
          <a:xfrm>
            <a:off x="10746943" y="2057400"/>
            <a:ext cx="621792" cy="621792"/>
          </a:xfrm>
          <a:prstGeom prst="ellipse">
            <a:avLst/>
          </a:prstGeom>
          <a:solidFill>
            <a:srgbClr val="4DB449"/>
          </a:solidFill>
          <a:ln w="6350">
            <a:solidFill>
              <a:srgbClr val="4DB449"/>
            </a:solidFill>
            <a:prstDash val="solid"/>
          </a:ln>
        </p:spPr>
      </p:sp>
      <p:pic>
        <p:nvPicPr>
          <p:cNvPr id="9" name="Image 1" descr="preencoded.png">    </p:cNvPr>
          <p:cNvPicPr>
            <a:picLocks noChangeAspect="1"/>
          </p:cNvPicPr>
          <p:nvPr/>
        </p:nvPicPr>
        <p:blipFill>
          <a:blip r:embed="rId2"/>
          <a:stretch>
            <a:fillRect/>
          </a:stretch>
        </p:blipFill>
        <p:spPr>
          <a:xfrm>
            <a:off x="10902391" y="2212848"/>
            <a:ext cx="310896" cy="310896"/>
          </a:xfrm>
          <a:prstGeom prst="rect">
            <a:avLst/>
          </a:prstGeom>
        </p:spPr>
      </p:pic>
      <p:sp>
        <p:nvSpPr>
          <p:cNvPr id="10" name="Text 6"/>
          <p:cNvSpPr txBox="1"/>
          <p:nvPr/>
        </p:nvSpPr>
        <p:spPr>
          <a:xfrm>
            <a:off x="9269501" y="2788920"/>
            <a:ext cx="2099234" cy="502920"/>
          </a:xfrm>
          <a:prstGeom prst="rect">
            <a:avLst/>
          </a:prstGeom>
          <a:noFill/>
          <a:ln/>
        </p:spPr>
        <p:txBody>
          <a:bodyPr wrap="square" lIns="0" tIns="0" rIns="0" bIns="0" rtlCol="0" anchor="t"/>
          <a:lstStyle/>
          <a:p>
            <a:pPr rtl="1" algn="r" indent="0" marL="0">
              <a:lnSpc>
                <a:spcPct val="95000"/>
              </a:lnSpc>
              <a:buNone/>
            </a:pPr>
            <a:r>
              <a:rPr lang="ar-SA" altLang="en-US" sz="1600" b="1" dirty="0">
                <a:solidFill>
                  <a:srgbClr val="1A1A1A"/>
                </a:solidFill>
                <a:latin typeface="Cairo" pitchFamily="34" charset="0"/>
                <a:ea typeface="Cairo" pitchFamily="34" charset="-122"/>
                <a:cs typeface="Cairo" pitchFamily="34" charset="-120"/>
              </a:rPr>
              <a:t>يختار أداة الذكاء الاصطناعي المناسبة</a:t>
            </a:r>
            <a:endParaRPr lang="ar-SA" sz="1600" dirty="0"/>
          </a:p>
        </p:txBody>
      </p:sp>
      <p:sp>
        <p:nvSpPr>
          <p:cNvPr id="11" name="Text 7"/>
          <p:cNvSpPr txBox="1"/>
          <p:nvPr/>
        </p:nvSpPr>
        <p:spPr>
          <a:xfrm>
            <a:off x="9269501" y="3264408"/>
            <a:ext cx="2099234" cy="411480"/>
          </a:xfrm>
          <a:prstGeom prst="rect">
            <a:avLst/>
          </a:prstGeom>
          <a:noFill/>
          <a:ln/>
        </p:spPr>
        <p:txBody>
          <a:bodyPr wrap="square" lIns="0" tIns="0" rIns="0" bIns="0" rtlCol="0" anchor="t"/>
          <a:lstStyle/>
          <a:p>
            <a:pPr rtl="1" algn="r" indent="0" marL="0">
              <a:lnSpc>
                <a:spcPct val="100000"/>
              </a:lnSpc>
              <a:buNone/>
            </a:pPr>
            <a:r>
              <a:rPr lang="ar-SA" altLang="en-US" sz="1300" dirty="0">
                <a:solidFill>
                  <a:srgbClr val="3C3E3B"/>
                </a:solidFill>
                <a:latin typeface="IBM Plex Sans Arabic" pitchFamily="34" charset="0"/>
                <a:ea typeface="IBM Plex Sans Arabic" pitchFamily="34" charset="-122"/>
                <a:cs typeface="IBM Plex Sans Arabic" pitchFamily="34" charset="-120"/>
              </a:rPr>
              <a:t>للمهمة ويشرح سبب اختياره</a:t>
            </a:r>
            <a:endParaRPr lang="ar-SA" sz="1300" dirty="0"/>
          </a:p>
        </p:txBody>
      </p:sp>
      <p:sp>
        <p:nvSpPr>
          <p:cNvPr id="12" name="Shape 8"/>
          <p:cNvSpPr/>
          <p:nvPr/>
        </p:nvSpPr>
        <p:spPr>
          <a:xfrm>
            <a:off x="6210148" y="1783080"/>
            <a:ext cx="2602154" cy="1965960"/>
          </a:xfrm>
          <a:prstGeom prst="roundRect">
            <a:avLst>
              <a:gd name="adj" fmla="val 5581"/>
            </a:avLst>
          </a:prstGeom>
          <a:solidFill>
            <a:srgbClr val="EAF5E8"/>
          </a:solidFill>
          <a:ln w="12700">
            <a:solidFill>
              <a:srgbClr val="EAF5E8"/>
            </a:solidFill>
            <a:prstDash val="solid"/>
          </a:ln>
        </p:spPr>
      </p:sp>
      <p:sp>
        <p:nvSpPr>
          <p:cNvPr id="13" name="Shape 9"/>
          <p:cNvSpPr/>
          <p:nvPr/>
        </p:nvSpPr>
        <p:spPr>
          <a:xfrm>
            <a:off x="7916189" y="2057400"/>
            <a:ext cx="621792" cy="621792"/>
          </a:xfrm>
          <a:prstGeom prst="ellipse">
            <a:avLst/>
          </a:prstGeom>
          <a:solidFill>
            <a:srgbClr val="4DB449"/>
          </a:solidFill>
          <a:ln w="6350">
            <a:solidFill>
              <a:srgbClr val="4DB449"/>
            </a:solidFill>
            <a:prstDash val="solid"/>
          </a:ln>
        </p:spPr>
      </p:sp>
      <p:pic>
        <p:nvPicPr>
          <p:cNvPr id="14" name="Image 2" descr="preencoded.png">    </p:cNvPr>
          <p:cNvPicPr>
            <a:picLocks noChangeAspect="1"/>
          </p:cNvPicPr>
          <p:nvPr/>
        </p:nvPicPr>
        <p:blipFill>
          <a:blip r:embed="rId3"/>
          <a:stretch>
            <a:fillRect/>
          </a:stretch>
        </p:blipFill>
        <p:spPr>
          <a:xfrm>
            <a:off x="8071637" y="2212848"/>
            <a:ext cx="310896" cy="310896"/>
          </a:xfrm>
          <a:prstGeom prst="rect">
            <a:avLst/>
          </a:prstGeom>
        </p:spPr>
      </p:pic>
      <p:sp>
        <p:nvSpPr>
          <p:cNvPr id="15" name="Text 10"/>
          <p:cNvSpPr txBox="1"/>
          <p:nvPr/>
        </p:nvSpPr>
        <p:spPr>
          <a:xfrm>
            <a:off x="6438748" y="2788920"/>
            <a:ext cx="2099234" cy="502920"/>
          </a:xfrm>
          <a:prstGeom prst="rect">
            <a:avLst/>
          </a:prstGeom>
          <a:noFill/>
          <a:ln/>
        </p:spPr>
        <p:txBody>
          <a:bodyPr wrap="square" lIns="0" tIns="0" rIns="0" bIns="0" rtlCol="0" anchor="t"/>
          <a:lstStyle/>
          <a:p>
            <a:pPr rtl="1" algn="r" indent="0" marL="0">
              <a:lnSpc>
                <a:spcPct val="95000"/>
              </a:lnSpc>
              <a:buNone/>
            </a:pPr>
            <a:r>
              <a:rPr lang="ar-SA" altLang="en-US" sz="1600" b="1" dirty="0">
                <a:solidFill>
                  <a:srgbClr val="1A1A1A"/>
                </a:solidFill>
                <a:latin typeface="Cairo" pitchFamily="34" charset="0"/>
                <a:ea typeface="Cairo" pitchFamily="34" charset="-122"/>
                <a:cs typeface="Cairo" pitchFamily="34" charset="-120"/>
              </a:rPr>
              <a:t>يكتب أوامر فعّالة</a:t>
            </a:r>
            <a:endParaRPr lang="ar-SA" sz="1600" dirty="0"/>
          </a:p>
        </p:txBody>
      </p:sp>
      <p:sp>
        <p:nvSpPr>
          <p:cNvPr id="16" name="Text 11"/>
          <p:cNvSpPr txBox="1"/>
          <p:nvPr/>
        </p:nvSpPr>
        <p:spPr>
          <a:xfrm>
            <a:off x="6438748" y="3264408"/>
            <a:ext cx="2099234" cy="411480"/>
          </a:xfrm>
          <a:prstGeom prst="rect">
            <a:avLst/>
          </a:prstGeom>
          <a:noFill/>
          <a:ln/>
        </p:spPr>
        <p:txBody>
          <a:bodyPr wrap="square" lIns="0" tIns="0" rIns="0" bIns="0" rtlCol="0" anchor="t"/>
          <a:lstStyle/>
          <a:p>
            <a:pPr rtl="1" algn="r" indent="0" marL="0">
              <a:lnSpc>
                <a:spcPct val="100000"/>
              </a:lnSpc>
              <a:buNone/>
            </a:pPr>
            <a:r>
              <a:rPr lang="ar-SA" altLang="en-US" sz="1300" dirty="0">
                <a:solidFill>
                  <a:srgbClr val="3C3E3B"/>
                </a:solidFill>
                <a:latin typeface="IBM Plex Sans Arabic" pitchFamily="34" charset="0"/>
                <a:ea typeface="IBM Plex Sans Arabic" pitchFamily="34" charset="-122"/>
                <a:cs typeface="IBM Plex Sans Arabic" pitchFamily="34" charset="-120"/>
              </a:rPr>
              <a:t>ويحفظها كمساعدات قابلة لإعادة الاستخدام</a:t>
            </a:r>
            <a:endParaRPr lang="ar-SA" sz="1300" dirty="0"/>
          </a:p>
        </p:txBody>
      </p:sp>
      <p:sp>
        <p:nvSpPr>
          <p:cNvPr id="17" name="Shape 12"/>
          <p:cNvSpPr/>
          <p:nvPr/>
        </p:nvSpPr>
        <p:spPr>
          <a:xfrm>
            <a:off x="3379394" y="1783080"/>
            <a:ext cx="2602154" cy="1965960"/>
          </a:xfrm>
          <a:prstGeom prst="roundRect">
            <a:avLst>
              <a:gd name="adj" fmla="val 5581"/>
            </a:avLst>
          </a:prstGeom>
          <a:solidFill>
            <a:srgbClr val="EAF5E8"/>
          </a:solidFill>
          <a:ln w="12700">
            <a:solidFill>
              <a:srgbClr val="EAF5E8"/>
            </a:solidFill>
            <a:prstDash val="solid"/>
          </a:ln>
        </p:spPr>
      </p:sp>
      <p:sp>
        <p:nvSpPr>
          <p:cNvPr id="18" name="Shape 13"/>
          <p:cNvSpPr/>
          <p:nvPr/>
        </p:nvSpPr>
        <p:spPr>
          <a:xfrm>
            <a:off x="5085436" y="2057400"/>
            <a:ext cx="621792" cy="621792"/>
          </a:xfrm>
          <a:prstGeom prst="ellipse">
            <a:avLst/>
          </a:prstGeom>
          <a:solidFill>
            <a:srgbClr val="4DB449"/>
          </a:solidFill>
          <a:ln w="6350">
            <a:solidFill>
              <a:srgbClr val="4DB449"/>
            </a:solidFill>
            <a:prstDash val="solid"/>
          </a:ln>
        </p:spPr>
      </p:sp>
      <p:pic>
        <p:nvPicPr>
          <p:cNvPr id="19" name="Image 3" descr="preencoded.png">    </p:cNvPr>
          <p:cNvPicPr>
            <a:picLocks noChangeAspect="1"/>
          </p:cNvPicPr>
          <p:nvPr/>
        </p:nvPicPr>
        <p:blipFill>
          <a:blip r:embed="rId4"/>
          <a:stretch>
            <a:fillRect/>
          </a:stretch>
        </p:blipFill>
        <p:spPr>
          <a:xfrm>
            <a:off x="5240884" y="2212848"/>
            <a:ext cx="310896" cy="310896"/>
          </a:xfrm>
          <a:prstGeom prst="rect">
            <a:avLst/>
          </a:prstGeom>
        </p:spPr>
      </p:pic>
      <p:sp>
        <p:nvSpPr>
          <p:cNvPr id="20" name="Text 14"/>
          <p:cNvSpPr txBox="1"/>
          <p:nvPr/>
        </p:nvSpPr>
        <p:spPr>
          <a:xfrm>
            <a:off x="3607994" y="2788920"/>
            <a:ext cx="2099234" cy="502920"/>
          </a:xfrm>
          <a:prstGeom prst="rect">
            <a:avLst/>
          </a:prstGeom>
          <a:noFill/>
          <a:ln/>
        </p:spPr>
        <p:txBody>
          <a:bodyPr wrap="square" lIns="0" tIns="0" rIns="0" bIns="0" rtlCol="0" anchor="t"/>
          <a:lstStyle/>
          <a:p>
            <a:pPr rtl="1" algn="r" indent="0" marL="0">
              <a:lnSpc>
                <a:spcPct val="95000"/>
              </a:lnSpc>
              <a:buNone/>
            </a:pPr>
            <a:r>
              <a:rPr lang="ar-SA" altLang="en-US" sz="1600" b="1" dirty="0">
                <a:solidFill>
                  <a:srgbClr val="1A1A1A"/>
                </a:solidFill>
                <a:latin typeface="Cairo" pitchFamily="34" charset="0"/>
                <a:ea typeface="Cairo" pitchFamily="34" charset="-122"/>
                <a:cs typeface="Cairo" pitchFamily="34" charset="-120"/>
              </a:rPr>
              <a:t>يبحث ويكتب</a:t>
            </a:r>
            <a:endParaRPr lang="ar-SA" sz="1600" dirty="0"/>
          </a:p>
        </p:txBody>
      </p:sp>
      <p:sp>
        <p:nvSpPr>
          <p:cNvPr id="21" name="Text 15"/>
          <p:cNvSpPr txBox="1"/>
          <p:nvPr/>
        </p:nvSpPr>
        <p:spPr>
          <a:xfrm>
            <a:off x="3607994" y="3264408"/>
            <a:ext cx="2099234" cy="411480"/>
          </a:xfrm>
          <a:prstGeom prst="rect">
            <a:avLst/>
          </a:prstGeom>
          <a:noFill/>
          <a:ln/>
        </p:spPr>
        <p:txBody>
          <a:bodyPr wrap="square" lIns="0" tIns="0" rIns="0" bIns="0" rtlCol="0" anchor="t"/>
          <a:lstStyle/>
          <a:p>
            <a:pPr rtl="1" algn="r" indent="0" marL="0">
              <a:lnSpc>
                <a:spcPct val="100000"/>
              </a:lnSpc>
              <a:buNone/>
            </a:pPr>
            <a:r>
              <a:rPr lang="ar-SA" altLang="en-US" sz="1300" dirty="0">
                <a:solidFill>
                  <a:srgbClr val="3C3E3B"/>
                </a:solidFill>
                <a:latin typeface="IBM Plex Sans Arabic" pitchFamily="34" charset="0"/>
                <a:ea typeface="IBM Plex Sans Arabic" pitchFamily="34" charset="-122"/>
                <a:cs typeface="IBM Plex Sans Arabic" pitchFamily="34" charset="-120"/>
              </a:rPr>
              <a:t>محتوى مُتحقَّقاً منه وجاهزاً للنشر</a:t>
            </a:r>
            <a:endParaRPr lang="ar-SA" sz="1300" dirty="0"/>
          </a:p>
        </p:txBody>
      </p:sp>
      <p:sp>
        <p:nvSpPr>
          <p:cNvPr id="22" name="Shape 16"/>
          <p:cNvSpPr/>
          <p:nvPr/>
        </p:nvSpPr>
        <p:spPr>
          <a:xfrm>
            <a:off x="548640" y="1783080"/>
            <a:ext cx="2602154" cy="1965960"/>
          </a:xfrm>
          <a:prstGeom prst="roundRect">
            <a:avLst>
              <a:gd name="adj" fmla="val 5581"/>
            </a:avLst>
          </a:prstGeom>
          <a:solidFill>
            <a:srgbClr val="000000"/>
          </a:solidFill>
          <a:ln w="12700">
            <a:solidFill>
              <a:srgbClr val="000000"/>
            </a:solidFill>
            <a:prstDash val="solid"/>
          </a:ln>
        </p:spPr>
      </p:sp>
      <p:sp>
        <p:nvSpPr>
          <p:cNvPr id="23" name="Shape 17"/>
          <p:cNvSpPr/>
          <p:nvPr/>
        </p:nvSpPr>
        <p:spPr>
          <a:xfrm>
            <a:off x="2254682" y="2057400"/>
            <a:ext cx="621792" cy="621792"/>
          </a:xfrm>
          <a:prstGeom prst="ellipse">
            <a:avLst/>
          </a:prstGeom>
          <a:solidFill>
            <a:srgbClr val="A6D04B"/>
          </a:solidFill>
          <a:ln w="6350">
            <a:solidFill>
              <a:srgbClr val="A6D04B"/>
            </a:solidFill>
            <a:prstDash val="solid"/>
          </a:ln>
        </p:spPr>
      </p:sp>
      <p:pic>
        <p:nvPicPr>
          <p:cNvPr id="24" name="Image 4" descr="preencoded.png">    </p:cNvPr>
          <p:cNvPicPr>
            <a:picLocks noChangeAspect="1"/>
          </p:cNvPicPr>
          <p:nvPr/>
        </p:nvPicPr>
        <p:blipFill>
          <a:blip r:embed="rId5"/>
          <a:stretch>
            <a:fillRect/>
          </a:stretch>
        </p:blipFill>
        <p:spPr>
          <a:xfrm>
            <a:off x="2410130" y="2212848"/>
            <a:ext cx="310896" cy="310896"/>
          </a:xfrm>
          <a:prstGeom prst="rect">
            <a:avLst/>
          </a:prstGeom>
        </p:spPr>
      </p:pic>
      <p:sp>
        <p:nvSpPr>
          <p:cNvPr id="25" name="Text 18"/>
          <p:cNvSpPr txBox="1"/>
          <p:nvPr/>
        </p:nvSpPr>
        <p:spPr>
          <a:xfrm>
            <a:off x="777240" y="2788920"/>
            <a:ext cx="2099234" cy="502920"/>
          </a:xfrm>
          <a:prstGeom prst="rect">
            <a:avLst/>
          </a:prstGeom>
          <a:noFill/>
          <a:ln/>
        </p:spPr>
        <p:txBody>
          <a:bodyPr wrap="square" lIns="0" tIns="0" rIns="0" bIns="0" rtlCol="0" anchor="t"/>
          <a:lstStyle/>
          <a:p>
            <a:pPr rtl="1" algn="r" indent="0" marL="0">
              <a:lnSpc>
                <a:spcPct val="95000"/>
              </a:lnSpc>
              <a:buNone/>
            </a:pPr>
            <a:r>
              <a:rPr lang="ar-SA" altLang="en-US" sz="1600" b="1" dirty="0">
                <a:solidFill>
                  <a:srgbClr val="FFFFFF"/>
                </a:solidFill>
                <a:latin typeface="Cairo" pitchFamily="34" charset="0"/>
                <a:ea typeface="Cairo" pitchFamily="34" charset="-122"/>
                <a:cs typeface="Cairo" pitchFamily="34" charset="-120"/>
              </a:rPr>
              <a:t>يبني بـ Claude Code</a:t>
            </a:r>
            <a:endParaRPr lang="ar-SA" sz="1600" dirty="0"/>
          </a:p>
        </p:txBody>
      </p:sp>
      <p:sp>
        <p:nvSpPr>
          <p:cNvPr id="26" name="Text 19"/>
          <p:cNvSpPr txBox="1"/>
          <p:nvPr/>
        </p:nvSpPr>
        <p:spPr>
          <a:xfrm>
            <a:off x="777240" y="3264408"/>
            <a:ext cx="2099234" cy="411480"/>
          </a:xfrm>
          <a:prstGeom prst="rect">
            <a:avLst/>
          </a:prstGeom>
          <a:noFill/>
          <a:ln/>
        </p:spPr>
        <p:txBody>
          <a:bodyPr wrap="square" lIns="0" tIns="0" rIns="0" bIns="0" rtlCol="0" anchor="t"/>
          <a:lstStyle/>
          <a:p>
            <a:pPr rtl="1" algn="r" indent="0" marL="0">
              <a:lnSpc>
                <a:spcPct val="100000"/>
              </a:lnSpc>
              <a:buNone/>
            </a:pPr>
            <a:r>
              <a:rPr lang="ar-SA" altLang="en-US" sz="1300" dirty="0">
                <a:solidFill>
                  <a:srgbClr val="D6D8D4"/>
                </a:solidFill>
                <a:latin typeface="IBM Plex Sans Arabic" pitchFamily="34" charset="0"/>
                <a:ea typeface="IBM Plex Sans Arabic" pitchFamily="34" charset="-122"/>
                <a:cs typeface="IBM Plex Sans Arabic" pitchFamily="34" charset="-120"/>
              </a:rPr>
              <a:t>صفحة ويب منشورة وتقارير بيانات</a:t>
            </a:r>
            <a:endParaRPr lang="ar-SA" sz="1300" dirty="0"/>
          </a:p>
        </p:txBody>
      </p:sp>
      <p:sp>
        <p:nvSpPr>
          <p:cNvPr id="27" name="Shape 20"/>
          <p:cNvSpPr/>
          <p:nvPr/>
        </p:nvSpPr>
        <p:spPr>
          <a:xfrm>
            <a:off x="9040901" y="3977640"/>
            <a:ext cx="2602154" cy="1965960"/>
          </a:xfrm>
          <a:prstGeom prst="roundRect">
            <a:avLst>
              <a:gd name="adj" fmla="val 5581"/>
            </a:avLst>
          </a:prstGeom>
          <a:solidFill>
            <a:srgbClr val="EAF5E8"/>
          </a:solidFill>
          <a:ln w="12700">
            <a:solidFill>
              <a:srgbClr val="EAF5E8"/>
            </a:solidFill>
            <a:prstDash val="solid"/>
          </a:ln>
        </p:spPr>
      </p:sp>
      <p:sp>
        <p:nvSpPr>
          <p:cNvPr id="28" name="Shape 21"/>
          <p:cNvSpPr/>
          <p:nvPr/>
        </p:nvSpPr>
        <p:spPr>
          <a:xfrm>
            <a:off x="10746943" y="4251960"/>
            <a:ext cx="621792" cy="621792"/>
          </a:xfrm>
          <a:prstGeom prst="ellipse">
            <a:avLst/>
          </a:prstGeom>
          <a:solidFill>
            <a:srgbClr val="4DB449"/>
          </a:solidFill>
          <a:ln w="6350">
            <a:solidFill>
              <a:srgbClr val="4DB449"/>
            </a:solidFill>
            <a:prstDash val="solid"/>
          </a:ln>
        </p:spPr>
      </p:sp>
      <p:pic>
        <p:nvPicPr>
          <p:cNvPr id="29" name="Image 5" descr="preencoded.png">    </p:cNvPr>
          <p:cNvPicPr>
            <a:picLocks noChangeAspect="1"/>
          </p:cNvPicPr>
          <p:nvPr/>
        </p:nvPicPr>
        <p:blipFill>
          <a:blip r:embed="rId6"/>
          <a:stretch>
            <a:fillRect/>
          </a:stretch>
        </p:blipFill>
        <p:spPr>
          <a:xfrm>
            <a:off x="10902391" y="4407408"/>
            <a:ext cx="310896" cy="310896"/>
          </a:xfrm>
          <a:prstGeom prst="rect">
            <a:avLst/>
          </a:prstGeom>
        </p:spPr>
      </p:pic>
      <p:sp>
        <p:nvSpPr>
          <p:cNvPr id="30" name="Text 22"/>
          <p:cNvSpPr txBox="1"/>
          <p:nvPr/>
        </p:nvSpPr>
        <p:spPr>
          <a:xfrm>
            <a:off x="9269501" y="4983480"/>
            <a:ext cx="2099234" cy="502920"/>
          </a:xfrm>
          <a:prstGeom prst="rect">
            <a:avLst/>
          </a:prstGeom>
          <a:noFill/>
          <a:ln/>
        </p:spPr>
        <p:txBody>
          <a:bodyPr wrap="square" lIns="0" tIns="0" rIns="0" bIns="0" rtlCol="0" anchor="t"/>
          <a:lstStyle/>
          <a:p>
            <a:pPr rtl="1" algn="r" indent="0" marL="0">
              <a:lnSpc>
                <a:spcPct val="95000"/>
              </a:lnSpc>
              <a:buNone/>
            </a:pPr>
            <a:r>
              <a:rPr lang="ar-SA" altLang="en-US" sz="1600" b="1" dirty="0">
                <a:solidFill>
                  <a:srgbClr val="1A1A1A"/>
                </a:solidFill>
                <a:latin typeface="Cairo" pitchFamily="34" charset="0"/>
                <a:ea typeface="Cairo" pitchFamily="34" charset="-122"/>
                <a:cs typeface="Cairo" pitchFamily="34" charset="-120"/>
              </a:rPr>
              <a:t>يكتب مهارات (Skills) خاصة به</a:t>
            </a:r>
            <a:endParaRPr lang="ar-SA" sz="1600" dirty="0"/>
          </a:p>
        </p:txBody>
      </p:sp>
      <p:sp>
        <p:nvSpPr>
          <p:cNvPr id="31" name="Text 23"/>
          <p:cNvSpPr txBox="1"/>
          <p:nvPr/>
        </p:nvSpPr>
        <p:spPr>
          <a:xfrm>
            <a:off x="9269501" y="5458968"/>
            <a:ext cx="2099234" cy="411480"/>
          </a:xfrm>
          <a:prstGeom prst="rect">
            <a:avLst/>
          </a:prstGeom>
          <a:noFill/>
          <a:ln/>
        </p:spPr>
        <p:txBody>
          <a:bodyPr wrap="square" lIns="0" tIns="0" rIns="0" bIns="0" rtlCol="0" anchor="t"/>
          <a:lstStyle/>
          <a:p>
            <a:pPr rtl="1" algn="r" indent="0" marL="0">
              <a:lnSpc>
                <a:spcPct val="100000"/>
              </a:lnSpc>
              <a:buNone/>
            </a:pPr>
            <a:r>
              <a:rPr lang="ar-SA" altLang="en-US" sz="1300" dirty="0">
                <a:solidFill>
                  <a:srgbClr val="3C3E3B"/>
                </a:solidFill>
                <a:latin typeface="IBM Plex Sans Arabic" pitchFamily="34" charset="0"/>
                <a:ea typeface="IBM Plex Sans Arabic" pitchFamily="34" charset="-122"/>
                <a:cs typeface="IBM Plex Sans Arabic" pitchFamily="34" charset="-120"/>
              </a:rPr>
              <a:t>في Claude Code تكرّر أفضل طريقة عمل لديه</a:t>
            </a:r>
            <a:endParaRPr lang="ar-SA" sz="1300" dirty="0"/>
          </a:p>
        </p:txBody>
      </p:sp>
      <p:sp>
        <p:nvSpPr>
          <p:cNvPr id="32" name="Shape 24"/>
          <p:cNvSpPr/>
          <p:nvPr/>
        </p:nvSpPr>
        <p:spPr>
          <a:xfrm>
            <a:off x="6210148" y="3977640"/>
            <a:ext cx="2602154" cy="1965960"/>
          </a:xfrm>
          <a:prstGeom prst="roundRect">
            <a:avLst>
              <a:gd name="adj" fmla="val 5581"/>
            </a:avLst>
          </a:prstGeom>
          <a:solidFill>
            <a:srgbClr val="EAF5E8"/>
          </a:solidFill>
          <a:ln w="12700">
            <a:solidFill>
              <a:srgbClr val="EAF5E8"/>
            </a:solidFill>
            <a:prstDash val="solid"/>
          </a:ln>
        </p:spPr>
      </p:sp>
      <p:sp>
        <p:nvSpPr>
          <p:cNvPr id="33" name="Shape 25"/>
          <p:cNvSpPr/>
          <p:nvPr/>
        </p:nvSpPr>
        <p:spPr>
          <a:xfrm>
            <a:off x="7916189" y="4251960"/>
            <a:ext cx="621792" cy="621792"/>
          </a:xfrm>
          <a:prstGeom prst="ellipse">
            <a:avLst/>
          </a:prstGeom>
          <a:solidFill>
            <a:srgbClr val="4DB449"/>
          </a:solidFill>
          <a:ln w="6350">
            <a:solidFill>
              <a:srgbClr val="4DB449"/>
            </a:solidFill>
            <a:prstDash val="solid"/>
          </a:ln>
        </p:spPr>
      </p:sp>
      <p:pic>
        <p:nvPicPr>
          <p:cNvPr id="34" name="Image 6" descr="preencoded.png">    </p:cNvPr>
          <p:cNvPicPr>
            <a:picLocks noChangeAspect="1"/>
          </p:cNvPicPr>
          <p:nvPr/>
        </p:nvPicPr>
        <p:blipFill>
          <a:blip r:embed="rId7"/>
          <a:stretch>
            <a:fillRect/>
          </a:stretch>
        </p:blipFill>
        <p:spPr>
          <a:xfrm>
            <a:off x="8071637" y="4407408"/>
            <a:ext cx="310896" cy="310896"/>
          </a:xfrm>
          <a:prstGeom prst="rect">
            <a:avLst/>
          </a:prstGeom>
        </p:spPr>
      </p:pic>
      <p:sp>
        <p:nvSpPr>
          <p:cNvPr id="35" name="Text 26"/>
          <p:cNvSpPr txBox="1"/>
          <p:nvPr/>
        </p:nvSpPr>
        <p:spPr>
          <a:xfrm>
            <a:off x="6438748" y="4983480"/>
            <a:ext cx="2099234" cy="502920"/>
          </a:xfrm>
          <a:prstGeom prst="rect">
            <a:avLst/>
          </a:prstGeom>
          <a:noFill/>
          <a:ln/>
        </p:spPr>
        <p:txBody>
          <a:bodyPr wrap="square" lIns="0" tIns="0" rIns="0" bIns="0" rtlCol="0" anchor="t"/>
          <a:lstStyle/>
          <a:p>
            <a:pPr rtl="1" algn="r" indent="0" marL="0">
              <a:lnSpc>
                <a:spcPct val="95000"/>
              </a:lnSpc>
              <a:buNone/>
            </a:pPr>
            <a:r>
              <a:rPr lang="ar-SA" altLang="en-US" sz="1600" b="1" dirty="0">
                <a:solidFill>
                  <a:srgbClr val="1A1A1A"/>
                </a:solidFill>
                <a:latin typeface="Cairo" pitchFamily="34" charset="0"/>
                <a:ea typeface="Cairo" pitchFamily="34" charset="-122"/>
                <a:cs typeface="Cairo" pitchFamily="34" charset="-120"/>
              </a:rPr>
              <a:t>يصمّم ويولّد الصور</a:t>
            </a:r>
            <a:endParaRPr lang="ar-SA" sz="1600" dirty="0"/>
          </a:p>
        </p:txBody>
      </p:sp>
      <p:sp>
        <p:nvSpPr>
          <p:cNvPr id="36" name="Text 27"/>
          <p:cNvSpPr txBox="1"/>
          <p:nvPr/>
        </p:nvSpPr>
        <p:spPr>
          <a:xfrm>
            <a:off x="6438748" y="5458968"/>
            <a:ext cx="2099234" cy="411480"/>
          </a:xfrm>
          <a:prstGeom prst="rect">
            <a:avLst/>
          </a:prstGeom>
          <a:noFill/>
          <a:ln/>
        </p:spPr>
        <p:txBody>
          <a:bodyPr wrap="square" lIns="0" tIns="0" rIns="0" bIns="0" rtlCol="0" anchor="t"/>
          <a:lstStyle/>
          <a:p>
            <a:pPr rtl="1" algn="r" indent="0" marL="0">
              <a:lnSpc>
                <a:spcPct val="100000"/>
              </a:lnSpc>
              <a:buNone/>
            </a:pPr>
            <a:r>
              <a:rPr lang="ar-SA" altLang="en-US" sz="1300" dirty="0">
                <a:solidFill>
                  <a:srgbClr val="3C3E3B"/>
                </a:solidFill>
                <a:latin typeface="IBM Plex Sans Arabic" pitchFamily="34" charset="0"/>
                <a:ea typeface="IBM Plex Sans Arabic" pitchFamily="34" charset="-122"/>
                <a:cs typeface="IBM Plex Sans Arabic" pitchFamily="34" charset="-120"/>
              </a:rPr>
              <a:t>بهوية بصرية متسقة</a:t>
            </a:r>
            <a:endParaRPr lang="ar-SA" sz="1300" dirty="0"/>
          </a:p>
        </p:txBody>
      </p:sp>
      <p:sp>
        <p:nvSpPr>
          <p:cNvPr id="37" name="Shape 28"/>
          <p:cNvSpPr/>
          <p:nvPr/>
        </p:nvSpPr>
        <p:spPr>
          <a:xfrm>
            <a:off x="3379394" y="3977640"/>
            <a:ext cx="2602154" cy="1965960"/>
          </a:xfrm>
          <a:prstGeom prst="roundRect">
            <a:avLst>
              <a:gd name="adj" fmla="val 5581"/>
            </a:avLst>
          </a:prstGeom>
          <a:solidFill>
            <a:srgbClr val="000000"/>
          </a:solidFill>
          <a:ln w="12700">
            <a:solidFill>
              <a:srgbClr val="000000"/>
            </a:solidFill>
            <a:prstDash val="solid"/>
          </a:ln>
        </p:spPr>
      </p:sp>
      <p:sp>
        <p:nvSpPr>
          <p:cNvPr id="38" name="Shape 29"/>
          <p:cNvSpPr/>
          <p:nvPr/>
        </p:nvSpPr>
        <p:spPr>
          <a:xfrm>
            <a:off x="5085436" y="4251960"/>
            <a:ext cx="621792" cy="621792"/>
          </a:xfrm>
          <a:prstGeom prst="ellipse">
            <a:avLst/>
          </a:prstGeom>
          <a:solidFill>
            <a:srgbClr val="A6D04B"/>
          </a:solidFill>
          <a:ln w="6350">
            <a:solidFill>
              <a:srgbClr val="A6D04B"/>
            </a:solidFill>
            <a:prstDash val="solid"/>
          </a:ln>
        </p:spPr>
      </p:sp>
      <p:pic>
        <p:nvPicPr>
          <p:cNvPr id="39" name="Image 7" descr="preencoded.png">    </p:cNvPr>
          <p:cNvPicPr>
            <a:picLocks noChangeAspect="1"/>
          </p:cNvPicPr>
          <p:nvPr/>
        </p:nvPicPr>
        <p:blipFill>
          <a:blip r:embed="rId8"/>
          <a:stretch>
            <a:fillRect/>
          </a:stretch>
        </p:blipFill>
        <p:spPr>
          <a:xfrm>
            <a:off x="5240884" y="4407408"/>
            <a:ext cx="310896" cy="310896"/>
          </a:xfrm>
          <a:prstGeom prst="rect">
            <a:avLst/>
          </a:prstGeom>
        </p:spPr>
      </p:pic>
      <p:sp>
        <p:nvSpPr>
          <p:cNvPr id="40" name="Text 30"/>
          <p:cNvSpPr txBox="1"/>
          <p:nvPr/>
        </p:nvSpPr>
        <p:spPr>
          <a:xfrm>
            <a:off x="3607994" y="4983480"/>
            <a:ext cx="2099234" cy="502920"/>
          </a:xfrm>
          <a:prstGeom prst="rect">
            <a:avLst/>
          </a:prstGeom>
          <a:noFill/>
          <a:ln/>
        </p:spPr>
        <p:txBody>
          <a:bodyPr wrap="square" lIns="0" tIns="0" rIns="0" bIns="0" rtlCol="0" anchor="t"/>
          <a:lstStyle/>
          <a:p>
            <a:pPr rtl="1" algn="r" indent="0" marL="0">
              <a:lnSpc>
                <a:spcPct val="95000"/>
              </a:lnSpc>
              <a:buNone/>
            </a:pPr>
            <a:r>
              <a:rPr lang="ar-SA" altLang="en-US" sz="1600" b="1" dirty="0">
                <a:solidFill>
                  <a:srgbClr val="FFFFFF"/>
                </a:solidFill>
                <a:latin typeface="Cairo" pitchFamily="34" charset="0"/>
                <a:ea typeface="Cairo" pitchFamily="34" charset="-122"/>
                <a:cs typeface="Cairo" pitchFamily="34" charset="-120"/>
              </a:rPr>
              <a:t>يُنتج الفيديو ويحرّره</a:t>
            </a:r>
            <a:endParaRPr lang="ar-SA" sz="1600" dirty="0"/>
          </a:p>
        </p:txBody>
      </p:sp>
      <p:sp>
        <p:nvSpPr>
          <p:cNvPr id="41" name="Text 31"/>
          <p:cNvSpPr txBox="1"/>
          <p:nvPr/>
        </p:nvSpPr>
        <p:spPr>
          <a:xfrm>
            <a:off x="3607994" y="5458968"/>
            <a:ext cx="2099234" cy="411480"/>
          </a:xfrm>
          <a:prstGeom prst="rect">
            <a:avLst/>
          </a:prstGeom>
          <a:noFill/>
          <a:ln/>
        </p:spPr>
        <p:txBody>
          <a:bodyPr wrap="square" lIns="0" tIns="0" rIns="0" bIns="0" rtlCol="0" anchor="t"/>
          <a:lstStyle/>
          <a:p>
            <a:pPr rtl="1" algn="r" indent="0" marL="0">
              <a:lnSpc>
                <a:spcPct val="100000"/>
              </a:lnSpc>
              <a:buNone/>
            </a:pPr>
            <a:r>
              <a:rPr lang="ar-SA" altLang="en-US" sz="1300" dirty="0">
                <a:solidFill>
                  <a:srgbClr val="D6D8D4"/>
                </a:solidFill>
                <a:latin typeface="IBM Plex Sans Arabic" pitchFamily="34" charset="0"/>
                <a:ea typeface="IBM Plex Sans Arabic" pitchFamily="34" charset="-122"/>
                <a:cs typeface="IBM Plex Sans Arabic" pitchFamily="34" charset="-120"/>
              </a:rPr>
              <a:t>مع الحركة والتعليق الصوتي والمؤثرات</a:t>
            </a:r>
            <a:endParaRPr lang="ar-SA" sz="1300" dirty="0"/>
          </a:p>
        </p:txBody>
      </p:sp>
      <p:sp>
        <p:nvSpPr>
          <p:cNvPr id="42" name="Shape 32"/>
          <p:cNvSpPr/>
          <p:nvPr/>
        </p:nvSpPr>
        <p:spPr>
          <a:xfrm>
            <a:off x="548640" y="3977640"/>
            <a:ext cx="2602154" cy="1965960"/>
          </a:xfrm>
          <a:prstGeom prst="roundRect">
            <a:avLst>
              <a:gd name="adj" fmla="val 5581"/>
            </a:avLst>
          </a:prstGeom>
          <a:solidFill>
            <a:srgbClr val="EAF5E8"/>
          </a:solidFill>
          <a:ln w="12700">
            <a:solidFill>
              <a:srgbClr val="EAF5E8"/>
            </a:solidFill>
            <a:prstDash val="solid"/>
          </a:ln>
        </p:spPr>
      </p:sp>
      <p:sp>
        <p:nvSpPr>
          <p:cNvPr id="43" name="Shape 33"/>
          <p:cNvSpPr/>
          <p:nvPr/>
        </p:nvSpPr>
        <p:spPr>
          <a:xfrm>
            <a:off x="2254682" y="4251960"/>
            <a:ext cx="621792" cy="621792"/>
          </a:xfrm>
          <a:prstGeom prst="ellipse">
            <a:avLst/>
          </a:prstGeom>
          <a:solidFill>
            <a:srgbClr val="4DB449"/>
          </a:solidFill>
          <a:ln w="6350">
            <a:solidFill>
              <a:srgbClr val="4DB449"/>
            </a:solidFill>
            <a:prstDash val="solid"/>
          </a:ln>
        </p:spPr>
      </p:sp>
      <p:pic>
        <p:nvPicPr>
          <p:cNvPr id="44" name="Image 8" descr="preencoded.png">    </p:cNvPr>
          <p:cNvPicPr>
            <a:picLocks noChangeAspect="1"/>
          </p:cNvPicPr>
          <p:nvPr/>
        </p:nvPicPr>
        <p:blipFill>
          <a:blip r:embed="rId9"/>
          <a:stretch>
            <a:fillRect/>
          </a:stretch>
        </p:blipFill>
        <p:spPr>
          <a:xfrm>
            <a:off x="2410130" y="4407408"/>
            <a:ext cx="310896" cy="310896"/>
          </a:xfrm>
          <a:prstGeom prst="rect">
            <a:avLst/>
          </a:prstGeom>
        </p:spPr>
      </p:pic>
      <p:sp>
        <p:nvSpPr>
          <p:cNvPr id="45" name="Text 34"/>
          <p:cNvSpPr txBox="1"/>
          <p:nvPr/>
        </p:nvSpPr>
        <p:spPr>
          <a:xfrm>
            <a:off x="777240" y="4983480"/>
            <a:ext cx="2099234" cy="502920"/>
          </a:xfrm>
          <a:prstGeom prst="rect">
            <a:avLst/>
          </a:prstGeom>
          <a:noFill/>
          <a:ln/>
        </p:spPr>
        <p:txBody>
          <a:bodyPr wrap="square" lIns="0" tIns="0" rIns="0" bIns="0" rtlCol="0" anchor="t"/>
          <a:lstStyle/>
          <a:p>
            <a:pPr rtl="1" algn="r" indent="0" marL="0">
              <a:lnSpc>
                <a:spcPct val="95000"/>
              </a:lnSpc>
              <a:buNone/>
            </a:pPr>
            <a:r>
              <a:rPr lang="ar-SA" altLang="en-US" sz="1600" b="1" dirty="0">
                <a:solidFill>
                  <a:srgbClr val="1A1A1A"/>
                </a:solidFill>
                <a:latin typeface="Cairo" pitchFamily="34" charset="0"/>
                <a:ea typeface="Cairo" pitchFamily="34" charset="-122"/>
                <a:cs typeface="Cairo" pitchFamily="34" charset="-120"/>
              </a:rPr>
              <a:t>يؤتمت عمل المحتوى</a:t>
            </a:r>
            <a:endParaRPr lang="ar-SA" sz="1600" dirty="0"/>
          </a:p>
        </p:txBody>
      </p:sp>
      <p:sp>
        <p:nvSpPr>
          <p:cNvPr id="46" name="Text 35"/>
          <p:cNvSpPr txBox="1"/>
          <p:nvPr/>
        </p:nvSpPr>
        <p:spPr>
          <a:xfrm>
            <a:off x="777240" y="5458968"/>
            <a:ext cx="2099234" cy="411480"/>
          </a:xfrm>
          <a:prstGeom prst="rect">
            <a:avLst/>
          </a:prstGeom>
          <a:noFill/>
          <a:ln/>
        </p:spPr>
        <p:txBody>
          <a:bodyPr wrap="square" lIns="0" tIns="0" rIns="0" bIns="0" rtlCol="0" anchor="t"/>
          <a:lstStyle/>
          <a:p>
            <a:pPr rtl="1" algn="r" indent="0" marL="0">
              <a:lnSpc>
                <a:spcPct val="100000"/>
              </a:lnSpc>
              <a:buNone/>
            </a:pPr>
            <a:r>
              <a:rPr lang="ar-SA" altLang="en-US" sz="1300" dirty="0">
                <a:solidFill>
                  <a:srgbClr val="3C3E3B"/>
                </a:solidFill>
                <a:latin typeface="IBM Plex Sans Arabic" pitchFamily="34" charset="0"/>
                <a:ea typeface="IBM Plex Sans Arabic" pitchFamily="34" charset="-122"/>
                <a:cs typeface="IBM Plex Sans Arabic" pitchFamily="34" charset="-120"/>
              </a:rPr>
              <a:t>بمسارات n8n تستخدم الذكاء الاصطناعي</a:t>
            </a:r>
            <a:endParaRPr lang="ar-SA"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242255" y="6446520"/>
            <a:ext cx="6400800" cy="228600"/>
          </a:xfrm>
          <a:prstGeom prst="rect">
            <a:avLst/>
          </a:prstGeom>
          <a:noFill/>
          <a:ln/>
        </p:spPr>
        <p:txBody>
          <a:bodyPr wrap="square" lIns="0" tIns="0" rIns="0" bIns="0" rtlCol="0" anchor="t"/>
          <a:lstStyle/>
          <a:p>
            <a:pPr rtl="1" algn="r" indent="0" marL="0">
              <a:lnSpc>
                <a:spcPct val="100000"/>
              </a:lnSpc>
              <a:buNone/>
            </a:pPr>
            <a:r>
              <a:rPr lang="ar-SA" altLang="en-US" sz="900" dirty="0">
                <a:solidFill>
                  <a:srgbClr val="8A8C88"/>
                </a:solidFill>
                <a:latin typeface="IBM Plex Sans Arabic" pitchFamily="34" charset="0"/>
                <a:ea typeface="IBM Plex Sans Arabic" pitchFamily="34" charset="-122"/>
                <a:cs typeface="IBM Plex Sans Arabic" pitchFamily="34" charset="-120"/>
              </a:rPr>
              <a:t>برنامج صُنّاع المحتوى بالذكاء الاصطناعي · مذكرة مفاهيمية</a:t>
            </a:r>
            <a:endParaRPr lang="ar-SA" sz="900" dirty="0"/>
          </a:p>
        </p:txBody>
      </p:sp>
      <p:sp>
        <p:nvSpPr>
          <p:cNvPr id="3" name="Text 1"/>
          <p:cNvSpPr txBox="1"/>
          <p:nvPr/>
        </p:nvSpPr>
        <p:spPr>
          <a:xfrm>
            <a:off x="548640" y="6446520"/>
            <a:ext cx="548640" cy="228600"/>
          </a:xfrm>
          <a:prstGeom prst="rect">
            <a:avLst/>
          </a:prstGeom>
          <a:noFill/>
          <a:ln/>
        </p:spPr>
        <p:txBody>
          <a:bodyPr wrap="square" lIns="0" tIns="0" rIns="0" bIns="0" rtlCol="0" anchor="t"/>
          <a:lstStyle/>
          <a:p>
            <a:pPr rtl="1" algn="l" indent="0" marL="0">
              <a:lnSpc>
                <a:spcPct val="100000"/>
              </a:lnSpc>
              <a:buNone/>
            </a:pPr>
            <a:r>
              <a:rPr lang="ar-SA" altLang="en-US" sz="900" dirty="0">
                <a:solidFill>
                  <a:srgbClr val="8A8C88"/>
                </a:solidFill>
                <a:latin typeface="IBM Plex Sans Arabic" pitchFamily="34" charset="0"/>
                <a:ea typeface="IBM Plex Sans Arabic" pitchFamily="34" charset="-122"/>
                <a:cs typeface="IBM Plex Sans Arabic" pitchFamily="34" charset="-120"/>
              </a:rPr>
              <a:t>4</a:t>
            </a:r>
            <a:endParaRPr lang="ar-SA" sz="900" dirty="0"/>
          </a:p>
        </p:txBody>
      </p:sp>
      <p:pic>
        <p:nvPicPr>
          <p:cNvPr id="4" name="Image 0" descr="Green Circle logo">    </p:cNvPr>
          <p:cNvPicPr>
            <a:picLocks noChangeAspect="1"/>
          </p:cNvPicPr>
          <p:nvPr/>
        </p:nvPicPr>
        <p:blipFill>
          <a:blip r:embed="rId1"/>
          <a:stretch>
            <a:fillRect/>
          </a:stretch>
        </p:blipFill>
        <p:spPr>
          <a:xfrm>
            <a:off x="548640" y="384048"/>
            <a:ext cx="1417320" cy="503691"/>
          </a:xfrm>
          <a:prstGeom prst="rect">
            <a:avLst/>
          </a:prstGeom>
        </p:spPr>
      </p:pic>
      <p:sp>
        <p:nvSpPr>
          <p:cNvPr id="5" name="Text 2"/>
          <p:cNvSpPr txBox="1"/>
          <p:nvPr/>
        </p:nvSpPr>
        <p:spPr>
          <a:xfrm>
            <a:off x="2681935" y="384048"/>
            <a:ext cx="8961120" cy="274320"/>
          </a:xfrm>
          <a:prstGeom prst="rect">
            <a:avLst/>
          </a:prstGeom>
          <a:noFill/>
          <a:ln/>
        </p:spPr>
        <p:txBody>
          <a:bodyPr wrap="square" lIns="0" tIns="0" rIns="0" bIns="0" rtlCol="0" anchor="t"/>
          <a:lstStyle/>
          <a:p>
            <a:pPr rtl="1" algn="r" indent="0" marL="0">
              <a:lnSpc>
                <a:spcPct val="100000"/>
              </a:lnSpc>
              <a:buNone/>
            </a:pPr>
            <a:r>
              <a:rPr lang="ar-SA" altLang="en-US" sz="1100" b="1" dirty="0">
                <a:solidFill>
                  <a:srgbClr val="A6D04B"/>
                </a:solidFill>
                <a:latin typeface="IBM Plex Sans Arabic" pitchFamily="34" charset="0"/>
                <a:ea typeface="IBM Plex Sans Arabic" pitchFamily="34" charset="-122"/>
                <a:cs typeface="IBM Plex Sans Arabic" pitchFamily="34" charset="-120"/>
              </a:rPr>
              <a:t>03 · من الفكرة إلى محتوى متكامل</a:t>
            </a:r>
            <a:endParaRPr lang="ar-SA" sz="1100" dirty="0"/>
          </a:p>
        </p:txBody>
      </p:sp>
      <p:sp>
        <p:nvSpPr>
          <p:cNvPr id="6" name="Text 3"/>
          <p:cNvSpPr txBox="1"/>
          <p:nvPr/>
        </p:nvSpPr>
        <p:spPr>
          <a:xfrm>
            <a:off x="2224735" y="676656"/>
            <a:ext cx="9418320" cy="914400"/>
          </a:xfrm>
          <a:prstGeom prst="rect">
            <a:avLst/>
          </a:prstGeom>
          <a:noFill/>
          <a:ln/>
        </p:spPr>
        <p:txBody>
          <a:bodyPr wrap="square" lIns="0" tIns="0" rIns="0" bIns="0" rtlCol="0" anchor="t"/>
          <a:lstStyle/>
          <a:p>
            <a:pPr rtl="1" algn="r" indent="0" marL="0">
              <a:lnSpc>
                <a:spcPct val="95000"/>
              </a:lnSpc>
              <a:buNone/>
            </a:pPr>
            <a:r>
              <a:rPr lang="ar-SA" altLang="en-US" sz="2600" b="1" dirty="0">
                <a:solidFill>
                  <a:srgbClr val="FFFFFF"/>
                </a:solidFill>
                <a:latin typeface="Cairo" pitchFamily="34" charset="0"/>
                <a:ea typeface="Cairo" pitchFamily="34" charset="-122"/>
                <a:cs typeface="Cairo" pitchFamily="34" charset="-120"/>
              </a:rPr>
              <a:t>فكرة واحدة، ثماني مراحل، وأدوات ذكاء اصطناعي تعمل معاً</a:t>
            </a:r>
            <a:endParaRPr lang="ar-SA" sz="2600" dirty="0"/>
          </a:p>
        </p:txBody>
      </p:sp>
      <p:sp>
        <p:nvSpPr>
          <p:cNvPr id="7" name="Shape 4"/>
          <p:cNvSpPr/>
          <p:nvPr/>
        </p:nvSpPr>
        <p:spPr>
          <a:xfrm>
            <a:off x="1242041" y="2377440"/>
            <a:ext cx="9707613" cy="0"/>
          </a:xfrm>
          <a:prstGeom prst="line">
            <a:avLst/>
          </a:prstGeom>
          <a:noFill/>
          <a:ln w="25400">
            <a:solidFill>
              <a:srgbClr val="3A3D39"/>
            </a:solidFill>
            <a:prstDash val="solid"/>
          </a:ln>
        </p:spPr>
      </p:sp>
      <p:sp>
        <p:nvSpPr>
          <p:cNvPr id="8" name="Shape 5"/>
          <p:cNvSpPr/>
          <p:nvPr/>
        </p:nvSpPr>
        <p:spPr>
          <a:xfrm>
            <a:off x="10583894" y="2011680"/>
            <a:ext cx="731520" cy="731520"/>
          </a:xfrm>
          <a:prstGeom prst="ellipse">
            <a:avLst/>
          </a:prstGeom>
          <a:solidFill>
            <a:srgbClr val="4DB449"/>
          </a:solidFill>
          <a:ln w="38100">
            <a:solidFill>
              <a:srgbClr val="000000"/>
            </a:solidFill>
            <a:prstDash val="solid"/>
          </a:ln>
        </p:spPr>
      </p:sp>
      <p:pic>
        <p:nvPicPr>
          <p:cNvPr id="9" name="Image 1" descr="preencoded.png">    </p:cNvPr>
          <p:cNvPicPr>
            <a:picLocks noChangeAspect="1"/>
          </p:cNvPicPr>
          <p:nvPr/>
        </p:nvPicPr>
        <p:blipFill>
          <a:blip r:embed="rId2"/>
          <a:stretch>
            <a:fillRect/>
          </a:stretch>
        </p:blipFill>
        <p:spPr>
          <a:xfrm>
            <a:off x="10766774" y="2194560"/>
            <a:ext cx="365760" cy="365760"/>
          </a:xfrm>
          <a:prstGeom prst="rect">
            <a:avLst/>
          </a:prstGeom>
        </p:spPr>
      </p:pic>
      <p:sp>
        <p:nvSpPr>
          <p:cNvPr id="10" name="Text 6"/>
          <p:cNvSpPr txBox="1"/>
          <p:nvPr/>
        </p:nvSpPr>
        <p:spPr>
          <a:xfrm>
            <a:off x="10401014" y="2852928"/>
            <a:ext cx="1097280" cy="256032"/>
          </a:xfrm>
          <a:prstGeom prst="rect">
            <a:avLst/>
          </a:prstGeom>
          <a:noFill/>
          <a:ln/>
        </p:spPr>
        <p:txBody>
          <a:bodyPr wrap="square" lIns="0" tIns="0" rIns="0" bIns="0" rtlCol="0" anchor="t"/>
          <a:lstStyle/>
          <a:p>
            <a:pPr rtl="1" algn="ctr" indent="0" marL="0">
              <a:lnSpc>
                <a:spcPct val="100000"/>
              </a:lnSpc>
              <a:buNone/>
            </a:pPr>
            <a:r>
              <a:rPr lang="ar-SA" altLang="en-US" sz="1100" b="1" dirty="0">
                <a:solidFill>
                  <a:srgbClr val="A6D04B"/>
                </a:solidFill>
                <a:latin typeface="IBM Plex Sans Arabic" pitchFamily="34" charset="0"/>
                <a:ea typeface="IBM Plex Sans Arabic" pitchFamily="34" charset="-122"/>
                <a:cs typeface="IBM Plex Sans Arabic" pitchFamily="34" charset="-120"/>
              </a:rPr>
              <a:t>01</a:t>
            </a:r>
            <a:endParaRPr lang="ar-SA" sz="1100" dirty="0"/>
          </a:p>
        </p:txBody>
      </p:sp>
      <p:sp>
        <p:nvSpPr>
          <p:cNvPr id="11" name="Text 7"/>
          <p:cNvSpPr txBox="1"/>
          <p:nvPr/>
        </p:nvSpPr>
        <p:spPr>
          <a:xfrm>
            <a:off x="10292829" y="3108960"/>
            <a:ext cx="1313650" cy="566928"/>
          </a:xfrm>
          <a:prstGeom prst="rect">
            <a:avLst/>
          </a:prstGeom>
          <a:noFill/>
          <a:ln/>
        </p:spPr>
        <p:txBody>
          <a:bodyPr wrap="square" lIns="0" tIns="0" rIns="0" bIns="0" rtlCol="0" anchor="t"/>
          <a:lstStyle/>
          <a:p>
            <a:pPr rtl="1" algn="ctr" indent="0" marL="0">
              <a:lnSpc>
                <a:spcPct val="90000"/>
              </a:lnSpc>
              <a:buNone/>
            </a:pPr>
            <a:r>
              <a:rPr lang="ar-SA" altLang="en-US" sz="1500" b="1" dirty="0">
                <a:solidFill>
                  <a:srgbClr val="FFFFFF"/>
                </a:solidFill>
                <a:latin typeface="Cairo" pitchFamily="34" charset="0"/>
                <a:ea typeface="Cairo" pitchFamily="34" charset="-122"/>
                <a:cs typeface="Cairo" pitchFamily="34" charset="-120"/>
              </a:rPr>
              <a:t>البحث</a:t>
            </a:r>
            <a:endParaRPr lang="ar-SA" sz="1500" dirty="0"/>
          </a:p>
        </p:txBody>
      </p:sp>
      <p:sp>
        <p:nvSpPr>
          <p:cNvPr id="12" name="Shape 8"/>
          <p:cNvSpPr/>
          <p:nvPr/>
        </p:nvSpPr>
        <p:spPr>
          <a:xfrm>
            <a:off x="10320261" y="3794760"/>
            <a:ext cx="1258786" cy="347472"/>
          </a:xfrm>
          <a:prstGeom prst="roundRect">
            <a:avLst>
              <a:gd name="adj" fmla="val 50000"/>
            </a:avLst>
          </a:prstGeom>
          <a:solidFill>
            <a:srgbClr val="161816"/>
          </a:solidFill>
          <a:ln w="9525">
            <a:solidFill>
              <a:srgbClr val="3A3D39"/>
            </a:solidFill>
            <a:prstDash val="solid"/>
          </a:ln>
        </p:spPr>
      </p:sp>
      <p:pic>
        <p:nvPicPr>
          <p:cNvPr id="13" name="Image 2" descr="Perplexity logo">    </p:cNvPr>
          <p:cNvPicPr>
            <a:picLocks noChangeAspect="1"/>
          </p:cNvPicPr>
          <p:nvPr/>
        </p:nvPicPr>
        <p:blipFill>
          <a:blip r:embed="rId3"/>
          <a:stretch>
            <a:fillRect/>
          </a:stretch>
        </p:blipFill>
        <p:spPr>
          <a:xfrm>
            <a:off x="11277295" y="3881628"/>
            <a:ext cx="173736" cy="173736"/>
          </a:xfrm>
          <a:prstGeom prst="rect">
            <a:avLst/>
          </a:prstGeom>
        </p:spPr>
      </p:pic>
      <p:sp>
        <p:nvSpPr>
          <p:cNvPr id="14" name="Text 9"/>
          <p:cNvSpPr txBox="1"/>
          <p:nvPr/>
        </p:nvSpPr>
        <p:spPr>
          <a:xfrm>
            <a:off x="10429989" y="3794760"/>
            <a:ext cx="792442" cy="347472"/>
          </a:xfrm>
          <a:prstGeom prst="rect">
            <a:avLst/>
          </a:prstGeom>
          <a:noFill/>
          <a:ln/>
        </p:spPr>
        <p:txBody>
          <a:bodyPr wrap="square" lIns="0" tIns="0" rIns="0" bIns="0" rtlCol="0" anchor="ctr"/>
          <a:lstStyle/>
          <a:p>
            <a:pPr algn="ctr" indent="0" marL="0">
              <a:lnSpc>
                <a:spcPct val="100000"/>
              </a:lnSpc>
              <a:buNone/>
            </a:pPr>
            <a:r>
              <a:rPr lang="ar-SA" altLang="en-US" sz="1000" dirty="0">
                <a:solidFill>
                  <a:srgbClr val="FFFFFF"/>
                </a:solidFill>
                <a:latin typeface="IBM Plex Sans Arabic" pitchFamily="34" charset="0"/>
                <a:ea typeface="IBM Plex Sans Arabic" pitchFamily="34" charset="-122"/>
                <a:cs typeface="IBM Plex Sans Arabic" pitchFamily="34" charset="-120"/>
              </a:rPr>
              <a:t>Perplexity</a:t>
            </a:r>
            <a:endParaRPr lang="ar-SA" sz="1000" dirty="0"/>
          </a:p>
        </p:txBody>
      </p:sp>
      <p:sp>
        <p:nvSpPr>
          <p:cNvPr id="15" name="Shape 10"/>
          <p:cNvSpPr/>
          <p:nvPr/>
        </p:nvSpPr>
        <p:spPr>
          <a:xfrm>
            <a:off x="10320261" y="4224528"/>
            <a:ext cx="1258786" cy="347472"/>
          </a:xfrm>
          <a:prstGeom prst="roundRect">
            <a:avLst>
              <a:gd name="adj" fmla="val 50000"/>
            </a:avLst>
          </a:prstGeom>
          <a:solidFill>
            <a:srgbClr val="161816"/>
          </a:solidFill>
          <a:ln w="9525">
            <a:solidFill>
              <a:srgbClr val="3A3D39"/>
            </a:solidFill>
            <a:prstDash val="solid"/>
          </a:ln>
        </p:spPr>
      </p:sp>
      <p:pic>
        <p:nvPicPr>
          <p:cNvPr id="16" name="Image 3" descr="NotebookLM logo">    </p:cNvPr>
          <p:cNvPicPr>
            <a:picLocks noChangeAspect="1"/>
          </p:cNvPicPr>
          <p:nvPr/>
        </p:nvPicPr>
        <p:blipFill>
          <a:blip r:embed="rId4"/>
          <a:stretch>
            <a:fillRect/>
          </a:stretch>
        </p:blipFill>
        <p:spPr>
          <a:xfrm>
            <a:off x="11277295" y="4311396"/>
            <a:ext cx="173736" cy="173736"/>
          </a:xfrm>
          <a:prstGeom prst="rect">
            <a:avLst/>
          </a:prstGeom>
        </p:spPr>
      </p:pic>
      <p:sp>
        <p:nvSpPr>
          <p:cNvPr id="17" name="Text 11"/>
          <p:cNvSpPr txBox="1"/>
          <p:nvPr/>
        </p:nvSpPr>
        <p:spPr>
          <a:xfrm>
            <a:off x="10429989" y="4224528"/>
            <a:ext cx="792442" cy="347472"/>
          </a:xfrm>
          <a:prstGeom prst="rect">
            <a:avLst/>
          </a:prstGeom>
          <a:noFill/>
          <a:ln/>
        </p:spPr>
        <p:txBody>
          <a:bodyPr wrap="square" lIns="0" tIns="0" rIns="0" bIns="0" rtlCol="0" anchor="ctr"/>
          <a:lstStyle/>
          <a:p>
            <a:pPr algn="ctr" indent="0" marL="0">
              <a:lnSpc>
                <a:spcPct val="100000"/>
              </a:lnSpc>
              <a:buNone/>
            </a:pPr>
            <a:r>
              <a:rPr lang="ar-SA" altLang="en-US" sz="1000" dirty="0">
                <a:solidFill>
                  <a:srgbClr val="FFFFFF"/>
                </a:solidFill>
                <a:latin typeface="IBM Plex Sans Arabic" pitchFamily="34" charset="0"/>
                <a:ea typeface="IBM Plex Sans Arabic" pitchFamily="34" charset="-122"/>
                <a:cs typeface="IBM Plex Sans Arabic" pitchFamily="34" charset="-120"/>
              </a:rPr>
              <a:t>NotebookLM</a:t>
            </a:r>
            <a:endParaRPr lang="ar-SA" sz="1000" dirty="0"/>
          </a:p>
        </p:txBody>
      </p:sp>
      <p:sp>
        <p:nvSpPr>
          <p:cNvPr id="18" name="Shape 12"/>
          <p:cNvSpPr/>
          <p:nvPr/>
        </p:nvSpPr>
        <p:spPr>
          <a:xfrm>
            <a:off x="9197092" y="2011680"/>
            <a:ext cx="731520" cy="731520"/>
          </a:xfrm>
          <a:prstGeom prst="ellipse">
            <a:avLst/>
          </a:prstGeom>
          <a:solidFill>
            <a:srgbClr val="A6D04B"/>
          </a:solidFill>
          <a:ln w="38100">
            <a:solidFill>
              <a:srgbClr val="000000"/>
            </a:solidFill>
            <a:prstDash val="solid"/>
          </a:ln>
        </p:spPr>
      </p:sp>
      <p:pic>
        <p:nvPicPr>
          <p:cNvPr id="19" name="Image 4" descr="preencoded.png">    </p:cNvPr>
          <p:cNvPicPr>
            <a:picLocks noChangeAspect="1"/>
          </p:cNvPicPr>
          <p:nvPr/>
        </p:nvPicPr>
        <p:blipFill>
          <a:blip r:embed="rId5"/>
          <a:stretch>
            <a:fillRect/>
          </a:stretch>
        </p:blipFill>
        <p:spPr>
          <a:xfrm>
            <a:off x="9379972" y="2194560"/>
            <a:ext cx="365760" cy="365760"/>
          </a:xfrm>
          <a:prstGeom prst="rect">
            <a:avLst/>
          </a:prstGeom>
        </p:spPr>
      </p:pic>
      <p:sp>
        <p:nvSpPr>
          <p:cNvPr id="20" name="Text 13"/>
          <p:cNvSpPr txBox="1"/>
          <p:nvPr/>
        </p:nvSpPr>
        <p:spPr>
          <a:xfrm>
            <a:off x="9014212" y="2852928"/>
            <a:ext cx="1097280" cy="256032"/>
          </a:xfrm>
          <a:prstGeom prst="rect">
            <a:avLst/>
          </a:prstGeom>
          <a:noFill/>
          <a:ln/>
        </p:spPr>
        <p:txBody>
          <a:bodyPr wrap="square" lIns="0" tIns="0" rIns="0" bIns="0" rtlCol="0" anchor="t"/>
          <a:lstStyle/>
          <a:p>
            <a:pPr rtl="1" algn="ctr" indent="0" marL="0">
              <a:lnSpc>
                <a:spcPct val="100000"/>
              </a:lnSpc>
              <a:buNone/>
            </a:pPr>
            <a:r>
              <a:rPr lang="ar-SA" altLang="en-US" sz="1100" b="1" dirty="0">
                <a:solidFill>
                  <a:srgbClr val="A6D04B"/>
                </a:solidFill>
                <a:latin typeface="IBM Plex Sans Arabic" pitchFamily="34" charset="0"/>
                <a:ea typeface="IBM Plex Sans Arabic" pitchFamily="34" charset="-122"/>
                <a:cs typeface="IBM Plex Sans Arabic" pitchFamily="34" charset="-120"/>
              </a:rPr>
              <a:t>02</a:t>
            </a:r>
            <a:endParaRPr lang="ar-SA" sz="1100" dirty="0"/>
          </a:p>
        </p:txBody>
      </p:sp>
      <p:sp>
        <p:nvSpPr>
          <p:cNvPr id="21" name="Text 14"/>
          <p:cNvSpPr txBox="1"/>
          <p:nvPr/>
        </p:nvSpPr>
        <p:spPr>
          <a:xfrm>
            <a:off x="8906027" y="3108960"/>
            <a:ext cx="1313650" cy="566928"/>
          </a:xfrm>
          <a:prstGeom prst="rect">
            <a:avLst/>
          </a:prstGeom>
          <a:noFill/>
          <a:ln/>
        </p:spPr>
        <p:txBody>
          <a:bodyPr wrap="square" lIns="0" tIns="0" rIns="0" bIns="0" rtlCol="0" anchor="t"/>
          <a:lstStyle/>
          <a:p>
            <a:pPr rtl="1" algn="ctr" indent="0" marL="0">
              <a:lnSpc>
                <a:spcPct val="90000"/>
              </a:lnSpc>
              <a:buNone/>
            </a:pPr>
            <a:r>
              <a:rPr lang="ar-SA" altLang="en-US" sz="1500" b="1" dirty="0">
                <a:solidFill>
                  <a:srgbClr val="FFFFFF"/>
                </a:solidFill>
                <a:latin typeface="Cairo" pitchFamily="34" charset="0"/>
                <a:ea typeface="Cairo" pitchFamily="34" charset="-122"/>
                <a:cs typeface="Cairo" pitchFamily="34" charset="-120"/>
              </a:rPr>
              <a:t>الكتابة</a:t>
            </a:r>
            <a:endParaRPr lang="ar-SA" sz="1500" dirty="0"/>
          </a:p>
        </p:txBody>
      </p:sp>
      <p:sp>
        <p:nvSpPr>
          <p:cNvPr id="22" name="Shape 15"/>
          <p:cNvSpPr/>
          <p:nvPr/>
        </p:nvSpPr>
        <p:spPr>
          <a:xfrm>
            <a:off x="8933459" y="3794760"/>
            <a:ext cx="1258786" cy="347472"/>
          </a:xfrm>
          <a:prstGeom prst="roundRect">
            <a:avLst>
              <a:gd name="adj" fmla="val 50000"/>
            </a:avLst>
          </a:prstGeom>
          <a:solidFill>
            <a:srgbClr val="161816"/>
          </a:solidFill>
          <a:ln w="9525">
            <a:solidFill>
              <a:srgbClr val="3A3D39"/>
            </a:solidFill>
            <a:prstDash val="solid"/>
          </a:ln>
        </p:spPr>
      </p:sp>
      <p:sp>
        <p:nvSpPr>
          <p:cNvPr id="23" name="Text 16"/>
          <p:cNvSpPr txBox="1"/>
          <p:nvPr/>
        </p:nvSpPr>
        <p:spPr>
          <a:xfrm>
            <a:off x="9024899" y="3794760"/>
            <a:ext cx="1075906" cy="347472"/>
          </a:xfrm>
          <a:prstGeom prst="rect">
            <a:avLst/>
          </a:prstGeom>
          <a:noFill/>
          <a:ln/>
        </p:spPr>
        <p:txBody>
          <a:bodyPr wrap="square" lIns="0" tIns="0" rIns="0" bIns="0" rtlCol="0" anchor="ctr"/>
          <a:lstStyle/>
          <a:p>
            <a:pPr algn="ctr" indent="0" marL="0">
              <a:lnSpc>
                <a:spcPct val="100000"/>
              </a:lnSpc>
              <a:buNone/>
            </a:pPr>
            <a:r>
              <a:rPr lang="ar-SA" altLang="en-US" sz="1000" dirty="0">
                <a:solidFill>
                  <a:srgbClr val="FFFFFF"/>
                </a:solidFill>
                <a:latin typeface="IBM Plex Sans Arabic" pitchFamily="34" charset="0"/>
                <a:ea typeface="IBM Plex Sans Arabic" pitchFamily="34" charset="-122"/>
                <a:cs typeface="IBM Plex Sans Arabic" pitchFamily="34" charset="-120"/>
              </a:rPr>
              <a:t>ChatGPT</a:t>
            </a:r>
            <a:endParaRPr lang="ar-SA" sz="1000" dirty="0"/>
          </a:p>
        </p:txBody>
      </p:sp>
      <p:sp>
        <p:nvSpPr>
          <p:cNvPr id="24" name="Shape 17"/>
          <p:cNvSpPr/>
          <p:nvPr/>
        </p:nvSpPr>
        <p:spPr>
          <a:xfrm>
            <a:off x="8933459" y="4224528"/>
            <a:ext cx="1258786" cy="347472"/>
          </a:xfrm>
          <a:prstGeom prst="roundRect">
            <a:avLst>
              <a:gd name="adj" fmla="val 50000"/>
            </a:avLst>
          </a:prstGeom>
          <a:solidFill>
            <a:srgbClr val="161816"/>
          </a:solidFill>
          <a:ln w="9525">
            <a:solidFill>
              <a:srgbClr val="3A3D39"/>
            </a:solidFill>
            <a:prstDash val="solid"/>
          </a:ln>
        </p:spPr>
      </p:sp>
      <p:pic>
        <p:nvPicPr>
          <p:cNvPr id="25" name="Image 5" descr="Claude logo">    </p:cNvPr>
          <p:cNvPicPr>
            <a:picLocks noChangeAspect="1"/>
          </p:cNvPicPr>
          <p:nvPr/>
        </p:nvPicPr>
        <p:blipFill>
          <a:blip r:embed="rId6"/>
          <a:stretch>
            <a:fillRect/>
          </a:stretch>
        </p:blipFill>
        <p:spPr>
          <a:xfrm>
            <a:off x="9890493" y="4311396"/>
            <a:ext cx="173736" cy="173736"/>
          </a:xfrm>
          <a:prstGeom prst="rect">
            <a:avLst/>
          </a:prstGeom>
        </p:spPr>
      </p:pic>
      <p:sp>
        <p:nvSpPr>
          <p:cNvPr id="26" name="Text 18"/>
          <p:cNvSpPr txBox="1"/>
          <p:nvPr/>
        </p:nvSpPr>
        <p:spPr>
          <a:xfrm>
            <a:off x="9043187" y="4224528"/>
            <a:ext cx="792442" cy="347472"/>
          </a:xfrm>
          <a:prstGeom prst="rect">
            <a:avLst/>
          </a:prstGeom>
          <a:noFill/>
          <a:ln/>
        </p:spPr>
        <p:txBody>
          <a:bodyPr wrap="square" lIns="0" tIns="0" rIns="0" bIns="0" rtlCol="0" anchor="ctr"/>
          <a:lstStyle/>
          <a:p>
            <a:pPr algn="ctr" indent="0" marL="0">
              <a:lnSpc>
                <a:spcPct val="100000"/>
              </a:lnSpc>
              <a:buNone/>
            </a:pPr>
            <a:r>
              <a:rPr lang="ar-SA" altLang="en-US" sz="1000" dirty="0">
                <a:solidFill>
                  <a:srgbClr val="FFFFFF"/>
                </a:solidFill>
                <a:latin typeface="IBM Plex Sans Arabic" pitchFamily="34" charset="0"/>
                <a:ea typeface="IBM Plex Sans Arabic" pitchFamily="34" charset="-122"/>
                <a:cs typeface="IBM Plex Sans Arabic" pitchFamily="34" charset="-120"/>
              </a:rPr>
              <a:t>Claude</a:t>
            </a:r>
            <a:endParaRPr lang="ar-SA" sz="1000" dirty="0"/>
          </a:p>
        </p:txBody>
      </p:sp>
      <p:sp>
        <p:nvSpPr>
          <p:cNvPr id="27" name="Shape 19"/>
          <p:cNvSpPr/>
          <p:nvPr/>
        </p:nvSpPr>
        <p:spPr>
          <a:xfrm>
            <a:off x="7810290" y="2011680"/>
            <a:ext cx="731520" cy="731520"/>
          </a:xfrm>
          <a:prstGeom prst="ellipse">
            <a:avLst/>
          </a:prstGeom>
          <a:solidFill>
            <a:srgbClr val="4DB449"/>
          </a:solidFill>
          <a:ln w="38100">
            <a:solidFill>
              <a:srgbClr val="000000"/>
            </a:solidFill>
            <a:prstDash val="solid"/>
          </a:ln>
        </p:spPr>
      </p:sp>
      <p:pic>
        <p:nvPicPr>
          <p:cNvPr id="28" name="Image 6" descr="preencoded.png">    </p:cNvPr>
          <p:cNvPicPr>
            <a:picLocks noChangeAspect="1"/>
          </p:cNvPicPr>
          <p:nvPr/>
        </p:nvPicPr>
        <p:blipFill>
          <a:blip r:embed="rId7"/>
          <a:stretch>
            <a:fillRect/>
          </a:stretch>
        </p:blipFill>
        <p:spPr>
          <a:xfrm>
            <a:off x="7993170" y="2194560"/>
            <a:ext cx="365760" cy="365760"/>
          </a:xfrm>
          <a:prstGeom prst="rect">
            <a:avLst/>
          </a:prstGeom>
        </p:spPr>
      </p:pic>
      <p:sp>
        <p:nvSpPr>
          <p:cNvPr id="29" name="Text 20"/>
          <p:cNvSpPr txBox="1"/>
          <p:nvPr/>
        </p:nvSpPr>
        <p:spPr>
          <a:xfrm>
            <a:off x="7627410" y="2852928"/>
            <a:ext cx="1097280" cy="256032"/>
          </a:xfrm>
          <a:prstGeom prst="rect">
            <a:avLst/>
          </a:prstGeom>
          <a:noFill/>
          <a:ln/>
        </p:spPr>
        <p:txBody>
          <a:bodyPr wrap="square" lIns="0" tIns="0" rIns="0" bIns="0" rtlCol="0" anchor="t"/>
          <a:lstStyle/>
          <a:p>
            <a:pPr rtl="1" algn="ctr" indent="0" marL="0">
              <a:lnSpc>
                <a:spcPct val="100000"/>
              </a:lnSpc>
              <a:buNone/>
            </a:pPr>
            <a:r>
              <a:rPr lang="ar-SA" altLang="en-US" sz="1100" b="1" dirty="0">
                <a:solidFill>
                  <a:srgbClr val="A6D04B"/>
                </a:solidFill>
                <a:latin typeface="IBM Plex Sans Arabic" pitchFamily="34" charset="0"/>
                <a:ea typeface="IBM Plex Sans Arabic" pitchFamily="34" charset="-122"/>
                <a:cs typeface="IBM Plex Sans Arabic" pitchFamily="34" charset="-120"/>
              </a:rPr>
              <a:t>03</a:t>
            </a:r>
            <a:endParaRPr lang="ar-SA" sz="1100" dirty="0"/>
          </a:p>
        </p:txBody>
      </p:sp>
      <p:sp>
        <p:nvSpPr>
          <p:cNvPr id="30" name="Text 21"/>
          <p:cNvSpPr txBox="1"/>
          <p:nvPr/>
        </p:nvSpPr>
        <p:spPr>
          <a:xfrm>
            <a:off x="7519226" y="3108960"/>
            <a:ext cx="1313650" cy="566928"/>
          </a:xfrm>
          <a:prstGeom prst="rect">
            <a:avLst/>
          </a:prstGeom>
          <a:noFill/>
          <a:ln/>
        </p:spPr>
        <p:txBody>
          <a:bodyPr wrap="square" lIns="0" tIns="0" rIns="0" bIns="0" rtlCol="0" anchor="t"/>
          <a:lstStyle/>
          <a:p>
            <a:pPr rtl="1" algn="ctr" indent="0" marL="0">
              <a:lnSpc>
                <a:spcPct val="90000"/>
              </a:lnSpc>
              <a:buNone/>
            </a:pPr>
            <a:r>
              <a:rPr lang="ar-SA" altLang="en-US" sz="1500" b="1" dirty="0">
                <a:solidFill>
                  <a:srgbClr val="FFFFFF"/>
                </a:solidFill>
                <a:latin typeface="Cairo" pitchFamily="34" charset="0"/>
                <a:ea typeface="Cairo" pitchFamily="34" charset="-122"/>
                <a:cs typeface="Cairo" pitchFamily="34" charset="-120"/>
              </a:rPr>
              <a:t>التصميم</a:t>
            </a:r>
            <a:endParaRPr lang="ar-SA" sz="1500" dirty="0"/>
          </a:p>
        </p:txBody>
      </p:sp>
      <p:sp>
        <p:nvSpPr>
          <p:cNvPr id="31" name="Shape 22"/>
          <p:cNvSpPr/>
          <p:nvPr/>
        </p:nvSpPr>
        <p:spPr>
          <a:xfrm>
            <a:off x="7546657" y="3794760"/>
            <a:ext cx="1258786" cy="347472"/>
          </a:xfrm>
          <a:prstGeom prst="roundRect">
            <a:avLst>
              <a:gd name="adj" fmla="val 50000"/>
            </a:avLst>
          </a:prstGeom>
          <a:solidFill>
            <a:srgbClr val="161816"/>
          </a:solidFill>
          <a:ln w="9525">
            <a:solidFill>
              <a:srgbClr val="3A3D39"/>
            </a:solidFill>
            <a:prstDash val="solid"/>
          </a:ln>
        </p:spPr>
      </p:sp>
      <p:sp>
        <p:nvSpPr>
          <p:cNvPr id="32" name="Text 23"/>
          <p:cNvSpPr txBox="1"/>
          <p:nvPr/>
        </p:nvSpPr>
        <p:spPr>
          <a:xfrm>
            <a:off x="7638098" y="3794760"/>
            <a:ext cx="1075906" cy="347472"/>
          </a:xfrm>
          <a:prstGeom prst="rect">
            <a:avLst/>
          </a:prstGeom>
          <a:noFill/>
          <a:ln/>
        </p:spPr>
        <p:txBody>
          <a:bodyPr wrap="square" lIns="0" tIns="0" rIns="0" bIns="0" rtlCol="0" anchor="ctr"/>
          <a:lstStyle/>
          <a:p>
            <a:pPr algn="ctr" indent="0" marL="0">
              <a:lnSpc>
                <a:spcPct val="100000"/>
              </a:lnSpc>
              <a:buNone/>
            </a:pPr>
            <a:r>
              <a:rPr lang="ar-SA" altLang="en-US" sz="1000" dirty="0">
                <a:solidFill>
                  <a:srgbClr val="FFFFFF"/>
                </a:solidFill>
                <a:latin typeface="IBM Plex Sans Arabic" pitchFamily="34" charset="0"/>
                <a:ea typeface="IBM Plex Sans Arabic" pitchFamily="34" charset="-122"/>
                <a:cs typeface="IBM Plex Sans Arabic" pitchFamily="34" charset="-120"/>
              </a:rPr>
              <a:t>Canva</a:t>
            </a:r>
            <a:endParaRPr lang="ar-SA" sz="1000" dirty="0"/>
          </a:p>
        </p:txBody>
      </p:sp>
      <p:sp>
        <p:nvSpPr>
          <p:cNvPr id="33" name="Shape 24"/>
          <p:cNvSpPr/>
          <p:nvPr/>
        </p:nvSpPr>
        <p:spPr>
          <a:xfrm>
            <a:off x="7546657" y="4224528"/>
            <a:ext cx="1258786" cy="347472"/>
          </a:xfrm>
          <a:prstGeom prst="roundRect">
            <a:avLst>
              <a:gd name="adj" fmla="val 50000"/>
            </a:avLst>
          </a:prstGeom>
          <a:solidFill>
            <a:srgbClr val="161816"/>
          </a:solidFill>
          <a:ln w="9525">
            <a:solidFill>
              <a:srgbClr val="3A3D39"/>
            </a:solidFill>
            <a:prstDash val="solid"/>
          </a:ln>
        </p:spPr>
      </p:sp>
      <p:sp>
        <p:nvSpPr>
          <p:cNvPr id="34" name="Text 25"/>
          <p:cNvSpPr txBox="1"/>
          <p:nvPr/>
        </p:nvSpPr>
        <p:spPr>
          <a:xfrm>
            <a:off x="7638098" y="4224528"/>
            <a:ext cx="1075906" cy="347472"/>
          </a:xfrm>
          <a:prstGeom prst="rect">
            <a:avLst/>
          </a:prstGeom>
          <a:noFill/>
          <a:ln/>
        </p:spPr>
        <p:txBody>
          <a:bodyPr wrap="square" lIns="0" tIns="0" rIns="0" bIns="0" rtlCol="0" anchor="ctr"/>
          <a:lstStyle/>
          <a:p>
            <a:pPr algn="ctr" indent="0" marL="0">
              <a:lnSpc>
                <a:spcPct val="100000"/>
              </a:lnSpc>
              <a:buNone/>
            </a:pPr>
            <a:r>
              <a:rPr lang="ar-SA" altLang="en-US" sz="1000" dirty="0">
                <a:solidFill>
                  <a:srgbClr val="FFFFFF"/>
                </a:solidFill>
                <a:latin typeface="IBM Plex Sans Arabic" pitchFamily="34" charset="0"/>
                <a:ea typeface="IBM Plex Sans Arabic" pitchFamily="34" charset="-122"/>
                <a:cs typeface="IBM Plex Sans Arabic" pitchFamily="34" charset="-120"/>
              </a:rPr>
              <a:t>Adobe Firefly</a:t>
            </a:r>
            <a:endParaRPr lang="ar-SA" sz="1000" dirty="0"/>
          </a:p>
        </p:txBody>
      </p:sp>
      <p:sp>
        <p:nvSpPr>
          <p:cNvPr id="35" name="Shape 26"/>
          <p:cNvSpPr/>
          <p:nvPr/>
        </p:nvSpPr>
        <p:spPr>
          <a:xfrm>
            <a:off x="6423489" y="2011680"/>
            <a:ext cx="731520" cy="731520"/>
          </a:xfrm>
          <a:prstGeom prst="ellipse">
            <a:avLst/>
          </a:prstGeom>
          <a:solidFill>
            <a:srgbClr val="A6D04B"/>
          </a:solidFill>
          <a:ln w="38100">
            <a:solidFill>
              <a:srgbClr val="000000"/>
            </a:solidFill>
            <a:prstDash val="solid"/>
          </a:ln>
        </p:spPr>
      </p:sp>
      <p:pic>
        <p:nvPicPr>
          <p:cNvPr id="36" name="Image 7" descr="preencoded.png">    </p:cNvPr>
          <p:cNvPicPr>
            <a:picLocks noChangeAspect="1"/>
          </p:cNvPicPr>
          <p:nvPr/>
        </p:nvPicPr>
        <p:blipFill>
          <a:blip r:embed="rId8"/>
          <a:stretch>
            <a:fillRect/>
          </a:stretch>
        </p:blipFill>
        <p:spPr>
          <a:xfrm>
            <a:off x="6606369" y="2194560"/>
            <a:ext cx="365760" cy="365760"/>
          </a:xfrm>
          <a:prstGeom prst="rect">
            <a:avLst/>
          </a:prstGeom>
        </p:spPr>
      </p:pic>
      <p:sp>
        <p:nvSpPr>
          <p:cNvPr id="37" name="Text 27"/>
          <p:cNvSpPr txBox="1"/>
          <p:nvPr/>
        </p:nvSpPr>
        <p:spPr>
          <a:xfrm>
            <a:off x="6240609" y="2852928"/>
            <a:ext cx="1097280" cy="256032"/>
          </a:xfrm>
          <a:prstGeom prst="rect">
            <a:avLst/>
          </a:prstGeom>
          <a:noFill/>
          <a:ln/>
        </p:spPr>
        <p:txBody>
          <a:bodyPr wrap="square" lIns="0" tIns="0" rIns="0" bIns="0" rtlCol="0" anchor="t"/>
          <a:lstStyle/>
          <a:p>
            <a:pPr rtl="1" algn="ctr" indent="0" marL="0">
              <a:lnSpc>
                <a:spcPct val="100000"/>
              </a:lnSpc>
              <a:buNone/>
            </a:pPr>
            <a:r>
              <a:rPr lang="ar-SA" altLang="en-US" sz="1100" b="1" dirty="0">
                <a:solidFill>
                  <a:srgbClr val="A6D04B"/>
                </a:solidFill>
                <a:latin typeface="IBM Plex Sans Arabic" pitchFamily="34" charset="0"/>
                <a:ea typeface="IBM Plex Sans Arabic" pitchFamily="34" charset="-122"/>
                <a:cs typeface="IBM Plex Sans Arabic" pitchFamily="34" charset="-120"/>
              </a:rPr>
              <a:t>04</a:t>
            </a:r>
            <a:endParaRPr lang="ar-SA" sz="1100" dirty="0"/>
          </a:p>
        </p:txBody>
      </p:sp>
      <p:sp>
        <p:nvSpPr>
          <p:cNvPr id="38" name="Text 28"/>
          <p:cNvSpPr txBox="1"/>
          <p:nvPr/>
        </p:nvSpPr>
        <p:spPr>
          <a:xfrm>
            <a:off x="6132424" y="3108960"/>
            <a:ext cx="1313650" cy="566928"/>
          </a:xfrm>
          <a:prstGeom prst="rect">
            <a:avLst/>
          </a:prstGeom>
          <a:noFill/>
          <a:ln/>
        </p:spPr>
        <p:txBody>
          <a:bodyPr wrap="square" lIns="0" tIns="0" rIns="0" bIns="0" rtlCol="0" anchor="t"/>
          <a:lstStyle/>
          <a:p>
            <a:pPr rtl="1" algn="ctr" indent="0" marL="0">
              <a:lnSpc>
                <a:spcPct val="90000"/>
              </a:lnSpc>
              <a:buNone/>
            </a:pPr>
            <a:r>
              <a:rPr lang="ar-SA" altLang="en-US" sz="1500" b="1" dirty="0">
                <a:solidFill>
                  <a:srgbClr val="FFFFFF"/>
                </a:solidFill>
                <a:latin typeface="Cairo" pitchFamily="34" charset="0"/>
                <a:ea typeface="Cairo" pitchFamily="34" charset="-122"/>
                <a:cs typeface="Cairo" pitchFamily="34" charset="-120"/>
              </a:rPr>
              <a:t>الصور</a:t>
            </a:r>
            <a:endParaRPr lang="ar-SA" sz="1500" dirty="0"/>
          </a:p>
        </p:txBody>
      </p:sp>
      <p:sp>
        <p:nvSpPr>
          <p:cNvPr id="39" name="Shape 29"/>
          <p:cNvSpPr/>
          <p:nvPr/>
        </p:nvSpPr>
        <p:spPr>
          <a:xfrm>
            <a:off x="6159856" y="3794760"/>
            <a:ext cx="1258786" cy="347472"/>
          </a:xfrm>
          <a:prstGeom prst="roundRect">
            <a:avLst>
              <a:gd name="adj" fmla="val 50000"/>
            </a:avLst>
          </a:prstGeom>
          <a:solidFill>
            <a:srgbClr val="161816"/>
          </a:solidFill>
          <a:ln w="9525">
            <a:solidFill>
              <a:srgbClr val="3A3D39"/>
            </a:solidFill>
            <a:prstDash val="solid"/>
          </a:ln>
        </p:spPr>
      </p:sp>
      <p:pic>
        <p:nvPicPr>
          <p:cNvPr id="40" name="Image 8" descr="Gemini logo">    </p:cNvPr>
          <p:cNvPicPr>
            <a:picLocks noChangeAspect="1"/>
          </p:cNvPicPr>
          <p:nvPr/>
        </p:nvPicPr>
        <p:blipFill>
          <a:blip r:embed="rId9"/>
          <a:stretch>
            <a:fillRect/>
          </a:stretch>
        </p:blipFill>
        <p:spPr>
          <a:xfrm>
            <a:off x="7116890" y="3881628"/>
            <a:ext cx="173736" cy="173736"/>
          </a:xfrm>
          <a:prstGeom prst="rect">
            <a:avLst/>
          </a:prstGeom>
        </p:spPr>
      </p:pic>
      <p:sp>
        <p:nvSpPr>
          <p:cNvPr id="41" name="Text 30"/>
          <p:cNvSpPr txBox="1"/>
          <p:nvPr/>
        </p:nvSpPr>
        <p:spPr>
          <a:xfrm>
            <a:off x="6269584" y="3794760"/>
            <a:ext cx="792442" cy="347472"/>
          </a:xfrm>
          <a:prstGeom prst="rect">
            <a:avLst/>
          </a:prstGeom>
          <a:noFill/>
          <a:ln/>
        </p:spPr>
        <p:txBody>
          <a:bodyPr wrap="square" lIns="0" tIns="0" rIns="0" bIns="0" rtlCol="0" anchor="ctr"/>
          <a:lstStyle/>
          <a:p>
            <a:pPr algn="ctr" indent="0" marL="0">
              <a:lnSpc>
                <a:spcPct val="100000"/>
              </a:lnSpc>
              <a:buNone/>
            </a:pPr>
            <a:r>
              <a:rPr lang="ar-SA" altLang="en-US" sz="1000" dirty="0">
                <a:solidFill>
                  <a:srgbClr val="FFFFFF"/>
                </a:solidFill>
                <a:latin typeface="IBM Plex Sans Arabic" pitchFamily="34" charset="0"/>
                <a:ea typeface="IBM Plex Sans Arabic" pitchFamily="34" charset="-122"/>
                <a:cs typeface="IBM Plex Sans Arabic" pitchFamily="34" charset="-120"/>
              </a:rPr>
              <a:t>Gemini</a:t>
            </a:r>
            <a:endParaRPr lang="ar-SA" sz="1000" dirty="0"/>
          </a:p>
        </p:txBody>
      </p:sp>
      <p:sp>
        <p:nvSpPr>
          <p:cNvPr id="42" name="Shape 31"/>
          <p:cNvSpPr/>
          <p:nvPr/>
        </p:nvSpPr>
        <p:spPr>
          <a:xfrm>
            <a:off x="6159856" y="4224528"/>
            <a:ext cx="1258786" cy="347472"/>
          </a:xfrm>
          <a:prstGeom prst="roundRect">
            <a:avLst>
              <a:gd name="adj" fmla="val 50000"/>
            </a:avLst>
          </a:prstGeom>
          <a:solidFill>
            <a:srgbClr val="161816"/>
          </a:solidFill>
          <a:ln w="9525">
            <a:solidFill>
              <a:srgbClr val="3A3D39"/>
            </a:solidFill>
            <a:prstDash val="solid"/>
          </a:ln>
        </p:spPr>
      </p:sp>
      <p:sp>
        <p:nvSpPr>
          <p:cNvPr id="43" name="Text 32"/>
          <p:cNvSpPr txBox="1"/>
          <p:nvPr/>
        </p:nvSpPr>
        <p:spPr>
          <a:xfrm>
            <a:off x="6251296" y="4224528"/>
            <a:ext cx="1075906" cy="347472"/>
          </a:xfrm>
          <a:prstGeom prst="rect">
            <a:avLst/>
          </a:prstGeom>
          <a:noFill/>
          <a:ln/>
        </p:spPr>
        <p:txBody>
          <a:bodyPr wrap="square" lIns="0" tIns="0" rIns="0" bIns="0" rtlCol="0" anchor="ctr"/>
          <a:lstStyle/>
          <a:p>
            <a:pPr algn="ctr" indent="0" marL="0">
              <a:lnSpc>
                <a:spcPct val="100000"/>
              </a:lnSpc>
              <a:buNone/>
            </a:pPr>
            <a:r>
              <a:rPr lang="ar-SA" altLang="en-US" sz="1000" dirty="0">
                <a:solidFill>
                  <a:srgbClr val="FFFFFF"/>
                </a:solidFill>
                <a:latin typeface="IBM Plex Sans Arabic" pitchFamily="34" charset="0"/>
                <a:ea typeface="IBM Plex Sans Arabic" pitchFamily="34" charset="-122"/>
                <a:cs typeface="IBM Plex Sans Arabic" pitchFamily="34" charset="-120"/>
              </a:rPr>
              <a:t>ChatGPT</a:t>
            </a:r>
            <a:endParaRPr lang="ar-SA" sz="1000" dirty="0"/>
          </a:p>
        </p:txBody>
      </p:sp>
      <p:sp>
        <p:nvSpPr>
          <p:cNvPr id="44" name="Shape 33"/>
          <p:cNvSpPr/>
          <p:nvPr/>
        </p:nvSpPr>
        <p:spPr>
          <a:xfrm>
            <a:off x="5036687" y="2011680"/>
            <a:ext cx="731520" cy="731520"/>
          </a:xfrm>
          <a:prstGeom prst="ellipse">
            <a:avLst/>
          </a:prstGeom>
          <a:solidFill>
            <a:srgbClr val="4DB449"/>
          </a:solidFill>
          <a:ln w="38100">
            <a:solidFill>
              <a:srgbClr val="000000"/>
            </a:solidFill>
            <a:prstDash val="solid"/>
          </a:ln>
        </p:spPr>
      </p:sp>
      <p:pic>
        <p:nvPicPr>
          <p:cNvPr id="45" name="Image 9" descr="preencoded.png">    </p:cNvPr>
          <p:cNvPicPr>
            <a:picLocks noChangeAspect="1"/>
          </p:cNvPicPr>
          <p:nvPr/>
        </p:nvPicPr>
        <p:blipFill>
          <a:blip r:embed="rId10"/>
          <a:stretch>
            <a:fillRect/>
          </a:stretch>
        </p:blipFill>
        <p:spPr>
          <a:xfrm>
            <a:off x="5219567" y="2194560"/>
            <a:ext cx="365760" cy="365760"/>
          </a:xfrm>
          <a:prstGeom prst="rect">
            <a:avLst/>
          </a:prstGeom>
        </p:spPr>
      </p:pic>
      <p:sp>
        <p:nvSpPr>
          <p:cNvPr id="46" name="Text 34"/>
          <p:cNvSpPr txBox="1"/>
          <p:nvPr/>
        </p:nvSpPr>
        <p:spPr>
          <a:xfrm>
            <a:off x="4853807" y="2852928"/>
            <a:ext cx="1097280" cy="256032"/>
          </a:xfrm>
          <a:prstGeom prst="rect">
            <a:avLst/>
          </a:prstGeom>
          <a:noFill/>
          <a:ln/>
        </p:spPr>
        <p:txBody>
          <a:bodyPr wrap="square" lIns="0" tIns="0" rIns="0" bIns="0" rtlCol="0" anchor="t"/>
          <a:lstStyle/>
          <a:p>
            <a:pPr rtl="1" algn="ctr" indent="0" marL="0">
              <a:lnSpc>
                <a:spcPct val="100000"/>
              </a:lnSpc>
              <a:buNone/>
            </a:pPr>
            <a:r>
              <a:rPr lang="ar-SA" altLang="en-US" sz="1100" b="1" dirty="0">
                <a:solidFill>
                  <a:srgbClr val="A6D04B"/>
                </a:solidFill>
                <a:latin typeface="IBM Plex Sans Arabic" pitchFamily="34" charset="0"/>
                <a:ea typeface="IBM Plex Sans Arabic" pitchFamily="34" charset="-122"/>
                <a:cs typeface="IBM Plex Sans Arabic" pitchFamily="34" charset="-120"/>
              </a:rPr>
              <a:t>05</a:t>
            </a:r>
            <a:endParaRPr lang="ar-SA" sz="1100" dirty="0"/>
          </a:p>
        </p:txBody>
      </p:sp>
      <p:sp>
        <p:nvSpPr>
          <p:cNvPr id="47" name="Text 35"/>
          <p:cNvSpPr txBox="1"/>
          <p:nvPr/>
        </p:nvSpPr>
        <p:spPr>
          <a:xfrm>
            <a:off x="4745622" y="3108960"/>
            <a:ext cx="1313650" cy="566928"/>
          </a:xfrm>
          <a:prstGeom prst="rect">
            <a:avLst/>
          </a:prstGeom>
          <a:noFill/>
          <a:ln/>
        </p:spPr>
        <p:txBody>
          <a:bodyPr wrap="square" lIns="0" tIns="0" rIns="0" bIns="0" rtlCol="0" anchor="t"/>
          <a:lstStyle/>
          <a:p>
            <a:pPr rtl="1" algn="ctr" indent="0" marL="0">
              <a:lnSpc>
                <a:spcPct val="90000"/>
              </a:lnSpc>
              <a:buNone/>
            </a:pPr>
            <a:r>
              <a:rPr lang="ar-SA" altLang="en-US" sz="1500" b="1" dirty="0">
                <a:solidFill>
                  <a:srgbClr val="FFFFFF"/>
                </a:solidFill>
                <a:latin typeface="Cairo" pitchFamily="34" charset="0"/>
                <a:ea typeface="Cairo" pitchFamily="34" charset="-122"/>
                <a:cs typeface="Cairo" pitchFamily="34" charset="-120"/>
              </a:rPr>
              <a:t>الفيديو</a:t>
            </a:r>
            <a:endParaRPr lang="ar-SA" sz="1500" dirty="0"/>
          </a:p>
        </p:txBody>
      </p:sp>
      <p:sp>
        <p:nvSpPr>
          <p:cNvPr id="48" name="Shape 36"/>
          <p:cNvSpPr/>
          <p:nvPr/>
        </p:nvSpPr>
        <p:spPr>
          <a:xfrm>
            <a:off x="4773054" y="3794760"/>
            <a:ext cx="1258786" cy="347472"/>
          </a:xfrm>
          <a:prstGeom prst="roundRect">
            <a:avLst>
              <a:gd name="adj" fmla="val 50000"/>
            </a:avLst>
          </a:prstGeom>
          <a:solidFill>
            <a:srgbClr val="161816"/>
          </a:solidFill>
          <a:ln w="9525">
            <a:solidFill>
              <a:srgbClr val="3A3D39"/>
            </a:solidFill>
            <a:prstDash val="solid"/>
          </a:ln>
        </p:spPr>
      </p:sp>
      <p:sp>
        <p:nvSpPr>
          <p:cNvPr id="49" name="Text 37"/>
          <p:cNvSpPr txBox="1"/>
          <p:nvPr/>
        </p:nvSpPr>
        <p:spPr>
          <a:xfrm>
            <a:off x="4864494" y="3794760"/>
            <a:ext cx="1075906" cy="347472"/>
          </a:xfrm>
          <a:prstGeom prst="rect">
            <a:avLst/>
          </a:prstGeom>
          <a:noFill/>
          <a:ln/>
        </p:spPr>
        <p:txBody>
          <a:bodyPr wrap="square" lIns="0" tIns="0" rIns="0" bIns="0" rtlCol="0" anchor="ctr"/>
          <a:lstStyle/>
          <a:p>
            <a:pPr algn="ctr" indent="0" marL="0">
              <a:lnSpc>
                <a:spcPct val="100000"/>
              </a:lnSpc>
              <a:buNone/>
            </a:pPr>
            <a:r>
              <a:rPr lang="ar-SA" altLang="en-US" sz="1000" dirty="0">
                <a:solidFill>
                  <a:srgbClr val="FFFFFF"/>
                </a:solidFill>
                <a:latin typeface="IBM Plex Sans Arabic" pitchFamily="34" charset="0"/>
                <a:ea typeface="IBM Plex Sans Arabic" pitchFamily="34" charset="-122"/>
                <a:cs typeface="IBM Plex Sans Arabic" pitchFamily="34" charset="-120"/>
              </a:rPr>
              <a:t>Google Flow</a:t>
            </a:r>
            <a:endParaRPr lang="ar-SA" sz="1000" dirty="0"/>
          </a:p>
        </p:txBody>
      </p:sp>
      <p:sp>
        <p:nvSpPr>
          <p:cNvPr id="50" name="Shape 38"/>
          <p:cNvSpPr/>
          <p:nvPr/>
        </p:nvSpPr>
        <p:spPr>
          <a:xfrm>
            <a:off x="4773054" y="4224528"/>
            <a:ext cx="1258786" cy="347472"/>
          </a:xfrm>
          <a:prstGeom prst="roundRect">
            <a:avLst>
              <a:gd name="adj" fmla="val 50000"/>
            </a:avLst>
          </a:prstGeom>
          <a:solidFill>
            <a:srgbClr val="161816"/>
          </a:solidFill>
          <a:ln w="9525">
            <a:solidFill>
              <a:srgbClr val="3A3D39"/>
            </a:solidFill>
            <a:prstDash val="solid"/>
          </a:ln>
        </p:spPr>
      </p:sp>
      <p:sp>
        <p:nvSpPr>
          <p:cNvPr id="51" name="Text 39"/>
          <p:cNvSpPr txBox="1"/>
          <p:nvPr/>
        </p:nvSpPr>
        <p:spPr>
          <a:xfrm>
            <a:off x="4864494" y="4224528"/>
            <a:ext cx="1075906" cy="347472"/>
          </a:xfrm>
          <a:prstGeom prst="rect">
            <a:avLst/>
          </a:prstGeom>
          <a:noFill/>
          <a:ln/>
        </p:spPr>
        <p:txBody>
          <a:bodyPr wrap="square" lIns="0" tIns="0" rIns="0" bIns="0" rtlCol="0" anchor="ctr"/>
          <a:lstStyle/>
          <a:p>
            <a:pPr algn="ctr" indent="0" marL="0">
              <a:lnSpc>
                <a:spcPct val="100000"/>
              </a:lnSpc>
              <a:buNone/>
            </a:pPr>
            <a:r>
              <a:rPr lang="ar-SA" altLang="en-US" sz="1000" dirty="0">
                <a:solidFill>
                  <a:srgbClr val="FFFFFF"/>
                </a:solidFill>
                <a:latin typeface="IBM Plex Sans Arabic" pitchFamily="34" charset="0"/>
                <a:ea typeface="IBM Plex Sans Arabic" pitchFamily="34" charset="-122"/>
                <a:cs typeface="IBM Plex Sans Arabic" pitchFamily="34" charset="-120"/>
              </a:rPr>
              <a:t>Runway</a:t>
            </a:r>
            <a:endParaRPr lang="ar-SA" sz="1000" dirty="0"/>
          </a:p>
        </p:txBody>
      </p:sp>
      <p:sp>
        <p:nvSpPr>
          <p:cNvPr id="52" name="Shape 40"/>
          <p:cNvSpPr/>
          <p:nvPr/>
        </p:nvSpPr>
        <p:spPr>
          <a:xfrm>
            <a:off x="3649885" y="2011680"/>
            <a:ext cx="731520" cy="731520"/>
          </a:xfrm>
          <a:prstGeom prst="ellipse">
            <a:avLst/>
          </a:prstGeom>
          <a:solidFill>
            <a:srgbClr val="A6D04B"/>
          </a:solidFill>
          <a:ln w="38100">
            <a:solidFill>
              <a:srgbClr val="000000"/>
            </a:solidFill>
            <a:prstDash val="solid"/>
          </a:ln>
        </p:spPr>
      </p:sp>
      <p:pic>
        <p:nvPicPr>
          <p:cNvPr id="53" name="Image 10" descr="preencoded.png">    </p:cNvPr>
          <p:cNvPicPr>
            <a:picLocks noChangeAspect="1"/>
          </p:cNvPicPr>
          <p:nvPr/>
        </p:nvPicPr>
        <p:blipFill>
          <a:blip r:embed="rId11"/>
          <a:stretch>
            <a:fillRect/>
          </a:stretch>
        </p:blipFill>
        <p:spPr>
          <a:xfrm>
            <a:off x="3832765" y="2194560"/>
            <a:ext cx="365760" cy="365760"/>
          </a:xfrm>
          <a:prstGeom prst="rect">
            <a:avLst/>
          </a:prstGeom>
        </p:spPr>
      </p:pic>
      <p:sp>
        <p:nvSpPr>
          <p:cNvPr id="54" name="Text 41"/>
          <p:cNvSpPr txBox="1"/>
          <p:nvPr/>
        </p:nvSpPr>
        <p:spPr>
          <a:xfrm>
            <a:off x="3467005" y="2852928"/>
            <a:ext cx="1097280" cy="256032"/>
          </a:xfrm>
          <a:prstGeom prst="rect">
            <a:avLst/>
          </a:prstGeom>
          <a:noFill/>
          <a:ln/>
        </p:spPr>
        <p:txBody>
          <a:bodyPr wrap="square" lIns="0" tIns="0" rIns="0" bIns="0" rtlCol="0" anchor="t"/>
          <a:lstStyle/>
          <a:p>
            <a:pPr rtl="1" algn="ctr" indent="0" marL="0">
              <a:lnSpc>
                <a:spcPct val="100000"/>
              </a:lnSpc>
              <a:buNone/>
            </a:pPr>
            <a:r>
              <a:rPr lang="ar-SA" altLang="en-US" sz="1100" b="1" dirty="0">
                <a:solidFill>
                  <a:srgbClr val="A6D04B"/>
                </a:solidFill>
                <a:latin typeface="IBM Plex Sans Arabic" pitchFamily="34" charset="0"/>
                <a:ea typeface="IBM Plex Sans Arabic" pitchFamily="34" charset="-122"/>
                <a:cs typeface="IBM Plex Sans Arabic" pitchFamily="34" charset="-120"/>
              </a:rPr>
              <a:t>06</a:t>
            </a:r>
            <a:endParaRPr lang="ar-SA" sz="1100" dirty="0"/>
          </a:p>
        </p:txBody>
      </p:sp>
      <p:sp>
        <p:nvSpPr>
          <p:cNvPr id="55" name="Text 42"/>
          <p:cNvSpPr txBox="1"/>
          <p:nvPr/>
        </p:nvSpPr>
        <p:spPr>
          <a:xfrm>
            <a:off x="3358820" y="3108960"/>
            <a:ext cx="1313650" cy="566928"/>
          </a:xfrm>
          <a:prstGeom prst="rect">
            <a:avLst/>
          </a:prstGeom>
          <a:noFill/>
          <a:ln/>
        </p:spPr>
        <p:txBody>
          <a:bodyPr wrap="square" lIns="0" tIns="0" rIns="0" bIns="0" rtlCol="0" anchor="t"/>
          <a:lstStyle/>
          <a:p>
            <a:pPr rtl="1" algn="ctr" indent="0" marL="0">
              <a:lnSpc>
                <a:spcPct val="90000"/>
              </a:lnSpc>
              <a:buNone/>
            </a:pPr>
            <a:r>
              <a:rPr lang="ar-SA" altLang="en-US" sz="1500" b="1" dirty="0">
                <a:solidFill>
                  <a:srgbClr val="FFFFFF"/>
                </a:solidFill>
                <a:latin typeface="Cairo" pitchFamily="34" charset="0"/>
                <a:ea typeface="Cairo" pitchFamily="34" charset="-122"/>
                <a:cs typeface="Cairo" pitchFamily="34" charset="-120"/>
              </a:rPr>
              <a:t>المونتاج والحركة</a:t>
            </a:r>
            <a:endParaRPr lang="ar-SA" sz="1500" dirty="0"/>
          </a:p>
        </p:txBody>
      </p:sp>
      <p:sp>
        <p:nvSpPr>
          <p:cNvPr id="56" name="Shape 43"/>
          <p:cNvSpPr/>
          <p:nvPr/>
        </p:nvSpPr>
        <p:spPr>
          <a:xfrm>
            <a:off x="3386252" y="3794760"/>
            <a:ext cx="1258786" cy="347472"/>
          </a:xfrm>
          <a:prstGeom prst="roundRect">
            <a:avLst>
              <a:gd name="adj" fmla="val 50000"/>
            </a:avLst>
          </a:prstGeom>
          <a:solidFill>
            <a:srgbClr val="161816"/>
          </a:solidFill>
          <a:ln w="9525">
            <a:solidFill>
              <a:srgbClr val="3A3D39"/>
            </a:solidFill>
            <a:prstDash val="solid"/>
          </a:ln>
        </p:spPr>
      </p:sp>
      <p:sp>
        <p:nvSpPr>
          <p:cNvPr id="57" name="Text 44"/>
          <p:cNvSpPr txBox="1"/>
          <p:nvPr/>
        </p:nvSpPr>
        <p:spPr>
          <a:xfrm>
            <a:off x="3477692" y="3794760"/>
            <a:ext cx="1075906" cy="347472"/>
          </a:xfrm>
          <a:prstGeom prst="rect">
            <a:avLst/>
          </a:prstGeom>
          <a:noFill/>
          <a:ln/>
        </p:spPr>
        <p:txBody>
          <a:bodyPr wrap="square" lIns="0" tIns="0" rIns="0" bIns="0" rtlCol="0" anchor="ctr"/>
          <a:lstStyle/>
          <a:p>
            <a:pPr algn="ctr" indent="0" marL="0">
              <a:lnSpc>
                <a:spcPct val="100000"/>
              </a:lnSpc>
              <a:buNone/>
            </a:pPr>
            <a:r>
              <a:rPr lang="ar-SA" altLang="en-US" sz="1000" dirty="0">
                <a:solidFill>
                  <a:srgbClr val="FFFFFF"/>
                </a:solidFill>
                <a:latin typeface="IBM Plex Sans Arabic" pitchFamily="34" charset="0"/>
                <a:ea typeface="IBM Plex Sans Arabic" pitchFamily="34" charset="-122"/>
                <a:cs typeface="IBM Plex Sans Arabic" pitchFamily="34" charset="-120"/>
              </a:rPr>
              <a:t>Descript</a:t>
            </a:r>
            <a:endParaRPr lang="ar-SA" sz="1000" dirty="0"/>
          </a:p>
        </p:txBody>
      </p:sp>
      <p:sp>
        <p:nvSpPr>
          <p:cNvPr id="58" name="Shape 45"/>
          <p:cNvSpPr/>
          <p:nvPr/>
        </p:nvSpPr>
        <p:spPr>
          <a:xfrm>
            <a:off x="3386252" y="4224528"/>
            <a:ext cx="1258786" cy="347472"/>
          </a:xfrm>
          <a:prstGeom prst="roundRect">
            <a:avLst>
              <a:gd name="adj" fmla="val 50000"/>
            </a:avLst>
          </a:prstGeom>
          <a:solidFill>
            <a:srgbClr val="161816"/>
          </a:solidFill>
          <a:ln w="9525">
            <a:solidFill>
              <a:srgbClr val="3A3D39"/>
            </a:solidFill>
            <a:prstDash val="solid"/>
          </a:ln>
        </p:spPr>
      </p:sp>
      <p:sp>
        <p:nvSpPr>
          <p:cNvPr id="59" name="Text 46"/>
          <p:cNvSpPr txBox="1"/>
          <p:nvPr/>
        </p:nvSpPr>
        <p:spPr>
          <a:xfrm>
            <a:off x="3477692" y="4224528"/>
            <a:ext cx="1075906" cy="347472"/>
          </a:xfrm>
          <a:prstGeom prst="rect">
            <a:avLst/>
          </a:prstGeom>
          <a:noFill/>
          <a:ln/>
        </p:spPr>
        <p:txBody>
          <a:bodyPr wrap="square" lIns="0" tIns="0" rIns="0" bIns="0" rtlCol="0" anchor="ctr"/>
          <a:lstStyle/>
          <a:p>
            <a:pPr algn="ctr" indent="0" marL="0">
              <a:lnSpc>
                <a:spcPct val="100000"/>
              </a:lnSpc>
              <a:buNone/>
            </a:pPr>
            <a:r>
              <a:rPr lang="ar-SA" altLang="en-US" sz="1000" dirty="0">
                <a:solidFill>
                  <a:srgbClr val="FFFFFF"/>
                </a:solidFill>
                <a:latin typeface="IBM Plex Sans Arabic" pitchFamily="34" charset="0"/>
                <a:ea typeface="IBM Plex Sans Arabic" pitchFamily="34" charset="-122"/>
                <a:cs typeface="IBM Plex Sans Arabic" pitchFamily="34" charset="-120"/>
              </a:rPr>
              <a:t>CapCut</a:t>
            </a:r>
            <a:endParaRPr lang="ar-SA" sz="1000" dirty="0"/>
          </a:p>
        </p:txBody>
      </p:sp>
      <p:sp>
        <p:nvSpPr>
          <p:cNvPr id="60" name="Shape 47"/>
          <p:cNvSpPr/>
          <p:nvPr/>
        </p:nvSpPr>
        <p:spPr>
          <a:xfrm>
            <a:off x="3386252" y="4654296"/>
            <a:ext cx="1258786" cy="347472"/>
          </a:xfrm>
          <a:prstGeom prst="roundRect">
            <a:avLst>
              <a:gd name="adj" fmla="val 50000"/>
            </a:avLst>
          </a:prstGeom>
          <a:solidFill>
            <a:srgbClr val="161816"/>
          </a:solidFill>
          <a:ln w="9525">
            <a:solidFill>
              <a:srgbClr val="3A3D39"/>
            </a:solidFill>
            <a:prstDash val="solid"/>
          </a:ln>
        </p:spPr>
      </p:sp>
      <p:sp>
        <p:nvSpPr>
          <p:cNvPr id="61" name="Text 48"/>
          <p:cNvSpPr txBox="1"/>
          <p:nvPr/>
        </p:nvSpPr>
        <p:spPr>
          <a:xfrm>
            <a:off x="3477692" y="4654296"/>
            <a:ext cx="1075906" cy="347472"/>
          </a:xfrm>
          <a:prstGeom prst="rect">
            <a:avLst/>
          </a:prstGeom>
          <a:noFill/>
          <a:ln/>
        </p:spPr>
        <p:txBody>
          <a:bodyPr wrap="square" lIns="0" tIns="0" rIns="0" bIns="0" rtlCol="0" anchor="ctr"/>
          <a:lstStyle/>
          <a:p>
            <a:pPr algn="ctr" indent="0" marL="0">
              <a:lnSpc>
                <a:spcPct val="100000"/>
              </a:lnSpc>
              <a:buNone/>
            </a:pPr>
            <a:r>
              <a:rPr lang="ar-SA" altLang="en-US" sz="1000" dirty="0">
                <a:solidFill>
                  <a:srgbClr val="FFFFFF"/>
                </a:solidFill>
                <a:latin typeface="IBM Plex Sans Arabic" pitchFamily="34" charset="0"/>
                <a:ea typeface="IBM Plex Sans Arabic" pitchFamily="34" charset="-122"/>
                <a:cs typeface="IBM Plex Sans Arabic" pitchFamily="34" charset="-120"/>
              </a:rPr>
              <a:t>Remotion</a:t>
            </a:r>
            <a:endParaRPr lang="ar-SA" sz="1000" dirty="0"/>
          </a:p>
        </p:txBody>
      </p:sp>
      <p:sp>
        <p:nvSpPr>
          <p:cNvPr id="62" name="Shape 49"/>
          <p:cNvSpPr/>
          <p:nvPr/>
        </p:nvSpPr>
        <p:spPr>
          <a:xfrm>
            <a:off x="2263083" y="2011680"/>
            <a:ext cx="731520" cy="731520"/>
          </a:xfrm>
          <a:prstGeom prst="ellipse">
            <a:avLst/>
          </a:prstGeom>
          <a:solidFill>
            <a:srgbClr val="4DB449"/>
          </a:solidFill>
          <a:ln w="38100">
            <a:solidFill>
              <a:srgbClr val="000000"/>
            </a:solidFill>
            <a:prstDash val="solid"/>
          </a:ln>
        </p:spPr>
      </p:sp>
      <p:pic>
        <p:nvPicPr>
          <p:cNvPr id="63" name="Image 11" descr="preencoded.png">    </p:cNvPr>
          <p:cNvPicPr>
            <a:picLocks noChangeAspect="1"/>
          </p:cNvPicPr>
          <p:nvPr/>
        </p:nvPicPr>
        <p:blipFill>
          <a:blip r:embed="rId12"/>
          <a:stretch>
            <a:fillRect/>
          </a:stretch>
        </p:blipFill>
        <p:spPr>
          <a:xfrm>
            <a:off x="2445963" y="2194560"/>
            <a:ext cx="365760" cy="365760"/>
          </a:xfrm>
          <a:prstGeom prst="rect">
            <a:avLst/>
          </a:prstGeom>
        </p:spPr>
      </p:pic>
      <p:sp>
        <p:nvSpPr>
          <p:cNvPr id="64" name="Text 50"/>
          <p:cNvSpPr txBox="1"/>
          <p:nvPr/>
        </p:nvSpPr>
        <p:spPr>
          <a:xfrm>
            <a:off x="2080203" y="2852928"/>
            <a:ext cx="1097280" cy="256032"/>
          </a:xfrm>
          <a:prstGeom prst="rect">
            <a:avLst/>
          </a:prstGeom>
          <a:noFill/>
          <a:ln/>
        </p:spPr>
        <p:txBody>
          <a:bodyPr wrap="square" lIns="0" tIns="0" rIns="0" bIns="0" rtlCol="0" anchor="t"/>
          <a:lstStyle/>
          <a:p>
            <a:pPr rtl="1" algn="ctr" indent="0" marL="0">
              <a:lnSpc>
                <a:spcPct val="100000"/>
              </a:lnSpc>
              <a:buNone/>
            </a:pPr>
            <a:r>
              <a:rPr lang="ar-SA" altLang="en-US" sz="1100" b="1" dirty="0">
                <a:solidFill>
                  <a:srgbClr val="A6D04B"/>
                </a:solidFill>
                <a:latin typeface="IBM Plex Sans Arabic" pitchFamily="34" charset="0"/>
                <a:ea typeface="IBM Plex Sans Arabic" pitchFamily="34" charset="-122"/>
                <a:cs typeface="IBM Plex Sans Arabic" pitchFamily="34" charset="-120"/>
              </a:rPr>
              <a:t>07</a:t>
            </a:r>
            <a:endParaRPr lang="ar-SA" sz="1100" dirty="0"/>
          </a:p>
        </p:txBody>
      </p:sp>
      <p:sp>
        <p:nvSpPr>
          <p:cNvPr id="65" name="Text 51"/>
          <p:cNvSpPr txBox="1"/>
          <p:nvPr/>
        </p:nvSpPr>
        <p:spPr>
          <a:xfrm>
            <a:off x="1972018" y="3108960"/>
            <a:ext cx="1313650" cy="566928"/>
          </a:xfrm>
          <a:prstGeom prst="rect">
            <a:avLst/>
          </a:prstGeom>
          <a:noFill/>
          <a:ln/>
        </p:spPr>
        <p:txBody>
          <a:bodyPr wrap="square" lIns="0" tIns="0" rIns="0" bIns="0" rtlCol="0" anchor="t"/>
          <a:lstStyle/>
          <a:p>
            <a:pPr rtl="1" algn="ctr" indent="0" marL="0">
              <a:lnSpc>
                <a:spcPct val="90000"/>
              </a:lnSpc>
              <a:buNone/>
            </a:pPr>
            <a:r>
              <a:rPr lang="ar-SA" altLang="en-US" sz="1500" b="1" dirty="0">
                <a:solidFill>
                  <a:srgbClr val="FFFFFF"/>
                </a:solidFill>
                <a:latin typeface="Cairo" pitchFamily="34" charset="0"/>
                <a:ea typeface="Cairo" pitchFamily="34" charset="-122"/>
                <a:cs typeface="Cairo" pitchFamily="34" charset="-120"/>
              </a:rPr>
              <a:t>الصوت</a:t>
            </a:r>
            <a:endParaRPr lang="ar-SA" sz="1500" dirty="0"/>
          </a:p>
        </p:txBody>
      </p:sp>
      <p:sp>
        <p:nvSpPr>
          <p:cNvPr id="66" name="Shape 52"/>
          <p:cNvSpPr/>
          <p:nvPr/>
        </p:nvSpPr>
        <p:spPr>
          <a:xfrm>
            <a:off x="1999450" y="3794760"/>
            <a:ext cx="1258786" cy="347472"/>
          </a:xfrm>
          <a:prstGeom prst="roundRect">
            <a:avLst>
              <a:gd name="adj" fmla="val 50000"/>
            </a:avLst>
          </a:prstGeom>
          <a:solidFill>
            <a:srgbClr val="161816"/>
          </a:solidFill>
          <a:ln w="9525">
            <a:solidFill>
              <a:srgbClr val="3A3D39"/>
            </a:solidFill>
            <a:prstDash val="solid"/>
          </a:ln>
        </p:spPr>
      </p:sp>
      <p:pic>
        <p:nvPicPr>
          <p:cNvPr id="67" name="Image 12" descr="ElevenLabs logo">    </p:cNvPr>
          <p:cNvPicPr>
            <a:picLocks noChangeAspect="1"/>
          </p:cNvPicPr>
          <p:nvPr/>
        </p:nvPicPr>
        <p:blipFill>
          <a:blip r:embed="rId13"/>
          <a:stretch>
            <a:fillRect/>
          </a:stretch>
        </p:blipFill>
        <p:spPr>
          <a:xfrm>
            <a:off x="2956484" y="3881628"/>
            <a:ext cx="173736" cy="173736"/>
          </a:xfrm>
          <a:prstGeom prst="rect">
            <a:avLst/>
          </a:prstGeom>
        </p:spPr>
      </p:pic>
      <p:sp>
        <p:nvSpPr>
          <p:cNvPr id="68" name="Text 53"/>
          <p:cNvSpPr txBox="1"/>
          <p:nvPr/>
        </p:nvSpPr>
        <p:spPr>
          <a:xfrm>
            <a:off x="2109178" y="3794760"/>
            <a:ext cx="792442" cy="347472"/>
          </a:xfrm>
          <a:prstGeom prst="rect">
            <a:avLst/>
          </a:prstGeom>
          <a:noFill/>
          <a:ln/>
        </p:spPr>
        <p:txBody>
          <a:bodyPr wrap="square" lIns="0" tIns="0" rIns="0" bIns="0" rtlCol="0" anchor="ctr"/>
          <a:lstStyle/>
          <a:p>
            <a:pPr algn="ctr" indent="0" marL="0">
              <a:lnSpc>
                <a:spcPct val="100000"/>
              </a:lnSpc>
              <a:buNone/>
            </a:pPr>
            <a:r>
              <a:rPr lang="ar-SA" altLang="en-US" sz="1000" dirty="0">
                <a:solidFill>
                  <a:srgbClr val="FFFFFF"/>
                </a:solidFill>
                <a:latin typeface="IBM Plex Sans Arabic" pitchFamily="34" charset="0"/>
                <a:ea typeface="IBM Plex Sans Arabic" pitchFamily="34" charset="-122"/>
                <a:cs typeface="IBM Plex Sans Arabic" pitchFamily="34" charset="-120"/>
              </a:rPr>
              <a:t>ElevenLabs</a:t>
            </a:r>
            <a:endParaRPr lang="ar-SA" sz="1000" dirty="0"/>
          </a:p>
        </p:txBody>
      </p:sp>
      <p:sp>
        <p:nvSpPr>
          <p:cNvPr id="69" name="Shape 54"/>
          <p:cNvSpPr/>
          <p:nvPr/>
        </p:nvSpPr>
        <p:spPr>
          <a:xfrm>
            <a:off x="876281" y="2011680"/>
            <a:ext cx="731520" cy="731520"/>
          </a:xfrm>
          <a:prstGeom prst="ellipse">
            <a:avLst/>
          </a:prstGeom>
          <a:solidFill>
            <a:srgbClr val="A6D04B"/>
          </a:solidFill>
          <a:ln w="38100">
            <a:solidFill>
              <a:srgbClr val="000000"/>
            </a:solidFill>
            <a:prstDash val="solid"/>
          </a:ln>
        </p:spPr>
      </p:sp>
      <p:pic>
        <p:nvPicPr>
          <p:cNvPr id="70" name="Image 13" descr="preencoded.png">    </p:cNvPr>
          <p:cNvPicPr>
            <a:picLocks noChangeAspect="1"/>
          </p:cNvPicPr>
          <p:nvPr/>
        </p:nvPicPr>
        <p:blipFill>
          <a:blip r:embed="rId14"/>
          <a:stretch>
            <a:fillRect/>
          </a:stretch>
        </p:blipFill>
        <p:spPr>
          <a:xfrm>
            <a:off x="1059161" y="2194560"/>
            <a:ext cx="365760" cy="365760"/>
          </a:xfrm>
          <a:prstGeom prst="rect">
            <a:avLst/>
          </a:prstGeom>
        </p:spPr>
      </p:pic>
      <p:sp>
        <p:nvSpPr>
          <p:cNvPr id="71" name="Text 55"/>
          <p:cNvSpPr txBox="1"/>
          <p:nvPr/>
        </p:nvSpPr>
        <p:spPr>
          <a:xfrm>
            <a:off x="693401" y="2852928"/>
            <a:ext cx="1097280" cy="256032"/>
          </a:xfrm>
          <a:prstGeom prst="rect">
            <a:avLst/>
          </a:prstGeom>
          <a:noFill/>
          <a:ln/>
        </p:spPr>
        <p:txBody>
          <a:bodyPr wrap="square" lIns="0" tIns="0" rIns="0" bIns="0" rtlCol="0" anchor="t"/>
          <a:lstStyle/>
          <a:p>
            <a:pPr rtl="1" algn="ctr" indent="0" marL="0">
              <a:lnSpc>
                <a:spcPct val="100000"/>
              </a:lnSpc>
              <a:buNone/>
            </a:pPr>
            <a:r>
              <a:rPr lang="ar-SA" altLang="en-US" sz="1100" b="1" dirty="0">
                <a:solidFill>
                  <a:srgbClr val="A6D04B"/>
                </a:solidFill>
                <a:latin typeface="IBM Plex Sans Arabic" pitchFamily="34" charset="0"/>
                <a:ea typeface="IBM Plex Sans Arabic" pitchFamily="34" charset="-122"/>
                <a:cs typeface="IBM Plex Sans Arabic" pitchFamily="34" charset="-120"/>
              </a:rPr>
              <a:t>08</a:t>
            </a:r>
            <a:endParaRPr lang="ar-SA" sz="1100" dirty="0"/>
          </a:p>
        </p:txBody>
      </p:sp>
      <p:sp>
        <p:nvSpPr>
          <p:cNvPr id="72" name="Text 56"/>
          <p:cNvSpPr txBox="1"/>
          <p:nvPr/>
        </p:nvSpPr>
        <p:spPr>
          <a:xfrm>
            <a:off x="585216" y="3108960"/>
            <a:ext cx="1313650" cy="566928"/>
          </a:xfrm>
          <a:prstGeom prst="rect">
            <a:avLst/>
          </a:prstGeom>
          <a:noFill/>
          <a:ln/>
        </p:spPr>
        <p:txBody>
          <a:bodyPr wrap="square" lIns="0" tIns="0" rIns="0" bIns="0" rtlCol="0" anchor="t"/>
          <a:lstStyle/>
          <a:p>
            <a:pPr rtl="1" algn="ctr" indent="0" marL="0">
              <a:lnSpc>
                <a:spcPct val="90000"/>
              </a:lnSpc>
              <a:buNone/>
            </a:pPr>
            <a:r>
              <a:rPr lang="ar-SA" altLang="en-US" sz="1500" b="1" dirty="0">
                <a:solidFill>
                  <a:srgbClr val="FFFFFF"/>
                </a:solidFill>
                <a:latin typeface="Cairo" pitchFamily="34" charset="0"/>
                <a:ea typeface="Cairo" pitchFamily="34" charset="-122"/>
                <a:cs typeface="Cairo" pitchFamily="34" charset="-120"/>
              </a:rPr>
              <a:t>الويب والأتمتة</a:t>
            </a:r>
            <a:endParaRPr lang="ar-SA" sz="1500" dirty="0"/>
          </a:p>
        </p:txBody>
      </p:sp>
      <p:sp>
        <p:nvSpPr>
          <p:cNvPr id="73" name="Shape 57"/>
          <p:cNvSpPr/>
          <p:nvPr/>
        </p:nvSpPr>
        <p:spPr>
          <a:xfrm>
            <a:off x="612648" y="3794760"/>
            <a:ext cx="1258786" cy="347472"/>
          </a:xfrm>
          <a:prstGeom prst="roundRect">
            <a:avLst>
              <a:gd name="adj" fmla="val 50000"/>
            </a:avLst>
          </a:prstGeom>
          <a:solidFill>
            <a:srgbClr val="161816"/>
          </a:solidFill>
          <a:ln w="9525">
            <a:solidFill>
              <a:srgbClr val="3A3D39"/>
            </a:solidFill>
            <a:prstDash val="solid"/>
          </a:ln>
        </p:spPr>
      </p:sp>
      <p:pic>
        <p:nvPicPr>
          <p:cNvPr id="74" name="Image 14" descr="Claude Code logo">    </p:cNvPr>
          <p:cNvPicPr>
            <a:picLocks noChangeAspect="1"/>
          </p:cNvPicPr>
          <p:nvPr/>
        </p:nvPicPr>
        <p:blipFill>
          <a:blip r:embed="rId15"/>
          <a:stretch>
            <a:fillRect/>
          </a:stretch>
        </p:blipFill>
        <p:spPr>
          <a:xfrm>
            <a:off x="1569682" y="3881628"/>
            <a:ext cx="173736" cy="173736"/>
          </a:xfrm>
          <a:prstGeom prst="rect">
            <a:avLst/>
          </a:prstGeom>
        </p:spPr>
      </p:pic>
      <p:sp>
        <p:nvSpPr>
          <p:cNvPr id="75" name="Text 58"/>
          <p:cNvSpPr txBox="1"/>
          <p:nvPr/>
        </p:nvSpPr>
        <p:spPr>
          <a:xfrm>
            <a:off x="722376" y="3794760"/>
            <a:ext cx="792442" cy="347472"/>
          </a:xfrm>
          <a:prstGeom prst="rect">
            <a:avLst/>
          </a:prstGeom>
          <a:noFill/>
          <a:ln/>
        </p:spPr>
        <p:txBody>
          <a:bodyPr wrap="square" lIns="0" tIns="0" rIns="0" bIns="0" rtlCol="0" anchor="ctr"/>
          <a:lstStyle/>
          <a:p>
            <a:pPr algn="ctr" indent="0" marL="0">
              <a:lnSpc>
                <a:spcPct val="100000"/>
              </a:lnSpc>
              <a:buNone/>
            </a:pPr>
            <a:r>
              <a:rPr lang="ar-SA" altLang="en-US" sz="1000" dirty="0">
                <a:solidFill>
                  <a:srgbClr val="FFFFFF"/>
                </a:solidFill>
                <a:latin typeface="IBM Plex Sans Arabic" pitchFamily="34" charset="0"/>
                <a:ea typeface="IBM Plex Sans Arabic" pitchFamily="34" charset="-122"/>
                <a:cs typeface="IBM Plex Sans Arabic" pitchFamily="34" charset="-120"/>
              </a:rPr>
              <a:t>Claude Code</a:t>
            </a:r>
            <a:endParaRPr lang="ar-SA" sz="1000" dirty="0"/>
          </a:p>
        </p:txBody>
      </p:sp>
      <p:sp>
        <p:nvSpPr>
          <p:cNvPr id="76" name="Shape 59"/>
          <p:cNvSpPr/>
          <p:nvPr/>
        </p:nvSpPr>
        <p:spPr>
          <a:xfrm>
            <a:off x="612648" y="4224528"/>
            <a:ext cx="1258786" cy="347472"/>
          </a:xfrm>
          <a:prstGeom prst="roundRect">
            <a:avLst>
              <a:gd name="adj" fmla="val 50000"/>
            </a:avLst>
          </a:prstGeom>
          <a:solidFill>
            <a:srgbClr val="161816"/>
          </a:solidFill>
          <a:ln w="9525">
            <a:solidFill>
              <a:srgbClr val="3A3D39"/>
            </a:solidFill>
            <a:prstDash val="solid"/>
          </a:ln>
        </p:spPr>
      </p:sp>
      <p:pic>
        <p:nvPicPr>
          <p:cNvPr id="77" name="Image 15" descr="n8n logo">    </p:cNvPr>
          <p:cNvPicPr>
            <a:picLocks noChangeAspect="1"/>
          </p:cNvPicPr>
          <p:nvPr/>
        </p:nvPicPr>
        <p:blipFill>
          <a:blip r:embed="rId16"/>
          <a:stretch>
            <a:fillRect/>
          </a:stretch>
        </p:blipFill>
        <p:spPr>
          <a:xfrm>
            <a:off x="1569682" y="4311396"/>
            <a:ext cx="173736" cy="173736"/>
          </a:xfrm>
          <a:prstGeom prst="rect">
            <a:avLst/>
          </a:prstGeom>
        </p:spPr>
      </p:pic>
      <p:sp>
        <p:nvSpPr>
          <p:cNvPr id="78" name="Text 60"/>
          <p:cNvSpPr txBox="1"/>
          <p:nvPr/>
        </p:nvSpPr>
        <p:spPr>
          <a:xfrm>
            <a:off x="722376" y="4224528"/>
            <a:ext cx="792442" cy="347472"/>
          </a:xfrm>
          <a:prstGeom prst="rect">
            <a:avLst/>
          </a:prstGeom>
          <a:noFill/>
          <a:ln/>
        </p:spPr>
        <p:txBody>
          <a:bodyPr wrap="square" lIns="0" tIns="0" rIns="0" bIns="0" rtlCol="0" anchor="ctr"/>
          <a:lstStyle/>
          <a:p>
            <a:pPr algn="ctr" indent="0" marL="0">
              <a:lnSpc>
                <a:spcPct val="100000"/>
              </a:lnSpc>
              <a:buNone/>
            </a:pPr>
            <a:r>
              <a:rPr lang="ar-SA" altLang="en-US" sz="1000" dirty="0">
                <a:solidFill>
                  <a:srgbClr val="FFFFFF"/>
                </a:solidFill>
                <a:latin typeface="IBM Plex Sans Arabic" pitchFamily="34" charset="0"/>
                <a:ea typeface="IBM Plex Sans Arabic" pitchFamily="34" charset="-122"/>
                <a:cs typeface="IBM Plex Sans Arabic" pitchFamily="34" charset="-120"/>
              </a:rPr>
              <a:t>n8n</a:t>
            </a:r>
            <a:endParaRPr lang="ar-SA" sz="1000" dirty="0"/>
          </a:p>
        </p:txBody>
      </p:sp>
      <p:sp>
        <p:nvSpPr>
          <p:cNvPr id="79" name="Text 61"/>
          <p:cNvSpPr txBox="1"/>
          <p:nvPr/>
        </p:nvSpPr>
        <p:spPr>
          <a:xfrm>
            <a:off x="548640" y="5715000"/>
            <a:ext cx="11094415" cy="457200"/>
          </a:xfrm>
          <a:prstGeom prst="rect">
            <a:avLst/>
          </a:prstGeom>
          <a:noFill/>
          <a:ln/>
        </p:spPr>
        <p:txBody>
          <a:bodyPr wrap="square" lIns="0" tIns="0" rIns="0" bIns="0" rtlCol="0" anchor="t"/>
          <a:lstStyle/>
          <a:p>
            <a:pPr rtl="1" algn="r" indent="0" marL="0">
              <a:lnSpc>
                <a:spcPct val="100000"/>
              </a:lnSpc>
              <a:buNone/>
            </a:pPr>
            <a:r>
              <a:rPr lang="ar-SA" altLang="en-US" sz="1400" dirty="0">
                <a:solidFill>
                  <a:srgbClr val="C9CCC8"/>
                </a:solidFill>
                <a:latin typeface="IBM Plex Sans Arabic" pitchFamily="34" charset="0"/>
                <a:ea typeface="IBM Plex Sans Arabic" pitchFamily="34" charset="-122"/>
                <a:cs typeface="IBM Plex Sans Arabic" pitchFamily="34" charset="-120"/>
              </a:rPr>
              <a:t>هذا هو المسار الذي يسلكه المشاركون في المشروع النهائي، بعد أن تُدرَّس كل مرحلة وتُطبَّق في وحدتها الخاصة.</a:t>
            </a:r>
            <a:endParaRPr lang="ar-SA"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Green Circle logo">    </p:cNvPr>
          <p:cNvPicPr>
            <a:picLocks noChangeAspect="1"/>
          </p:cNvPicPr>
          <p:nvPr/>
        </p:nvPicPr>
        <p:blipFill>
          <a:blip r:embed="rId1"/>
          <a:stretch>
            <a:fillRect/>
          </a:stretch>
        </p:blipFill>
        <p:spPr>
          <a:xfrm>
            <a:off x="548640" y="384048"/>
            <a:ext cx="1286501" cy="457200"/>
          </a:xfrm>
          <a:prstGeom prst="rect">
            <a:avLst/>
          </a:prstGeom>
        </p:spPr>
      </p:pic>
      <p:sp>
        <p:nvSpPr>
          <p:cNvPr id="3" name="Text 0"/>
          <p:cNvSpPr txBox="1"/>
          <p:nvPr/>
        </p:nvSpPr>
        <p:spPr>
          <a:xfrm>
            <a:off x="5242255" y="6446520"/>
            <a:ext cx="6400800" cy="228600"/>
          </a:xfrm>
          <a:prstGeom prst="rect">
            <a:avLst/>
          </a:prstGeom>
          <a:noFill/>
          <a:ln/>
        </p:spPr>
        <p:txBody>
          <a:bodyPr wrap="square" lIns="0" tIns="0" rIns="0" bIns="0" rtlCol="0" anchor="t"/>
          <a:lstStyle/>
          <a:p>
            <a:pPr rtl="1" algn="r" indent="0" marL="0">
              <a:lnSpc>
                <a:spcPct val="100000"/>
              </a:lnSpc>
              <a:buNone/>
            </a:pPr>
            <a:r>
              <a:rPr lang="ar-SA" altLang="en-US" sz="900" dirty="0">
                <a:solidFill>
                  <a:srgbClr val="727274"/>
                </a:solidFill>
                <a:latin typeface="IBM Plex Sans Arabic" pitchFamily="34" charset="0"/>
                <a:ea typeface="IBM Plex Sans Arabic" pitchFamily="34" charset="-122"/>
                <a:cs typeface="IBM Plex Sans Arabic" pitchFamily="34" charset="-120"/>
              </a:rPr>
              <a:t>برنامج صُنّاع المحتوى بالذكاء الاصطناعي · مذكرة مفاهيمية</a:t>
            </a:r>
            <a:endParaRPr lang="ar-SA" sz="900" dirty="0"/>
          </a:p>
        </p:txBody>
      </p:sp>
      <p:sp>
        <p:nvSpPr>
          <p:cNvPr id="4" name="Text 1"/>
          <p:cNvSpPr txBox="1"/>
          <p:nvPr/>
        </p:nvSpPr>
        <p:spPr>
          <a:xfrm>
            <a:off x="548640" y="6446520"/>
            <a:ext cx="548640" cy="228600"/>
          </a:xfrm>
          <a:prstGeom prst="rect">
            <a:avLst/>
          </a:prstGeom>
          <a:noFill/>
          <a:ln/>
        </p:spPr>
        <p:txBody>
          <a:bodyPr wrap="square" lIns="0" tIns="0" rIns="0" bIns="0" rtlCol="0" anchor="t"/>
          <a:lstStyle/>
          <a:p>
            <a:pPr rtl="1" algn="l" indent="0" marL="0">
              <a:lnSpc>
                <a:spcPct val="100000"/>
              </a:lnSpc>
              <a:buNone/>
            </a:pPr>
            <a:r>
              <a:rPr lang="ar-SA" altLang="en-US" sz="900" dirty="0">
                <a:solidFill>
                  <a:srgbClr val="727274"/>
                </a:solidFill>
                <a:latin typeface="IBM Plex Sans Arabic" pitchFamily="34" charset="0"/>
                <a:ea typeface="IBM Plex Sans Arabic" pitchFamily="34" charset="-122"/>
                <a:cs typeface="IBM Plex Sans Arabic" pitchFamily="34" charset="-120"/>
              </a:rPr>
              <a:t>5</a:t>
            </a:r>
            <a:endParaRPr lang="ar-SA" sz="900" dirty="0"/>
          </a:p>
        </p:txBody>
      </p:sp>
      <p:sp>
        <p:nvSpPr>
          <p:cNvPr id="5" name="Text 2"/>
          <p:cNvSpPr txBox="1"/>
          <p:nvPr/>
        </p:nvSpPr>
        <p:spPr>
          <a:xfrm>
            <a:off x="2681935" y="384048"/>
            <a:ext cx="8961120" cy="274320"/>
          </a:xfrm>
          <a:prstGeom prst="rect">
            <a:avLst/>
          </a:prstGeom>
          <a:noFill/>
          <a:ln/>
        </p:spPr>
        <p:txBody>
          <a:bodyPr wrap="square" lIns="0" tIns="0" rIns="0" bIns="0" rtlCol="0" anchor="t"/>
          <a:lstStyle/>
          <a:p>
            <a:pPr rtl="1" algn="r" indent="0" marL="0">
              <a:lnSpc>
                <a:spcPct val="100000"/>
              </a:lnSpc>
              <a:buNone/>
            </a:pPr>
            <a:r>
              <a:rPr lang="ar-SA" altLang="en-US" sz="1100" b="1" dirty="0">
                <a:solidFill>
                  <a:srgbClr val="727274"/>
                </a:solidFill>
                <a:latin typeface="IBM Plex Sans Arabic" pitchFamily="34" charset="0"/>
                <a:ea typeface="IBM Plex Sans Arabic" pitchFamily="34" charset="-122"/>
                <a:cs typeface="IBM Plex Sans Arabic" pitchFamily="34" charset="-120"/>
              </a:rPr>
              <a:t>04 · المسارات التدريبية</a:t>
            </a:r>
            <a:endParaRPr lang="ar-SA" sz="1100" dirty="0"/>
          </a:p>
        </p:txBody>
      </p:sp>
      <p:sp>
        <p:nvSpPr>
          <p:cNvPr id="6" name="Text 3"/>
          <p:cNvSpPr txBox="1"/>
          <p:nvPr/>
        </p:nvSpPr>
        <p:spPr>
          <a:xfrm>
            <a:off x="2224735" y="676656"/>
            <a:ext cx="9418320" cy="914400"/>
          </a:xfrm>
          <a:prstGeom prst="rect">
            <a:avLst/>
          </a:prstGeom>
          <a:noFill/>
          <a:ln/>
        </p:spPr>
        <p:txBody>
          <a:bodyPr wrap="square" lIns="0" tIns="0" rIns="0" bIns="0" rtlCol="0" anchor="t"/>
          <a:lstStyle/>
          <a:p>
            <a:pPr rtl="1" algn="r" indent="0" marL="0">
              <a:lnSpc>
                <a:spcPct val="95000"/>
              </a:lnSpc>
              <a:buNone/>
            </a:pPr>
            <a:r>
              <a:rPr lang="ar-SA" altLang="en-US" sz="2600" b="1" dirty="0">
                <a:solidFill>
                  <a:srgbClr val="1A1A1A"/>
                </a:solidFill>
                <a:latin typeface="Cairo" pitchFamily="34" charset="0"/>
                <a:ea typeface="Cairo" pitchFamily="34" charset="-122"/>
                <a:cs typeface="Cairo" pitchFamily="34" charset="-120"/>
              </a:rPr>
              <a:t>إحدى عشرة وحدة ضمن سبعة مسارات عملية</a:t>
            </a:r>
            <a:endParaRPr lang="ar-SA" sz="2600" dirty="0"/>
          </a:p>
        </p:txBody>
      </p:sp>
      <p:sp>
        <p:nvSpPr>
          <p:cNvPr id="7" name="Shape 4"/>
          <p:cNvSpPr/>
          <p:nvPr/>
        </p:nvSpPr>
        <p:spPr>
          <a:xfrm>
            <a:off x="9946129" y="1783080"/>
            <a:ext cx="1696926" cy="502920"/>
          </a:xfrm>
          <a:prstGeom prst="rect">
            <a:avLst/>
          </a:prstGeom>
          <a:solidFill>
            <a:srgbClr val="727274"/>
          </a:solidFill>
          <a:ln w="12700">
            <a:solidFill>
              <a:srgbClr val="727274"/>
            </a:solidFill>
            <a:prstDash val="solid"/>
          </a:ln>
        </p:spPr>
      </p:sp>
      <p:sp>
        <p:nvSpPr>
          <p:cNvPr id="8" name="Text 5"/>
          <p:cNvSpPr txBox="1"/>
          <p:nvPr/>
        </p:nvSpPr>
        <p:spPr>
          <a:xfrm>
            <a:off x="9946129" y="1783080"/>
            <a:ext cx="1696926" cy="502920"/>
          </a:xfrm>
          <a:prstGeom prst="rect">
            <a:avLst/>
          </a:prstGeom>
          <a:noFill/>
          <a:ln/>
        </p:spPr>
        <p:txBody>
          <a:bodyPr wrap="square" lIns="0" tIns="0" rIns="0" bIns="0" rtlCol="0" anchor="ctr"/>
          <a:lstStyle/>
          <a:p>
            <a:pPr rtl="1" algn="ctr" indent="0" marL="0">
              <a:lnSpc>
                <a:spcPct val="100000"/>
              </a:lnSpc>
              <a:buNone/>
            </a:pPr>
            <a:r>
              <a:rPr lang="ar-SA" altLang="en-US" sz="1300" b="1" dirty="0">
                <a:solidFill>
                  <a:srgbClr val="FFFFFF"/>
                </a:solidFill>
                <a:latin typeface="Cairo" pitchFamily="34" charset="0"/>
                <a:ea typeface="Cairo" pitchFamily="34" charset="-122"/>
                <a:cs typeface="Cairo" pitchFamily="34" charset="-120"/>
              </a:rPr>
              <a:t>15 ساعة</a:t>
            </a:r>
            <a:endParaRPr lang="ar-SA" sz="1300" dirty="0"/>
          </a:p>
        </p:txBody>
      </p:sp>
      <p:sp>
        <p:nvSpPr>
          <p:cNvPr id="9" name="Shape 6"/>
          <p:cNvSpPr/>
          <p:nvPr/>
        </p:nvSpPr>
        <p:spPr>
          <a:xfrm>
            <a:off x="8906027" y="1783080"/>
            <a:ext cx="1003525" cy="502920"/>
          </a:xfrm>
          <a:prstGeom prst="rect">
            <a:avLst/>
          </a:prstGeom>
          <a:solidFill>
            <a:srgbClr val="4DB449"/>
          </a:solidFill>
          <a:ln w="12700">
            <a:solidFill>
              <a:srgbClr val="4DB449"/>
            </a:solidFill>
            <a:prstDash val="solid"/>
          </a:ln>
        </p:spPr>
      </p:sp>
      <p:sp>
        <p:nvSpPr>
          <p:cNvPr id="10" name="Text 7"/>
          <p:cNvSpPr txBox="1"/>
          <p:nvPr/>
        </p:nvSpPr>
        <p:spPr>
          <a:xfrm>
            <a:off x="8906027" y="1783080"/>
            <a:ext cx="1003525" cy="502920"/>
          </a:xfrm>
          <a:prstGeom prst="rect">
            <a:avLst/>
          </a:prstGeom>
          <a:noFill/>
          <a:ln/>
        </p:spPr>
        <p:txBody>
          <a:bodyPr wrap="square" lIns="0" tIns="0" rIns="0" bIns="0" rtlCol="0" anchor="ctr"/>
          <a:lstStyle/>
          <a:p>
            <a:pPr rtl="1" algn="ctr" indent="0" marL="0">
              <a:lnSpc>
                <a:spcPct val="100000"/>
              </a:lnSpc>
              <a:buNone/>
            </a:pPr>
            <a:r>
              <a:rPr lang="ar-SA" altLang="en-US" sz="1300" b="1" dirty="0">
                <a:solidFill>
                  <a:srgbClr val="1A1A1A"/>
                </a:solidFill>
                <a:latin typeface="Cairo" pitchFamily="34" charset="0"/>
                <a:ea typeface="Cairo" pitchFamily="34" charset="-122"/>
                <a:cs typeface="Cairo" pitchFamily="34" charset="-120"/>
              </a:rPr>
              <a:t>9 ساعة</a:t>
            </a:r>
            <a:endParaRPr lang="ar-SA" sz="1300" dirty="0"/>
          </a:p>
        </p:txBody>
      </p:sp>
      <p:sp>
        <p:nvSpPr>
          <p:cNvPr id="11" name="Shape 8"/>
          <p:cNvSpPr/>
          <p:nvPr/>
        </p:nvSpPr>
        <p:spPr>
          <a:xfrm>
            <a:off x="6825825" y="1783080"/>
            <a:ext cx="2043627" cy="502920"/>
          </a:xfrm>
          <a:prstGeom prst="rect">
            <a:avLst/>
          </a:prstGeom>
          <a:solidFill>
            <a:srgbClr val="000000"/>
          </a:solidFill>
          <a:ln w="12700">
            <a:solidFill>
              <a:srgbClr val="000000"/>
            </a:solidFill>
            <a:prstDash val="solid"/>
          </a:ln>
        </p:spPr>
      </p:sp>
      <p:sp>
        <p:nvSpPr>
          <p:cNvPr id="12" name="Text 9"/>
          <p:cNvSpPr txBox="1"/>
          <p:nvPr/>
        </p:nvSpPr>
        <p:spPr>
          <a:xfrm>
            <a:off x="6825825" y="1783080"/>
            <a:ext cx="2043627" cy="502920"/>
          </a:xfrm>
          <a:prstGeom prst="rect">
            <a:avLst/>
          </a:prstGeom>
          <a:noFill/>
          <a:ln/>
        </p:spPr>
        <p:txBody>
          <a:bodyPr wrap="square" lIns="0" tIns="0" rIns="0" bIns="0" rtlCol="0" anchor="ctr"/>
          <a:lstStyle/>
          <a:p>
            <a:pPr rtl="1" algn="ctr" indent="0" marL="0">
              <a:lnSpc>
                <a:spcPct val="100000"/>
              </a:lnSpc>
              <a:buNone/>
            </a:pPr>
            <a:r>
              <a:rPr lang="ar-SA" altLang="en-US" sz="1300" b="1" dirty="0">
                <a:solidFill>
                  <a:srgbClr val="FFFFFF"/>
                </a:solidFill>
                <a:latin typeface="Cairo" pitchFamily="34" charset="0"/>
                <a:ea typeface="Cairo" pitchFamily="34" charset="-122"/>
                <a:cs typeface="Cairo" pitchFamily="34" charset="-120"/>
              </a:rPr>
              <a:t>18 ساعة</a:t>
            </a:r>
            <a:endParaRPr lang="ar-SA" sz="1300" dirty="0"/>
          </a:p>
        </p:txBody>
      </p:sp>
      <p:sp>
        <p:nvSpPr>
          <p:cNvPr id="13" name="Shape 10"/>
          <p:cNvSpPr/>
          <p:nvPr/>
        </p:nvSpPr>
        <p:spPr>
          <a:xfrm>
            <a:off x="5785723" y="1783080"/>
            <a:ext cx="1003525" cy="502920"/>
          </a:xfrm>
          <a:prstGeom prst="rect">
            <a:avLst/>
          </a:prstGeom>
          <a:solidFill>
            <a:srgbClr val="A6D04B"/>
          </a:solidFill>
          <a:ln w="12700">
            <a:solidFill>
              <a:srgbClr val="A6D04B"/>
            </a:solidFill>
            <a:prstDash val="solid"/>
          </a:ln>
        </p:spPr>
      </p:sp>
      <p:sp>
        <p:nvSpPr>
          <p:cNvPr id="14" name="Text 11"/>
          <p:cNvSpPr txBox="1"/>
          <p:nvPr/>
        </p:nvSpPr>
        <p:spPr>
          <a:xfrm>
            <a:off x="5785723" y="1783080"/>
            <a:ext cx="1003525" cy="502920"/>
          </a:xfrm>
          <a:prstGeom prst="rect">
            <a:avLst/>
          </a:prstGeom>
          <a:noFill/>
          <a:ln/>
        </p:spPr>
        <p:txBody>
          <a:bodyPr wrap="square" lIns="0" tIns="0" rIns="0" bIns="0" rtlCol="0" anchor="ctr"/>
          <a:lstStyle/>
          <a:p>
            <a:pPr rtl="1" algn="ctr" indent="0" marL="0">
              <a:lnSpc>
                <a:spcPct val="100000"/>
              </a:lnSpc>
              <a:buNone/>
            </a:pPr>
            <a:r>
              <a:rPr lang="ar-SA" altLang="en-US" sz="1300" b="1" dirty="0">
                <a:solidFill>
                  <a:srgbClr val="1A1A1A"/>
                </a:solidFill>
                <a:latin typeface="Cairo" pitchFamily="34" charset="0"/>
                <a:ea typeface="Cairo" pitchFamily="34" charset="-122"/>
                <a:cs typeface="Cairo" pitchFamily="34" charset="-120"/>
              </a:rPr>
              <a:t>9 ساعة</a:t>
            </a:r>
            <a:endParaRPr lang="ar-SA" sz="1300" dirty="0"/>
          </a:p>
        </p:txBody>
      </p:sp>
      <p:sp>
        <p:nvSpPr>
          <p:cNvPr id="15" name="Shape 12"/>
          <p:cNvSpPr/>
          <p:nvPr/>
        </p:nvSpPr>
        <p:spPr>
          <a:xfrm>
            <a:off x="3012119" y="1783080"/>
            <a:ext cx="2737028" cy="502920"/>
          </a:xfrm>
          <a:prstGeom prst="rect">
            <a:avLst/>
          </a:prstGeom>
          <a:solidFill>
            <a:srgbClr val="4DB449"/>
          </a:solidFill>
          <a:ln w="12700">
            <a:solidFill>
              <a:srgbClr val="4DB449"/>
            </a:solidFill>
            <a:prstDash val="solid"/>
          </a:ln>
        </p:spPr>
      </p:sp>
      <p:sp>
        <p:nvSpPr>
          <p:cNvPr id="16" name="Text 13"/>
          <p:cNvSpPr txBox="1"/>
          <p:nvPr/>
        </p:nvSpPr>
        <p:spPr>
          <a:xfrm>
            <a:off x="3012119" y="1783080"/>
            <a:ext cx="2737028" cy="502920"/>
          </a:xfrm>
          <a:prstGeom prst="rect">
            <a:avLst/>
          </a:prstGeom>
          <a:noFill/>
          <a:ln/>
        </p:spPr>
        <p:txBody>
          <a:bodyPr wrap="square" lIns="0" tIns="0" rIns="0" bIns="0" rtlCol="0" anchor="ctr"/>
          <a:lstStyle/>
          <a:p>
            <a:pPr rtl="1" algn="ctr" indent="0" marL="0">
              <a:lnSpc>
                <a:spcPct val="100000"/>
              </a:lnSpc>
              <a:buNone/>
            </a:pPr>
            <a:r>
              <a:rPr lang="ar-SA" altLang="en-US" sz="1300" b="1" dirty="0">
                <a:solidFill>
                  <a:srgbClr val="1A1A1A"/>
                </a:solidFill>
                <a:latin typeface="Cairo" pitchFamily="34" charset="0"/>
                <a:ea typeface="Cairo" pitchFamily="34" charset="-122"/>
                <a:cs typeface="Cairo" pitchFamily="34" charset="-120"/>
              </a:rPr>
              <a:t>24 ساعة</a:t>
            </a:r>
            <a:endParaRPr lang="ar-SA" sz="1300" dirty="0"/>
          </a:p>
        </p:txBody>
      </p:sp>
      <p:sp>
        <p:nvSpPr>
          <p:cNvPr id="17" name="Shape 14"/>
          <p:cNvSpPr/>
          <p:nvPr/>
        </p:nvSpPr>
        <p:spPr>
          <a:xfrm>
            <a:off x="1972018" y="1783080"/>
            <a:ext cx="1003525" cy="502920"/>
          </a:xfrm>
          <a:prstGeom prst="rect">
            <a:avLst/>
          </a:prstGeom>
          <a:solidFill>
            <a:srgbClr val="A6D04B"/>
          </a:solidFill>
          <a:ln w="12700">
            <a:solidFill>
              <a:srgbClr val="A6D04B"/>
            </a:solidFill>
            <a:prstDash val="solid"/>
          </a:ln>
        </p:spPr>
      </p:sp>
      <p:sp>
        <p:nvSpPr>
          <p:cNvPr id="18" name="Text 15"/>
          <p:cNvSpPr txBox="1"/>
          <p:nvPr/>
        </p:nvSpPr>
        <p:spPr>
          <a:xfrm>
            <a:off x="1972018" y="1783080"/>
            <a:ext cx="1003525" cy="502920"/>
          </a:xfrm>
          <a:prstGeom prst="rect">
            <a:avLst/>
          </a:prstGeom>
          <a:noFill/>
          <a:ln/>
        </p:spPr>
        <p:txBody>
          <a:bodyPr wrap="square" lIns="0" tIns="0" rIns="0" bIns="0" rtlCol="0" anchor="ctr"/>
          <a:lstStyle/>
          <a:p>
            <a:pPr rtl="1" algn="ctr" indent="0" marL="0">
              <a:lnSpc>
                <a:spcPct val="100000"/>
              </a:lnSpc>
              <a:buNone/>
            </a:pPr>
            <a:r>
              <a:rPr lang="ar-SA" altLang="en-US" sz="1300" b="1" dirty="0">
                <a:solidFill>
                  <a:srgbClr val="1A1A1A"/>
                </a:solidFill>
                <a:latin typeface="Cairo" pitchFamily="34" charset="0"/>
                <a:ea typeface="Cairo" pitchFamily="34" charset="-122"/>
                <a:cs typeface="Cairo" pitchFamily="34" charset="-120"/>
              </a:rPr>
              <a:t>9 ساعة</a:t>
            </a:r>
            <a:endParaRPr lang="ar-SA" sz="1300" dirty="0"/>
          </a:p>
        </p:txBody>
      </p:sp>
      <p:sp>
        <p:nvSpPr>
          <p:cNvPr id="19" name="Shape 16"/>
          <p:cNvSpPr/>
          <p:nvPr/>
        </p:nvSpPr>
        <p:spPr>
          <a:xfrm>
            <a:off x="585216" y="1783080"/>
            <a:ext cx="1350226" cy="502920"/>
          </a:xfrm>
          <a:prstGeom prst="rect">
            <a:avLst/>
          </a:prstGeom>
          <a:solidFill>
            <a:srgbClr val="000000"/>
          </a:solidFill>
          <a:ln w="12700">
            <a:solidFill>
              <a:srgbClr val="000000"/>
            </a:solidFill>
            <a:prstDash val="solid"/>
          </a:ln>
        </p:spPr>
      </p:sp>
      <p:sp>
        <p:nvSpPr>
          <p:cNvPr id="20" name="Text 17"/>
          <p:cNvSpPr txBox="1"/>
          <p:nvPr/>
        </p:nvSpPr>
        <p:spPr>
          <a:xfrm>
            <a:off x="585216" y="1783080"/>
            <a:ext cx="1350226" cy="502920"/>
          </a:xfrm>
          <a:prstGeom prst="rect">
            <a:avLst/>
          </a:prstGeom>
          <a:noFill/>
          <a:ln/>
        </p:spPr>
        <p:txBody>
          <a:bodyPr wrap="square" lIns="0" tIns="0" rIns="0" bIns="0" rtlCol="0" anchor="ctr"/>
          <a:lstStyle/>
          <a:p>
            <a:pPr rtl="1" algn="ctr" indent="0" marL="0">
              <a:lnSpc>
                <a:spcPct val="100000"/>
              </a:lnSpc>
              <a:buNone/>
            </a:pPr>
            <a:r>
              <a:rPr lang="ar-SA" altLang="en-US" sz="1300" b="1" dirty="0">
                <a:solidFill>
                  <a:srgbClr val="FFFFFF"/>
                </a:solidFill>
                <a:latin typeface="Cairo" pitchFamily="34" charset="0"/>
                <a:ea typeface="Cairo" pitchFamily="34" charset="-122"/>
                <a:cs typeface="Cairo" pitchFamily="34" charset="-120"/>
              </a:rPr>
              <a:t>12 ساعة</a:t>
            </a:r>
            <a:endParaRPr lang="ar-SA" sz="1300" dirty="0"/>
          </a:p>
        </p:txBody>
      </p:sp>
      <p:sp>
        <p:nvSpPr>
          <p:cNvPr id="21" name="Shape 18"/>
          <p:cNvSpPr/>
          <p:nvPr/>
        </p:nvSpPr>
        <p:spPr>
          <a:xfrm>
            <a:off x="9040901" y="2560320"/>
            <a:ext cx="2602154" cy="1691640"/>
          </a:xfrm>
          <a:prstGeom prst="roundRect">
            <a:avLst>
              <a:gd name="adj" fmla="val 5405"/>
            </a:avLst>
          </a:prstGeom>
          <a:solidFill>
            <a:srgbClr val="F2F4F1"/>
          </a:solidFill>
          <a:ln w="12700">
            <a:solidFill>
              <a:srgbClr val="F2F4F1"/>
            </a:solidFill>
            <a:prstDash val="solid"/>
          </a:ln>
        </p:spPr>
      </p:sp>
      <p:sp>
        <p:nvSpPr>
          <p:cNvPr id="22" name="Shape 19"/>
          <p:cNvSpPr/>
          <p:nvPr/>
        </p:nvSpPr>
        <p:spPr>
          <a:xfrm>
            <a:off x="11204143" y="2807208"/>
            <a:ext cx="237744" cy="237744"/>
          </a:xfrm>
          <a:prstGeom prst="ellipse">
            <a:avLst/>
          </a:prstGeom>
          <a:solidFill>
            <a:srgbClr val="727274"/>
          </a:solidFill>
          <a:ln w="6350">
            <a:solidFill>
              <a:srgbClr val="727274"/>
            </a:solidFill>
            <a:prstDash val="solid"/>
          </a:ln>
        </p:spPr>
      </p:sp>
      <p:sp>
        <p:nvSpPr>
          <p:cNvPr id="23" name="Text 20"/>
          <p:cNvSpPr txBox="1"/>
          <p:nvPr/>
        </p:nvSpPr>
        <p:spPr>
          <a:xfrm>
            <a:off x="9159773" y="2670048"/>
            <a:ext cx="1916354" cy="512064"/>
          </a:xfrm>
          <a:prstGeom prst="rect">
            <a:avLst/>
          </a:prstGeom>
          <a:noFill/>
          <a:ln/>
        </p:spPr>
        <p:txBody>
          <a:bodyPr wrap="square" lIns="0" tIns="0" rIns="0" bIns="0" rtlCol="0" anchor="ctr"/>
          <a:lstStyle/>
          <a:p>
            <a:pPr rtl="1" algn="r" indent="0" marL="0">
              <a:lnSpc>
                <a:spcPct val="85000"/>
              </a:lnSpc>
              <a:buNone/>
            </a:pPr>
            <a:r>
              <a:rPr lang="ar-SA" altLang="en-US" sz="1500" b="1" dirty="0">
                <a:solidFill>
                  <a:srgbClr val="1A1A1A"/>
                </a:solidFill>
                <a:latin typeface="Cairo" pitchFamily="34" charset="0"/>
                <a:ea typeface="Cairo" pitchFamily="34" charset="-122"/>
                <a:cs typeface="Cairo" pitchFamily="34" charset="-120"/>
              </a:rPr>
              <a:t>أساسيات العمل بالذكاء الاصطناعي</a:t>
            </a:r>
            <a:endParaRPr lang="ar-SA" sz="1500" dirty="0"/>
          </a:p>
        </p:txBody>
      </p:sp>
      <p:sp>
        <p:nvSpPr>
          <p:cNvPr id="24" name="Text 21"/>
          <p:cNvSpPr txBox="1"/>
          <p:nvPr/>
        </p:nvSpPr>
        <p:spPr>
          <a:xfrm>
            <a:off x="9205493" y="3236976"/>
            <a:ext cx="2236394" cy="274320"/>
          </a:xfrm>
          <a:prstGeom prst="rect">
            <a:avLst/>
          </a:prstGeom>
          <a:noFill/>
          <a:ln/>
        </p:spPr>
        <p:txBody>
          <a:bodyPr wrap="square" lIns="0" tIns="0" rIns="0" bIns="0" rtlCol="0" anchor="t"/>
          <a:lstStyle/>
          <a:p>
            <a:pPr rtl="1" algn="r" indent="0" marL="0">
              <a:lnSpc>
                <a:spcPct val="100000"/>
              </a:lnSpc>
              <a:buNone/>
            </a:pPr>
            <a:r>
              <a:rPr lang="ar-SA" altLang="en-US" sz="1200" b="1" dirty="0">
                <a:solidFill>
                  <a:srgbClr val="727274"/>
                </a:solidFill>
                <a:latin typeface="IBM Plex Sans Arabic" pitchFamily="34" charset="0"/>
                <a:ea typeface="IBM Plex Sans Arabic" pitchFamily="34" charset="-122"/>
                <a:cs typeface="IBM Plex Sans Arabic" pitchFamily="34" charset="-120"/>
              </a:rPr>
              <a:t>15 ساعة · M1–M2</a:t>
            </a:r>
            <a:endParaRPr lang="ar-SA" sz="1200" dirty="0"/>
          </a:p>
        </p:txBody>
      </p:sp>
      <p:sp>
        <p:nvSpPr>
          <p:cNvPr id="25" name="Text 22"/>
          <p:cNvSpPr txBox="1"/>
          <p:nvPr/>
        </p:nvSpPr>
        <p:spPr>
          <a:xfrm>
            <a:off x="9205493" y="3511296"/>
            <a:ext cx="2236394" cy="749808"/>
          </a:xfrm>
          <a:prstGeom prst="rect">
            <a:avLst/>
          </a:prstGeom>
          <a:noFill/>
          <a:ln/>
        </p:spPr>
        <p:txBody>
          <a:bodyPr wrap="square" lIns="0" tIns="0" rIns="0" bIns="0" rtlCol="0" anchor="t"/>
          <a:lstStyle/>
          <a:p>
            <a:pPr rtl="1" algn="r" indent="0" marL="0">
              <a:lnSpc>
                <a:spcPct val="100000"/>
              </a:lnSpc>
              <a:buNone/>
            </a:pPr>
            <a:r>
              <a:rPr lang="ar-SA" altLang="en-US" sz="1300" dirty="0">
                <a:solidFill>
                  <a:srgbClr val="3C3E3B"/>
                </a:solidFill>
                <a:latin typeface="IBM Plex Sans Arabic" pitchFamily="34" charset="0"/>
                <a:ea typeface="IBM Plex Sans Arabic" pitchFamily="34" charset="-122"/>
                <a:cs typeface="IBM Plex Sans Arabic" pitchFamily="34" charset="-120"/>
              </a:rPr>
              <a:t>اختيار الأداة المناسبة وكتابة أوامر فعّالة</a:t>
            </a:r>
            <a:endParaRPr lang="ar-SA" sz="1300" dirty="0"/>
          </a:p>
        </p:txBody>
      </p:sp>
      <p:sp>
        <p:nvSpPr>
          <p:cNvPr id="26" name="Shape 23"/>
          <p:cNvSpPr/>
          <p:nvPr/>
        </p:nvSpPr>
        <p:spPr>
          <a:xfrm>
            <a:off x="6210148" y="2560320"/>
            <a:ext cx="2602154" cy="1691640"/>
          </a:xfrm>
          <a:prstGeom prst="roundRect">
            <a:avLst>
              <a:gd name="adj" fmla="val 5405"/>
            </a:avLst>
          </a:prstGeom>
          <a:solidFill>
            <a:srgbClr val="F2F4F1"/>
          </a:solidFill>
          <a:ln w="12700">
            <a:solidFill>
              <a:srgbClr val="F2F4F1"/>
            </a:solidFill>
            <a:prstDash val="solid"/>
          </a:ln>
        </p:spPr>
      </p:sp>
      <p:sp>
        <p:nvSpPr>
          <p:cNvPr id="27" name="Shape 24"/>
          <p:cNvSpPr/>
          <p:nvPr/>
        </p:nvSpPr>
        <p:spPr>
          <a:xfrm>
            <a:off x="8373389" y="2807208"/>
            <a:ext cx="237744" cy="237744"/>
          </a:xfrm>
          <a:prstGeom prst="ellipse">
            <a:avLst/>
          </a:prstGeom>
          <a:solidFill>
            <a:srgbClr val="4DB449"/>
          </a:solidFill>
          <a:ln w="6350">
            <a:solidFill>
              <a:srgbClr val="4DB449"/>
            </a:solidFill>
            <a:prstDash val="solid"/>
          </a:ln>
        </p:spPr>
      </p:sp>
      <p:sp>
        <p:nvSpPr>
          <p:cNvPr id="28" name="Text 25"/>
          <p:cNvSpPr txBox="1"/>
          <p:nvPr/>
        </p:nvSpPr>
        <p:spPr>
          <a:xfrm>
            <a:off x="6329020" y="2670048"/>
            <a:ext cx="1916354" cy="512064"/>
          </a:xfrm>
          <a:prstGeom prst="rect">
            <a:avLst/>
          </a:prstGeom>
          <a:noFill/>
          <a:ln/>
        </p:spPr>
        <p:txBody>
          <a:bodyPr wrap="square" lIns="0" tIns="0" rIns="0" bIns="0" rtlCol="0" anchor="ctr"/>
          <a:lstStyle/>
          <a:p>
            <a:pPr rtl="1" algn="r" indent="0" marL="0">
              <a:lnSpc>
                <a:spcPct val="85000"/>
              </a:lnSpc>
              <a:buNone/>
            </a:pPr>
            <a:r>
              <a:rPr lang="ar-SA" altLang="en-US" sz="1500" b="1" dirty="0">
                <a:solidFill>
                  <a:srgbClr val="1A1A1A"/>
                </a:solidFill>
                <a:latin typeface="Cairo" pitchFamily="34" charset="0"/>
                <a:ea typeface="Cairo" pitchFamily="34" charset="-122"/>
                <a:cs typeface="Cairo" pitchFamily="34" charset="-120"/>
              </a:rPr>
              <a:t>البحث والمحتوى</a:t>
            </a:r>
            <a:endParaRPr lang="ar-SA" sz="1500" dirty="0"/>
          </a:p>
        </p:txBody>
      </p:sp>
      <p:sp>
        <p:nvSpPr>
          <p:cNvPr id="29" name="Text 26"/>
          <p:cNvSpPr txBox="1"/>
          <p:nvPr/>
        </p:nvSpPr>
        <p:spPr>
          <a:xfrm>
            <a:off x="6374740" y="3236976"/>
            <a:ext cx="2236394" cy="274320"/>
          </a:xfrm>
          <a:prstGeom prst="rect">
            <a:avLst/>
          </a:prstGeom>
          <a:noFill/>
          <a:ln/>
        </p:spPr>
        <p:txBody>
          <a:bodyPr wrap="square" lIns="0" tIns="0" rIns="0" bIns="0" rtlCol="0" anchor="t"/>
          <a:lstStyle/>
          <a:p>
            <a:pPr rtl="1" algn="r" indent="0" marL="0">
              <a:lnSpc>
                <a:spcPct val="100000"/>
              </a:lnSpc>
              <a:buNone/>
            </a:pPr>
            <a:r>
              <a:rPr lang="ar-SA" altLang="en-US" sz="1200" b="1" dirty="0">
                <a:solidFill>
                  <a:srgbClr val="727274"/>
                </a:solidFill>
                <a:latin typeface="IBM Plex Sans Arabic" pitchFamily="34" charset="0"/>
                <a:ea typeface="IBM Plex Sans Arabic" pitchFamily="34" charset="-122"/>
                <a:cs typeface="IBM Plex Sans Arabic" pitchFamily="34" charset="-120"/>
              </a:rPr>
              <a:t>9 ساعة · M3</a:t>
            </a:r>
            <a:endParaRPr lang="ar-SA" sz="1200" dirty="0"/>
          </a:p>
        </p:txBody>
      </p:sp>
      <p:sp>
        <p:nvSpPr>
          <p:cNvPr id="30" name="Text 27"/>
          <p:cNvSpPr txBox="1"/>
          <p:nvPr/>
        </p:nvSpPr>
        <p:spPr>
          <a:xfrm>
            <a:off x="6374740" y="3511296"/>
            <a:ext cx="2236394" cy="749808"/>
          </a:xfrm>
          <a:prstGeom prst="rect">
            <a:avLst/>
          </a:prstGeom>
          <a:noFill/>
          <a:ln/>
        </p:spPr>
        <p:txBody>
          <a:bodyPr wrap="square" lIns="0" tIns="0" rIns="0" bIns="0" rtlCol="0" anchor="t"/>
          <a:lstStyle/>
          <a:p>
            <a:pPr rtl="1" algn="r" indent="0" marL="0">
              <a:lnSpc>
                <a:spcPct val="100000"/>
              </a:lnSpc>
              <a:buNone/>
            </a:pPr>
            <a:r>
              <a:rPr lang="ar-SA" altLang="en-US" sz="1300" dirty="0">
                <a:solidFill>
                  <a:srgbClr val="3C3E3B"/>
                </a:solidFill>
                <a:latin typeface="IBM Plex Sans Arabic" pitchFamily="34" charset="0"/>
                <a:ea typeface="IBM Plex Sans Arabic" pitchFamily="34" charset="-122"/>
                <a:cs typeface="IBM Plex Sans Arabic" pitchFamily="34" charset="-120"/>
              </a:rPr>
              <a:t>البحث بالذكاء الاصطناعي، والمصادر الموثّقة، والمقالات والمنشورات والتقويم</a:t>
            </a:r>
            <a:endParaRPr lang="ar-SA" sz="1300" dirty="0"/>
          </a:p>
        </p:txBody>
      </p:sp>
      <p:sp>
        <p:nvSpPr>
          <p:cNvPr id="31" name="Shape 28"/>
          <p:cNvSpPr/>
          <p:nvPr/>
        </p:nvSpPr>
        <p:spPr>
          <a:xfrm>
            <a:off x="3379394" y="2560320"/>
            <a:ext cx="2602154" cy="1691640"/>
          </a:xfrm>
          <a:prstGeom prst="roundRect">
            <a:avLst>
              <a:gd name="adj" fmla="val 5405"/>
            </a:avLst>
          </a:prstGeom>
          <a:solidFill>
            <a:srgbClr val="F2F4F1"/>
          </a:solidFill>
          <a:ln w="12700">
            <a:solidFill>
              <a:srgbClr val="F2F4F1"/>
            </a:solidFill>
            <a:prstDash val="solid"/>
          </a:ln>
        </p:spPr>
      </p:sp>
      <p:sp>
        <p:nvSpPr>
          <p:cNvPr id="32" name="Shape 29"/>
          <p:cNvSpPr/>
          <p:nvPr/>
        </p:nvSpPr>
        <p:spPr>
          <a:xfrm>
            <a:off x="5542636" y="2807208"/>
            <a:ext cx="237744" cy="237744"/>
          </a:xfrm>
          <a:prstGeom prst="ellipse">
            <a:avLst/>
          </a:prstGeom>
          <a:solidFill>
            <a:srgbClr val="000000"/>
          </a:solidFill>
          <a:ln w="6350">
            <a:solidFill>
              <a:srgbClr val="000000"/>
            </a:solidFill>
            <a:prstDash val="solid"/>
          </a:ln>
        </p:spPr>
      </p:sp>
      <p:sp>
        <p:nvSpPr>
          <p:cNvPr id="33" name="Text 30"/>
          <p:cNvSpPr txBox="1"/>
          <p:nvPr/>
        </p:nvSpPr>
        <p:spPr>
          <a:xfrm>
            <a:off x="3498266" y="2670048"/>
            <a:ext cx="1916354" cy="512064"/>
          </a:xfrm>
          <a:prstGeom prst="rect">
            <a:avLst/>
          </a:prstGeom>
          <a:noFill/>
          <a:ln/>
        </p:spPr>
        <p:txBody>
          <a:bodyPr wrap="square" lIns="0" tIns="0" rIns="0" bIns="0" rtlCol="0" anchor="ctr"/>
          <a:lstStyle/>
          <a:p>
            <a:pPr rtl="1" algn="r" indent="0" marL="0">
              <a:lnSpc>
                <a:spcPct val="85000"/>
              </a:lnSpc>
              <a:buNone/>
            </a:pPr>
            <a:r>
              <a:rPr lang="ar-SA" altLang="en-US" sz="1500" b="1" dirty="0">
                <a:solidFill>
                  <a:srgbClr val="1A1A1A"/>
                </a:solidFill>
                <a:latin typeface="Cairo" pitchFamily="34" charset="0"/>
                <a:ea typeface="Cairo" pitchFamily="34" charset="-122"/>
                <a:cs typeface="Cairo" pitchFamily="34" charset="-120"/>
              </a:rPr>
              <a:t>البناء بـ Claude Code</a:t>
            </a:r>
            <a:endParaRPr lang="ar-SA" sz="1500" dirty="0"/>
          </a:p>
        </p:txBody>
      </p:sp>
      <p:sp>
        <p:nvSpPr>
          <p:cNvPr id="34" name="Text 31"/>
          <p:cNvSpPr txBox="1"/>
          <p:nvPr/>
        </p:nvSpPr>
        <p:spPr>
          <a:xfrm>
            <a:off x="3543986" y="3236976"/>
            <a:ext cx="2236394" cy="274320"/>
          </a:xfrm>
          <a:prstGeom prst="rect">
            <a:avLst/>
          </a:prstGeom>
          <a:noFill/>
          <a:ln/>
        </p:spPr>
        <p:txBody>
          <a:bodyPr wrap="square" lIns="0" tIns="0" rIns="0" bIns="0" rtlCol="0" anchor="t"/>
          <a:lstStyle/>
          <a:p>
            <a:pPr rtl="1" algn="r" indent="0" marL="0">
              <a:lnSpc>
                <a:spcPct val="100000"/>
              </a:lnSpc>
              <a:buNone/>
            </a:pPr>
            <a:r>
              <a:rPr lang="ar-SA" altLang="en-US" sz="1200" b="1" dirty="0">
                <a:solidFill>
                  <a:srgbClr val="727274"/>
                </a:solidFill>
                <a:latin typeface="IBM Plex Sans Arabic" pitchFamily="34" charset="0"/>
                <a:ea typeface="IBM Plex Sans Arabic" pitchFamily="34" charset="-122"/>
                <a:cs typeface="IBM Plex Sans Arabic" pitchFamily="34" charset="-120"/>
              </a:rPr>
              <a:t>18 ساعة · M4–M5</a:t>
            </a:r>
            <a:endParaRPr lang="ar-SA" sz="1200" dirty="0"/>
          </a:p>
        </p:txBody>
      </p:sp>
      <p:sp>
        <p:nvSpPr>
          <p:cNvPr id="35" name="Text 32"/>
          <p:cNvSpPr txBox="1"/>
          <p:nvPr/>
        </p:nvSpPr>
        <p:spPr>
          <a:xfrm>
            <a:off x="3543986" y="3511296"/>
            <a:ext cx="2236394" cy="749808"/>
          </a:xfrm>
          <a:prstGeom prst="rect">
            <a:avLst/>
          </a:prstGeom>
          <a:noFill/>
          <a:ln/>
        </p:spPr>
        <p:txBody>
          <a:bodyPr wrap="square" lIns="0" tIns="0" rIns="0" bIns="0" rtlCol="0" anchor="t"/>
          <a:lstStyle/>
          <a:p>
            <a:pPr rtl="1" algn="r" indent="0" marL="0">
              <a:lnSpc>
                <a:spcPct val="100000"/>
              </a:lnSpc>
              <a:buNone/>
            </a:pPr>
            <a:r>
              <a:rPr lang="ar-SA" altLang="en-US" sz="1300" dirty="0">
                <a:solidFill>
                  <a:srgbClr val="3C3E3B"/>
                </a:solidFill>
                <a:latin typeface="IBM Plex Sans Arabic" pitchFamily="34" charset="0"/>
                <a:ea typeface="IBM Plex Sans Arabic" pitchFamily="34" charset="-122"/>
                <a:cs typeface="IBM Plex Sans Arabic" pitchFamily="34" charset="-120"/>
              </a:rPr>
              <a:t>صفحات الويب، ومهام البيانات، والمهارات المخصّصة (Skills)</a:t>
            </a:r>
            <a:endParaRPr lang="ar-SA" sz="1300" dirty="0"/>
          </a:p>
        </p:txBody>
      </p:sp>
      <p:sp>
        <p:nvSpPr>
          <p:cNvPr id="36" name="Shape 33"/>
          <p:cNvSpPr/>
          <p:nvPr/>
        </p:nvSpPr>
        <p:spPr>
          <a:xfrm>
            <a:off x="548640" y="2560320"/>
            <a:ext cx="2602154" cy="1691640"/>
          </a:xfrm>
          <a:prstGeom prst="roundRect">
            <a:avLst>
              <a:gd name="adj" fmla="val 5405"/>
            </a:avLst>
          </a:prstGeom>
          <a:solidFill>
            <a:srgbClr val="F2F4F1"/>
          </a:solidFill>
          <a:ln w="12700">
            <a:solidFill>
              <a:srgbClr val="F2F4F1"/>
            </a:solidFill>
            <a:prstDash val="solid"/>
          </a:ln>
        </p:spPr>
      </p:sp>
      <p:sp>
        <p:nvSpPr>
          <p:cNvPr id="37" name="Shape 34"/>
          <p:cNvSpPr/>
          <p:nvPr/>
        </p:nvSpPr>
        <p:spPr>
          <a:xfrm>
            <a:off x="2711882" y="2807208"/>
            <a:ext cx="237744" cy="237744"/>
          </a:xfrm>
          <a:prstGeom prst="ellipse">
            <a:avLst/>
          </a:prstGeom>
          <a:solidFill>
            <a:srgbClr val="A6D04B"/>
          </a:solidFill>
          <a:ln w="6350">
            <a:solidFill>
              <a:srgbClr val="A6D04B"/>
            </a:solidFill>
            <a:prstDash val="solid"/>
          </a:ln>
        </p:spPr>
      </p:sp>
      <p:sp>
        <p:nvSpPr>
          <p:cNvPr id="38" name="Text 35"/>
          <p:cNvSpPr txBox="1"/>
          <p:nvPr/>
        </p:nvSpPr>
        <p:spPr>
          <a:xfrm>
            <a:off x="667512" y="2670048"/>
            <a:ext cx="1916354" cy="512064"/>
          </a:xfrm>
          <a:prstGeom prst="rect">
            <a:avLst/>
          </a:prstGeom>
          <a:noFill/>
          <a:ln/>
        </p:spPr>
        <p:txBody>
          <a:bodyPr wrap="square" lIns="0" tIns="0" rIns="0" bIns="0" rtlCol="0" anchor="ctr"/>
          <a:lstStyle/>
          <a:p>
            <a:pPr rtl="1" algn="r" indent="0" marL="0">
              <a:lnSpc>
                <a:spcPct val="85000"/>
              </a:lnSpc>
              <a:buNone/>
            </a:pPr>
            <a:r>
              <a:rPr lang="ar-SA" altLang="en-US" sz="1500" b="1" dirty="0">
                <a:solidFill>
                  <a:srgbClr val="1A1A1A"/>
                </a:solidFill>
                <a:latin typeface="Cairo" pitchFamily="34" charset="0"/>
                <a:ea typeface="Cairo" pitchFamily="34" charset="-122"/>
                <a:cs typeface="Cairo" pitchFamily="34" charset="-120"/>
              </a:rPr>
              <a:t>التصميم والصور</a:t>
            </a:r>
            <a:endParaRPr lang="ar-SA" sz="1500" dirty="0"/>
          </a:p>
        </p:txBody>
      </p:sp>
      <p:sp>
        <p:nvSpPr>
          <p:cNvPr id="39" name="Text 36"/>
          <p:cNvSpPr txBox="1"/>
          <p:nvPr/>
        </p:nvSpPr>
        <p:spPr>
          <a:xfrm>
            <a:off x="713232" y="3236976"/>
            <a:ext cx="2236394" cy="274320"/>
          </a:xfrm>
          <a:prstGeom prst="rect">
            <a:avLst/>
          </a:prstGeom>
          <a:noFill/>
          <a:ln/>
        </p:spPr>
        <p:txBody>
          <a:bodyPr wrap="square" lIns="0" tIns="0" rIns="0" bIns="0" rtlCol="0" anchor="t"/>
          <a:lstStyle/>
          <a:p>
            <a:pPr rtl="1" algn="r" indent="0" marL="0">
              <a:lnSpc>
                <a:spcPct val="100000"/>
              </a:lnSpc>
              <a:buNone/>
            </a:pPr>
            <a:r>
              <a:rPr lang="ar-SA" altLang="en-US" sz="1200" b="1" dirty="0">
                <a:solidFill>
                  <a:srgbClr val="727274"/>
                </a:solidFill>
                <a:latin typeface="IBM Plex Sans Arabic" pitchFamily="34" charset="0"/>
                <a:ea typeface="IBM Plex Sans Arabic" pitchFamily="34" charset="-122"/>
                <a:cs typeface="IBM Plex Sans Arabic" pitchFamily="34" charset="-120"/>
              </a:rPr>
              <a:t>9 ساعة · M6</a:t>
            </a:r>
            <a:endParaRPr lang="ar-SA" sz="1200" dirty="0"/>
          </a:p>
        </p:txBody>
      </p:sp>
      <p:sp>
        <p:nvSpPr>
          <p:cNvPr id="40" name="Text 37"/>
          <p:cNvSpPr txBox="1"/>
          <p:nvPr/>
        </p:nvSpPr>
        <p:spPr>
          <a:xfrm>
            <a:off x="713232" y="3511296"/>
            <a:ext cx="2236394" cy="749808"/>
          </a:xfrm>
          <a:prstGeom prst="rect">
            <a:avLst/>
          </a:prstGeom>
          <a:noFill/>
          <a:ln/>
        </p:spPr>
        <p:txBody>
          <a:bodyPr wrap="square" lIns="0" tIns="0" rIns="0" bIns="0" rtlCol="0" anchor="t"/>
          <a:lstStyle/>
          <a:p>
            <a:pPr rtl="1" algn="r" indent="0" marL="0">
              <a:lnSpc>
                <a:spcPct val="100000"/>
              </a:lnSpc>
              <a:buNone/>
            </a:pPr>
            <a:r>
              <a:rPr lang="ar-SA" altLang="en-US" sz="1300" dirty="0">
                <a:solidFill>
                  <a:srgbClr val="3C3E3B"/>
                </a:solidFill>
                <a:latin typeface="IBM Plex Sans Arabic" pitchFamily="34" charset="0"/>
                <a:ea typeface="IBM Plex Sans Arabic" pitchFamily="34" charset="-122"/>
                <a:cs typeface="IBM Plex Sans Arabic" pitchFamily="34" charset="-120"/>
              </a:rPr>
              <a:t>توليد الصور، والشخصيات الثابتة، وCanva وFirefly</a:t>
            </a:r>
            <a:endParaRPr lang="ar-SA" sz="1300" dirty="0"/>
          </a:p>
        </p:txBody>
      </p:sp>
      <p:sp>
        <p:nvSpPr>
          <p:cNvPr id="41" name="Shape 38"/>
          <p:cNvSpPr/>
          <p:nvPr/>
        </p:nvSpPr>
        <p:spPr>
          <a:xfrm>
            <a:off x="9040901" y="4453128"/>
            <a:ext cx="2602154" cy="1691640"/>
          </a:xfrm>
          <a:prstGeom prst="roundRect">
            <a:avLst>
              <a:gd name="adj" fmla="val 5405"/>
            </a:avLst>
          </a:prstGeom>
          <a:solidFill>
            <a:srgbClr val="F2F4F1"/>
          </a:solidFill>
          <a:ln w="12700">
            <a:solidFill>
              <a:srgbClr val="F2F4F1"/>
            </a:solidFill>
            <a:prstDash val="solid"/>
          </a:ln>
        </p:spPr>
      </p:sp>
      <p:sp>
        <p:nvSpPr>
          <p:cNvPr id="42" name="Shape 39"/>
          <p:cNvSpPr/>
          <p:nvPr/>
        </p:nvSpPr>
        <p:spPr>
          <a:xfrm>
            <a:off x="11204143" y="4700016"/>
            <a:ext cx="237744" cy="237744"/>
          </a:xfrm>
          <a:prstGeom prst="ellipse">
            <a:avLst/>
          </a:prstGeom>
          <a:solidFill>
            <a:srgbClr val="4DB449"/>
          </a:solidFill>
          <a:ln w="6350">
            <a:solidFill>
              <a:srgbClr val="4DB449"/>
            </a:solidFill>
            <a:prstDash val="solid"/>
          </a:ln>
        </p:spPr>
      </p:sp>
      <p:sp>
        <p:nvSpPr>
          <p:cNvPr id="43" name="Text 40"/>
          <p:cNvSpPr txBox="1"/>
          <p:nvPr/>
        </p:nvSpPr>
        <p:spPr>
          <a:xfrm>
            <a:off x="9159773" y="4562856"/>
            <a:ext cx="1916354" cy="512064"/>
          </a:xfrm>
          <a:prstGeom prst="rect">
            <a:avLst/>
          </a:prstGeom>
          <a:noFill/>
          <a:ln/>
        </p:spPr>
        <p:txBody>
          <a:bodyPr wrap="square" lIns="0" tIns="0" rIns="0" bIns="0" rtlCol="0" anchor="ctr"/>
          <a:lstStyle/>
          <a:p>
            <a:pPr rtl="1" algn="r" indent="0" marL="0">
              <a:lnSpc>
                <a:spcPct val="85000"/>
              </a:lnSpc>
              <a:buNone/>
            </a:pPr>
            <a:r>
              <a:rPr lang="ar-SA" altLang="en-US" sz="1500" b="1" dirty="0">
                <a:solidFill>
                  <a:srgbClr val="1A1A1A"/>
                </a:solidFill>
                <a:latin typeface="Cairo" pitchFamily="34" charset="0"/>
                <a:ea typeface="Cairo" pitchFamily="34" charset="-122"/>
                <a:cs typeface="Cairo" pitchFamily="34" charset="-120"/>
              </a:rPr>
              <a:t>الفيديو والحركة والصوت</a:t>
            </a:r>
            <a:endParaRPr lang="ar-SA" sz="1500" dirty="0"/>
          </a:p>
        </p:txBody>
      </p:sp>
      <p:sp>
        <p:nvSpPr>
          <p:cNvPr id="44" name="Text 41"/>
          <p:cNvSpPr txBox="1"/>
          <p:nvPr/>
        </p:nvSpPr>
        <p:spPr>
          <a:xfrm>
            <a:off x="9205493" y="5129784"/>
            <a:ext cx="2236394" cy="274320"/>
          </a:xfrm>
          <a:prstGeom prst="rect">
            <a:avLst/>
          </a:prstGeom>
          <a:noFill/>
          <a:ln/>
        </p:spPr>
        <p:txBody>
          <a:bodyPr wrap="square" lIns="0" tIns="0" rIns="0" bIns="0" rtlCol="0" anchor="t"/>
          <a:lstStyle/>
          <a:p>
            <a:pPr rtl="1" algn="r" indent="0" marL="0">
              <a:lnSpc>
                <a:spcPct val="100000"/>
              </a:lnSpc>
              <a:buNone/>
            </a:pPr>
            <a:r>
              <a:rPr lang="ar-SA" altLang="en-US" sz="1200" b="1" dirty="0">
                <a:solidFill>
                  <a:srgbClr val="727274"/>
                </a:solidFill>
                <a:latin typeface="IBM Plex Sans Arabic" pitchFamily="34" charset="0"/>
                <a:ea typeface="IBM Plex Sans Arabic" pitchFamily="34" charset="-122"/>
                <a:cs typeface="IBM Plex Sans Arabic" pitchFamily="34" charset="-120"/>
              </a:rPr>
              <a:t>24 ساعة · M7–M9</a:t>
            </a:r>
            <a:endParaRPr lang="ar-SA" sz="1200" dirty="0"/>
          </a:p>
        </p:txBody>
      </p:sp>
      <p:sp>
        <p:nvSpPr>
          <p:cNvPr id="45" name="Text 42"/>
          <p:cNvSpPr txBox="1"/>
          <p:nvPr/>
        </p:nvSpPr>
        <p:spPr>
          <a:xfrm>
            <a:off x="9205493" y="5404104"/>
            <a:ext cx="2236394" cy="749808"/>
          </a:xfrm>
          <a:prstGeom prst="rect">
            <a:avLst/>
          </a:prstGeom>
          <a:noFill/>
          <a:ln/>
        </p:spPr>
        <p:txBody>
          <a:bodyPr wrap="square" lIns="0" tIns="0" rIns="0" bIns="0" rtlCol="0" anchor="t"/>
          <a:lstStyle/>
          <a:p>
            <a:pPr rtl="1" algn="r" indent="0" marL="0">
              <a:lnSpc>
                <a:spcPct val="100000"/>
              </a:lnSpc>
              <a:buNone/>
            </a:pPr>
            <a:r>
              <a:rPr lang="ar-SA" altLang="en-US" sz="1300" dirty="0">
                <a:solidFill>
                  <a:srgbClr val="3C3E3B"/>
                </a:solidFill>
                <a:latin typeface="IBM Plex Sans Arabic" pitchFamily="34" charset="0"/>
                <a:ea typeface="IBM Plex Sans Arabic" pitchFamily="34" charset="-122"/>
                <a:cs typeface="IBM Plex Sans Arabic" pitchFamily="34" charset="-120"/>
              </a:rPr>
              <a:t>فيديو الذكاء الاصطناعي، والمونتاج، والتحريك، والتعليق الصوتي والمؤثرات</a:t>
            </a:r>
            <a:endParaRPr lang="ar-SA" sz="1300" dirty="0"/>
          </a:p>
        </p:txBody>
      </p:sp>
      <p:sp>
        <p:nvSpPr>
          <p:cNvPr id="46" name="Shape 43"/>
          <p:cNvSpPr/>
          <p:nvPr/>
        </p:nvSpPr>
        <p:spPr>
          <a:xfrm>
            <a:off x="6210148" y="4453128"/>
            <a:ext cx="2602154" cy="1691640"/>
          </a:xfrm>
          <a:prstGeom prst="roundRect">
            <a:avLst>
              <a:gd name="adj" fmla="val 5405"/>
            </a:avLst>
          </a:prstGeom>
          <a:solidFill>
            <a:srgbClr val="F2F4F1"/>
          </a:solidFill>
          <a:ln w="12700">
            <a:solidFill>
              <a:srgbClr val="F2F4F1"/>
            </a:solidFill>
            <a:prstDash val="solid"/>
          </a:ln>
        </p:spPr>
      </p:sp>
      <p:sp>
        <p:nvSpPr>
          <p:cNvPr id="47" name="Shape 44"/>
          <p:cNvSpPr/>
          <p:nvPr/>
        </p:nvSpPr>
        <p:spPr>
          <a:xfrm>
            <a:off x="8373389" y="4700016"/>
            <a:ext cx="237744" cy="237744"/>
          </a:xfrm>
          <a:prstGeom prst="ellipse">
            <a:avLst/>
          </a:prstGeom>
          <a:solidFill>
            <a:srgbClr val="A6D04B"/>
          </a:solidFill>
          <a:ln w="6350">
            <a:solidFill>
              <a:srgbClr val="A6D04B"/>
            </a:solidFill>
            <a:prstDash val="solid"/>
          </a:ln>
        </p:spPr>
      </p:sp>
      <p:sp>
        <p:nvSpPr>
          <p:cNvPr id="48" name="Text 45"/>
          <p:cNvSpPr txBox="1"/>
          <p:nvPr/>
        </p:nvSpPr>
        <p:spPr>
          <a:xfrm>
            <a:off x="6329020" y="4562856"/>
            <a:ext cx="1916354" cy="512064"/>
          </a:xfrm>
          <a:prstGeom prst="rect">
            <a:avLst/>
          </a:prstGeom>
          <a:noFill/>
          <a:ln/>
        </p:spPr>
        <p:txBody>
          <a:bodyPr wrap="square" lIns="0" tIns="0" rIns="0" bIns="0" rtlCol="0" anchor="ctr"/>
          <a:lstStyle/>
          <a:p>
            <a:pPr rtl="1" algn="r" indent="0" marL="0">
              <a:lnSpc>
                <a:spcPct val="85000"/>
              </a:lnSpc>
              <a:buNone/>
            </a:pPr>
            <a:r>
              <a:rPr lang="ar-SA" altLang="en-US" sz="1500" b="1" dirty="0">
                <a:solidFill>
                  <a:srgbClr val="1A1A1A"/>
                </a:solidFill>
                <a:latin typeface="Cairo" pitchFamily="34" charset="0"/>
                <a:ea typeface="Cairo" pitchFamily="34" charset="-122"/>
                <a:cs typeface="Cairo" pitchFamily="34" charset="-120"/>
              </a:rPr>
              <a:t>الأتمتة</a:t>
            </a:r>
            <a:endParaRPr lang="ar-SA" sz="1500" dirty="0"/>
          </a:p>
        </p:txBody>
      </p:sp>
      <p:sp>
        <p:nvSpPr>
          <p:cNvPr id="49" name="Text 46"/>
          <p:cNvSpPr txBox="1"/>
          <p:nvPr/>
        </p:nvSpPr>
        <p:spPr>
          <a:xfrm>
            <a:off x="6374740" y="5129784"/>
            <a:ext cx="2236394" cy="274320"/>
          </a:xfrm>
          <a:prstGeom prst="rect">
            <a:avLst/>
          </a:prstGeom>
          <a:noFill/>
          <a:ln/>
        </p:spPr>
        <p:txBody>
          <a:bodyPr wrap="square" lIns="0" tIns="0" rIns="0" bIns="0" rtlCol="0" anchor="t"/>
          <a:lstStyle/>
          <a:p>
            <a:pPr rtl="1" algn="r" indent="0" marL="0">
              <a:lnSpc>
                <a:spcPct val="100000"/>
              </a:lnSpc>
              <a:buNone/>
            </a:pPr>
            <a:r>
              <a:rPr lang="ar-SA" altLang="en-US" sz="1200" b="1" dirty="0">
                <a:solidFill>
                  <a:srgbClr val="727274"/>
                </a:solidFill>
                <a:latin typeface="IBM Plex Sans Arabic" pitchFamily="34" charset="0"/>
                <a:ea typeface="IBM Plex Sans Arabic" pitchFamily="34" charset="-122"/>
                <a:cs typeface="IBM Plex Sans Arabic" pitchFamily="34" charset="-120"/>
              </a:rPr>
              <a:t>9 ساعة · M10</a:t>
            </a:r>
            <a:endParaRPr lang="ar-SA" sz="1200" dirty="0"/>
          </a:p>
        </p:txBody>
      </p:sp>
      <p:sp>
        <p:nvSpPr>
          <p:cNvPr id="50" name="Text 47"/>
          <p:cNvSpPr txBox="1"/>
          <p:nvPr/>
        </p:nvSpPr>
        <p:spPr>
          <a:xfrm>
            <a:off x="6374740" y="5404104"/>
            <a:ext cx="2236394" cy="749808"/>
          </a:xfrm>
          <a:prstGeom prst="rect">
            <a:avLst/>
          </a:prstGeom>
          <a:noFill/>
          <a:ln/>
        </p:spPr>
        <p:txBody>
          <a:bodyPr wrap="square" lIns="0" tIns="0" rIns="0" bIns="0" rtlCol="0" anchor="t"/>
          <a:lstStyle/>
          <a:p>
            <a:pPr rtl="1" algn="r" indent="0" marL="0">
              <a:lnSpc>
                <a:spcPct val="100000"/>
              </a:lnSpc>
              <a:buNone/>
            </a:pPr>
            <a:r>
              <a:rPr lang="ar-SA" altLang="en-US" sz="1300" dirty="0">
                <a:solidFill>
                  <a:srgbClr val="3C3E3B"/>
                </a:solidFill>
                <a:latin typeface="IBM Plex Sans Arabic" pitchFamily="34" charset="0"/>
                <a:ea typeface="IBM Plex Sans Arabic" pitchFamily="34" charset="-122"/>
                <a:cs typeface="IBM Plex Sans Arabic" pitchFamily="34" charset="-120"/>
              </a:rPr>
              <a:t>مسارات عمل n8n بخطوات ذكاء اصطناعي</a:t>
            </a:r>
            <a:endParaRPr lang="ar-SA" sz="1300" dirty="0"/>
          </a:p>
        </p:txBody>
      </p:sp>
      <p:sp>
        <p:nvSpPr>
          <p:cNvPr id="51" name="Shape 48"/>
          <p:cNvSpPr/>
          <p:nvPr/>
        </p:nvSpPr>
        <p:spPr>
          <a:xfrm>
            <a:off x="3379394" y="4453128"/>
            <a:ext cx="2602154" cy="1691640"/>
          </a:xfrm>
          <a:prstGeom prst="roundRect">
            <a:avLst>
              <a:gd name="adj" fmla="val 5405"/>
            </a:avLst>
          </a:prstGeom>
          <a:solidFill>
            <a:srgbClr val="F2F4F1"/>
          </a:solidFill>
          <a:ln w="12700">
            <a:solidFill>
              <a:srgbClr val="F2F4F1"/>
            </a:solidFill>
            <a:prstDash val="solid"/>
          </a:ln>
        </p:spPr>
      </p:sp>
      <p:sp>
        <p:nvSpPr>
          <p:cNvPr id="52" name="Shape 49"/>
          <p:cNvSpPr/>
          <p:nvPr/>
        </p:nvSpPr>
        <p:spPr>
          <a:xfrm>
            <a:off x="5542636" y="4700016"/>
            <a:ext cx="237744" cy="237744"/>
          </a:xfrm>
          <a:prstGeom prst="ellipse">
            <a:avLst/>
          </a:prstGeom>
          <a:solidFill>
            <a:srgbClr val="000000"/>
          </a:solidFill>
          <a:ln w="6350">
            <a:solidFill>
              <a:srgbClr val="000000"/>
            </a:solidFill>
            <a:prstDash val="solid"/>
          </a:ln>
        </p:spPr>
      </p:sp>
      <p:sp>
        <p:nvSpPr>
          <p:cNvPr id="53" name="Text 50"/>
          <p:cNvSpPr txBox="1"/>
          <p:nvPr/>
        </p:nvSpPr>
        <p:spPr>
          <a:xfrm>
            <a:off x="3498266" y="4562856"/>
            <a:ext cx="1916354" cy="512064"/>
          </a:xfrm>
          <a:prstGeom prst="rect">
            <a:avLst/>
          </a:prstGeom>
          <a:noFill/>
          <a:ln/>
        </p:spPr>
        <p:txBody>
          <a:bodyPr wrap="square" lIns="0" tIns="0" rIns="0" bIns="0" rtlCol="0" anchor="ctr"/>
          <a:lstStyle/>
          <a:p>
            <a:pPr rtl="1" algn="r" indent="0" marL="0">
              <a:lnSpc>
                <a:spcPct val="85000"/>
              </a:lnSpc>
              <a:buNone/>
            </a:pPr>
            <a:r>
              <a:rPr lang="ar-SA" altLang="en-US" sz="1500" b="1" dirty="0">
                <a:solidFill>
                  <a:srgbClr val="1A1A1A"/>
                </a:solidFill>
                <a:latin typeface="Cairo" pitchFamily="34" charset="0"/>
                <a:ea typeface="Cairo" pitchFamily="34" charset="-122"/>
                <a:cs typeface="Cairo" pitchFamily="34" charset="-120"/>
              </a:rPr>
              <a:t>المشروع النهائي</a:t>
            </a:r>
            <a:endParaRPr lang="ar-SA" sz="1500" dirty="0"/>
          </a:p>
        </p:txBody>
      </p:sp>
      <p:sp>
        <p:nvSpPr>
          <p:cNvPr id="54" name="Text 51"/>
          <p:cNvSpPr txBox="1"/>
          <p:nvPr/>
        </p:nvSpPr>
        <p:spPr>
          <a:xfrm>
            <a:off x="3543986" y="5129784"/>
            <a:ext cx="2236394" cy="274320"/>
          </a:xfrm>
          <a:prstGeom prst="rect">
            <a:avLst/>
          </a:prstGeom>
          <a:noFill/>
          <a:ln/>
        </p:spPr>
        <p:txBody>
          <a:bodyPr wrap="square" lIns="0" tIns="0" rIns="0" bIns="0" rtlCol="0" anchor="t"/>
          <a:lstStyle/>
          <a:p>
            <a:pPr rtl="1" algn="r" indent="0" marL="0">
              <a:lnSpc>
                <a:spcPct val="100000"/>
              </a:lnSpc>
              <a:buNone/>
            </a:pPr>
            <a:r>
              <a:rPr lang="ar-SA" altLang="en-US" sz="1200" b="1" dirty="0">
                <a:solidFill>
                  <a:srgbClr val="727274"/>
                </a:solidFill>
                <a:latin typeface="IBM Plex Sans Arabic" pitchFamily="34" charset="0"/>
                <a:ea typeface="IBM Plex Sans Arabic" pitchFamily="34" charset="-122"/>
                <a:cs typeface="IBM Plex Sans Arabic" pitchFamily="34" charset="-120"/>
              </a:rPr>
              <a:t>12 ساعة · M11</a:t>
            </a:r>
            <a:endParaRPr lang="ar-SA" sz="1200" dirty="0"/>
          </a:p>
        </p:txBody>
      </p:sp>
      <p:sp>
        <p:nvSpPr>
          <p:cNvPr id="55" name="Text 52"/>
          <p:cNvSpPr txBox="1"/>
          <p:nvPr/>
        </p:nvSpPr>
        <p:spPr>
          <a:xfrm>
            <a:off x="3543986" y="5404104"/>
            <a:ext cx="2236394" cy="749808"/>
          </a:xfrm>
          <a:prstGeom prst="rect">
            <a:avLst/>
          </a:prstGeom>
          <a:noFill/>
          <a:ln/>
        </p:spPr>
        <p:txBody>
          <a:bodyPr wrap="square" lIns="0" tIns="0" rIns="0" bIns="0" rtlCol="0" anchor="t"/>
          <a:lstStyle/>
          <a:p>
            <a:pPr rtl="1" algn="r" indent="0" marL="0">
              <a:lnSpc>
                <a:spcPct val="100000"/>
              </a:lnSpc>
              <a:buNone/>
            </a:pPr>
            <a:r>
              <a:rPr lang="ar-SA" altLang="en-US" sz="1300" dirty="0">
                <a:solidFill>
                  <a:srgbClr val="3C3E3B"/>
                </a:solidFill>
                <a:latin typeface="IBM Plex Sans Arabic" pitchFamily="34" charset="0"/>
                <a:ea typeface="IBM Plex Sans Arabic" pitchFamily="34" charset="-122"/>
                <a:cs typeface="IBM Plex Sans Arabic" pitchFamily="34" charset="-120"/>
              </a:rPr>
              <a:t>من الفكرة إلى محتوى متكامل، ويوم العرض</a:t>
            </a:r>
            <a:endParaRPr lang="ar-SA" sz="1300" dirty="0"/>
          </a:p>
        </p:txBody>
      </p:sp>
      <p:sp>
        <p:nvSpPr>
          <p:cNvPr id="56" name="Shape 53"/>
          <p:cNvSpPr/>
          <p:nvPr/>
        </p:nvSpPr>
        <p:spPr>
          <a:xfrm>
            <a:off x="548640" y="4453128"/>
            <a:ext cx="2602154" cy="1691640"/>
          </a:xfrm>
          <a:prstGeom prst="roundRect">
            <a:avLst>
              <a:gd name="adj" fmla="val 5405"/>
            </a:avLst>
          </a:prstGeom>
          <a:solidFill>
            <a:srgbClr val="000000"/>
          </a:solidFill>
          <a:ln w="12700">
            <a:solidFill>
              <a:srgbClr val="000000"/>
            </a:solidFill>
            <a:prstDash val="solid"/>
          </a:ln>
        </p:spPr>
      </p:sp>
      <p:sp>
        <p:nvSpPr>
          <p:cNvPr id="57" name="Text 54"/>
          <p:cNvSpPr txBox="1"/>
          <p:nvPr/>
        </p:nvSpPr>
        <p:spPr>
          <a:xfrm>
            <a:off x="777240" y="4636008"/>
            <a:ext cx="2144954" cy="868680"/>
          </a:xfrm>
          <a:prstGeom prst="rect">
            <a:avLst/>
          </a:prstGeom>
          <a:noFill/>
          <a:ln/>
        </p:spPr>
        <p:txBody>
          <a:bodyPr wrap="square" lIns="0" tIns="0" rIns="0" bIns="0" rtlCol="0" anchor="t"/>
          <a:lstStyle/>
          <a:p>
            <a:pPr rtl="1" algn="r" indent="0" marL="0">
              <a:lnSpc>
                <a:spcPct val="100000"/>
              </a:lnSpc>
              <a:buNone/>
            </a:pPr>
            <a:r>
              <a:rPr lang="ar-SA" altLang="en-US" sz="5400" b="1" dirty="0">
                <a:solidFill>
                  <a:srgbClr val="A6D04B"/>
                </a:solidFill>
                <a:latin typeface="Cairo" pitchFamily="34" charset="0"/>
                <a:ea typeface="Cairo" pitchFamily="34" charset="-122"/>
                <a:cs typeface="Cairo" pitchFamily="34" charset="-120"/>
              </a:rPr>
              <a:t>96</a:t>
            </a:r>
            <a:endParaRPr lang="ar-SA" sz="5400" dirty="0"/>
          </a:p>
        </p:txBody>
      </p:sp>
      <p:sp>
        <p:nvSpPr>
          <p:cNvPr id="58" name="Text 55"/>
          <p:cNvSpPr txBox="1"/>
          <p:nvPr/>
        </p:nvSpPr>
        <p:spPr>
          <a:xfrm>
            <a:off x="777240" y="5550408"/>
            <a:ext cx="2144954" cy="365760"/>
          </a:xfrm>
          <a:prstGeom prst="rect">
            <a:avLst/>
          </a:prstGeom>
          <a:noFill/>
          <a:ln/>
        </p:spPr>
        <p:txBody>
          <a:bodyPr wrap="square" lIns="0" tIns="0" rIns="0" bIns="0" rtlCol="0" anchor="t"/>
          <a:lstStyle/>
          <a:p>
            <a:pPr rtl="1" algn="r" indent="0" marL="0">
              <a:lnSpc>
                <a:spcPct val="100000"/>
              </a:lnSpc>
              <a:buNone/>
            </a:pPr>
            <a:r>
              <a:rPr lang="ar-SA" altLang="en-US" sz="1500" dirty="0">
                <a:solidFill>
                  <a:srgbClr val="FFFFFF"/>
                </a:solidFill>
                <a:latin typeface="IBM Plex Sans Arabic" pitchFamily="34" charset="0"/>
                <a:ea typeface="IBM Plex Sans Arabic" pitchFamily="34" charset="-122"/>
                <a:cs typeface="IBM Plex Sans Arabic" pitchFamily="34" charset="-120"/>
              </a:rPr>
              <a:t>ساعة تدريبية في المجموع</a:t>
            </a:r>
            <a:endParaRPr lang="ar-SA"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Green Circle logo">    </p:cNvPr>
          <p:cNvPicPr>
            <a:picLocks noChangeAspect="1"/>
          </p:cNvPicPr>
          <p:nvPr/>
        </p:nvPicPr>
        <p:blipFill>
          <a:blip r:embed="rId1"/>
          <a:stretch>
            <a:fillRect/>
          </a:stretch>
        </p:blipFill>
        <p:spPr>
          <a:xfrm>
            <a:off x="548640" y="384048"/>
            <a:ext cx="1286501" cy="457200"/>
          </a:xfrm>
          <a:prstGeom prst="rect">
            <a:avLst/>
          </a:prstGeom>
        </p:spPr>
      </p:pic>
      <p:sp>
        <p:nvSpPr>
          <p:cNvPr id="3" name="Text 0"/>
          <p:cNvSpPr txBox="1"/>
          <p:nvPr/>
        </p:nvSpPr>
        <p:spPr>
          <a:xfrm>
            <a:off x="5242255" y="6446520"/>
            <a:ext cx="6400800" cy="228600"/>
          </a:xfrm>
          <a:prstGeom prst="rect">
            <a:avLst/>
          </a:prstGeom>
          <a:noFill/>
          <a:ln/>
        </p:spPr>
        <p:txBody>
          <a:bodyPr wrap="square" lIns="0" tIns="0" rIns="0" bIns="0" rtlCol="0" anchor="t"/>
          <a:lstStyle/>
          <a:p>
            <a:pPr rtl="1" algn="r" indent="0" marL="0">
              <a:lnSpc>
                <a:spcPct val="100000"/>
              </a:lnSpc>
              <a:buNone/>
            </a:pPr>
            <a:r>
              <a:rPr lang="ar-SA" altLang="en-US" sz="900" dirty="0">
                <a:solidFill>
                  <a:srgbClr val="727274"/>
                </a:solidFill>
                <a:latin typeface="IBM Plex Sans Arabic" pitchFamily="34" charset="0"/>
                <a:ea typeface="IBM Plex Sans Arabic" pitchFamily="34" charset="-122"/>
                <a:cs typeface="IBM Plex Sans Arabic" pitchFamily="34" charset="-120"/>
              </a:rPr>
              <a:t>برنامج صُنّاع المحتوى بالذكاء الاصطناعي · مذكرة مفاهيمية</a:t>
            </a:r>
            <a:endParaRPr lang="ar-SA" sz="900" dirty="0"/>
          </a:p>
        </p:txBody>
      </p:sp>
      <p:sp>
        <p:nvSpPr>
          <p:cNvPr id="4" name="Text 1"/>
          <p:cNvSpPr txBox="1"/>
          <p:nvPr/>
        </p:nvSpPr>
        <p:spPr>
          <a:xfrm>
            <a:off x="548640" y="6446520"/>
            <a:ext cx="548640" cy="228600"/>
          </a:xfrm>
          <a:prstGeom prst="rect">
            <a:avLst/>
          </a:prstGeom>
          <a:noFill/>
          <a:ln/>
        </p:spPr>
        <p:txBody>
          <a:bodyPr wrap="square" lIns="0" tIns="0" rIns="0" bIns="0" rtlCol="0" anchor="t"/>
          <a:lstStyle/>
          <a:p>
            <a:pPr rtl="1" algn="l" indent="0" marL="0">
              <a:lnSpc>
                <a:spcPct val="100000"/>
              </a:lnSpc>
              <a:buNone/>
            </a:pPr>
            <a:r>
              <a:rPr lang="ar-SA" altLang="en-US" sz="900" dirty="0">
                <a:solidFill>
                  <a:srgbClr val="727274"/>
                </a:solidFill>
                <a:latin typeface="IBM Plex Sans Arabic" pitchFamily="34" charset="0"/>
                <a:ea typeface="IBM Plex Sans Arabic" pitchFamily="34" charset="-122"/>
                <a:cs typeface="IBM Plex Sans Arabic" pitchFamily="34" charset="-120"/>
              </a:rPr>
              <a:t>6</a:t>
            </a:r>
            <a:endParaRPr lang="ar-SA" sz="900" dirty="0"/>
          </a:p>
        </p:txBody>
      </p:sp>
      <p:sp>
        <p:nvSpPr>
          <p:cNvPr id="5" name="Text 2"/>
          <p:cNvSpPr txBox="1"/>
          <p:nvPr/>
        </p:nvSpPr>
        <p:spPr>
          <a:xfrm>
            <a:off x="2681935" y="384048"/>
            <a:ext cx="8961120" cy="274320"/>
          </a:xfrm>
          <a:prstGeom prst="rect">
            <a:avLst/>
          </a:prstGeom>
          <a:noFill/>
          <a:ln/>
        </p:spPr>
        <p:txBody>
          <a:bodyPr wrap="square" lIns="0" tIns="0" rIns="0" bIns="0" rtlCol="0" anchor="t"/>
          <a:lstStyle/>
          <a:p>
            <a:pPr rtl="1" algn="r" indent="0" marL="0">
              <a:lnSpc>
                <a:spcPct val="100000"/>
              </a:lnSpc>
              <a:buNone/>
            </a:pPr>
            <a:r>
              <a:rPr lang="ar-SA" altLang="en-US" sz="1100" b="1" dirty="0">
                <a:solidFill>
                  <a:srgbClr val="727274"/>
                </a:solidFill>
                <a:latin typeface="IBM Plex Sans Arabic" pitchFamily="34" charset="0"/>
                <a:ea typeface="IBM Plex Sans Arabic" pitchFamily="34" charset="-122"/>
                <a:cs typeface="IBM Plex Sans Arabic" pitchFamily="34" charset="-120"/>
              </a:rPr>
              <a:t>05 · اختيار أداة الذكاء الاصطناعي المناسبة</a:t>
            </a:r>
            <a:endParaRPr lang="ar-SA" sz="1100" dirty="0"/>
          </a:p>
        </p:txBody>
      </p:sp>
      <p:sp>
        <p:nvSpPr>
          <p:cNvPr id="6" name="Text 3"/>
          <p:cNvSpPr txBox="1"/>
          <p:nvPr/>
        </p:nvSpPr>
        <p:spPr>
          <a:xfrm>
            <a:off x="2224735" y="676656"/>
            <a:ext cx="9418320" cy="914400"/>
          </a:xfrm>
          <a:prstGeom prst="rect">
            <a:avLst/>
          </a:prstGeom>
          <a:noFill/>
          <a:ln/>
        </p:spPr>
        <p:txBody>
          <a:bodyPr wrap="square" lIns="0" tIns="0" rIns="0" bIns="0" rtlCol="0" anchor="t"/>
          <a:lstStyle/>
          <a:p>
            <a:pPr rtl="1" algn="r" indent="0" marL="0">
              <a:lnSpc>
                <a:spcPct val="95000"/>
              </a:lnSpc>
              <a:buNone/>
            </a:pPr>
            <a:r>
              <a:rPr lang="ar-SA" altLang="en-US" sz="2600" b="1" dirty="0">
                <a:solidFill>
                  <a:srgbClr val="1A1A1A"/>
                </a:solidFill>
                <a:latin typeface="Cairo" pitchFamily="34" charset="0"/>
                <a:ea typeface="Cairo" pitchFamily="34" charset="-122"/>
                <a:cs typeface="Cairo" pitchFamily="34" charset="-120"/>
              </a:rPr>
              <a:t>ابدأ بالمهمة، ثم اختر الأداة</a:t>
            </a:r>
            <a:endParaRPr lang="ar-SA" sz="2600" dirty="0"/>
          </a:p>
        </p:txBody>
      </p:sp>
      <p:sp>
        <p:nvSpPr>
          <p:cNvPr id="7" name="Shape 4"/>
          <p:cNvSpPr/>
          <p:nvPr/>
        </p:nvSpPr>
        <p:spPr>
          <a:xfrm>
            <a:off x="7071055" y="1783080"/>
            <a:ext cx="4572000" cy="4434840"/>
          </a:xfrm>
          <a:prstGeom prst="roundRect">
            <a:avLst>
              <a:gd name="adj" fmla="val 2474"/>
            </a:avLst>
          </a:prstGeom>
          <a:solidFill>
            <a:srgbClr val="EAF5E8"/>
          </a:solidFill>
          <a:ln w="12700">
            <a:solidFill>
              <a:srgbClr val="EAF5E8"/>
            </a:solidFill>
            <a:prstDash val="solid"/>
          </a:ln>
        </p:spPr>
      </p:sp>
      <p:sp>
        <p:nvSpPr>
          <p:cNvPr id="8" name="Text 5"/>
          <p:cNvSpPr txBox="1"/>
          <p:nvPr/>
        </p:nvSpPr>
        <p:spPr>
          <a:xfrm>
            <a:off x="7345375" y="1965960"/>
            <a:ext cx="4023360" cy="411480"/>
          </a:xfrm>
          <a:prstGeom prst="rect">
            <a:avLst/>
          </a:prstGeom>
          <a:noFill/>
          <a:ln/>
        </p:spPr>
        <p:txBody>
          <a:bodyPr wrap="square" lIns="0" tIns="0" rIns="0" bIns="0" rtlCol="0" anchor="t"/>
          <a:lstStyle/>
          <a:p>
            <a:pPr rtl="1" algn="r" indent="0" marL="0">
              <a:lnSpc>
                <a:spcPct val="100000"/>
              </a:lnSpc>
              <a:buNone/>
            </a:pPr>
            <a:r>
              <a:rPr lang="ar-SA" altLang="en-US" sz="1700" b="1" dirty="0">
                <a:solidFill>
                  <a:srgbClr val="1A1A1A"/>
                </a:solidFill>
                <a:latin typeface="Cairo" pitchFamily="34" charset="0"/>
                <a:ea typeface="Cairo" pitchFamily="34" charset="-122"/>
                <a:cs typeface="Cairo" pitchFamily="34" charset="-120"/>
              </a:rPr>
              <a:t>خمسة أسئلة قبل اختيار الأداة</a:t>
            </a:r>
            <a:endParaRPr lang="ar-SA" sz="1700" dirty="0"/>
          </a:p>
        </p:txBody>
      </p:sp>
      <p:sp>
        <p:nvSpPr>
          <p:cNvPr id="9" name="Shape 6"/>
          <p:cNvSpPr/>
          <p:nvPr/>
        </p:nvSpPr>
        <p:spPr>
          <a:xfrm>
            <a:off x="10929823" y="2560320"/>
            <a:ext cx="438912" cy="438912"/>
          </a:xfrm>
          <a:prstGeom prst="ellipse">
            <a:avLst/>
          </a:prstGeom>
          <a:solidFill>
            <a:srgbClr val="4DB449"/>
          </a:solidFill>
          <a:ln w="6350">
            <a:solidFill>
              <a:srgbClr val="4DB449"/>
            </a:solidFill>
            <a:prstDash val="solid"/>
          </a:ln>
        </p:spPr>
      </p:sp>
      <p:sp>
        <p:nvSpPr>
          <p:cNvPr id="10" name="Text 7"/>
          <p:cNvSpPr txBox="1"/>
          <p:nvPr/>
        </p:nvSpPr>
        <p:spPr>
          <a:xfrm>
            <a:off x="10929823" y="2560320"/>
            <a:ext cx="438912" cy="438912"/>
          </a:xfrm>
          <a:prstGeom prst="rect">
            <a:avLst/>
          </a:prstGeom>
          <a:noFill/>
          <a:ln/>
        </p:spPr>
        <p:txBody>
          <a:bodyPr wrap="square" lIns="0" tIns="0" rIns="0" bIns="0" rtlCol="0" anchor="ctr"/>
          <a:lstStyle/>
          <a:p>
            <a:pPr rtl="1" algn="ctr" indent="0" marL="0">
              <a:lnSpc>
                <a:spcPct val="100000"/>
              </a:lnSpc>
              <a:buNone/>
            </a:pPr>
            <a:r>
              <a:rPr lang="ar-SA" altLang="en-US" sz="1500" b="1" dirty="0">
                <a:solidFill>
                  <a:srgbClr val="000000"/>
                </a:solidFill>
                <a:latin typeface="Cairo" pitchFamily="34" charset="0"/>
                <a:ea typeface="Cairo" pitchFamily="34" charset="-122"/>
                <a:cs typeface="Cairo" pitchFamily="34" charset="-120"/>
              </a:rPr>
              <a:t>1</a:t>
            </a:r>
            <a:endParaRPr lang="ar-SA" sz="1500" dirty="0"/>
          </a:p>
        </p:txBody>
      </p:sp>
      <p:sp>
        <p:nvSpPr>
          <p:cNvPr id="11" name="Text 8"/>
          <p:cNvSpPr txBox="1"/>
          <p:nvPr/>
        </p:nvSpPr>
        <p:spPr>
          <a:xfrm>
            <a:off x="7299655" y="2523744"/>
            <a:ext cx="3474720" cy="548640"/>
          </a:xfrm>
          <a:prstGeom prst="rect">
            <a:avLst/>
          </a:prstGeom>
          <a:noFill/>
          <a:ln/>
        </p:spPr>
        <p:txBody>
          <a:bodyPr wrap="square" lIns="0" tIns="0" rIns="0" bIns="0" rtlCol="0" anchor="ctr"/>
          <a:lstStyle/>
          <a:p>
            <a:pPr rtl="1" algn="r" indent="0" marL="0">
              <a:lnSpc>
                <a:spcPct val="100000"/>
              </a:lnSpc>
              <a:buNone/>
            </a:pPr>
            <a:r>
              <a:rPr lang="ar-SA" altLang="en-US" sz="1400" dirty="0">
                <a:solidFill>
                  <a:srgbClr val="1A1A1A"/>
                </a:solidFill>
                <a:latin typeface="IBM Plex Sans Arabic" pitchFamily="34" charset="0"/>
                <a:ea typeface="IBM Plex Sans Arabic" pitchFamily="34" charset="-122"/>
                <a:cs typeface="IBM Plex Sans Arabic" pitchFamily="34" charset="-120"/>
              </a:rPr>
              <a:t>ما المدخلات: نص، ملفات، صور، صوت؟</a:t>
            </a:r>
            <a:endParaRPr lang="ar-SA" sz="1400" dirty="0"/>
          </a:p>
        </p:txBody>
      </p:sp>
      <p:sp>
        <p:nvSpPr>
          <p:cNvPr id="12" name="Shape 9"/>
          <p:cNvSpPr/>
          <p:nvPr/>
        </p:nvSpPr>
        <p:spPr>
          <a:xfrm>
            <a:off x="10929823" y="3273552"/>
            <a:ext cx="438912" cy="438912"/>
          </a:xfrm>
          <a:prstGeom prst="ellipse">
            <a:avLst/>
          </a:prstGeom>
          <a:solidFill>
            <a:srgbClr val="4DB449"/>
          </a:solidFill>
          <a:ln w="6350">
            <a:solidFill>
              <a:srgbClr val="4DB449"/>
            </a:solidFill>
            <a:prstDash val="solid"/>
          </a:ln>
        </p:spPr>
      </p:sp>
      <p:sp>
        <p:nvSpPr>
          <p:cNvPr id="13" name="Text 10"/>
          <p:cNvSpPr txBox="1"/>
          <p:nvPr/>
        </p:nvSpPr>
        <p:spPr>
          <a:xfrm>
            <a:off x="10929823" y="3273552"/>
            <a:ext cx="438912" cy="438912"/>
          </a:xfrm>
          <a:prstGeom prst="rect">
            <a:avLst/>
          </a:prstGeom>
          <a:noFill/>
          <a:ln/>
        </p:spPr>
        <p:txBody>
          <a:bodyPr wrap="square" lIns="0" tIns="0" rIns="0" bIns="0" rtlCol="0" anchor="ctr"/>
          <a:lstStyle/>
          <a:p>
            <a:pPr rtl="1" algn="ctr" indent="0" marL="0">
              <a:lnSpc>
                <a:spcPct val="100000"/>
              </a:lnSpc>
              <a:buNone/>
            </a:pPr>
            <a:r>
              <a:rPr lang="ar-SA" altLang="en-US" sz="1500" b="1" dirty="0">
                <a:solidFill>
                  <a:srgbClr val="000000"/>
                </a:solidFill>
                <a:latin typeface="Cairo" pitchFamily="34" charset="0"/>
                <a:ea typeface="Cairo" pitchFamily="34" charset="-122"/>
                <a:cs typeface="Cairo" pitchFamily="34" charset="-120"/>
              </a:rPr>
              <a:t>2</a:t>
            </a:r>
            <a:endParaRPr lang="ar-SA" sz="1500" dirty="0"/>
          </a:p>
        </p:txBody>
      </p:sp>
      <p:sp>
        <p:nvSpPr>
          <p:cNvPr id="14" name="Text 11"/>
          <p:cNvSpPr txBox="1"/>
          <p:nvPr/>
        </p:nvSpPr>
        <p:spPr>
          <a:xfrm>
            <a:off x="7299655" y="3236976"/>
            <a:ext cx="3474720" cy="548640"/>
          </a:xfrm>
          <a:prstGeom prst="rect">
            <a:avLst/>
          </a:prstGeom>
          <a:noFill/>
          <a:ln/>
        </p:spPr>
        <p:txBody>
          <a:bodyPr wrap="square" lIns="0" tIns="0" rIns="0" bIns="0" rtlCol="0" anchor="ctr"/>
          <a:lstStyle/>
          <a:p>
            <a:pPr rtl="1" algn="r" indent="0" marL="0">
              <a:lnSpc>
                <a:spcPct val="100000"/>
              </a:lnSpc>
              <a:buNone/>
            </a:pPr>
            <a:r>
              <a:rPr lang="ar-SA" altLang="en-US" sz="1400" dirty="0">
                <a:solidFill>
                  <a:srgbClr val="1A1A1A"/>
                </a:solidFill>
                <a:latin typeface="IBM Plex Sans Arabic" pitchFamily="34" charset="0"/>
                <a:ea typeface="IBM Plex Sans Arabic" pitchFamily="34" charset="-122"/>
                <a:cs typeface="IBM Plex Sans Arabic" pitchFamily="34" charset="-120"/>
              </a:rPr>
              <a:t>ما المخرجات المطلوبة، وبأي شكل؟</a:t>
            </a:r>
            <a:endParaRPr lang="ar-SA" sz="1400" dirty="0"/>
          </a:p>
        </p:txBody>
      </p:sp>
      <p:sp>
        <p:nvSpPr>
          <p:cNvPr id="15" name="Shape 12"/>
          <p:cNvSpPr/>
          <p:nvPr/>
        </p:nvSpPr>
        <p:spPr>
          <a:xfrm>
            <a:off x="10929823" y="3986784"/>
            <a:ext cx="438912" cy="438912"/>
          </a:xfrm>
          <a:prstGeom prst="ellipse">
            <a:avLst/>
          </a:prstGeom>
          <a:solidFill>
            <a:srgbClr val="4DB449"/>
          </a:solidFill>
          <a:ln w="6350">
            <a:solidFill>
              <a:srgbClr val="4DB449"/>
            </a:solidFill>
            <a:prstDash val="solid"/>
          </a:ln>
        </p:spPr>
      </p:sp>
      <p:sp>
        <p:nvSpPr>
          <p:cNvPr id="16" name="Text 13"/>
          <p:cNvSpPr txBox="1"/>
          <p:nvPr/>
        </p:nvSpPr>
        <p:spPr>
          <a:xfrm>
            <a:off x="10929823" y="3986784"/>
            <a:ext cx="438912" cy="438912"/>
          </a:xfrm>
          <a:prstGeom prst="rect">
            <a:avLst/>
          </a:prstGeom>
          <a:noFill/>
          <a:ln/>
        </p:spPr>
        <p:txBody>
          <a:bodyPr wrap="square" lIns="0" tIns="0" rIns="0" bIns="0" rtlCol="0" anchor="ctr"/>
          <a:lstStyle/>
          <a:p>
            <a:pPr rtl="1" algn="ctr" indent="0" marL="0">
              <a:lnSpc>
                <a:spcPct val="100000"/>
              </a:lnSpc>
              <a:buNone/>
            </a:pPr>
            <a:r>
              <a:rPr lang="ar-SA" altLang="en-US" sz="1500" b="1" dirty="0">
                <a:solidFill>
                  <a:srgbClr val="000000"/>
                </a:solidFill>
                <a:latin typeface="Cairo" pitchFamily="34" charset="0"/>
                <a:ea typeface="Cairo" pitchFamily="34" charset="-122"/>
                <a:cs typeface="Cairo" pitchFamily="34" charset="-120"/>
              </a:rPr>
              <a:t>3</a:t>
            </a:r>
            <a:endParaRPr lang="ar-SA" sz="1500" dirty="0"/>
          </a:p>
        </p:txBody>
      </p:sp>
      <p:sp>
        <p:nvSpPr>
          <p:cNvPr id="17" name="Text 14"/>
          <p:cNvSpPr txBox="1"/>
          <p:nvPr/>
        </p:nvSpPr>
        <p:spPr>
          <a:xfrm>
            <a:off x="7299655" y="3950208"/>
            <a:ext cx="3474720" cy="548640"/>
          </a:xfrm>
          <a:prstGeom prst="rect">
            <a:avLst/>
          </a:prstGeom>
          <a:noFill/>
          <a:ln/>
        </p:spPr>
        <p:txBody>
          <a:bodyPr wrap="square" lIns="0" tIns="0" rIns="0" bIns="0" rtlCol="0" anchor="ctr"/>
          <a:lstStyle/>
          <a:p>
            <a:pPr rtl="1" algn="r" indent="0" marL="0">
              <a:lnSpc>
                <a:spcPct val="100000"/>
              </a:lnSpc>
              <a:buNone/>
            </a:pPr>
            <a:r>
              <a:rPr lang="ar-SA" altLang="en-US" sz="1400" dirty="0">
                <a:solidFill>
                  <a:srgbClr val="1A1A1A"/>
                </a:solidFill>
                <a:latin typeface="IBM Plex Sans Arabic" pitchFamily="34" charset="0"/>
                <a:ea typeface="IBM Plex Sans Arabic" pitchFamily="34" charset="-122"/>
                <a:cs typeface="IBM Plex Sans Arabic" pitchFamily="34" charset="-120"/>
              </a:rPr>
              <a:t>ما مستوى الدقة المطلوب؟</a:t>
            </a:r>
            <a:endParaRPr lang="ar-SA" sz="1400" dirty="0"/>
          </a:p>
        </p:txBody>
      </p:sp>
      <p:sp>
        <p:nvSpPr>
          <p:cNvPr id="18" name="Shape 15"/>
          <p:cNvSpPr/>
          <p:nvPr/>
        </p:nvSpPr>
        <p:spPr>
          <a:xfrm>
            <a:off x="10929823" y="4700016"/>
            <a:ext cx="438912" cy="438912"/>
          </a:xfrm>
          <a:prstGeom prst="ellipse">
            <a:avLst/>
          </a:prstGeom>
          <a:solidFill>
            <a:srgbClr val="000000"/>
          </a:solidFill>
          <a:ln w="6350">
            <a:solidFill>
              <a:srgbClr val="000000"/>
            </a:solidFill>
            <a:prstDash val="solid"/>
          </a:ln>
        </p:spPr>
      </p:sp>
      <p:sp>
        <p:nvSpPr>
          <p:cNvPr id="19" name="Text 16"/>
          <p:cNvSpPr txBox="1"/>
          <p:nvPr/>
        </p:nvSpPr>
        <p:spPr>
          <a:xfrm>
            <a:off x="10929823" y="4700016"/>
            <a:ext cx="438912" cy="438912"/>
          </a:xfrm>
          <a:prstGeom prst="rect">
            <a:avLst/>
          </a:prstGeom>
          <a:noFill/>
          <a:ln/>
        </p:spPr>
        <p:txBody>
          <a:bodyPr wrap="square" lIns="0" tIns="0" rIns="0" bIns="0" rtlCol="0" anchor="ctr"/>
          <a:lstStyle/>
          <a:p>
            <a:pPr rtl="1" algn="ctr" indent="0" marL="0">
              <a:lnSpc>
                <a:spcPct val="100000"/>
              </a:lnSpc>
              <a:buNone/>
            </a:pPr>
            <a:r>
              <a:rPr lang="ar-SA" altLang="en-US" sz="1500" b="1" dirty="0">
                <a:solidFill>
                  <a:srgbClr val="A6D04B"/>
                </a:solidFill>
                <a:latin typeface="Cairo" pitchFamily="34" charset="0"/>
                <a:ea typeface="Cairo" pitchFamily="34" charset="-122"/>
                <a:cs typeface="Cairo" pitchFamily="34" charset="-120"/>
              </a:rPr>
              <a:t>4</a:t>
            </a:r>
            <a:endParaRPr lang="ar-SA" sz="1500" dirty="0"/>
          </a:p>
        </p:txBody>
      </p:sp>
      <p:sp>
        <p:nvSpPr>
          <p:cNvPr id="20" name="Text 17"/>
          <p:cNvSpPr txBox="1"/>
          <p:nvPr/>
        </p:nvSpPr>
        <p:spPr>
          <a:xfrm>
            <a:off x="7299655" y="4663440"/>
            <a:ext cx="3474720" cy="548640"/>
          </a:xfrm>
          <a:prstGeom prst="rect">
            <a:avLst/>
          </a:prstGeom>
          <a:noFill/>
          <a:ln/>
        </p:spPr>
        <p:txBody>
          <a:bodyPr wrap="square" lIns="0" tIns="0" rIns="0" bIns="0" rtlCol="0" anchor="ctr"/>
          <a:lstStyle/>
          <a:p>
            <a:pPr rtl="1" algn="r" indent="0" marL="0">
              <a:lnSpc>
                <a:spcPct val="100000"/>
              </a:lnSpc>
              <a:buNone/>
            </a:pPr>
            <a:r>
              <a:rPr lang="ar-SA" altLang="en-US" sz="1400" dirty="0">
                <a:solidFill>
                  <a:srgbClr val="1A1A1A"/>
                </a:solidFill>
                <a:latin typeface="IBM Plex Sans Arabic" pitchFamily="34" charset="0"/>
                <a:ea typeface="IBM Plex Sans Arabic" pitchFamily="34" charset="-122"/>
                <a:cs typeface="IBM Plex Sans Arabic" pitchFamily="34" charset="-120"/>
              </a:rPr>
              <a:t>هل يجوز مشاركة هذه البيانات مع الأداة؟</a:t>
            </a:r>
            <a:endParaRPr lang="ar-SA" sz="1400" dirty="0"/>
          </a:p>
        </p:txBody>
      </p:sp>
      <p:sp>
        <p:nvSpPr>
          <p:cNvPr id="21" name="Shape 18"/>
          <p:cNvSpPr/>
          <p:nvPr/>
        </p:nvSpPr>
        <p:spPr>
          <a:xfrm>
            <a:off x="10929823" y="5413248"/>
            <a:ext cx="438912" cy="438912"/>
          </a:xfrm>
          <a:prstGeom prst="ellipse">
            <a:avLst/>
          </a:prstGeom>
          <a:solidFill>
            <a:srgbClr val="4DB449"/>
          </a:solidFill>
          <a:ln w="6350">
            <a:solidFill>
              <a:srgbClr val="4DB449"/>
            </a:solidFill>
            <a:prstDash val="solid"/>
          </a:ln>
        </p:spPr>
      </p:sp>
      <p:sp>
        <p:nvSpPr>
          <p:cNvPr id="22" name="Text 19"/>
          <p:cNvSpPr txBox="1"/>
          <p:nvPr/>
        </p:nvSpPr>
        <p:spPr>
          <a:xfrm>
            <a:off x="10929823" y="5413248"/>
            <a:ext cx="438912" cy="438912"/>
          </a:xfrm>
          <a:prstGeom prst="rect">
            <a:avLst/>
          </a:prstGeom>
          <a:noFill/>
          <a:ln/>
        </p:spPr>
        <p:txBody>
          <a:bodyPr wrap="square" lIns="0" tIns="0" rIns="0" bIns="0" rtlCol="0" anchor="ctr"/>
          <a:lstStyle/>
          <a:p>
            <a:pPr rtl="1" algn="ctr" indent="0" marL="0">
              <a:lnSpc>
                <a:spcPct val="100000"/>
              </a:lnSpc>
              <a:buNone/>
            </a:pPr>
            <a:r>
              <a:rPr lang="ar-SA" altLang="en-US" sz="1500" b="1" dirty="0">
                <a:solidFill>
                  <a:srgbClr val="000000"/>
                </a:solidFill>
                <a:latin typeface="Cairo" pitchFamily="34" charset="0"/>
                <a:ea typeface="Cairo" pitchFamily="34" charset="-122"/>
                <a:cs typeface="Cairo" pitchFamily="34" charset="-120"/>
              </a:rPr>
              <a:t>5</a:t>
            </a:r>
            <a:endParaRPr lang="ar-SA" sz="1500" dirty="0"/>
          </a:p>
        </p:txBody>
      </p:sp>
      <p:sp>
        <p:nvSpPr>
          <p:cNvPr id="23" name="Text 20"/>
          <p:cNvSpPr txBox="1"/>
          <p:nvPr/>
        </p:nvSpPr>
        <p:spPr>
          <a:xfrm>
            <a:off x="7299655" y="5376672"/>
            <a:ext cx="3474720" cy="548640"/>
          </a:xfrm>
          <a:prstGeom prst="rect">
            <a:avLst/>
          </a:prstGeom>
          <a:noFill/>
          <a:ln/>
        </p:spPr>
        <p:txBody>
          <a:bodyPr wrap="square" lIns="0" tIns="0" rIns="0" bIns="0" rtlCol="0" anchor="ctr"/>
          <a:lstStyle/>
          <a:p>
            <a:pPr rtl="1" algn="r" indent="0" marL="0">
              <a:lnSpc>
                <a:spcPct val="100000"/>
              </a:lnSpc>
              <a:buNone/>
            </a:pPr>
            <a:r>
              <a:rPr lang="ar-SA" altLang="en-US" sz="1400" dirty="0">
                <a:solidFill>
                  <a:srgbClr val="1A1A1A"/>
                </a:solidFill>
                <a:latin typeface="IBM Plex Sans Arabic" pitchFamily="34" charset="0"/>
                <a:ea typeface="IBM Plex Sans Arabic" pitchFamily="34" charset="-122"/>
                <a:cs typeface="IBM Plex Sans Arabic" pitchFamily="34" charset="-120"/>
              </a:rPr>
              <a:t>هل تسمح الخطة أو الحساب بذلك؟</a:t>
            </a:r>
            <a:endParaRPr lang="ar-SA" sz="1400" dirty="0"/>
          </a:p>
        </p:txBody>
      </p:sp>
      <p:sp>
        <p:nvSpPr>
          <p:cNvPr id="24" name="Text 21"/>
          <p:cNvSpPr txBox="1"/>
          <p:nvPr/>
        </p:nvSpPr>
        <p:spPr>
          <a:xfrm>
            <a:off x="548640" y="1783080"/>
            <a:ext cx="6156655" cy="411480"/>
          </a:xfrm>
          <a:prstGeom prst="rect">
            <a:avLst/>
          </a:prstGeom>
          <a:noFill/>
          <a:ln/>
        </p:spPr>
        <p:txBody>
          <a:bodyPr wrap="square" lIns="0" tIns="0" rIns="0" bIns="0" rtlCol="0" anchor="t"/>
          <a:lstStyle/>
          <a:p>
            <a:pPr rtl="1" algn="r" indent="0" marL="0">
              <a:lnSpc>
                <a:spcPct val="100000"/>
              </a:lnSpc>
              <a:buNone/>
            </a:pPr>
            <a:r>
              <a:rPr lang="ar-SA" altLang="en-US" sz="1700" b="1" dirty="0">
                <a:solidFill>
                  <a:srgbClr val="1A1A1A"/>
                </a:solidFill>
                <a:latin typeface="Cairo" pitchFamily="34" charset="0"/>
                <a:ea typeface="Cairo" pitchFamily="34" charset="-122"/>
                <a:cs typeface="Cairo" pitchFamily="34" charset="-120"/>
              </a:rPr>
              <a:t>مثال: ربط المهام بالأدوات</a:t>
            </a:r>
            <a:endParaRPr lang="ar-SA" sz="1700" dirty="0"/>
          </a:p>
        </p:txBody>
      </p:sp>
      <p:sp>
        <p:nvSpPr>
          <p:cNvPr id="25" name="Shape 22"/>
          <p:cNvSpPr/>
          <p:nvPr/>
        </p:nvSpPr>
        <p:spPr>
          <a:xfrm>
            <a:off x="3870655" y="2331720"/>
            <a:ext cx="2834640" cy="438912"/>
          </a:xfrm>
          <a:prstGeom prst="roundRect">
            <a:avLst>
              <a:gd name="adj" fmla="val 16667"/>
            </a:avLst>
          </a:prstGeom>
          <a:solidFill>
            <a:srgbClr val="F2F4F1"/>
          </a:solidFill>
          <a:ln w="12700">
            <a:solidFill>
              <a:srgbClr val="F2F4F1"/>
            </a:solidFill>
            <a:prstDash val="solid"/>
          </a:ln>
        </p:spPr>
      </p:sp>
      <p:sp>
        <p:nvSpPr>
          <p:cNvPr id="26" name="Text 23"/>
          <p:cNvSpPr txBox="1"/>
          <p:nvPr/>
        </p:nvSpPr>
        <p:spPr>
          <a:xfrm>
            <a:off x="3934663" y="2331720"/>
            <a:ext cx="2606040" cy="438912"/>
          </a:xfrm>
          <a:prstGeom prst="rect">
            <a:avLst/>
          </a:prstGeom>
          <a:noFill/>
          <a:ln/>
        </p:spPr>
        <p:txBody>
          <a:bodyPr wrap="square" lIns="0" tIns="0" rIns="0" bIns="0" rtlCol="0" anchor="ctr"/>
          <a:lstStyle/>
          <a:p>
            <a:pPr rtl="1" algn="r" indent="0" marL="0">
              <a:lnSpc>
                <a:spcPct val="100000"/>
              </a:lnSpc>
              <a:buNone/>
            </a:pPr>
            <a:r>
              <a:rPr lang="ar-SA" altLang="en-US" sz="1350" dirty="0">
                <a:solidFill>
                  <a:srgbClr val="1A1A1A"/>
                </a:solidFill>
                <a:latin typeface="IBM Plex Sans Arabic" pitchFamily="34" charset="0"/>
                <a:ea typeface="IBM Plex Sans Arabic" pitchFamily="34" charset="-122"/>
                <a:cs typeface="IBM Plex Sans Arabic" pitchFamily="34" charset="-120"/>
              </a:rPr>
              <a:t>إيجاد معلومات بمصادر</a:t>
            </a:r>
            <a:endParaRPr lang="ar-SA" sz="1350" dirty="0"/>
          </a:p>
        </p:txBody>
      </p:sp>
      <p:sp>
        <p:nvSpPr>
          <p:cNvPr id="27" name="Shape 24"/>
          <p:cNvSpPr/>
          <p:nvPr/>
        </p:nvSpPr>
        <p:spPr>
          <a:xfrm>
            <a:off x="1959559" y="2368296"/>
            <a:ext cx="1435608" cy="365760"/>
          </a:xfrm>
          <a:prstGeom prst="roundRect">
            <a:avLst>
              <a:gd name="adj" fmla="val 50000"/>
            </a:avLst>
          </a:prstGeom>
          <a:solidFill>
            <a:srgbClr val="000000"/>
          </a:solidFill>
          <a:ln w="9525">
            <a:solidFill>
              <a:srgbClr val="000000"/>
            </a:solidFill>
            <a:prstDash val="solid"/>
          </a:ln>
        </p:spPr>
      </p:sp>
      <p:pic>
        <p:nvPicPr>
          <p:cNvPr id="28" name="Image 1" descr="Perplexity logo">    </p:cNvPr>
          <p:cNvPicPr>
            <a:picLocks noChangeAspect="1"/>
          </p:cNvPicPr>
          <p:nvPr/>
        </p:nvPicPr>
        <p:blipFill>
          <a:blip r:embed="rId2"/>
          <a:stretch>
            <a:fillRect/>
          </a:stretch>
        </p:blipFill>
        <p:spPr>
          <a:xfrm>
            <a:off x="3084271" y="2459736"/>
            <a:ext cx="182880" cy="182880"/>
          </a:xfrm>
          <a:prstGeom prst="rect">
            <a:avLst/>
          </a:prstGeom>
        </p:spPr>
      </p:pic>
      <p:sp>
        <p:nvSpPr>
          <p:cNvPr id="29" name="Text 25"/>
          <p:cNvSpPr txBox="1"/>
          <p:nvPr/>
        </p:nvSpPr>
        <p:spPr>
          <a:xfrm>
            <a:off x="2069287" y="2368296"/>
            <a:ext cx="960120" cy="365760"/>
          </a:xfrm>
          <a:prstGeom prst="rect">
            <a:avLst/>
          </a:prstGeom>
          <a:noFill/>
          <a:ln/>
        </p:spPr>
        <p:txBody>
          <a:bodyPr wrap="square" lIns="0" tIns="0" rIns="0" bIns="0" rtlCol="0" anchor="ctr"/>
          <a:lstStyle/>
          <a:p>
            <a:pPr algn="r" indent="0" marL="0">
              <a:lnSpc>
                <a:spcPct val="100000"/>
              </a:lnSpc>
              <a:buNone/>
            </a:pPr>
            <a:r>
              <a:rPr lang="ar-SA" altLang="en-US" sz="1200" dirty="0">
                <a:solidFill>
                  <a:srgbClr val="FFFFFF"/>
                </a:solidFill>
                <a:latin typeface="IBM Plex Sans Arabic" pitchFamily="34" charset="0"/>
                <a:ea typeface="IBM Plex Sans Arabic" pitchFamily="34" charset="-122"/>
                <a:cs typeface="IBM Plex Sans Arabic" pitchFamily="34" charset="-120"/>
              </a:rPr>
              <a:t>Perplexity</a:t>
            </a:r>
            <a:endParaRPr lang="ar-SA" sz="1200" dirty="0"/>
          </a:p>
        </p:txBody>
      </p:sp>
      <p:sp>
        <p:nvSpPr>
          <p:cNvPr id="30" name="Shape 26"/>
          <p:cNvSpPr/>
          <p:nvPr/>
        </p:nvSpPr>
        <p:spPr>
          <a:xfrm>
            <a:off x="3870655" y="2880360"/>
            <a:ext cx="2834640" cy="438912"/>
          </a:xfrm>
          <a:prstGeom prst="roundRect">
            <a:avLst>
              <a:gd name="adj" fmla="val 16667"/>
            </a:avLst>
          </a:prstGeom>
          <a:solidFill>
            <a:srgbClr val="F2F4F1"/>
          </a:solidFill>
          <a:ln w="12700">
            <a:solidFill>
              <a:srgbClr val="F2F4F1"/>
            </a:solidFill>
            <a:prstDash val="solid"/>
          </a:ln>
        </p:spPr>
      </p:sp>
      <p:sp>
        <p:nvSpPr>
          <p:cNvPr id="31" name="Text 27"/>
          <p:cNvSpPr txBox="1"/>
          <p:nvPr/>
        </p:nvSpPr>
        <p:spPr>
          <a:xfrm>
            <a:off x="3934663" y="2880360"/>
            <a:ext cx="2606040" cy="438912"/>
          </a:xfrm>
          <a:prstGeom prst="rect">
            <a:avLst/>
          </a:prstGeom>
          <a:noFill/>
          <a:ln/>
        </p:spPr>
        <p:txBody>
          <a:bodyPr wrap="square" lIns="0" tIns="0" rIns="0" bIns="0" rtlCol="0" anchor="ctr"/>
          <a:lstStyle/>
          <a:p>
            <a:pPr rtl="1" algn="r" indent="0" marL="0">
              <a:lnSpc>
                <a:spcPct val="100000"/>
              </a:lnSpc>
              <a:buNone/>
            </a:pPr>
            <a:r>
              <a:rPr lang="ar-SA" altLang="en-US" sz="1350" dirty="0">
                <a:solidFill>
                  <a:srgbClr val="1A1A1A"/>
                </a:solidFill>
                <a:latin typeface="IBM Plex Sans Arabic" pitchFamily="34" charset="0"/>
                <a:ea typeface="IBM Plex Sans Arabic" pitchFamily="34" charset="-122"/>
                <a:cs typeface="IBM Plex Sans Arabic" pitchFamily="34" charset="-120"/>
              </a:rPr>
              <a:t>دراسة مجموعة مستندات</a:t>
            </a:r>
            <a:endParaRPr lang="ar-SA" sz="1350" dirty="0"/>
          </a:p>
        </p:txBody>
      </p:sp>
      <p:sp>
        <p:nvSpPr>
          <p:cNvPr id="32" name="Shape 28"/>
          <p:cNvSpPr/>
          <p:nvPr/>
        </p:nvSpPr>
        <p:spPr>
          <a:xfrm>
            <a:off x="1959559" y="2916936"/>
            <a:ext cx="1435608" cy="365760"/>
          </a:xfrm>
          <a:prstGeom prst="roundRect">
            <a:avLst>
              <a:gd name="adj" fmla="val 50000"/>
            </a:avLst>
          </a:prstGeom>
          <a:solidFill>
            <a:srgbClr val="000000"/>
          </a:solidFill>
          <a:ln w="9525">
            <a:solidFill>
              <a:srgbClr val="000000"/>
            </a:solidFill>
            <a:prstDash val="solid"/>
          </a:ln>
        </p:spPr>
      </p:sp>
      <p:pic>
        <p:nvPicPr>
          <p:cNvPr id="33" name="Image 2" descr="NotebookLM logo">    </p:cNvPr>
          <p:cNvPicPr>
            <a:picLocks noChangeAspect="1"/>
          </p:cNvPicPr>
          <p:nvPr/>
        </p:nvPicPr>
        <p:blipFill>
          <a:blip r:embed="rId3"/>
          <a:stretch>
            <a:fillRect/>
          </a:stretch>
        </p:blipFill>
        <p:spPr>
          <a:xfrm>
            <a:off x="3084271" y="3008376"/>
            <a:ext cx="182880" cy="182880"/>
          </a:xfrm>
          <a:prstGeom prst="rect">
            <a:avLst/>
          </a:prstGeom>
        </p:spPr>
      </p:pic>
      <p:sp>
        <p:nvSpPr>
          <p:cNvPr id="34" name="Text 29"/>
          <p:cNvSpPr txBox="1"/>
          <p:nvPr/>
        </p:nvSpPr>
        <p:spPr>
          <a:xfrm>
            <a:off x="2069287" y="2916936"/>
            <a:ext cx="960120" cy="365760"/>
          </a:xfrm>
          <a:prstGeom prst="rect">
            <a:avLst/>
          </a:prstGeom>
          <a:noFill/>
          <a:ln/>
        </p:spPr>
        <p:txBody>
          <a:bodyPr wrap="square" lIns="0" tIns="0" rIns="0" bIns="0" rtlCol="0" anchor="ctr"/>
          <a:lstStyle/>
          <a:p>
            <a:pPr algn="r" indent="0" marL="0">
              <a:lnSpc>
                <a:spcPct val="100000"/>
              </a:lnSpc>
              <a:buNone/>
            </a:pPr>
            <a:r>
              <a:rPr lang="ar-SA" altLang="en-US" sz="1200" dirty="0">
                <a:solidFill>
                  <a:srgbClr val="FFFFFF"/>
                </a:solidFill>
                <a:latin typeface="IBM Plex Sans Arabic" pitchFamily="34" charset="0"/>
                <a:ea typeface="IBM Plex Sans Arabic" pitchFamily="34" charset="-122"/>
                <a:cs typeface="IBM Plex Sans Arabic" pitchFamily="34" charset="-120"/>
              </a:rPr>
              <a:t>NotebookLM</a:t>
            </a:r>
            <a:endParaRPr lang="ar-SA" sz="1200" dirty="0"/>
          </a:p>
        </p:txBody>
      </p:sp>
      <p:sp>
        <p:nvSpPr>
          <p:cNvPr id="35" name="Shape 30"/>
          <p:cNvSpPr/>
          <p:nvPr/>
        </p:nvSpPr>
        <p:spPr>
          <a:xfrm>
            <a:off x="3870655" y="3429000"/>
            <a:ext cx="2834640" cy="438912"/>
          </a:xfrm>
          <a:prstGeom prst="roundRect">
            <a:avLst>
              <a:gd name="adj" fmla="val 16667"/>
            </a:avLst>
          </a:prstGeom>
          <a:solidFill>
            <a:srgbClr val="F2F4F1"/>
          </a:solidFill>
          <a:ln w="12700">
            <a:solidFill>
              <a:srgbClr val="F2F4F1"/>
            </a:solidFill>
            <a:prstDash val="solid"/>
          </a:ln>
        </p:spPr>
      </p:sp>
      <p:sp>
        <p:nvSpPr>
          <p:cNvPr id="36" name="Text 31"/>
          <p:cNvSpPr txBox="1"/>
          <p:nvPr/>
        </p:nvSpPr>
        <p:spPr>
          <a:xfrm>
            <a:off x="3934663" y="3429000"/>
            <a:ext cx="2606040" cy="438912"/>
          </a:xfrm>
          <a:prstGeom prst="rect">
            <a:avLst/>
          </a:prstGeom>
          <a:noFill/>
          <a:ln/>
        </p:spPr>
        <p:txBody>
          <a:bodyPr wrap="square" lIns="0" tIns="0" rIns="0" bIns="0" rtlCol="0" anchor="ctr"/>
          <a:lstStyle/>
          <a:p>
            <a:pPr rtl="1" algn="r" indent="0" marL="0">
              <a:lnSpc>
                <a:spcPct val="100000"/>
              </a:lnSpc>
              <a:buNone/>
            </a:pPr>
            <a:r>
              <a:rPr lang="ar-SA" altLang="en-US" sz="1350" dirty="0">
                <a:solidFill>
                  <a:srgbClr val="1A1A1A"/>
                </a:solidFill>
                <a:latin typeface="IBM Plex Sans Arabic" pitchFamily="34" charset="0"/>
                <a:ea typeface="IBM Plex Sans Arabic" pitchFamily="34" charset="-122"/>
                <a:cs typeface="IBM Plex Sans Arabic" pitchFamily="34" charset="-120"/>
              </a:rPr>
              <a:t>كتابة نص طويل وتحريره</a:t>
            </a:r>
            <a:endParaRPr lang="ar-SA" sz="1350" dirty="0"/>
          </a:p>
        </p:txBody>
      </p:sp>
      <p:sp>
        <p:nvSpPr>
          <p:cNvPr id="37" name="Shape 32"/>
          <p:cNvSpPr/>
          <p:nvPr/>
        </p:nvSpPr>
        <p:spPr>
          <a:xfrm>
            <a:off x="2270455" y="3465576"/>
            <a:ext cx="1124712" cy="365760"/>
          </a:xfrm>
          <a:prstGeom prst="roundRect">
            <a:avLst>
              <a:gd name="adj" fmla="val 50000"/>
            </a:avLst>
          </a:prstGeom>
          <a:solidFill>
            <a:srgbClr val="000000"/>
          </a:solidFill>
          <a:ln w="9525">
            <a:solidFill>
              <a:srgbClr val="000000"/>
            </a:solidFill>
            <a:prstDash val="solid"/>
          </a:ln>
        </p:spPr>
      </p:sp>
      <p:pic>
        <p:nvPicPr>
          <p:cNvPr id="38" name="Image 3" descr="Claude logo">    </p:cNvPr>
          <p:cNvPicPr>
            <a:picLocks noChangeAspect="1"/>
          </p:cNvPicPr>
          <p:nvPr/>
        </p:nvPicPr>
        <p:blipFill>
          <a:blip r:embed="rId4"/>
          <a:stretch>
            <a:fillRect/>
          </a:stretch>
        </p:blipFill>
        <p:spPr>
          <a:xfrm>
            <a:off x="3084271" y="3557016"/>
            <a:ext cx="182880" cy="182880"/>
          </a:xfrm>
          <a:prstGeom prst="rect">
            <a:avLst/>
          </a:prstGeom>
        </p:spPr>
      </p:pic>
      <p:sp>
        <p:nvSpPr>
          <p:cNvPr id="39" name="Text 33"/>
          <p:cNvSpPr txBox="1"/>
          <p:nvPr/>
        </p:nvSpPr>
        <p:spPr>
          <a:xfrm>
            <a:off x="2380183" y="3465576"/>
            <a:ext cx="649224" cy="365760"/>
          </a:xfrm>
          <a:prstGeom prst="rect">
            <a:avLst/>
          </a:prstGeom>
          <a:noFill/>
          <a:ln/>
        </p:spPr>
        <p:txBody>
          <a:bodyPr wrap="square" lIns="0" tIns="0" rIns="0" bIns="0" rtlCol="0" anchor="ctr"/>
          <a:lstStyle/>
          <a:p>
            <a:pPr algn="r" indent="0" marL="0">
              <a:lnSpc>
                <a:spcPct val="100000"/>
              </a:lnSpc>
              <a:buNone/>
            </a:pPr>
            <a:r>
              <a:rPr lang="ar-SA" altLang="en-US" sz="1200" dirty="0">
                <a:solidFill>
                  <a:srgbClr val="FFFFFF"/>
                </a:solidFill>
                <a:latin typeface="IBM Plex Sans Arabic" pitchFamily="34" charset="0"/>
                <a:ea typeface="IBM Plex Sans Arabic" pitchFamily="34" charset="-122"/>
                <a:cs typeface="IBM Plex Sans Arabic" pitchFamily="34" charset="-120"/>
              </a:rPr>
              <a:t>Claude</a:t>
            </a:r>
            <a:endParaRPr lang="ar-SA" sz="1200" dirty="0"/>
          </a:p>
        </p:txBody>
      </p:sp>
      <p:sp>
        <p:nvSpPr>
          <p:cNvPr id="40" name="Shape 34"/>
          <p:cNvSpPr/>
          <p:nvPr/>
        </p:nvSpPr>
        <p:spPr>
          <a:xfrm>
            <a:off x="1250899" y="3465576"/>
            <a:ext cx="928116" cy="365760"/>
          </a:xfrm>
          <a:prstGeom prst="roundRect">
            <a:avLst>
              <a:gd name="adj" fmla="val 50000"/>
            </a:avLst>
          </a:prstGeom>
          <a:solidFill>
            <a:srgbClr val="000000"/>
          </a:solidFill>
          <a:ln w="9525">
            <a:solidFill>
              <a:srgbClr val="000000"/>
            </a:solidFill>
            <a:prstDash val="solid"/>
          </a:ln>
        </p:spPr>
      </p:sp>
      <p:sp>
        <p:nvSpPr>
          <p:cNvPr id="41" name="Text 35"/>
          <p:cNvSpPr txBox="1"/>
          <p:nvPr/>
        </p:nvSpPr>
        <p:spPr>
          <a:xfrm>
            <a:off x="1342339" y="3465576"/>
            <a:ext cx="745236" cy="365760"/>
          </a:xfrm>
          <a:prstGeom prst="rect">
            <a:avLst/>
          </a:prstGeom>
          <a:noFill/>
          <a:ln/>
        </p:spPr>
        <p:txBody>
          <a:bodyPr wrap="square" lIns="0" tIns="0" rIns="0" bIns="0" rtlCol="0" anchor="ctr"/>
          <a:lstStyle/>
          <a:p>
            <a:pPr algn="ctr" indent="0" marL="0">
              <a:lnSpc>
                <a:spcPct val="100000"/>
              </a:lnSpc>
              <a:buNone/>
            </a:pPr>
            <a:r>
              <a:rPr lang="ar-SA" altLang="en-US" sz="1200" dirty="0">
                <a:solidFill>
                  <a:srgbClr val="FFFFFF"/>
                </a:solidFill>
                <a:latin typeface="IBM Plex Sans Arabic" pitchFamily="34" charset="0"/>
                <a:ea typeface="IBM Plex Sans Arabic" pitchFamily="34" charset="-122"/>
                <a:cs typeface="IBM Plex Sans Arabic" pitchFamily="34" charset="-120"/>
              </a:rPr>
              <a:t>ChatGPT</a:t>
            </a:r>
            <a:endParaRPr lang="ar-SA" sz="1200" dirty="0"/>
          </a:p>
        </p:txBody>
      </p:sp>
      <p:sp>
        <p:nvSpPr>
          <p:cNvPr id="42" name="Shape 36"/>
          <p:cNvSpPr/>
          <p:nvPr/>
        </p:nvSpPr>
        <p:spPr>
          <a:xfrm>
            <a:off x="3870655" y="3977640"/>
            <a:ext cx="2834640" cy="438912"/>
          </a:xfrm>
          <a:prstGeom prst="roundRect">
            <a:avLst>
              <a:gd name="adj" fmla="val 16667"/>
            </a:avLst>
          </a:prstGeom>
          <a:solidFill>
            <a:srgbClr val="F2F4F1"/>
          </a:solidFill>
          <a:ln w="12700">
            <a:solidFill>
              <a:srgbClr val="F2F4F1"/>
            </a:solidFill>
            <a:prstDash val="solid"/>
          </a:ln>
        </p:spPr>
      </p:sp>
      <p:sp>
        <p:nvSpPr>
          <p:cNvPr id="43" name="Text 37"/>
          <p:cNvSpPr txBox="1"/>
          <p:nvPr/>
        </p:nvSpPr>
        <p:spPr>
          <a:xfrm>
            <a:off x="3934663" y="3977640"/>
            <a:ext cx="2606040" cy="438912"/>
          </a:xfrm>
          <a:prstGeom prst="rect">
            <a:avLst/>
          </a:prstGeom>
          <a:noFill/>
          <a:ln/>
        </p:spPr>
        <p:txBody>
          <a:bodyPr wrap="square" lIns="0" tIns="0" rIns="0" bIns="0" rtlCol="0" anchor="ctr"/>
          <a:lstStyle/>
          <a:p>
            <a:pPr rtl="1" algn="r" indent="0" marL="0">
              <a:lnSpc>
                <a:spcPct val="100000"/>
              </a:lnSpc>
              <a:buNone/>
            </a:pPr>
            <a:r>
              <a:rPr lang="ar-SA" altLang="en-US" sz="1350" dirty="0">
                <a:solidFill>
                  <a:srgbClr val="1A1A1A"/>
                </a:solidFill>
                <a:latin typeface="IBM Plex Sans Arabic" pitchFamily="34" charset="0"/>
                <a:ea typeface="IBM Plex Sans Arabic" pitchFamily="34" charset="-122"/>
                <a:cs typeface="IBM Plex Sans Arabic" pitchFamily="34" charset="-120"/>
              </a:rPr>
              <a:t>توليد صورة أو تعديلها</a:t>
            </a:r>
            <a:endParaRPr lang="ar-SA" sz="1350" dirty="0"/>
          </a:p>
        </p:txBody>
      </p:sp>
      <p:sp>
        <p:nvSpPr>
          <p:cNvPr id="44" name="Shape 38"/>
          <p:cNvSpPr/>
          <p:nvPr/>
        </p:nvSpPr>
        <p:spPr>
          <a:xfrm>
            <a:off x="2270455" y="4014216"/>
            <a:ext cx="1124712" cy="365760"/>
          </a:xfrm>
          <a:prstGeom prst="roundRect">
            <a:avLst>
              <a:gd name="adj" fmla="val 50000"/>
            </a:avLst>
          </a:prstGeom>
          <a:solidFill>
            <a:srgbClr val="000000"/>
          </a:solidFill>
          <a:ln w="9525">
            <a:solidFill>
              <a:srgbClr val="000000"/>
            </a:solidFill>
            <a:prstDash val="solid"/>
          </a:ln>
        </p:spPr>
      </p:sp>
      <p:pic>
        <p:nvPicPr>
          <p:cNvPr id="45" name="Image 4" descr="Gemini logo">    </p:cNvPr>
          <p:cNvPicPr>
            <a:picLocks noChangeAspect="1"/>
          </p:cNvPicPr>
          <p:nvPr/>
        </p:nvPicPr>
        <p:blipFill>
          <a:blip r:embed="rId5"/>
          <a:stretch>
            <a:fillRect/>
          </a:stretch>
        </p:blipFill>
        <p:spPr>
          <a:xfrm>
            <a:off x="3084271" y="4105656"/>
            <a:ext cx="182880" cy="182880"/>
          </a:xfrm>
          <a:prstGeom prst="rect">
            <a:avLst/>
          </a:prstGeom>
        </p:spPr>
      </p:pic>
      <p:sp>
        <p:nvSpPr>
          <p:cNvPr id="46" name="Text 39"/>
          <p:cNvSpPr txBox="1"/>
          <p:nvPr/>
        </p:nvSpPr>
        <p:spPr>
          <a:xfrm>
            <a:off x="2380183" y="4014216"/>
            <a:ext cx="649224" cy="365760"/>
          </a:xfrm>
          <a:prstGeom prst="rect">
            <a:avLst/>
          </a:prstGeom>
          <a:noFill/>
          <a:ln/>
        </p:spPr>
        <p:txBody>
          <a:bodyPr wrap="square" lIns="0" tIns="0" rIns="0" bIns="0" rtlCol="0" anchor="ctr"/>
          <a:lstStyle/>
          <a:p>
            <a:pPr algn="r" indent="0" marL="0">
              <a:lnSpc>
                <a:spcPct val="100000"/>
              </a:lnSpc>
              <a:buNone/>
            </a:pPr>
            <a:r>
              <a:rPr lang="ar-SA" altLang="en-US" sz="1200" dirty="0">
                <a:solidFill>
                  <a:srgbClr val="FFFFFF"/>
                </a:solidFill>
                <a:latin typeface="IBM Plex Sans Arabic" pitchFamily="34" charset="0"/>
                <a:ea typeface="IBM Plex Sans Arabic" pitchFamily="34" charset="-122"/>
                <a:cs typeface="IBM Plex Sans Arabic" pitchFamily="34" charset="-120"/>
              </a:rPr>
              <a:t>Gemini</a:t>
            </a:r>
            <a:endParaRPr lang="ar-SA" sz="1200" dirty="0"/>
          </a:p>
        </p:txBody>
      </p:sp>
      <p:sp>
        <p:nvSpPr>
          <p:cNvPr id="47" name="Shape 40"/>
          <p:cNvSpPr/>
          <p:nvPr/>
        </p:nvSpPr>
        <p:spPr>
          <a:xfrm>
            <a:off x="784555" y="4014216"/>
            <a:ext cx="1394460" cy="365760"/>
          </a:xfrm>
          <a:prstGeom prst="roundRect">
            <a:avLst>
              <a:gd name="adj" fmla="val 50000"/>
            </a:avLst>
          </a:prstGeom>
          <a:solidFill>
            <a:srgbClr val="000000"/>
          </a:solidFill>
          <a:ln w="9525">
            <a:solidFill>
              <a:srgbClr val="000000"/>
            </a:solidFill>
            <a:prstDash val="solid"/>
          </a:ln>
        </p:spPr>
      </p:sp>
      <p:sp>
        <p:nvSpPr>
          <p:cNvPr id="48" name="Text 41"/>
          <p:cNvSpPr txBox="1"/>
          <p:nvPr/>
        </p:nvSpPr>
        <p:spPr>
          <a:xfrm>
            <a:off x="875995" y="4014216"/>
            <a:ext cx="1211580" cy="365760"/>
          </a:xfrm>
          <a:prstGeom prst="rect">
            <a:avLst/>
          </a:prstGeom>
          <a:noFill/>
          <a:ln/>
        </p:spPr>
        <p:txBody>
          <a:bodyPr wrap="square" lIns="0" tIns="0" rIns="0" bIns="0" rtlCol="0" anchor="ctr"/>
          <a:lstStyle/>
          <a:p>
            <a:pPr algn="ctr" indent="0" marL="0">
              <a:lnSpc>
                <a:spcPct val="100000"/>
              </a:lnSpc>
              <a:buNone/>
            </a:pPr>
            <a:r>
              <a:rPr lang="ar-SA" altLang="en-US" sz="1200" dirty="0">
                <a:solidFill>
                  <a:srgbClr val="FFFFFF"/>
                </a:solidFill>
                <a:latin typeface="IBM Plex Sans Arabic" pitchFamily="34" charset="0"/>
                <a:ea typeface="IBM Plex Sans Arabic" pitchFamily="34" charset="-122"/>
                <a:cs typeface="IBM Plex Sans Arabic" pitchFamily="34" charset="-120"/>
              </a:rPr>
              <a:t>Adobe Firefly</a:t>
            </a:r>
            <a:endParaRPr lang="ar-SA" sz="1200" dirty="0"/>
          </a:p>
        </p:txBody>
      </p:sp>
      <p:sp>
        <p:nvSpPr>
          <p:cNvPr id="49" name="Shape 42"/>
          <p:cNvSpPr/>
          <p:nvPr/>
        </p:nvSpPr>
        <p:spPr>
          <a:xfrm>
            <a:off x="3870655" y="4526280"/>
            <a:ext cx="2834640" cy="438912"/>
          </a:xfrm>
          <a:prstGeom prst="roundRect">
            <a:avLst>
              <a:gd name="adj" fmla="val 16667"/>
            </a:avLst>
          </a:prstGeom>
          <a:solidFill>
            <a:srgbClr val="F2F4F1"/>
          </a:solidFill>
          <a:ln w="12700">
            <a:solidFill>
              <a:srgbClr val="F2F4F1"/>
            </a:solidFill>
            <a:prstDash val="solid"/>
          </a:ln>
        </p:spPr>
      </p:sp>
      <p:sp>
        <p:nvSpPr>
          <p:cNvPr id="50" name="Text 43"/>
          <p:cNvSpPr txBox="1"/>
          <p:nvPr/>
        </p:nvSpPr>
        <p:spPr>
          <a:xfrm>
            <a:off x="3934663" y="4526280"/>
            <a:ext cx="2606040" cy="438912"/>
          </a:xfrm>
          <a:prstGeom prst="rect">
            <a:avLst/>
          </a:prstGeom>
          <a:noFill/>
          <a:ln/>
        </p:spPr>
        <p:txBody>
          <a:bodyPr wrap="square" lIns="0" tIns="0" rIns="0" bIns="0" rtlCol="0" anchor="ctr"/>
          <a:lstStyle/>
          <a:p>
            <a:pPr rtl="1" algn="r" indent="0" marL="0">
              <a:lnSpc>
                <a:spcPct val="100000"/>
              </a:lnSpc>
              <a:buNone/>
            </a:pPr>
            <a:r>
              <a:rPr lang="ar-SA" altLang="en-US" sz="1350" dirty="0">
                <a:solidFill>
                  <a:srgbClr val="1A1A1A"/>
                </a:solidFill>
                <a:latin typeface="IBM Plex Sans Arabic" pitchFamily="34" charset="0"/>
                <a:ea typeface="IBM Plex Sans Arabic" pitchFamily="34" charset="-122"/>
                <a:cs typeface="IBM Plex Sans Arabic" pitchFamily="34" charset="-120"/>
              </a:rPr>
              <a:t>توليد لقطة فيديو</a:t>
            </a:r>
            <a:endParaRPr lang="ar-SA" sz="1350" dirty="0"/>
          </a:p>
        </p:txBody>
      </p:sp>
      <p:sp>
        <p:nvSpPr>
          <p:cNvPr id="51" name="Shape 44"/>
          <p:cNvSpPr/>
          <p:nvPr/>
        </p:nvSpPr>
        <p:spPr>
          <a:xfrm>
            <a:off x="2156155" y="4562856"/>
            <a:ext cx="1239012" cy="365760"/>
          </a:xfrm>
          <a:prstGeom prst="roundRect">
            <a:avLst>
              <a:gd name="adj" fmla="val 50000"/>
            </a:avLst>
          </a:prstGeom>
          <a:solidFill>
            <a:srgbClr val="000000"/>
          </a:solidFill>
          <a:ln w="9525">
            <a:solidFill>
              <a:srgbClr val="000000"/>
            </a:solidFill>
            <a:prstDash val="solid"/>
          </a:ln>
        </p:spPr>
      </p:sp>
      <p:sp>
        <p:nvSpPr>
          <p:cNvPr id="52" name="Text 45"/>
          <p:cNvSpPr txBox="1"/>
          <p:nvPr/>
        </p:nvSpPr>
        <p:spPr>
          <a:xfrm>
            <a:off x="2247595" y="4562856"/>
            <a:ext cx="1056132" cy="365760"/>
          </a:xfrm>
          <a:prstGeom prst="rect">
            <a:avLst/>
          </a:prstGeom>
          <a:noFill/>
          <a:ln/>
        </p:spPr>
        <p:txBody>
          <a:bodyPr wrap="square" lIns="0" tIns="0" rIns="0" bIns="0" rtlCol="0" anchor="ctr"/>
          <a:lstStyle/>
          <a:p>
            <a:pPr algn="ctr" indent="0" marL="0">
              <a:lnSpc>
                <a:spcPct val="100000"/>
              </a:lnSpc>
              <a:buNone/>
            </a:pPr>
            <a:r>
              <a:rPr lang="ar-SA" altLang="en-US" sz="1200" dirty="0">
                <a:solidFill>
                  <a:srgbClr val="FFFFFF"/>
                </a:solidFill>
                <a:latin typeface="IBM Plex Sans Arabic" pitchFamily="34" charset="0"/>
                <a:ea typeface="IBM Plex Sans Arabic" pitchFamily="34" charset="-122"/>
                <a:cs typeface="IBM Plex Sans Arabic" pitchFamily="34" charset="-120"/>
              </a:rPr>
              <a:t>Google Flow</a:t>
            </a:r>
            <a:endParaRPr lang="ar-SA" sz="1200" dirty="0"/>
          </a:p>
        </p:txBody>
      </p:sp>
      <p:sp>
        <p:nvSpPr>
          <p:cNvPr id="53" name="Shape 46"/>
          <p:cNvSpPr/>
          <p:nvPr/>
        </p:nvSpPr>
        <p:spPr>
          <a:xfrm>
            <a:off x="1214323" y="4562856"/>
            <a:ext cx="850392" cy="365760"/>
          </a:xfrm>
          <a:prstGeom prst="roundRect">
            <a:avLst>
              <a:gd name="adj" fmla="val 50000"/>
            </a:avLst>
          </a:prstGeom>
          <a:solidFill>
            <a:srgbClr val="000000"/>
          </a:solidFill>
          <a:ln w="9525">
            <a:solidFill>
              <a:srgbClr val="000000"/>
            </a:solidFill>
            <a:prstDash val="solid"/>
          </a:ln>
        </p:spPr>
      </p:sp>
      <p:sp>
        <p:nvSpPr>
          <p:cNvPr id="54" name="Text 47"/>
          <p:cNvSpPr txBox="1"/>
          <p:nvPr/>
        </p:nvSpPr>
        <p:spPr>
          <a:xfrm>
            <a:off x="1305763" y="4562856"/>
            <a:ext cx="667512" cy="365760"/>
          </a:xfrm>
          <a:prstGeom prst="rect">
            <a:avLst/>
          </a:prstGeom>
          <a:noFill/>
          <a:ln/>
        </p:spPr>
        <p:txBody>
          <a:bodyPr wrap="square" lIns="0" tIns="0" rIns="0" bIns="0" rtlCol="0" anchor="ctr"/>
          <a:lstStyle/>
          <a:p>
            <a:pPr algn="ctr" indent="0" marL="0">
              <a:lnSpc>
                <a:spcPct val="100000"/>
              </a:lnSpc>
              <a:buNone/>
            </a:pPr>
            <a:r>
              <a:rPr lang="ar-SA" altLang="en-US" sz="1200" dirty="0">
                <a:solidFill>
                  <a:srgbClr val="FFFFFF"/>
                </a:solidFill>
                <a:latin typeface="IBM Plex Sans Arabic" pitchFamily="34" charset="0"/>
                <a:ea typeface="IBM Plex Sans Arabic" pitchFamily="34" charset="-122"/>
                <a:cs typeface="IBM Plex Sans Arabic" pitchFamily="34" charset="-120"/>
              </a:rPr>
              <a:t>Runway</a:t>
            </a:r>
            <a:endParaRPr lang="ar-SA" sz="1200" dirty="0"/>
          </a:p>
        </p:txBody>
      </p:sp>
      <p:sp>
        <p:nvSpPr>
          <p:cNvPr id="55" name="Shape 48"/>
          <p:cNvSpPr/>
          <p:nvPr/>
        </p:nvSpPr>
        <p:spPr>
          <a:xfrm>
            <a:off x="3870655" y="5074920"/>
            <a:ext cx="2834640" cy="438912"/>
          </a:xfrm>
          <a:prstGeom prst="roundRect">
            <a:avLst>
              <a:gd name="adj" fmla="val 16667"/>
            </a:avLst>
          </a:prstGeom>
          <a:solidFill>
            <a:srgbClr val="F2F4F1"/>
          </a:solidFill>
          <a:ln w="12700">
            <a:solidFill>
              <a:srgbClr val="F2F4F1"/>
            </a:solidFill>
            <a:prstDash val="solid"/>
          </a:ln>
        </p:spPr>
      </p:sp>
      <p:sp>
        <p:nvSpPr>
          <p:cNvPr id="56" name="Text 49"/>
          <p:cNvSpPr txBox="1"/>
          <p:nvPr/>
        </p:nvSpPr>
        <p:spPr>
          <a:xfrm>
            <a:off x="3934663" y="5074920"/>
            <a:ext cx="2606040" cy="438912"/>
          </a:xfrm>
          <a:prstGeom prst="rect">
            <a:avLst/>
          </a:prstGeom>
          <a:noFill/>
          <a:ln/>
        </p:spPr>
        <p:txBody>
          <a:bodyPr wrap="square" lIns="0" tIns="0" rIns="0" bIns="0" rtlCol="0" anchor="ctr"/>
          <a:lstStyle/>
          <a:p>
            <a:pPr rtl="1" algn="r" indent="0" marL="0">
              <a:lnSpc>
                <a:spcPct val="100000"/>
              </a:lnSpc>
              <a:buNone/>
            </a:pPr>
            <a:r>
              <a:rPr lang="ar-SA" altLang="en-US" sz="1350" dirty="0">
                <a:solidFill>
                  <a:srgbClr val="1A1A1A"/>
                </a:solidFill>
                <a:latin typeface="IBM Plex Sans Arabic" pitchFamily="34" charset="0"/>
                <a:ea typeface="IBM Plex Sans Arabic" pitchFamily="34" charset="-122"/>
                <a:cs typeface="IBM Plex Sans Arabic" pitchFamily="34" charset="-120"/>
              </a:rPr>
              <a:t>بناء صفحة ويب</a:t>
            </a:r>
            <a:endParaRPr lang="ar-SA" sz="1350" dirty="0"/>
          </a:p>
        </p:txBody>
      </p:sp>
      <p:sp>
        <p:nvSpPr>
          <p:cNvPr id="57" name="Shape 50"/>
          <p:cNvSpPr/>
          <p:nvPr/>
        </p:nvSpPr>
        <p:spPr>
          <a:xfrm>
            <a:off x="1881835" y="5111496"/>
            <a:ext cx="1513332" cy="365760"/>
          </a:xfrm>
          <a:prstGeom prst="roundRect">
            <a:avLst>
              <a:gd name="adj" fmla="val 50000"/>
            </a:avLst>
          </a:prstGeom>
          <a:solidFill>
            <a:srgbClr val="000000"/>
          </a:solidFill>
          <a:ln w="9525">
            <a:solidFill>
              <a:srgbClr val="000000"/>
            </a:solidFill>
            <a:prstDash val="solid"/>
          </a:ln>
        </p:spPr>
      </p:sp>
      <p:pic>
        <p:nvPicPr>
          <p:cNvPr id="58" name="Image 5" descr="Claude Code logo">    </p:cNvPr>
          <p:cNvPicPr>
            <a:picLocks noChangeAspect="1"/>
          </p:cNvPicPr>
          <p:nvPr/>
        </p:nvPicPr>
        <p:blipFill>
          <a:blip r:embed="rId6"/>
          <a:stretch>
            <a:fillRect/>
          </a:stretch>
        </p:blipFill>
        <p:spPr>
          <a:xfrm>
            <a:off x="3084271" y="5202936"/>
            <a:ext cx="182880" cy="182880"/>
          </a:xfrm>
          <a:prstGeom prst="rect">
            <a:avLst/>
          </a:prstGeom>
        </p:spPr>
      </p:pic>
      <p:sp>
        <p:nvSpPr>
          <p:cNvPr id="59" name="Text 51"/>
          <p:cNvSpPr txBox="1"/>
          <p:nvPr/>
        </p:nvSpPr>
        <p:spPr>
          <a:xfrm>
            <a:off x="1991563" y="5111496"/>
            <a:ext cx="1037844" cy="365760"/>
          </a:xfrm>
          <a:prstGeom prst="rect">
            <a:avLst/>
          </a:prstGeom>
          <a:noFill/>
          <a:ln/>
        </p:spPr>
        <p:txBody>
          <a:bodyPr wrap="square" lIns="0" tIns="0" rIns="0" bIns="0" rtlCol="0" anchor="ctr"/>
          <a:lstStyle/>
          <a:p>
            <a:pPr algn="r" indent="0" marL="0">
              <a:lnSpc>
                <a:spcPct val="100000"/>
              </a:lnSpc>
              <a:buNone/>
            </a:pPr>
            <a:r>
              <a:rPr lang="ar-SA" altLang="en-US" sz="1200" dirty="0">
                <a:solidFill>
                  <a:srgbClr val="FFFFFF"/>
                </a:solidFill>
                <a:latin typeface="IBM Plex Sans Arabic" pitchFamily="34" charset="0"/>
                <a:ea typeface="IBM Plex Sans Arabic" pitchFamily="34" charset="-122"/>
                <a:cs typeface="IBM Plex Sans Arabic" pitchFamily="34" charset="-120"/>
              </a:rPr>
              <a:t>Claude Code</a:t>
            </a:r>
            <a:endParaRPr lang="ar-SA" sz="1200" dirty="0"/>
          </a:p>
        </p:txBody>
      </p:sp>
      <p:sp>
        <p:nvSpPr>
          <p:cNvPr id="60" name="Shape 52"/>
          <p:cNvSpPr/>
          <p:nvPr/>
        </p:nvSpPr>
        <p:spPr>
          <a:xfrm>
            <a:off x="3870655" y="5623560"/>
            <a:ext cx="2834640" cy="438912"/>
          </a:xfrm>
          <a:prstGeom prst="roundRect">
            <a:avLst>
              <a:gd name="adj" fmla="val 16667"/>
            </a:avLst>
          </a:prstGeom>
          <a:solidFill>
            <a:srgbClr val="F2F4F1"/>
          </a:solidFill>
          <a:ln w="12700">
            <a:solidFill>
              <a:srgbClr val="F2F4F1"/>
            </a:solidFill>
            <a:prstDash val="solid"/>
          </a:ln>
        </p:spPr>
      </p:sp>
      <p:sp>
        <p:nvSpPr>
          <p:cNvPr id="61" name="Text 53"/>
          <p:cNvSpPr txBox="1"/>
          <p:nvPr/>
        </p:nvSpPr>
        <p:spPr>
          <a:xfrm>
            <a:off x="3934663" y="5623560"/>
            <a:ext cx="2606040" cy="438912"/>
          </a:xfrm>
          <a:prstGeom prst="rect">
            <a:avLst/>
          </a:prstGeom>
          <a:noFill/>
          <a:ln/>
        </p:spPr>
        <p:txBody>
          <a:bodyPr wrap="square" lIns="0" tIns="0" rIns="0" bIns="0" rtlCol="0" anchor="ctr"/>
          <a:lstStyle/>
          <a:p>
            <a:pPr rtl="1" algn="r" indent="0" marL="0">
              <a:lnSpc>
                <a:spcPct val="100000"/>
              </a:lnSpc>
              <a:buNone/>
            </a:pPr>
            <a:r>
              <a:rPr lang="ar-SA" altLang="en-US" sz="1350" dirty="0">
                <a:solidFill>
                  <a:srgbClr val="1A1A1A"/>
                </a:solidFill>
                <a:latin typeface="IBM Plex Sans Arabic" pitchFamily="34" charset="0"/>
                <a:ea typeface="IBM Plex Sans Arabic" pitchFamily="34" charset="-122"/>
                <a:cs typeface="IBM Plex Sans Arabic" pitchFamily="34" charset="-120"/>
              </a:rPr>
              <a:t>تنفيذ مهمة كل أسبوع</a:t>
            </a:r>
            <a:endParaRPr lang="ar-SA" sz="1350" dirty="0"/>
          </a:p>
        </p:txBody>
      </p:sp>
      <p:sp>
        <p:nvSpPr>
          <p:cNvPr id="62" name="Shape 54"/>
          <p:cNvSpPr/>
          <p:nvPr/>
        </p:nvSpPr>
        <p:spPr>
          <a:xfrm>
            <a:off x="2503627" y="5660136"/>
            <a:ext cx="891540" cy="365760"/>
          </a:xfrm>
          <a:prstGeom prst="roundRect">
            <a:avLst>
              <a:gd name="adj" fmla="val 50000"/>
            </a:avLst>
          </a:prstGeom>
          <a:solidFill>
            <a:srgbClr val="000000"/>
          </a:solidFill>
          <a:ln w="9525">
            <a:solidFill>
              <a:srgbClr val="000000"/>
            </a:solidFill>
            <a:prstDash val="solid"/>
          </a:ln>
        </p:spPr>
      </p:sp>
      <p:pic>
        <p:nvPicPr>
          <p:cNvPr id="63" name="Image 6" descr="n8n logo">    </p:cNvPr>
          <p:cNvPicPr>
            <a:picLocks noChangeAspect="1"/>
          </p:cNvPicPr>
          <p:nvPr/>
        </p:nvPicPr>
        <p:blipFill>
          <a:blip r:embed="rId7"/>
          <a:stretch>
            <a:fillRect/>
          </a:stretch>
        </p:blipFill>
        <p:spPr>
          <a:xfrm>
            <a:off x="3084271" y="5751576"/>
            <a:ext cx="182880" cy="182880"/>
          </a:xfrm>
          <a:prstGeom prst="rect">
            <a:avLst/>
          </a:prstGeom>
        </p:spPr>
      </p:pic>
      <p:sp>
        <p:nvSpPr>
          <p:cNvPr id="64" name="Text 55"/>
          <p:cNvSpPr txBox="1"/>
          <p:nvPr/>
        </p:nvSpPr>
        <p:spPr>
          <a:xfrm>
            <a:off x="2613355" y="5660136"/>
            <a:ext cx="416052" cy="365760"/>
          </a:xfrm>
          <a:prstGeom prst="rect">
            <a:avLst/>
          </a:prstGeom>
          <a:noFill/>
          <a:ln/>
        </p:spPr>
        <p:txBody>
          <a:bodyPr wrap="square" lIns="0" tIns="0" rIns="0" bIns="0" rtlCol="0" anchor="ctr"/>
          <a:lstStyle/>
          <a:p>
            <a:pPr algn="r" indent="0" marL="0">
              <a:lnSpc>
                <a:spcPct val="100000"/>
              </a:lnSpc>
              <a:buNone/>
            </a:pPr>
            <a:r>
              <a:rPr lang="ar-SA" altLang="en-US" sz="1200" dirty="0">
                <a:solidFill>
                  <a:srgbClr val="FFFFFF"/>
                </a:solidFill>
                <a:latin typeface="IBM Plex Sans Arabic" pitchFamily="34" charset="0"/>
                <a:ea typeface="IBM Plex Sans Arabic" pitchFamily="34" charset="-122"/>
                <a:cs typeface="IBM Plex Sans Arabic" pitchFamily="34" charset="-120"/>
              </a:rPr>
              <a:t>n8n</a:t>
            </a:r>
            <a:endParaRPr lang="ar-SA" sz="1200" dirty="0"/>
          </a:p>
        </p:txBody>
      </p:sp>
      <p:pic>
        <p:nvPicPr>
          <p:cNvPr id="66" name="Image 7" descr="preencoded.png">    </p:cNvPr>
          <p:cNvPicPr>
            <a:picLocks noChangeAspect="1"/>
          </p:cNvPicPr>
          <p:nvPr/>
        </p:nvPicPr>
        <p:blipFill>
          <a:blip r:embed="rId8"/>
          <a:stretch>
            <a:fillRect/>
          </a:stretch>
        </p:blipFill>
        <p:spPr>
          <a:xfrm>
            <a:off x="3504895" y="2414016"/>
            <a:ext cx="274320" cy="274320"/>
          </a:xfrm>
          <a:prstGeom prst="rect">
            <a:avLst/>
          </a:prstGeom>
        </p:spPr>
      </p:pic>
      <p:pic>
        <p:nvPicPr>
          <p:cNvPr id="67" name="Image 8" descr="preencoded.png">    </p:cNvPr>
          <p:cNvPicPr>
            <a:picLocks noChangeAspect="1"/>
          </p:cNvPicPr>
          <p:nvPr/>
        </p:nvPicPr>
        <p:blipFill>
          <a:blip r:embed="rId9"/>
          <a:stretch>
            <a:fillRect/>
          </a:stretch>
        </p:blipFill>
        <p:spPr>
          <a:xfrm>
            <a:off x="3504895" y="4059936"/>
            <a:ext cx="274320" cy="274320"/>
          </a:xfrm>
          <a:prstGeom prst="rect">
            <a:avLst/>
          </a:prstGeom>
        </p:spPr>
      </p:pic>
      <p:pic>
        <p:nvPicPr>
          <p:cNvPr id="68" name="Image 9" descr="preencoded.png">    </p:cNvPr>
          <p:cNvPicPr>
            <a:picLocks noChangeAspect="1"/>
          </p:cNvPicPr>
          <p:nvPr/>
        </p:nvPicPr>
        <p:blipFill>
          <a:blip r:embed="rId10"/>
          <a:stretch>
            <a:fillRect/>
          </a:stretch>
        </p:blipFill>
        <p:spPr>
          <a:xfrm>
            <a:off x="3504895" y="2962656"/>
            <a:ext cx="274320" cy="274320"/>
          </a:xfrm>
          <a:prstGeom prst="rect">
            <a:avLst/>
          </a:prstGeom>
        </p:spPr>
      </p:pic>
      <p:pic>
        <p:nvPicPr>
          <p:cNvPr id="69" name="Image 10" descr="preencoded.png">    </p:cNvPr>
          <p:cNvPicPr>
            <a:picLocks noChangeAspect="1"/>
          </p:cNvPicPr>
          <p:nvPr/>
        </p:nvPicPr>
        <p:blipFill>
          <a:blip r:embed="rId11"/>
          <a:stretch>
            <a:fillRect/>
          </a:stretch>
        </p:blipFill>
        <p:spPr>
          <a:xfrm>
            <a:off x="3504895" y="4608576"/>
            <a:ext cx="274320" cy="274320"/>
          </a:xfrm>
          <a:prstGeom prst="rect">
            <a:avLst/>
          </a:prstGeom>
        </p:spPr>
      </p:pic>
      <p:pic>
        <p:nvPicPr>
          <p:cNvPr id="70" name="Image 11" descr="preencoded.png">    </p:cNvPr>
          <p:cNvPicPr>
            <a:picLocks noChangeAspect="1"/>
          </p:cNvPicPr>
          <p:nvPr/>
        </p:nvPicPr>
        <p:blipFill>
          <a:blip r:embed="rId12"/>
          <a:stretch>
            <a:fillRect/>
          </a:stretch>
        </p:blipFill>
        <p:spPr>
          <a:xfrm>
            <a:off x="3504895" y="3511296"/>
            <a:ext cx="274320" cy="274320"/>
          </a:xfrm>
          <a:prstGeom prst="rect">
            <a:avLst/>
          </a:prstGeom>
        </p:spPr>
      </p:pic>
      <p:pic>
        <p:nvPicPr>
          <p:cNvPr id="71" name="Image 12" descr="preencoded.png">    </p:cNvPr>
          <p:cNvPicPr>
            <a:picLocks noChangeAspect="1"/>
          </p:cNvPicPr>
          <p:nvPr/>
        </p:nvPicPr>
        <p:blipFill>
          <a:blip r:embed="rId13"/>
          <a:stretch>
            <a:fillRect/>
          </a:stretch>
        </p:blipFill>
        <p:spPr>
          <a:xfrm>
            <a:off x="3504895" y="5705856"/>
            <a:ext cx="274320" cy="274320"/>
          </a:xfrm>
          <a:prstGeom prst="rect">
            <a:avLst/>
          </a:prstGeom>
        </p:spPr>
      </p:pic>
      <p:pic>
        <p:nvPicPr>
          <p:cNvPr id="72" name="Image 13" descr="preencoded.png">    </p:cNvPr>
          <p:cNvPicPr>
            <a:picLocks noChangeAspect="1"/>
          </p:cNvPicPr>
          <p:nvPr/>
        </p:nvPicPr>
        <p:blipFill>
          <a:blip r:embed="rId14"/>
          <a:stretch>
            <a:fillRect/>
          </a:stretch>
        </p:blipFill>
        <p:spPr>
          <a:xfrm>
            <a:off x="3504895" y="5157216"/>
            <a:ext cx="274320" cy="2743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Green Circle logo">    </p:cNvPr>
          <p:cNvPicPr>
            <a:picLocks noChangeAspect="1"/>
          </p:cNvPicPr>
          <p:nvPr/>
        </p:nvPicPr>
        <p:blipFill>
          <a:blip r:embed="rId1"/>
          <a:stretch>
            <a:fillRect/>
          </a:stretch>
        </p:blipFill>
        <p:spPr>
          <a:xfrm>
            <a:off x="548640" y="384048"/>
            <a:ext cx="1286501" cy="457200"/>
          </a:xfrm>
          <a:prstGeom prst="rect">
            <a:avLst/>
          </a:prstGeom>
        </p:spPr>
      </p:pic>
      <p:sp>
        <p:nvSpPr>
          <p:cNvPr id="3" name="Text 0"/>
          <p:cNvSpPr txBox="1"/>
          <p:nvPr/>
        </p:nvSpPr>
        <p:spPr>
          <a:xfrm>
            <a:off x="5242255" y="6446520"/>
            <a:ext cx="6400800" cy="228600"/>
          </a:xfrm>
          <a:prstGeom prst="rect">
            <a:avLst/>
          </a:prstGeom>
          <a:noFill/>
          <a:ln/>
        </p:spPr>
        <p:txBody>
          <a:bodyPr wrap="square" lIns="0" tIns="0" rIns="0" bIns="0" rtlCol="0" anchor="t"/>
          <a:lstStyle/>
          <a:p>
            <a:pPr rtl="1" algn="r" indent="0" marL="0">
              <a:lnSpc>
                <a:spcPct val="100000"/>
              </a:lnSpc>
              <a:buNone/>
            </a:pPr>
            <a:r>
              <a:rPr lang="ar-SA" altLang="en-US" sz="900" dirty="0">
                <a:solidFill>
                  <a:srgbClr val="727274"/>
                </a:solidFill>
                <a:latin typeface="IBM Plex Sans Arabic" pitchFamily="34" charset="0"/>
                <a:ea typeface="IBM Plex Sans Arabic" pitchFamily="34" charset="-122"/>
                <a:cs typeface="IBM Plex Sans Arabic" pitchFamily="34" charset="-120"/>
              </a:rPr>
              <a:t>برنامج صُنّاع المحتوى بالذكاء الاصطناعي · مذكرة مفاهيمية</a:t>
            </a:r>
            <a:endParaRPr lang="ar-SA" sz="900" dirty="0"/>
          </a:p>
        </p:txBody>
      </p:sp>
      <p:sp>
        <p:nvSpPr>
          <p:cNvPr id="4" name="Text 1"/>
          <p:cNvSpPr txBox="1"/>
          <p:nvPr/>
        </p:nvSpPr>
        <p:spPr>
          <a:xfrm>
            <a:off x="548640" y="6446520"/>
            <a:ext cx="548640" cy="228600"/>
          </a:xfrm>
          <a:prstGeom prst="rect">
            <a:avLst/>
          </a:prstGeom>
          <a:noFill/>
          <a:ln/>
        </p:spPr>
        <p:txBody>
          <a:bodyPr wrap="square" lIns="0" tIns="0" rIns="0" bIns="0" rtlCol="0" anchor="t"/>
          <a:lstStyle/>
          <a:p>
            <a:pPr rtl="1" algn="l" indent="0" marL="0">
              <a:lnSpc>
                <a:spcPct val="100000"/>
              </a:lnSpc>
              <a:buNone/>
            </a:pPr>
            <a:r>
              <a:rPr lang="ar-SA" altLang="en-US" sz="900" dirty="0">
                <a:solidFill>
                  <a:srgbClr val="727274"/>
                </a:solidFill>
                <a:latin typeface="IBM Plex Sans Arabic" pitchFamily="34" charset="0"/>
                <a:ea typeface="IBM Plex Sans Arabic" pitchFamily="34" charset="-122"/>
                <a:cs typeface="IBM Plex Sans Arabic" pitchFamily="34" charset="-120"/>
              </a:rPr>
              <a:t>7</a:t>
            </a:r>
            <a:endParaRPr lang="ar-SA" sz="900" dirty="0"/>
          </a:p>
        </p:txBody>
      </p:sp>
      <p:sp>
        <p:nvSpPr>
          <p:cNvPr id="5" name="Text 2"/>
          <p:cNvSpPr txBox="1"/>
          <p:nvPr/>
        </p:nvSpPr>
        <p:spPr>
          <a:xfrm>
            <a:off x="2681935" y="384048"/>
            <a:ext cx="8961120" cy="274320"/>
          </a:xfrm>
          <a:prstGeom prst="rect">
            <a:avLst/>
          </a:prstGeom>
          <a:noFill/>
          <a:ln/>
        </p:spPr>
        <p:txBody>
          <a:bodyPr wrap="square" lIns="0" tIns="0" rIns="0" bIns="0" rtlCol="0" anchor="t"/>
          <a:lstStyle/>
          <a:p>
            <a:pPr rtl="1" algn="r" indent="0" marL="0">
              <a:lnSpc>
                <a:spcPct val="100000"/>
              </a:lnSpc>
              <a:buNone/>
            </a:pPr>
            <a:r>
              <a:rPr lang="ar-SA" altLang="en-US" sz="1100" b="1" dirty="0">
                <a:solidFill>
                  <a:srgbClr val="727274"/>
                </a:solidFill>
                <a:latin typeface="IBM Plex Sans Arabic" pitchFamily="34" charset="0"/>
                <a:ea typeface="IBM Plex Sans Arabic" pitchFamily="34" charset="-122"/>
                <a:cs typeface="IBM Plex Sans Arabic" pitchFamily="34" charset="-120"/>
              </a:rPr>
              <a:t>06 · كتابة الأوامر (Prompting)</a:t>
            </a:r>
            <a:endParaRPr lang="ar-SA" sz="1100" dirty="0"/>
          </a:p>
        </p:txBody>
      </p:sp>
      <p:sp>
        <p:nvSpPr>
          <p:cNvPr id="6" name="Text 3"/>
          <p:cNvSpPr txBox="1"/>
          <p:nvPr/>
        </p:nvSpPr>
        <p:spPr>
          <a:xfrm>
            <a:off x="2224735" y="676656"/>
            <a:ext cx="9418320" cy="914400"/>
          </a:xfrm>
          <a:prstGeom prst="rect">
            <a:avLst/>
          </a:prstGeom>
          <a:noFill/>
          <a:ln/>
        </p:spPr>
        <p:txBody>
          <a:bodyPr wrap="square" lIns="0" tIns="0" rIns="0" bIns="0" rtlCol="0" anchor="t"/>
          <a:lstStyle/>
          <a:p>
            <a:pPr rtl="1" algn="r" indent="0" marL="0">
              <a:lnSpc>
                <a:spcPct val="95000"/>
              </a:lnSpc>
              <a:buNone/>
            </a:pPr>
            <a:r>
              <a:rPr lang="ar-SA" altLang="en-US" sz="2600" b="1" dirty="0">
                <a:solidFill>
                  <a:srgbClr val="1A1A1A"/>
                </a:solidFill>
                <a:latin typeface="Cairo" pitchFamily="34" charset="0"/>
                <a:ea typeface="Cairo" pitchFamily="34" charset="-122"/>
                <a:cs typeface="Cairo" pitchFamily="34" charset="-120"/>
              </a:rPr>
              <a:t>تعليمات تفهمها أدوات الذكاء الاصطناعي</a:t>
            </a:r>
            <a:endParaRPr lang="ar-SA" sz="2600" dirty="0"/>
          </a:p>
        </p:txBody>
      </p:sp>
      <p:sp>
        <p:nvSpPr>
          <p:cNvPr id="7" name="Shape 4"/>
          <p:cNvSpPr/>
          <p:nvPr/>
        </p:nvSpPr>
        <p:spPr>
          <a:xfrm>
            <a:off x="9931146" y="1783080"/>
            <a:ext cx="1711909" cy="1234440"/>
          </a:xfrm>
          <a:prstGeom prst="roundRect">
            <a:avLst>
              <a:gd name="adj" fmla="val 7407"/>
            </a:avLst>
          </a:prstGeom>
          <a:solidFill>
            <a:srgbClr val="F2F4F1"/>
          </a:solidFill>
          <a:ln w="12700">
            <a:solidFill>
              <a:srgbClr val="F2F4F1"/>
            </a:solidFill>
            <a:prstDash val="solid"/>
          </a:ln>
        </p:spPr>
      </p:sp>
      <p:sp>
        <p:nvSpPr>
          <p:cNvPr id="8" name="Text 5"/>
          <p:cNvSpPr txBox="1"/>
          <p:nvPr/>
        </p:nvSpPr>
        <p:spPr>
          <a:xfrm>
            <a:off x="11021263" y="1874520"/>
            <a:ext cx="457200" cy="384048"/>
          </a:xfrm>
          <a:prstGeom prst="rect">
            <a:avLst/>
          </a:prstGeom>
          <a:noFill/>
          <a:ln/>
        </p:spPr>
        <p:txBody>
          <a:bodyPr wrap="square" lIns="0" tIns="0" rIns="0" bIns="0" rtlCol="0" anchor="t"/>
          <a:lstStyle/>
          <a:p>
            <a:pPr rtl="1" algn="r" indent="0" marL="0">
              <a:lnSpc>
                <a:spcPct val="100000"/>
              </a:lnSpc>
              <a:buNone/>
            </a:pPr>
            <a:r>
              <a:rPr lang="ar-SA" altLang="en-US" sz="2000" b="1" dirty="0">
                <a:solidFill>
                  <a:srgbClr val="4DB449"/>
                </a:solidFill>
                <a:latin typeface="Cairo" pitchFamily="34" charset="0"/>
                <a:ea typeface="Cairo" pitchFamily="34" charset="-122"/>
                <a:cs typeface="Cairo" pitchFamily="34" charset="-120"/>
              </a:rPr>
              <a:t>1</a:t>
            </a:r>
            <a:endParaRPr lang="ar-SA" sz="2000" dirty="0"/>
          </a:p>
        </p:txBody>
      </p:sp>
      <p:sp>
        <p:nvSpPr>
          <p:cNvPr id="9" name="Text 6"/>
          <p:cNvSpPr txBox="1"/>
          <p:nvPr/>
        </p:nvSpPr>
        <p:spPr>
          <a:xfrm>
            <a:off x="10040874" y="2240280"/>
            <a:ext cx="1437589" cy="347472"/>
          </a:xfrm>
          <a:prstGeom prst="rect">
            <a:avLst/>
          </a:prstGeom>
          <a:noFill/>
          <a:ln/>
        </p:spPr>
        <p:txBody>
          <a:bodyPr wrap="square" lIns="0" tIns="0" rIns="0" bIns="0" rtlCol="0" anchor="t"/>
          <a:lstStyle/>
          <a:p>
            <a:pPr rtl="1" algn="r" indent="0" marL="0">
              <a:lnSpc>
                <a:spcPct val="100000"/>
              </a:lnSpc>
              <a:buNone/>
            </a:pPr>
            <a:r>
              <a:rPr lang="ar-SA" altLang="en-US" sz="1600" b="1" dirty="0">
                <a:solidFill>
                  <a:srgbClr val="1A1A1A"/>
                </a:solidFill>
                <a:latin typeface="Cairo" pitchFamily="34" charset="0"/>
                <a:ea typeface="Cairo" pitchFamily="34" charset="-122"/>
                <a:cs typeface="Cairo" pitchFamily="34" charset="-120"/>
              </a:rPr>
              <a:t>الدور</a:t>
            </a:r>
            <a:endParaRPr lang="ar-SA" sz="1600" dirty="0"/>
          </a:p>
        </p:txBody>
      </p:sp>
      <p:sp>
        <p:nvSpPr>
          <p:cNvPr id="10" name="Text 7"/>
          <p:cNvSpPr txBox="1"/>
          <p:nvPr/>
        </p:nvSpPr>
        <p:spPr>
          <a:xfrm>
            <a:off x="10040874" y="2587752"/>
            <a:ext cx="1437589" cy="411480"/>
          </a:xfrm>
          <a:prstGeom prst="rect">
            <a:avLst/>
          </a:prstGeom>
          <a:noFill/>
          <a:ln/>
        </p:spPr>
        <p:txBody>
          <a:bodyPr wrap="square" lIns="0" tIns="0" rIns="0" bIns="0" rtlCol="0" anchor="t"/>
          <a:lstStyle/>
          <a:p>
            <a:pPr rtl="1" algn="r" indent="0" marL="0">
              <a:lnSpc>
                <a:spcPct val="95000"/>
              </a:lnSpc>
              <a:buNone/>
            </a:pPr>
            <a:r>
              <a:rPr lang="ar-SA" altLang="en-US" sz="1200" dirty="0">
                <a:solidFill>
                  <a:srgbClr val="3C3E3B"/>
                </a:solidFill>
                <a:latin typeface="IBM Plex Sans Arabic" pitchFamily="34" charset="0"/>
                <a:ea typeface="IBM Plex Sans Arabic" pitchFamily="34" charset="-122"/>
                <a:cs typeface="IBM Plex Sans Arabic" pitchFamily="34" charset="-120"/>
              </a:rPr>
              <a:t>بأي صفة تعمل الأداة</a:t>
            </a:r>
            <a:endParaRPr lang="ar-SA" sz="1200" dirty="0"/>
          </a:p>
        </p:txBody>
      </p:sp>
      <p:sp>
        <p:nvSpPr>
          <p:cNvPr id="11" name="Shape 8"/>
          <p:cNvSpPr/>
          <p:nvPr/>
        </p:nvSpPr>
        <p:spPr>
          <a:xfrm>
            <a:off x="8054645" y="1783080"/>
            <a:ext cx="1711909" cy="1234440"/>
          </a:xfrm>
          <a:prstGeom prst="roundRect">
            <a:avLst>
              <a:gd name="adj" fmla="val 7407"/>
            </a:avLst>
          </a:prstGeom>
          <a:solidFill>
            <a:srgbClr val="EAF5E8"/>
          </a:solidFill>
          <a:ln w="12700">
            <a:solidFill>
              <a:srgbClr val="EAF5E8"/>
            </a:solidFill>
            <a:prstDash val="solid"/>
          </a:ln>
        </p:spPr>
      </p:sp>
      <p:sp>
        <p:nvSpPr>
          <p:cNvPr id="12" name="Text 9"/>
          <p:cNvSpPr txBox="1"/>
          <p:nvPr/>
        </p:nvSpPr>
        <p:spPr>
          <a:xfrm>
            <a:off x="9144762" y="1874520"/>
            <a:ext cx="457200" cy="384048"/>
          </a:xfrm>
          <a:prstGeom prst="rect">
            <a:avLst/>
          </a:prstGeom>
          <a:noFill/>
          <a:ln/>
        </p:spPr>
        <p:txBody>
          <a:bodyPr wrap="square" lIns="0" tIns="0" rIns="0" bIns="0" rtlCol="0" anchor="t"/>
          <a:lstStyle/>
          <a:p>
            <a:pPr rtl="1" algn="r" indent="0" marL="0">
              <a:lnSpc>
                <a:spcPct val="100000"/>
              </a:lnSpc>
              <a:buNone/>
            </a:pPr>
            <a:r>
              <a:rPr lang="ar-SA" altLang="en-US" sz="2000" b="1" dirty="0">
                <a:solidFill>
                  <a:srgbClr val="4DB449"/>
                </a:solidFill>
                <a:latin typeface="Cairo" pitchFamily="34" charset="0"/>
                <a:ea typeface="Cairo" pitchFamily="34" charset="-122"/>
                <a:cs typeface="Cairo" pitchFamily="34" charset="-120"/>
              </a:rPr>
              <a:t>2</a:t>
            </a:r>
            <a:endParaRPr lang="ar-SA" sz="2000" dirty="0"/>
          </a:p>
        </p:txBody>
      </p:sp>
      <p:sp>
        <p:nvSpPr>
          <p:cNvPr id="13" name="Text 10"/>
          <p:cNvSpPr txBox="1"/>
          <p:nvPr/>
        </p:nvSpPr>
        <p:spPr>
          <a:xfrm>
            <a:off x="8164373" y="2240280"/>
            <a:ext cx="1437589" cy="347472"/>
          </a:xfrm>
          <a:prstGeom prst="rect">
            <a:avLst/>
          </a:prstGeom>
          <a:noFill/>
          <a:ln/>
        </p:spPr>
        <p:txBody>
          <a:bodyPr wrap="square" lIns="0" tIns="0" rIns="0" bIns="0" rtlCol="0" anchor="t"/>
          <a:lstStyle/>
          <a:p>
            <a:pPr rtl="1" algn="r" indent="0" marL="0">
              <a:lnSpc>
                <a:spcPct val="100000"/>
              </a:lnSpc>
              <a:buNone/>
            </a:pPr>
            <a:r>
              <a:rPr lang="ar-SA" altLang="en-US" sz="1600" b="1" dirty="0">
                <a:solidFill>
                  <a:srgbClr val="1A1A1A"/>
                </a:solidFill>
                <a:latin typeface="Cairo" pitchFamily="34" charset="0"/>
                <a:ea typeface="Cairo" pitchFamily="34" charset="-122"/>
                <a:cs typeface="Cairo" pitchFamily="34" charset="-120"/>
              </a:rPr>
              <a:t>المهمة</a:t>
            </a:r>
            <a:endParaRPr lang="ar-SA" sz="1600" dirty="0"/>
          </a:p>
        </p:txBody>
      </p:sp>
      <p:sp>
        <p:nvSpPr>
          <p:cNvPr id="14" name="Text 11"/>
          <p:cNvSpPr txBox="1"/>
          <p:nvPr/>
        </p:nvSpPr>
        <p:spPr>
          <a:xfrm>
            <a:off x="8164373" y="2587752"/>
            <a:ext cx="1437589" cy="411480"/>
          </a:xfrm>
          <a:prstGeom prst="rect">
            <a:avLst/>
          </a:prstGeom>
          <a:noFill/>
          <a:ln/>
        </p:spPr>
        <p:txBody>
          <a:bodyPr wrap="square" lIns="0" tIns="0" rIns="0" bIns="0" rtlCol="0" anchor="t"/>
          <a:lstStyle/>
          <a:p>
            <a:pPr rtl="1" algn="r" indent="0" marL="0">
              <a:lnSpc>
                <a:spcPct val="95000"/>
              </a:lnSpc>
              <a:buNone/>
            </a:pPr>
            <a:r>
              <a:rPr lang="ar-SA" altLang="en-US" sz="1200" dirty="0">
                <a:solidFill>
                  <a:srgbClr val="3C3E3B"/>
                </a:solidFill>
                <a:latin typeface="IBM Plex Sans Arabic" pitchFamily="34" charset="0"/>
                <a:ea typeface="IBM Plex Sans Arabic" pitchFamily="34" charset="-122"/>
                <a:cs typeface="IBM Plex Sans Arabic" pitchFamily="34" charset="-120"/>
              </a:rPr>
              <a:t>ما المطلوب إنتاجه تحديداً</a:t>
            </a:r>
            <a:endParaRPr lang="ar-SA" sz="1200" dirty="0"/>
          </a:p>
        </p:txBody>
      </p:sp>
      <p:sp>
        <p:nvSpPr>
          <p:cNvPr id="15" name="Shape 12"/>
          <p:cNvSpPr/>
          <p:nvPr/>
        </p:nvSpPr>
        <p:spPr>
          <a:xfrm>
            <a:off x="6178144" y="1783080"/>
            <a:ext cx="1711909" cy="1234440"/>
          </a:xfrm>
          <a:prstGeom prst="roundRect">
            <a:avLst>
              <a:gd name="adj" fmla="val 7407"/>
            </a:avLst>
          </a:prstGeom>
          <a:solidFill>
            <a:srgbClr val="F2F4F1"/>
          </a:solidFill>
          <a:ln w="12700">
            <a:solidFill>
              <a:srgbClr val="F2F4F1"/>
            </a:solidFill>
            <a:prstDash val="solid"/>
          </a:ln>
        </p:spPr>
      </p:sp>
      <p:sp>
        <p:nvSpPr>
          <p:cNvPr id="16" name="Text 13"/>
          <p:cNvSpPr txBox="1"/>
          <p:nvPr/>
        </p:nvSpPr>
        <p:spPr>
          <a:xfrm>
            <a:off x="7268261" y="1874520"/>
            <a:ext cx="457200" cy="384048"/>
          </a:xfrm>
          <a:prstGeom prst="rect">
            <a:avLst/>
          </a:prstGeom>
          <a:noFill/>
          <a:ln/>
        </p:spPr>
        <p:txBody>
          <a:bodyPr wrap="square" lIns="0" tIns="0" rIns="0" bIns="0" rtlCol="0" anchor="t"/>
          <a:lstStyle/>
          <a:p>
            <a:pPr rtl="1" algn="r" indent="0" marL="0">
              <a:lnSpc>
                <a:spcPct val="100000"/>
              </a:lnSpc>
              <a:buNone/>
            </a:pPr>
            <a:r>
              <a:rPr lang="ar-SA" altLang="en-US" sz="2000" b="1" dirty="0">
                <a:solidFill>
                  <a:srgbClr val="4DB449"/>
                </a:solidFill>
                <a:latin typeface="Cairo" pitchFamily="34" charset="0"/>
                <a:ea typeface="Cairo" pitchFamily="34" charset="-122"/>
                <a:cs typeface="Cairo" pitchFamily="34" charset="-120"/>
              </a:rPr>
              <a:t>3</a:t>
            </a:r>
            <a:endParaRPr lang="ar-SA" sz="2000" dirty="0"/>
          </a:p>
        </p:txBody>
      </p:sp>
      <p:sp>
        <p:nvSpPr>
          <p:cNvPr id="17" name="Text 14"/>
          <p:cNvSpPr txBox="1"/>
          <p:nvPr/>
        </p:nvSpPr>
        <p:spPr>
          <a:xfrm>
            <a:off x="6287872" y="2240280"/>
            <a:ext cx="1437589" cy="347472"/>
          </a:xfrm>
          <a:prstGeom prst="rect">
            <a:avLst/>
          </a:prstGeom>
          <a:noFill/>
          <a:ln/>
        </p:spPr>
        <p:txBody>
          <a:bodyPr wrap="square" lIns="0" tIns="0" rIns="0" bIns="0" rtlCol="0" anchor="t"/>
          <a:lstStyle/>
          <a:p>
            <a:pPr rtl="1" algn="r" indent="0" marL="0">
              <a:lnSpc>
                <a:spcPct val="100000"/>
              </a:lnSpc>
              <a:buNone/>
            </a:pPr>
            <a:r>
              <a:rPr lang="ar-SA" altLang="en-US" sz="1600" b="1" dirty="0">
                <a:solidFill>
                  <a:srgbClr val="1A1A1A"/>
                </a:solidFill>
                <a:latin typeface="Cairo" pitchFamily="34" charset="0"/>
                <a:ea typeface="Cairo" pitchFamily="34" charset="-122"/>
                <a:cs typeface="Cairo" pitchFamily="34" charset="-120"/>
              </a:rPr>
              <a:t>السياق</a:t>
            </a:r>
            <a:endParaRPr lang="ar-SA" sz="1600" dirty="0"/>
          </a:p>
        </p:txBody>
      </p:sp>
      <p:sp>
        <p:nvSpPr>
          <p:cNvPr id="18" name="Text 15"/>
          <p:cNvSpPr txBox="1"/>
          <p:nvPr/>
        </p:nvSpPr>
        <p:spPr>
          <a:xfrm>
            <a:off x="6287872" y="2587752"/>
            <a:ext cx="1437589" cy="411480"/>
          </a:xfrm>
          <a:prstGeom prst="rect">
            <a:avLst/>
          </a:prstGeom>
          <a:noFill/>
          <a:ln/>
        </p:spPr>
        <p:txBody>
          <a:bodyPr wrap="square" lIns="0" tIns="0" rIns="0" bIns="0" rtlCol="0" anchor="t"/>
          <a:lstStyle/>
          <a:p>
            <a:pPr rtl="1" algn="r" indent="0" marL="0">
              <a:lnSpc>
                <a:spcPct val="95000"/>
              </a:lnSpc>
              <a:buNone/>
            </a:pPr>
            <a:r>
              <a:rPr lang="ar-SA" altLang="en-US" sz="1200" dirty="0">
                <a:solidFill>
                  <a:srgbClr val="3C3E3B"/>
                </a:solidFill>
                <a:latin typeface="IBM Plex Sans Arabic" pitchFamily="34" charset="0"/>
                <a:ea typeface="IBM Plex Sans Arabic" pitchFamily="34" charset="-122"/>
                <a:cs typeface="IBM Plex Sans Arabic" pitchFamily="34" charset="-120"/>
              </a:rPr>
              <a:t>الجمهور والمعلومات والملفات</a:t>
            </a:r>
            <a:endParaRPr lang="ar-SA" sz="1200" dirty="0"/>
          </a:p>
        </p:txBody>
      </p:sp>
      <p:sp>
        <p:nvSpPr>
          <p:cNvPr id="19" name="Shape 16"/>
          <p:cNvSpPr/>
          <p:nvPr/>
        </p:nvSpPr>
        <p:spPr>
          <a:xfrm>
            <a:off x="4301642" y="1783080"/>
            <a:ext cx="1711909" cy="1234440"/>
          </a:xfrm>
          <a:prstGeom prst="roundRect">
            <a:avLst>
              <a:gd name="adj" fmla="val 7407"/>
            </a:avLst>
          </a:prstGeom>
          <a:solidFill>
            <a:srgbClr val="EAF5E8"/>
          </a:solidFill>
          <a:ln w="12700">
            <a:solidFill>
              <a:srgbClr val="EAF5E8"/>
            </a:solidFill>
            <a:prstDash val="solid"/>
          </a:ln>
        </p:spPr>
      </p:sp>
      <p:sp>
        <p:nvSpPr>
          <p:cNvPr id="20" name="Text 17"/>
          <p:cNvSpPr txBox="1"/>
          <p:nvPr/>
        </p:nvSpPr>
        <p:spPr>
          <a:xfrm>
            <a:off x="5391760" y="1874520"/>
            <a:ext cx="457200" cy="384048"/>
          </a:xfrm>
          <a:prstGeom prst="rect">
            <a:avLst/>
          </a:prstGeom>
          <a:noFill/>
          <a:ln/>
        </p:spPr>
        <p:txBody>
          <a:bodyPr wrap="square" lIns="0" tIns="0" rIns="0" bIns="0" rtlCol="0" anchor="t"/>
          <a:lstStyle/>
          <a:p>
            <a:pPr rtl="1" algn="r" indent="0" marL="0">
              <a:lnSpc>
                <a:spcPct val="100000"/>
              </a:lnSpc>
              <a:buNone/>
            </a:pPr>
            <a:r>
              <a:rPr lang="ar-SA" altLang="en-US" sz="2000" b="1" dirty="0">
                <a:solidFill>
                  <a:srgbClr val="4DB449"/>
                </a:solidFill>
                <a:latin typeface="Cairo" pitchFamily="34" charset="0"/>
                <a:ea typeface="Cairo" pitchFamily="34" charset="-122"/>
                <a:cs typeface="Cairo" pitchFamily="34" charset="-120"/>
              </a:rPr>
              <a:t>4</a:t>
            </a:r>
            <a:endParaRPr lang="ar-SA" sz="2000" dirty="0"/>
          </a:p>
        </p:txBody>
      </p:sp>
      <p:sp>
        <p:nvSpPr>
          <p:cNvPr id="21" name="Text 18"/>
          <p:cNvSpPr txBox="1"/>
          <p:nvPr/>
        </p:nvSpPr>
        <p:spPr>
          <a:xfrm>
            <a:off x="4411370" y="2240280"/>
            <a:ext cx="1437589" cy="347472"/>
          </a:xfrm>
          <a:prstGeom prst="rect">
            <a:avLst/>
          </a:prstGeom>
          <a:noFill/>
          <a:ln/>
        </p:spPr>
        <p:txBody>
          <a:bodyPr wrap="square" lIns="0" tIns="0" rIns="0" bIns="0" rtlCol="0" anchor="t"/>
          <a:lstStyle/>
          <a:p>
            <a:pPr rtl="1" algn="r" indent="0" marL="0">
              <a:lnSpc>
                <a:spcPct val="100000"/>
              </a:lnSpc>
              <a:buNone/>
            </a:pPr>
            <a:r>
              <a:rPr lang="ar-SA" altLang="en-US" sz="1600" b="1" dirty="0">
                <a:solidFill>
                  <a:srgbClr val="1A1A1A"/>
                </a:solidFill>
                <a:latin typeface="Cairo" pitchFamily="34" charset="0"/>
                <a:ea typeface="Cairo" pitchFamily="34" charset="-122"/>
                <a:cs typeface="Cairo" pitchFamily="34" charset="-120"/>
              </a:rPr>
              <a:t>الأمثلة</a:t>
            </a:r>
            <a:endParaRPr lang="ar-SA" sz="1600" dirty="0"/>
          </a:p>
        </p:txBody>
      </p:sp>
      <p:sp>
        <p:nvSpPr>
          <p:cNvPr id="22" name="Text 19"/>
          <p:cNvSpPr txBox="1"/>
          <p:nvPr/>
        </p:nvSpPr>
        <p:spPr>
          <a:xfrm>
            <a:off x="4411370" y="2587752"/>
            <a:ext cx="1437589" cy="411480"/>
          </a:xfrm>
          <a:prstGeom prst="rect">
            <a:avLst/>
          </a:prstGeom>
          <a:noFill/>
          <a:ln/>
        </p:spPr>
        <p:txBody>
          <a:bodyPr wrap="square" lIns="0" tIns="0" rIns="0" bIns="0" rtlCol="0" anchor="t"/>
          <a:lstStyle/>
          <a:p>
            <a:pPr rtl="1" algn="r" indent="0" marL="0">
              <a:lnSpc>
                <a:spcPct val="95000"/>
              </a:lnSpc>
              <a:buNone/>
            </a:pPr>
            <a:r>
              <a:rPr lang="ar-SA" altLang="en-US" sz="1200" dirty="0">
                <a:solidFill>
                  <a:srgbClr val="3C3E3B"/>
                </a:solidFill>
                <a:latin typeface="IBM Plex Sans Arabic" pitchFamily="34" charset="0"/>
                <a:ea typeface="IBM Plex Sans Arabic" pitchFamily="34" charset="-122"/>
                <a:cs typeface="IBM Plex Sans Arabic" pitchFamily="34" charset="-120"/>
              </a:rPr>
              <a:t>كيف تبدو النتيجة الجيدة</a:t>
            </a:r>
            <a:endParaRPr lang="ar-SA" sz="1200" dirty="0"/>
          </a:p>
        </p:txBody>
      </p:sp>
      <p:sp>
        <p:nvSpPr>
          <p:cNvPr id="23" name="Shape 20"/>
          <p:cNvSpPr/>
          <p:nvPr/>
        </p:nvSpPr>
        <p:spPr>
          <a:xfrm>
            <a:off x="2425141" y="1783080"/>
            <a:ext cx="1711909" cy="1234440"/>
          </a:xfrm>
          <a:prstGeom prst="roundRect">
            <a:avLst>
              <a:gd name="adj" fmla="val 7407"/>
            </a:avLst>
          </a:prstGeom>
          <a:solidFill>
            <a:srgbClr val="F2F4F1"/>
          </a:solidFill>
          <a:ln w="12700">
            <a:solidFill>
              <a:srgbClr val="F2F4F1"/>
            </a:solidFill>
            <a:prstDash val="solid"/>
          </a:ln>
        </p:spPr>
      </p:sp>
      <p:sp>
        <p:nvSpPr>
          <p:cNvPr id="24" name="Text 21"/>
          <p:cNvSpPr txBox="1"/>
          <p:nvPr/>
        </p:nvSpPr>
        <p:spPr>
          <a:xfrm>
            <a:off x="3515258" y="1874520"/>
            <a:ext cx="457200" cy="384048"/>
          </a:xfrm>
          <a:prstGeom prst="rect">
            <a:avLst/>
          </a:prstGeom>
          <a:noFill/>
          <a:ln/>
        </p:spPr>
        <p:txBody>
          <a:bodyPr wrap="square" lIns="0" tIns="0" rIns="0" bIns="0" rtlCol="0" anchor="t"/>
          <a:lstStyle/>
          <a:p>
            <a:pPr rtl="1" algn="r" indent="0" marL="0">
              <a:lnSpc>
                <a:spcPct val="100000"/>
              </a:lnSpc>
              <a:buNone/>
            </a:pPr>
            <a:r>
              <a:rPr lang="ar-SA" altLang="en-US" sz="2000" b="1" dirty="0">
                <a:solidFill>
                  <a:srgbClr val="4DB449"/>
                </a:solidFill>
                <a:latin typeface="Cairo" pitchFamily="34" charset="0"/>
                <a:ea typeface="Cairo" pitchFamily="34" charset="-122"/>
                <a:cs typeface="Cairo" pitchFamily="34" charset="-120"/>
              </a:rPr>
              <a:t>5</a:t>
            </a:r>
            <a:endParaRPr lang="ar-SA" sz="2000" dirty="0"/>
          </a:p>
        </p:txBody>
      </p:sp>
      <p:sp>
        <p:nvSpPr>
          <p:cNvPr id="25" name="Text 22"/>
          <p:cNvSpPr txBox="1"/>
          <p:nvPr/>
        </p:nvSpPr>
        <p:spPr>
          <a:xfrm>
            <a:off x="2534869" y="2240280"/>
            <a:ext cx="1437589" cy="347472"/>
          </a:xfrm>
          <a:prstGeom prst="rect">
            <a:avLst/>
          </a:prstGeom>
          <a:noFill/>
          <a:ln/>
        </p:spPr>
        <p:txBody>
          <a:bodyPr wrap="square" lIns="0" tIns="0" rIns="0" bIns="0" rtlCol="0" anchor="t"/>
          <a:lstStyle/>
          <a:p>
            <a:pPr rtl="1" algn="r" indent="0" marL="0">
              <a:lnSpc>
                <a:spcPct val="100000"/>
              </a:lnSpc>
              <a:buNone/>
            </a:pPr>
            <a:r>
              <a:rPr lang="ar-SA" altLang="en-US" sz="1600" b="1" dirty="0">
                <a:solidFill>
                  <a:srgbClr val="1A1A1A"/>
                </a:solidFill>
                <a:latin typeface="Cairo" pitchFamily="34" charset="0"/>
                <a:ea typeface="Cairo" pitchFamily="34" charset="-122"/>
                <a:cs typeface="Cairo" pitchFamily="34" charset="-120"/>
              </a:rPr>
              <a:t>الشكل</a:t>
            </a:r>
            <a:endParaRPr lang="ar-SA" sz="1600" dirty="0"/>
          </a:p>
        </p:txBody>
      </p:sp>
      <p:sp>
        <p:nvSpPr>
          <p:cNvPr id="26" name="Text 23"/>
          <p:cNvSpPr txBox="1"/>
          <p:nvPr/>
        </p:nvSpPr>
        <p:spPr>
          <a:xfrm>
            <a:off x="2534869" y="2587752"/>
            <a:ext cx="1437589" cy="411480"/>
          </a:xfrm>
          <a:prstGeom prst="rect">
            <a:avLst/>
          </a:prstGeom>
          <a:noFill/>
          <a:ln/>
        </p:spPr>
        <p:txBody>
          <a:bodyPr wrap="square" lIns="0" tIns="0" rIns="0" bIns="0" rtlCol="0" anchor="t"/>
          <a:lstStyle/>
          <a:p>
            <a:pPr rtl="1" algn="r" indent="0" marL="0">
              <a:lnSpc>
                <a:spcPct val="95000"/>
              </a:lnSpc>
              <a:buNone/>
            </a:pPr>
            <a:r>
              <a:rPr lang="ar-SA" altLang="en-US" sz="1200" dirty="0">
                <a:solidFill>
                  <a:srgbClr val="3C3E3B"/>
                </a:solidFill>
                <a:latin typeface="IBM Plex Sans Arabic" pitchFamily="34" charset="0"/>
                <a:ea typeface="IBM Plex Sans Arabic" pitchFamily="34" charset="-122"/>
                <a:cs typeface="IBM Plex Sans Arabic" pitchFamily="34" charset="-120"/>
              </a:rPr>
              <a:t>الطول والبنية والنبرة</a:t>
            </a:r>
            <a:endParaRPr lang="ar-SA" sz="1200" dirty="0"/>
          </a:p>
        </p:txBody>
      </p:sp>
      <p:sp>
        <p:nvSpPr>
          <p:cNvPr id="27" name="Shape 24"/>
          <p:cNvSpPr/>
          <p:nvPr/>
        </p:nvSpPr>
        <p:spPr>
          <a:xfrm>
            <a:off x="548640" y="1783080"/>
            <a:ext cx="1711909" cy="1234440"/>
          </a:xfrm>
          <a:prstGeom prst="roundRect">
            <a:avLst>
              <a:gd name="adj" fmla="val 7407"/>
            </a:avLst>
          </a:prstGeom>
          <a:solidFill>
            <a:srgbClr val="EAF5E8"/>
          </a:solidFill>
          <a:ln w="12700">
            <a:solidFill>
              <a:srgbClr val="EAF5E8"/>
            </a:solidFill>
            <a:prstDash val="solid"/>
          </a:ln>
        </p:spPr>
      </p:sp>
      <p:sp>
        <p:nvSpPr>
          <p:cNvPr id="28" name="Text 25"/>
          <p:cNvSpPr txBox="1"/>
          <p:nvPr/>
        </p:nvSpPr>
        <p:spPr>
          <a:xfrm>
            <a:off x="1638757" y="1874520"/>
            <a:ext cx="457200" cy="384048"/>
          </a:xfrm>
          <a:prstGeom prst="rect">
            <a:avLst/>
          </a:prstGeom>
          <a:noFill/>
          <a:ln/>
        </p:spPr>
        <p:txBody>
          <a:bodyPr wrap="square" lIns="0" tIns="0" rIns="0" bIns="0" rtlCol="0" anchor="t"/>
          <a:lstStyle/>
          <a:p>
            <a:pPr rtl="1" algn="r" indent="0" marL="0">
              <a:lnSpc>
                <a:spcPct val="100000"/>
              </a:lnSpc>
              <a:buNone/>
            </a:pPr>
            <a:r>
              <a:rPr lang="ar-SA" altLang="en-US" sz="2000" b="1" dirty="0">
                <a:solidFill>
                  <a:srgbClr val="4DB449"/>
                </a:solidFill>
                <a:latin typeface="Cairo" pitchFamily="34" charset="0"/>
                <a:ea typeface="Cairo" pitchFamily="34" charset="-122"/>
                <a:cs typeface="Cairo" pitchFamily="34" charset="-120"/>
              </a:rPr>
              <a:t>6</a:t>
            </a:r>
            <a:endParaRPr lang="ar-SA" sz="2000" dirty="0"/>
          </a:p>
        </p:txBody>
      </p:sp>
      <p:sp>
        <p:nvSpPr>
          <p:cNvPr id="29" name="Text 26"/>
          <p:cNvSpPr txBox="1"/>
          <p:nvPr/>
        </p:nvSpPr>
        <p:spPr>
          <a:xfrm>
            <a:off x="658368" y="2240280"/>
            <a:ext cx="1437589" cy="347472"/>
          </a:xfrm>
          <a:prstGeom prst="rect">
            <a:avLst/>
          </a:prstGeom>
          <a:noFill/>
          <a:ln/>
        </p:spPr>
        <p:txBody>
          <a:bodyPr wrap="square" lIns="0" tIns="0" rIns="0" bIns="0" rtlCol="0" anchor="t"/>
          <a:lstStyle/>
          <a:p>
            <a:pPr rtl="1" algn="r" indent="0" marL="0">
              <a:lnSpc>
                <a:spcPct val="100000"/>
              </a:lnSpc>
              <a:buNone/>
            </a:pPr>
            <a:r>
              <a:rPr lang="ar-SA" altLang="en-US" sz="1600" b="1" dirty="0">
                <a:solidFill>
                  <a:srgbClr val="1A1A1A"/>
                </a:solidFill>
                <a:latin typeface="Cairo" pitchFamily="34" charset="0"/>
                <a:ea typeface="Cairo" pitchFamily="34" charset="-122"/>
                <a:cs typeface="Cairo" pitchFamily="34" charset="-120"/>
              </a:rPr>
              <a:t>القيود</a:t>
            </a:r>
            <a:endParaRPr lang="ar-SA" sz="1600" dirty="0"/>
          </a:p>
        </p:txBody>
      </p:sp>
      <p:sp>
        <p:nvSpPr>
          <p:cNvPr id="30" name="Text 27"/>
          <p:cNvSpPr txBox="1"/>
          <p:nvPr/>
        </p:nvSpPr>
        <p:spPr>
          <a:xfrm>
            <a:off x="658368" y="2587752"/>
            <a:ext cx="1437589" cy="411480"/>
          </a:xfrm>
          <a:prstGeom prst="rect">
            <a:avLst/>
          </a:prstGeom>
          <a:noFill/>
          <a:ln/>
        </p:spPr>
        <p:txBody>
          <a:bodyPr wrap="square" lIns="0" tIns="0" rIns="0" bIns="0" rtlCol="0" anchor="t"/>
          <a:lstStyle/>
          <a:p>
            <a:pPr rtl="1" algn="r" indent="0" marL="0">
              <a:lnSpc>
                <a:spcPct val="95000"/>
              </a:lnSpc>
              <a:buNone/>
            </a:pPr>
            <a:r>
              <a:rPr lang="ar-SA" altLang="en-US" sz="1200" dirty="0">
                <a:solidFill>
                  <a:srgbClr val="3C3E3B"/>
                </a:solidFill>
                <a:latin typeface="IBM Plex Sans Arabic" pitchFamily="34" charset="0"/>
                <a:ea typeface="IBM Plex Sans Arabic" pitchFamily="34" charset="-122"/>
                <a:cs typeface="IBM Plex Sans Arabic" pitchFamily="34" charset="-120"/>
              </a:rPr>
              <a:t>ما يجب تجنّبه أو تضمينه</a:t>
            </a:r>
            <a:endParaRPr lang="ar-SA" sz="1200" dirty="0"/>
          </a:p>
        </p:txBody>
      </p:sp>
      <p:sp>
        <p:nvSpPr>
          <p:cNvPr id="31" name="Shape 28"/>
          <p:cNvSpPr/>
          <p:nvPr/>
        </p:nvSpPr>
        <p:spPr>
          <a:xfrm>
            <a:off x="8351215" y="3246120"/>
            <a:ext cx="3291840" cy="2057400"/>
          </a:xfrm>
          <a:prstGeom prst="roundRect">
            <a:avLst>
              <a:gd name="adj" fmla="val 4444"/>
            </a:avLst>
          </a:prstGeom>
          <a:solidFill>
            <a:srgbClr val="F2F4F1"/>
          </a:solidFill>
          <a:ln w="9525">
            <a:solidFill>
              <a:srgbClr val="D9DDD8"/>
            </a:solidFill>
            <a:prstDash val="solid"/>
          </a:ln>
        </p:spPr>
      </p:sp>
      <p:sp>
        <p:nvSpPr>
          <p:cNvPr id="32" name="Text 29"/>
          <p:cNvSpPr txBox="1"/>
          <p:nvPr/>
        </p:nvSpPr>
        <p:spPr>
          <a:xfrm>
            <a:off x="8671255" y="3410712"/>
            <a:ext cx="2743200" cy="320040"/>
          </a:xfrm>
          <a:prstGeom prst="rect">
            <a:avLst/>
          </a:prstGeom>
          <a:noFill/>
          <a:ln/>
        </p:spPr>
        <p:txBody>
          <a:bodyPr wrap="square" lIns="0" tIns="0" rIns="0" bIns="0" rtlCol="0" anchor="t"/>
          <a:lstStyle/>
          <a:p>
            <a:pPr rtl="1" algn="r" indent="0" marL="0">
              <a:lnSpc>
                <a:spcPct val="100000"/>
              </a:lnSpc>
              <a:buNone/>
            </a:pPr>
            <a:r>
              <a:rPr lang="ar-SA" altLang="en-US" sz="1300" b="1" dirty="0">
                <a:solidFill>
                  <a:srgbClr val="727274"/>
                </a:solidFill>
                <a:latin typeface="IBM Plex Sans Arabic" pitchFamily="34" charset="0"/>
                <a:ea typeface="IBM Plex Sans Arabic" pitchFamily="34" charset="-122"/>
                <a:cs typeface="IBM Plex Sans Arabic" pitchFamily="34" charset="-120"/>
              </a:rPr>
              <a:t>قبل</a:t>
            </a:r>
            <a:endParaRPr lang="ar-SA" sz="1300" dirty="0"/>
          </a:p>
        </p:txBody>
      </p:sp>
      <p:sp>
        <p:nvSpPr>
          <p:cNvPr id="33" name="Text 30"/>
          <p:cNvSpPr txBox="1"/>
          <p:nvPr/>
        </p:nvSpPr>
        <p:spPr>
          <a:xfrm>
            <a:off x="8579815" y="3794760"/>
            <a:ext cx="2834640" cy="1280160"/>
          </a:xfrm>
          <a:prstGeom prst="rect">
            <a:avLst/>
          </a:prstGeom>
          <a:noFill/>
          <a:ln/>
        </p:spPr>
        <p:txBody>
          <a:bodyPr wrap="square" lIns="0" tIns="0" rIns="0" bIns="0" rtlCol="0" anchor="t"/>
          <a:lstStyle/>
          <a:p>
            <a:pPr rtl="1" algn="r" indent="0" marL="0">
              <a:lnSpc>
                <a:spcPct val="100000"/>
              </a:lnSpc>
              <a:buNone/>
            </a:pPr>
            <a:r>
              <a:rPr lang="ar-SA" altLang="en-US" sz="1600" dirty="0">
                <a:solidFill>
                  <a:srgbClr val="4A4C49"/>
                </a:solidFill>
                <a:latin typeface="IBM Plex Sans Arabic" pitchFamily="34" charset="0"/>
                <a:ea typeface="IBM Plex Sans Arabic" pitchFamily="34" charset="-122"/>
                <a:cs typeface="IBM Plex Sans Arabic" pitchFamily="34" charset="-120"/>
              </a:rPr>
              <a:t>“اكتب منشوراً عن مقهانا.”</a:t>
            </a:r>
            <a:endParaRPr lang="ar-SA" sz="1600" dirty="0"/>
          </a:p>
        </p:txBody>
      </p:sp>
      <p:pic>
        <p:nvPicPr>
          <p:cNvPr id="34" name="Image 1" descr="preencoded.png">    </p:cNvPr>
          <p:cNvPicPr>
            <a:picLocks noChangeAspect="1"/>
          </p:cNvPicPr>
          <p:nvPr/>
        </p:nvPicPr>
        <p:blipFill>
          <a:blip r:embed="rId2"/>
          <a:stretch>
            <a:fillRect/>
          </a:stretch>
        </p:blipFill>
        <p:spPr>
          <a:xfrm>
            <a:off x="7756855" y="4046220"/>
            <a:ext cx="457200" cy="457200"/>
          </a:xfrm>
          <a:prstGeom prst="rect">
            <a:avLst/>
          </a:prstGeom>
        </p:spPr>
      </p:pic>
      <p:sp>
        <p:nvSpPr>
          <p:cNvPr id="35" name="Shape 31"/>
          <p:cNvSpPr/>
          <p:nvPr/>
        </p:nvSpPr>
        <p:spPr>
          <a:xfrm>
            <a:off x="548640" y="3246120"/>
            <a:ext cx="7071055" cy="2057400"/>
          </a:xfrm>
          <a:prstGeom prst="roundRect">
            <a:avLst>
              <a:gd name="adj" fmla="val 4444"/>
            </a:avLst>
          </a:prstGeom>
          <a:solidFill>
            <a:srgbClr val="000000"/>
          </a:solidFill>
          <a:ln w="12700">
            <a:solidFill>
              <a:srgbClr val="000000"/>
            </a:solidFill>
            <a:prstDash val="solid"/>
          </a:ln>
        </p:spPr>
      </p:sp>
      <p:sp>
        <p:nvSpPr>
          <p:cNvPr id="36" name="Text 32"/>
          <p:cNvSpPr txBox="1"/>
          <p:nvPr/>
        </p:nvSpPr>
        <p:spPr>
          <a:xfrm>
            <a:off x="4602175" y="3410712"/>
            <a:ext cx="2743200" cy="320040"/>
          </a:xfrm>
          <a:prstGeom prst="rect">
            <a:avLst/>
          </a:prstGeom>
          <a:noFill/>
          <a:ln/>
        </p:spPr>
        <p:txBody>
          <a:bodyPr wrap="square" lIns="0" tIns="0" rIns="0" bIns="0" rtlCol="0" anchor="t"/>
          <a:lstStyle/>
          <a:p>
            <a:pPr rtl="1" algn="r" indent="0" marL="0">
              <a:lnSpc>
                <a:spcPct val="100000"/>
              </a:lnSpc>
              <a:buNone/>
            </a:pPr>
            <a:r>
              <a:rPr lang="ar-SA" altLang="en-US" sz="1300" b="1" dirty="0">
                <a:solidFill>
                  <a:srgbClr val="A6D04B"/>
                </a:solidFill>
                <a:latin typeface="IBM Plex Sans Arabic" pitchFamily="34" charset="0"/>
                <a:ea typeface="IBM Plex Sans Arabic" pitchFamily="34" charset="-122"/>
                <a:cs typeface="IBM Plex Sans Arabic" pitchFamily="34" charset="-120"/>
              </a:rPr>
              <a:t>بعد</a:t>
            </a:r>
            <a:endParaRPr lang="ar-SA" sz="1300" dirty="0"/>
          </a:p>
        </p:txBody>
      </p:sp>
      <p:sp>
        <p:nvSpPr>
          <p:cNvPr id="37" name="Text 33"/>
          <p:cNvSpPr txBox="1"/>
          <p:nvPr/>
        </p:nvSpPr>
        <p:spPr>
          <a:xfrm>
            <a:off x="822960" y="3749040"/>
            <a:ext cx="6522415" cy="1463040"/>
          </a:xfrm>
          <a:prstGeom prst="rect">
            <a:avLst/>
          </a:prstGeom>
          <a:noFill/>
          <a:ln/>
        </p:spPr>
        <p:txBody>
          <a:bodyPr wrap="square" lIns="0" tIns="0" rIns="0" bIns="0" rtlCol="0" anchor="t"/>
          <a:lstStyle/>
          <a:p>
            <a:pPr rtl="1" algn="r" indent="0" marL="0">
              <a:lnSpc>
                <a:spcPct val="105000"/>
              </a:lnSpc>
              <a:buNone/>
            </a:pPr>
            <a:r>
              <a:rPr lang="ar-SA" altLang="en-US" sz="1450" dirty="0">
                <a:solidFill>
                  <a:srgbClr val="FFFFFF"/>
                </a:solidFill>
                <a:latin typeface="IBM Plex Sans Arabic" pitchFamily="34" charset="0"/>
                <a:ea typeface="IBM Plex Sans Arabic" pitchFamily="34" charset="-122"/>
                <a:cs typeface="IBM Plex Sans Arabic" pitchFamily="34" charset="-120"/>
              </a:rPr>
              <a:t>“أنت كاتب منصات التواصل لمقهى في الحي. اكتب نصاً لمنشور على Instagram يعلن قائمة الفطور الجديدة للطلاب، في أقل من 60 كلمة، بنبرة ودودة، مع رمز تعبيري واحد ودعوة للزيارة قبل العاشرة صباحاً. هذان نصّان أعجبانا سابقاً: …”</a:t>
            </a:r>
            <a:endParaRPr lang="ar-SA" sz="1450" dirty="0"/>
          </a:p>
        </p:txBody>
      </p:sp>
      <p:sp>
        <p:nvSpPr>
          <p:cNvPr id="38" name="Text 34"/>
          <p:cNvSpPr txBox="1"/>
          <p:nvPr/>
        </p:nvSpPr>
        <p:spPr>
          <a:xfrm>
            <a:off x="548640" y="5486400"/>
            <a:ext cx="11094415" cy="548640"/>
          </a:xfrm>
          <a:prstGeom prst="rect">
            <a:avLst/>
          </a:prstGeom>
          <a:noFill/>
          <a:ln/>
        </p:spPr>
        <p:txBody>
          <a:bodyPr wrap="square" lIns="0" tIns="0" rIns="0" bIns="0" rtlCol="0" anchor="t"/>
          <a:lstStyle/>
          <a:p>
            <a:pPr rtl="1" algn="r" indent="0" marL="0">
              <a:lnSpc>
                <a:spcPct val="100000"/>
              </a:lnSpc>
              <a:buNone/>
            </a:pPr>
            <a:r>
              <a:rPr lang="ar-SA" altLang="en-US" sz="1400" b="1" dirty="0">
                <a:solidFill>
                  <a:srgbClr val="1A1A1A"/>
                </a:solidFill>
                <a:latin typeface="IBM Plex Sans Arabic" pitchFamily="34" charset="0"/>
                <a:ea typeface="IBM Plex Sans Arabic" pitchFamily="34" charset="-122"/>
                <a:cs typeface="IBM Plex Sans Arabic" pitchFamily="34" charset="-120"/>
              </a:rPr>
              <a:t>يبني المشاركون مكتبة من 15 أمراً مجرّباً ومساعداً محفوظاً بصوت العلامة (ChatGPT Projects أو Claude Projects أو Gemini Gems).</a:t>
            </a:r>
            <a:endParaRPr lang="ar-SA"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242255" y="6446520"/>
            <a:ext cx="6400800" cy="228600"/>
          </a:xfrm>
          <a:prstGeom prst="rect">
            <a:avLst/>
          </a:prstGeom>
          <a:noFill/>
          <a:ln/>
        </p:spPr>
        <p:txBody>
          <a:bodyPr wrap="square" lIns="0" tIns="0" rIns="0" bIns="0" rtlCol="0" anchor="t"/>
          <a:lstStyle/>
          <a:p>
            <a:pPr rtl="1" algn="r" indent="0" marL="0">
              <a:lnSpc>
                <a:spcPct val="100000"/>
              </a:lnSpc>
              <a:buNone/>
            </a:pPr>
            <a:r>
              <a:rPr lang="ar-SA" altLang="en-US" sz="900" dirty="0">
                <a:solidFill>
                  <a:srgbClr val="8A8C88"/>
                </a:solidFill>
                <a:latin typeface="IBM Plex Sans Arabic" pitchFamily="34" charset="0"/>
                <a:ea typeface="IBM Plex Sans Arabic" pitchFamily="34" charset="-122"/>
                <a:cs typeface="IBM Plex Sans Arabic" pitchFamily="34" charset="-120"/>
              </a:rPr>
              <a:t>برنامج صُنّاع المحتوى بالذكاء الاصطناعي · مذكرة مفاهيمية</a:t>
            </a:r>
            <a:endParaRPr lang="ar-SA" sz="900" dirty="0"/>
          </a:p>
        </p:txBody>
      </p:sp>
      <p:sp>
        <p:nvSpPr>
          <p:cNvPr id="3" name="Text 1"/>
          <p:cNvSpPr txBox="1"/>
          <p:nvPr/>
        </p:nvSpPr>
        <p:spPr>
          <a:xfrm>
            <a:off x="548640" y="6446520"/>
            <a:ext cx="548640" cy="228600"/>
          </a:xfrm>
          <a:prstGeom prst="rect">
            <a:avLst/>
          </a:prstGeom>
          <a:noFill/>
          <a:ln/>
        </p:spPr>
        <p:txBody>
          <a:bodyPr wrap="square" lIns="0" tIns="0" rIns="0" bIns="0" rtlCol="0" anchor="t"/>
          <a:lstStyle/>
          <a:p>
            <a:pPr rtl="1" algn="l" indent="0" marL="0">
              <a:lnSpc>
                <a:spcPct val="100000"/>
              </a:lnSpc>
              <a:buNone/>
            </a:pPr>
            <a:r>
              <a:rPr lang="ar-SA" altLang="en-US" sz="900" dirty="0">
                <a:solidFill>
                  <a:srgbClr val="8A8C88"/>
                </a:solidFill>
                <a:latin typeface="IBM Plex Sans Arabic" pitchFamily="34" charset="0"/>
                <a:ea typeface="IBM Plex Sans Arabic" pitchFamily="34" charset="-122"/>
                <a:cs typeface="IBM Plex Sans Arabic" pitchFamily="34" charset="-120"/>
              </a:rPr>
              <a:t>8</a:t>
            </a:r>
            <a:endParaRPr lang="ar-SA" sz="900" dirty="0"/>
          </a:p>
        </p:txBody>
      </p:sp>
      <p:pic>
        <p:nvPicPr>
          <p:cNvPr id="4" name="Image 0" descr="Green Circle logo">    </p:cNvPr>
          <p:cNvPicPr>
            <a:picLocks noChangeAspect="1"/>
          </p:cNvPicPr>
          <p:nvPr/>
        </p:nvPicPr>
        <p:blipFill>
          <a:blip r:embed="rId1"/>
          <a:stretch>
            <a:fillRect/>
          </a:stretch>
        </p:blipFill>
        <p:spPr>
          <a:xfrm>
            <a:off x="548640" y="384048"/>
            <a:ext cx="1417320" cy="503691"/>
          </a:xfrm>
          <a:prstGeom prst="rect">
            <a:avLst/>
          </a:prstGeom>
        </p:spPr>
      </p:pic>
      <p:sp>
        <p:nvSpPr>
          <p:cNvPr id="5" name="Text 2"/>
          <p:cNvSpPr txBox="1"/>
          <p:nvPr/>
        </p:nvSpPr>
        <p:spPr>
          <a:xfrm>
            <a:off x="2681935" y="384048"/>
            <a:ext cx="8961120" cy="274320"/>
          </a:xfrm>
          <a:prstGeom prst="rect">
            <a:avLst/>
          </a:prstGeom>
          <a:noFill/>
          <a:ln/>
        </p:spPr>
        <p:txBody>
          <a:bodyPr wrap="square" lIns="0" tIns="0" rIns="0" bIns="0" rtlCol="0" anchor="t"/>
          <a:lstStyle/>
          <a:p>
            <a:pPr rtl="1" algn="r" indent="0" marL="0">
              <a:lnSpc>
                <a:spcPct val="100000"/>
              </a:lnSpc>
              <a:buNone/>
            </a:pPr>
            <a:r>
              <a:rPr lang="ar-SA" altLang="en-US" sz="1100" b="1" dirty="0">
                <a:solidFill>
                  <a:srgbClr val="A6D04B"/>
                </a:solidFill>
                <a:latin typeface="IBM Plex Sans Arabic" pitchFamily="34" charset="0"/>
                <a:ea typeface="IBM Plex Sans Arabic" pitchFamily="34" charset="-122"/>
                <a:cs typeface="IBM Plex Sans Arabic" pitchFamily="34" charset="-120"/>
              </a:rPr>
              <a:t>07 · Claude Code عملياً</a:t>
            </a:r>
            <a:endParaRPr lang="ar-SA" sz="1100" dirty="0"/>
          </a:p>
        </p:txBody>
      </p:sp>
      <p:sp>
        <p:nvSpPr>
          <p:cNvPr id="6" name="Text 3"/>
          <p:cNvSpPr txBox="1"/>
          <p:nvPr/>
        </p:nvSpPr>
        <p:spPr>
          <a:xfrm>
            <a:off x="2224735" y="676656"/>
            <a:ext cx="9418320" cy="914400"/>
          </a:xfrm>
          <a:prstGeom prst="rect">
            <a:avLst/>
          </a:prstGeom>
          <a:noFill/>
          <a:ln/>
        </p:spPr>
        <p:txBody>
          <a:bodyPr wrap="square" lIns="0" tIns="0" rIns="0" bIns="0" rtlCol="0" anchor="t"/>
          <a:lstStyle/>
          <a:p>
            <a:pPr rtl="1" algn="r" indent="0" marL="0">
              <a:lnSpc>
                <a:spcPct val="95000"/>
              </a:lnSpc>
              <a:buNone/>
            </a:pPr>
            <a:r>
              <a:rPr lang="ar-SA" altLang="en-US" sz="2600" b="1" dirty="0">
                <a:solidFill>
                  <a:srgbClr val="FFFFFF"/>
                </a:solidFill>
                <a:latin typeface="Cairo" pitchFamily="34" charset="0"/>
                <a:ea typeface="Cairo" pitchFamily="34" charset="-122"/>
                <a:cs typeface="Cairo" pitchFamily="34" charset="-120"/>
              </a:rPr>
              <a:t>بناء أشياء حقيقية بمجرد وصفها</a:t>
            </a:r>
            <a:endParaRPr lang="ar-SA" sz="2600" dirty="0"/>
          </a:p>
        </p:txBody>
      </p:sp>
      <p:pic>
        <p:nvPicPr>
          <p:cNvPr id="7" name="Image 1" descr="Claude logo">    </p:cNvPr>
          <p:cNvPicPr>
            <a:picLocks noChangeAspect="1"/>
          </p:cNvPicPr>
          <p:nvPr/>
        </p:nvPicPr>
        <p:blipFill>
          <a:blip r:embed="rId2"/>
          <a:stretch>
            <a:fillRect/>
          </a:stretch>
        </p:blipFill>
        <p:spPr>
          <a:xfrm>
            <a:off x="11140135" y="1783080"/>
            <a:ext cx="502920" cy="502920"/>
          </a:xfrm>
          <a:prstGeom prst="rect">
            <a:avLst/>
          </a:prstGeom>
        </p:spPr>
      </p:pic>
      <p:sp>
        <p:nvSpPr>
          <p:cNvPr id="8" name="Text 4"/>
          <p:cNvSpPr txBox="1"/>
          <p:nvPr/>
        </p:nvSpPr>
        <p:spPr>
          <a:xfrm>
            <a:off x="548640" y="1719072"/>
            <a:ext cx="10362895" cy="731520"/>
          </a:xfrm>
          <a:prstGeom prst="rect">
            <a:avLst/>
          </a:prstGeom>
          <a:noFill/>
          <a:ln/>
        </p:spPr>
        <p:txBody>
          <a:bodyPr wrap="square" lIns="0" tIns="0" rIns="0" bIns="0" rtlCol="0" anchor="t"/>
          <a:lstStyle/>
          <a:p>
            <a:pPr rtl="1" algn="r" indent="0" marL="0">
              <a:lnSpc>
                <a:spcPct val="105000"/>
              </a:lnSpc>
              <a:buNone/>
            </a:pPr>
            <a:r>
              <a:rPr lang="ar-SA" altLang="en-US" sz="1500" dirty="0">
                <a:solidFill>
                  <a:srgbClr val="D6D8D4"/>
                </a:solidFill>
                <a:latin typeface="IBM Plex Sans Arabic" pitchFamily="34" charset="0"/>
                <a:ea typeface="IBM Plex Sans Arabic" pitchFamily="34" charset="-122"/>
                <a:cs typeface="IBM Plex Sans Arabic" pitchFamily="34" charset="-120"/>
              </a:rPr>
              <a:t>Claude Code أداة برمجة وكيلة من Anthropic: تقرأ المشروع، وتخطّط للعمل، وتعدّل الملفات، وتنفّذ الأوامر بإذن المستخدم، من الطرفية أو VS Code أو تطبيق سطح المكتب.</a:t>
            </a:r>
            <a:endParaRPr lang="ar-SA" sz="1500" dirty="0"/>
          </a:p>
        </p:txBody>
      </p:sp>
      <p:sp>
        <p:nvSpPr>
          <p:cNvPr id="9" name="Shape 5"/>
          <p:cNvSpPr/>
          <p:nvPr/>
        </p:nvSpPr>
        <p:spPr>
          <a:xfrm>
            <a:off x="9109481" y="2697480"/>
            <a:ext cx="2533574" cy="1188720"/>
          </a:xfrm>
          <a:prstGeom prst="roundRect">
            <a:avLst>
              <a:gd name="adj" fmla="val 9231"/>
            </a:avLst>
          </a:prstGeom>
          <a:solidFill>
            <a:srgbClr val="161816"/>
          </a:solidFill>
          <a:ln w="15875">
            <a:solidFill>
              <a:srgbClr val="A6D04B"/>
            </a:solidFill>
            <a:prstDash val="solid"/>
          </a:ln>
        </p:spPr>
      </p:sp>
      <p:pic>
        <p:nvPicPr>
          <p:cNvPr id="10" name="Image 2" descr="preencoded.png">    </p:cNvPr>
          <p:cNvPicPr>
            <a:picLocks noChangeAspect="1"/>
          </p:cNvPicPr>
          <p:nvPr/>
        </p:nvPicPr>
        <p:blipFill>
          <a:blip r:embed="rId3"/>
          <a:stretch>
            <a:fillRect/>
          </a:stretch>
        </p:blipFill>
        <p:spPr>
          <a:xfrm>
            <a:off x="11057839" y="2926080"/>
            <a:ext cx="384048" cy="384048"/>
          </a:xfrm>
          <a:prstGeom prst="rect">
            <a:avLst/>
          </a:prstGeom>
        </p:spPr>
      </p:pic>
      <p:sp>
        <p:nvSpPr>
          <p:cNvPr id="11" name="Text 6"/>
          <p:cNvSpPr txBox="1"/>
          <p:nvPr/>
        </p:nvSpPr>
        <p:spPr>
          <a:xfrm>
            <a:off x="9246641" y="2852928"/>
            <a:ext cx="1664894" cy="384048"/>
          </a:xfrm>
          <a:prstGeom prst="rect">
            <a:avLst/>
          </a:prstGeom>
          <a:noFill/>
          <a:ln/>
        </p:spPr>
        <p:txBody>
          <a:bodyPr wrap="square" lIns="0" tIns="0" rIns="0" bIns="0" rtlCol="0" anchor="t"/>
          <a:lstStyle/>
          <a:p>
            <a:pPr rtl="1" algn="r" indent="0" marL="0">
              <a:lnSpc>
                <a:spcPct val="100000"/>
              </a:lnSpc>
              <a:buNone/>
            </a:pPr>
            <a:r>
              <a:rPr lang="ar-SA" altLang="en-US" sz="1800" b="1" dirty="0">
                <a:solidFill>
                  <a:srgbClr val="FFFFFF"/>
                </a:solidFill>
                <a:latin typeface="Cairo" pitchFamily="34" charset="0"/>
                <a:ea typeface="Cairo" pitchFamily="34" charset="-122"/>
                <a:cs typeface="Cairo" pitchFamily="34" charset="-120"/>
              </a:rPr>
              <a:t>صِف</a:t>
            </a:r>
            <a:endParaRPr lang="ar-SA" sz="1800" dirty="0"/>
          </a:p>
        </p:txBody>
      </p:sp>
      <p:sp>
        <p:nvSpPr>
          <p:cNvPr id="12" name="Text 7"/>
          <p:cNvSpPr txBox="1"/>
          <p:nvPr/>
        </p:nvSpPr>
        <p:spPr>
          <a:xfrm>
            <a:off x="9246641" y="3246120"/>
            <a:ext cx="1664894" cy="594360"/>
          </a:xfrm>
          <a:prstGeom prst="rect">
            <a:avLst/>
          </a:prstGeom>
          <a:noFill/>
          <a:ln/>
        </p:spPr>
        <p:txBody>
          <a:bodyPr wrap="square" lIns="0" tIns="0" rIns="0" bIns="0" rtlCol="0" anchor="t"/>
          <a:lstStyle/>
          <a:p>
            <a:pPr rtl="1" algn="r" indent="0" marL="0">
              <a:lnSpc>
                <a:spcPct val="100000"/>
              </a:lnSpc>
              <a:buNone/>
            </a:pPr>
            <a:r>
              <a:rPr lang="ar-SA" altLang="en-US" sz="1300" dirty="0">
                <a:solidFill>
                  <a:srgbClr val="C9CCC8"/>
                </a:solidFill>
                <a:latin typeface="IBM Plex Sans Arabic" pitchFamily="34" charset="0"/>
                <a:ea typeface="IBM Plex Sans Arabic" pitchFamily="34" charset="-122"/>
                <a:cs typeface="IBM Plex Sans Arabic" pitchFamily="34" charset="-120"/>
              </a:rPr>
              <a:t>اكتب موجزاً واضحاً وملف CLAUDE.md للمشروع</a:t>
            </a:r>
            <a:endParaRPr lang="ar-SA" sz="1300" dirty="0"/>
          </a:p>
        </p:txBody>
      </p:sp>
      <p:pic>
        <p:nvPicPr>
          <p:cNvPr id="13" name="Image 3" descr="preencoded.png">    </p:cNvPr>
          <p:cNvPicPr>
            <a:picLocks noChangeAspect="1"/>
          </p:cNvPicPr>
          <p:nvPr/>
        </p:nvPicPr>
        <p:blipFill>
          <a:blip r:embed="rId4"/>
          <a:stretch>
            <a:fillRect/>
          </a:stretch>
        </p:blipFill>
        <p:spPr>
          <a:xfrm>
            <a:off x="8826017" y="3154680"/>
            <a:ext cx="237744" cy="237744"/>
          </a:xfrm>
          <a:prstGeom prst="rect">
            <a:avLst/>
          </a:prstGeom>
        </p:spPr>
      </p:pic>
      <p:sp>
        <p:nvSpPr>
          <p:cNvPr id="14" name="Shape 8"/>
          <p:cNvSpPr/>
          <p:nvPr/>
        </p:nvSpPr>
        <p:spPr>
          <a:xfrm>
            <a:off x="6255868" y="2697480"/>
            <a:ext cx="2533574" cy="1188720"/>
          </a:xfrm>
          <a:prstGeom prst="roundRect">
            <a:avLst>
              <a:gd name="adj" fmla="val 9231"/>
            </a:avLst>
          </a:prstGeom>
          <a:solidFill>
            <a:srgbClr val="161816"/>
          </a:solidFill>
          <a:ln w="15875">
            <a:solidFill>
              <a:srgbClr val="A6D04B"/>
            </a:solidFill>
            <a:prstDash val="solid"/>
          </a:ln>
        </p:spPr>
      </p:sp>
      <p:pic>
        <p:nvPicPr>
          <p:cNvPr id="15" name="Image 4" descr="preencoded.png">    </p:cNvPr>
          <p:cNvPicPr>
            <a:picLocks noChangeAspect="1"/>
          </p:cNvPicPr>
          <p:nvPr/>
        </p:nvPicPr>
        <p:blipFill>
          <a:blip r:embed="rId5"/>
          <a:stretch>
            <a:fillRect/>
          </a:stretch>
        </p:blipFill>
        <p:spPr>
          <a:xfrm>
            <a:off x="8204225" y="2926080"/>
            <a:ext cx="384048" cy="384048"/>
          </a:xfrm>
          <a:prstGeom prst="rect">
            <a:avLst/>
          </a:prstGeom>
        </p:spPr>
      </p:pic>
      <p:sp>
        <p:nvSpPr>
          <p:cNvPr id="16" name="Text 9"/>
          <p:cNvSpPr txBox="1"/>
          <p:nvPr/>
        </p:nvSpPr>
        <p:spPr>
          <a:xfrm>
            <a:off x="6393028" y="2852928"/>
            <a:ext cx="1664894" cy="384048"/>
          </a:xfrm>
          <a:prstGeom prst="rect">
            <a:avLst/>
          </a:prstGeom>
          <a:noFill/>
          <a:ln/>
        </p:spPr>
        <p:txBody>
          <a:bodyPr wrap="square" lIns="0" tIns="0" rIns="0" bIns="0" rtlCol="0" anchor="t"/>
          <a:lstStyle/>
          <a:p>
            <a:pPr rtl="1" algn="r" indent="0" marL="0">
              <a:lnSpc>
                <a:spcPct val="100000"/>
              </a:lnSpc>
              <a:buNone/>
            </a:pPr>
            <a:r>
              <a:rPr lang="ar-SA" altLang="en-US" sz="1800" b="1" dirty="0">
                <a:solidFill>
                  <a:srgbClr val="FFFFFF"/>
                </a:solidFill>
                <a:latin typeface="Cairo" pitchFamily="34" charset="0"/>
                <a:ea typeface="Cairo" pitchFamily="34" charset="-122"/>
                <a:cs typeface="Cairo" pitchFamily="34" charset="-120"/>
              </a:rPr>
              <a:t>خطّط</a:t>
            </a:r>
            <a:endParaRPr lang="ar-SA" sz="1800" dirty="0"/>
          </a:p>
        </p:txBody>
      </p:sp>
      <p:sp>
        <p:nvSpPr>
          <p:cNvPr id="17" name="Text 10"/>
          <p:cNvSpPr txBox="1"/>
          <p:nvPr/>
        </p:nvSpPr>
        <p:spPr>
          <a:xfrm>
            <a:off x="6393028" y="3246120"/>
            <a:ext cx="1664894" cy="594360"/>
          </a:xfrm>
          <a:prstGeom prst="rect">
            <a:avLst/>
          </a:prstGeom>
          <a:noFill/>
          <a:ln/>
        </p:spPr>
        <p:txBody>
          <a:bodyPr wrap="square" lIns="0" tIns="0" rIns="0" bIns="0" rtlCol="0" anchor="t"/>
          <a:lstStyle/>
          <a:p>
            <a:pPr rtl="1" algn="r" indent="0" marL="0">
              <a:lnSpc>
                <a:spcPct val="100000"/>
              </a:lnSpc>
              <a:buNone/>
            </a:pPr>
            <a:r>
              <a:rPr lang="ar-SA" altLang="en-US" sz="1300" dirty="0">
                <a:solidFill>
                  <a:srgbClr val="C9CCC8"/>
                </a:solidFill>
                <a:latin typeface="IBM Plex Sans Arabic" pitchFamily="34" charset="0"/>
                <a:ea typeface="IBM Plex Sans Arabic" pitchFamily="34" charset="-122"/>
                <a:cs typeface="IBM Plex Sans Arabic" pitchFamily="34" charset="-120"/>
              </a:rPr>
              <a:t>يقترح Claude خطوات التنفيذ</a:t>
            </a:r>
            <a:endParaRPr lang="ar-SA" sz="1300" dirty="0"/>
          </a:p>
        </p:txBody>
      </p:sp>
      <p:pic>
        <p:nvPicPr>
          <p:cNvPr id="18" name="Image 5" descr="preencoded.png">    </p:cNvPr>
          <p:cNvPicPr>
            <a:picLocks noChangeAspect="1"/>
          </p:cNvPicPr>
          <p:nvPr/>
        </p:nvPicPr>
        <p:blipFill>
          <a:blip r:embed="rId6"/>
          <a:stretch>
            <a:fillRect/>
          </a:stretch>
        </p:blipFill>
        <p:spPr>
          <a:xfrm>
            <a:off x="5972404" y="3154680"/>
            <a:ext cx="237744" cy="237744"/>
          </a:xfrm>
          <a:prstGeom prst="rect">
            <a:avLst/>
          </a:prstGeom>
        </p:spPr>
      </p:pic>
      <p:sp>
        <p:nvSpPr>
          <p:cNvPr id="19" name="Shape 11"/>
          <p:cNvSpPr/>
          <p:nvPr/>
        </p:nvSpPr>
        <p:spPr>
          <a:xfrm>
            <a:off x="3402254" y="2697480"/>
            <a:ext cx="2533574" cy="1188720"/>
          </a:xfrm>
          <a:prstGeom prst="roundRect">
            <a:avLst>
              <a:gd name="adj" fmla="val 9231"/>
            </a:avLst>
          </a:prstGeom>
          <a:solidFill>
            <a:srgbClr val="4DB449"/>
          </a:solidFill>
          <a:ln w="15875">
            <a:solidFill>
              <a:srgbClr val="4DB449"/>
            </a:solidFill>
            <a:prstDash val="solid"/>
          </a:ln>
        </p:spPr>
      </p:sp>
      <p:pic>
        <p:nvPicPr>
          <p:cNvPr id="20" name="Image 6" descr="preencoded.png">    </p:cNvPr>
          <p:cNvPicPr>
            <a:picLocks noChangeAspect="1"/>
          </p:cNvPicPr>
          <p:nvPr/>
        </p:nvPicPr>
        <p:blipFill>
          <a:blip r:embed="rId7"/>
          <a:stretch>
            <a:fillRect/>
          </a:stretch>
        </p:blipFill>
        <p:spPr>
          <a:xfrm>
            <a:off x="5350612" y="2926080"/>
            <a:ext cx="384048" cy="384048"/>
          </a:xfrm>
          <a:prstGeom prst="rect">
            <a:avLst/>
          </a:prstGeom>
        </p:spPr>
      </p:pic>
      <p:sp>
        <p:nvSpPr>
          <p:cNvPr id="21" name="Text 12"/>
          <p:cNvSpPr txBox="1"/>
          <p:nvPr/>
        </p:nvSpPr>
        <p:spPr>
          <a:xfrm>
            <a:off x="3539414" y="2852928"/>
            <a:ext cx="1664894" cy="384048"/>
          </a:xfrm>
          <a:prstGeom prst="rect">
            <a:avLst/>
          </a:prstGeom>
          <a:noFill/>
          <a:ln/>
        </p:spPr>
        <p:txBody>
          <a:bodyPr wrap="square" lIns="0" tIns="0" rIns="0" bIns="0" rtlCol="0" anchor="t"/>
          <a:lstStyle/>
          <a:p>
            <a:pPr rtl="1" algn="r" indent="0" marL="0">
              <a:lnSpc>
                <a:spcPct val="100000"/>
              </a:lnSpc>
              <a:buNone/>
            </a:pPr>
            <a:r>
              <a:rPr lang="ar-SA" altLang="en-US" sz="1800" b="1" dirty="0">
                <a:solidFill>
                  <a:srgbClr val="000000"/>
                </a:solidFill>
                <a:latin typeface="Cairo" pitchFamily="34" charset="0"/>
                <a:ea typeface="Cairo" pitchFamily="34" charset="-122"/>
                <a:cs typeface="Cairo" pitchFamily="34" charset="-120"/>
              </a:rPr>
              <a:t>راجِع</a:t>
            </a:r>
            <a:endParaRPr lang="ar-SA" sz="1800" dirty="0"/>
          </a:p>
        </p:txBody>
      </p:sp>
      <p:sp>
        <p:nvSpPr>
          <p:cNvPr id="22" name="Text 13"/>
          <p:cNvSpPr txBox="1"/>
          <p:nvPr/>
        </p:nvSpPr>
        <p:spPr>
          <a:xfrm>
            <a:off x="3539414" y="3246120"/>
            <a:ext cx="1664894" cy="594360"/>
          </a:xfrm>
          <a:prstGeom prst="rect">
            <a:avLst/>
          </a:prstGeom>
          <a:noFill/>
          <a:ln/>
        </p:spPr>
        <p:txBody>
          <a:bodyPr wrap="square" lIns="0" tIns="0" rIns="0" bIns="0" rtlCol="0" anchor="t"/>
          <a:lstStyle/>
          <a:p>
            <a:pPr rtl="1" algn="r" indent="0" marL="0">
              <a:lnSpc>
                <a:spcPct val="100000"/>
              </a:lnSpc>
              <a:buNone/>
            </a:pPr>
            <a:r>
              <a:rPr lang="ar-SA" altLang="en-US" sz="1300" dirty="0">
                <a:solidFill>
                  <a:srgbClr val="000000"/>
                </a:solidFill>
                <a:latin typeface="IBM Plex Sans Arabic" pitchFamily="34" charset="0"/>
                <a:ea typeface="IBM Plex Sans Arabic" pitchFamily="34" charset="-122"/>
                <a:cs typeface="IBM Plex Sans Arabic" pitchFamily="34" charset="-120"/>
              </a:rPr>
              <a:t>اقرأ كل تعديل ووافق عليه</a:t>
            </a:r>
            <a:endParaRPr lang="ar-SA" sz="1300" dirty="0"/>
          </a:p>
        </p:txBody>
      </p:sp>
      <p:pic>
        <p:nvPicPr>
          <p:cNvPr id="23" name="Image 7" descr="preencoded.png">    </p:cNvPr>
          <p:cNvPicPr>
            <a:picLocks noChangeAspect="1"/>
          </p:cNvPicPr>
          <p:nvPr/>
        </p:nvPicPr>
        <p:blipFill>
          <a:blip r:embed="rId8"/>
          <a:stretch>
            <a:fillRect/>
          </a:stretch>
        </p:blipFill>
        <p:spPr>
          <a:xfrm>
            <a:off x="3118790" y="3154680"/>
            <a:ext cx="237744" cy="237744"/>
          </a:xfrm>
          <a:prstGeom prst="rect">
            <a:avLst/>
          </a:prstGeom>
        </p:spPr>
      </p:pic>
      <p:sp>
        <p:nvSpPr>
          <p:cNvPr id="24" name="Shape 14"/>
          <p:cNvSpPr/>
          <p:nvPr/>
        </p:nvSpPr>
        <p:spPr>
          <a:xfrm>
            <a:off x="548640" y="2697480"/>
            <a:ext cx="2533574" cy="1188720"/>
          </a:xfrm>
          <a:prstGeom prst="roundRect">
            <a:avLst>
              <a:gd name="adj" fmla="val 9231"/>
            </a:avLst>
          </a:prstGeom>
          <a:solidFill>
            <a:srgbClr val="161816"/>
          </a:solidFill>
          <a:ln w="15875">
            <a:solidFill>
              <a:srgbClr val="A6D04B"/>
            </a:solidFill>
            <a:prstDash val="solid"/>
          </a:ln>
        </p:spPr>
      </p:sp>
      <p:pic>
        <p:nvPicPr>
          <p:cNvPr id="25" name="Image 8" descr="preencoded.png">    </p:cNvPr>
          <p:cNvPicPr>
            <a:picLocks noChangeAspect="1"/>
          </p:cNvPicPr>
          <p:nvPr/>
        </p:nvPicPr>
        <p:blipFill>
          <a:blip r:embed="rId9"/>
          <a:stretch>
            <a:fillRect/>
          </a:stretch>
        </p:blipFill>
        <p:spPr>
          <a:xfrm>
            <a:off x="2496998" y="2926080"/>
            <a:ext cx="384048" cy="384048"/>
          </a:xfrm>
          <a:prstGeom prst="rect">
            <a:avLst/>
          </a:prstGeom>
        </p:spPr>
      </p:pic>
      <p:sp>
        <p:nvSpPr>
          <p:cNvPr id="26" name="Text 15"/>
          <p:cNvSpPr txBox="1"/>
          <p:nvPr/>
        </p:nvSpPr>
        <p:spPr>
          <a:xfrm>
            <a:off x="685800" y="2852928"/>
            <a:ext cx="1664894" cy="384048"/>
          </a:xfrm>
          <a:prstGeom prst="rect">
            <a:avLst/>
          </a:prstGeom>
          <a:noFill/>
          <a:ln/>
        </p:spPr>
        <p:txBody>
          <a:bodyPr wrap="square" lIns="0" tIns="0" rIns="0" bIns="0" rtlCol="0" anchor="t"/>
          <a:lstStyle/>
          <a:p>
            <a:pPr rtl="1" algn="r" indent="0" marL="0">
              <a:lnSpc>
                <a:spcPct val="100000"/>
              </a:lnSpc>
              <a:buNone/>
            </a:pPr>
            <a:r>
              <a:rPr lang="ar-SA" altLang="en-US" sz="1800" b="1" dirty="0">
                <a:solidFill>
                  <a:srgbClr val="FFFFFF"/>
                </a:solidFill>
                <a:latin typeface="Cairo" pitchFamily="34" charset="0"/>
                <a:ea typeface="Cairo" pitchFamily="34" charset="-122"/>
                <a:cs typeface="Cairo" pitchFamily="34" charset="-120"/>
              </a:rPr>
              <a:t>انشر</a:t>
            </a:r>
            <a:endParaRPr lang="ar-SA" sz="1800" dirty="0"/>
          </a:p>
        </p:txBody>
      </p:sp>
      <p:sp>
        <p:nvSpPr>
          <p:cNvPr id="27" name="Text 16"/>
          <p:cNvSpPr txBox="1"/>
          <p:nvPr/>
        </p:nvSpPr>
        <p:spPr>
          <a:xfrm>
            <a:off x="685800" y="3246120"/>
            <a:ext cx="1664894" cy="594360"/>
          </a:xfrm>
          <a:prstGeom prst="rect">
            <a:avLst/>
          </a:prstGeom>
          <a:noFill/>
          <a:ln/>
        </p:spPr>
        <p:txBody>
          <a:bodyPr wrap="square" lIns="0" tIns="0" rIns="0" bIns="0" rtlCol="0" anchor="t"/>
          <a:lstStyle/>
          <a:p>
            <a:pPr rtl="1" algn="r" indent="0" marL="0">
              <a:lnSpc>
                <a:spcPct val="100000"/>
              </a:lnSpc>
              <a:buNone/>
            </a:pPr>
            <a:r>
              <a:rPr lang="ar-SA" altLang="en-US" sz="1300" dirty="0">
                <a:solidFill>
                  <a:srgbClr val="C9CCC8"/>
                </a:solidFill>
                <a:latin typeface="IBM Plex Sans Arabic" pitchFamily="34" charset="0"/>
                <a:ea typeface="IBM Plex Sans Arabic" pitchFamily="34" charset="-122"/>
                <a:cs typeface="IBM Plex Sans Arabic" pitchFamily="34" charset="-120"/>
              </a:rPr>
              <a:t>احفظ بـ Git وانشر على GitHub Pages</a:t>
            </a:r>
            <a:endParaRPr lang="ar-SA" sz="1300" dirty="0"/>
          </a:p>
        </p:txBody>
      </p:sp>
      <p:sp>
        <p:nvSpPr>
          <p:cNvPr id="28" name="Text 17"/>
          <p:cNvSpPr txBox="1"/>
          <p:nvPr/>
        </p:nvSpPr>
        <p:spPr>
          <a:xfrm>
            <a:off x="4327855" y="4160520"/>
            <a:ext cx="7315200" cy="365760"/>
          </a:xfrm>
          <a:prstGeom prst="rect">
            <a:avLst/>
          </a:prstGeom>
          <a:noFill/>
          <a:ln/>
        </p:spPr>
        <p:txBody>
          <a:bodyPr wrap="square" lIns="0" tIns="0" rIns="0" bIns="0" rtlCol="0" anchor="t"/>
          <a:lstStyle/>
          <a:p>
            <a:pPr rtl="1" algn="r" indent="0" marL="0">
              <a:lnSpc>
                <a:spcPct val="100000"/>
              </a:lnSpc>
              <a:buNone/>
            </a:pPr>
            <a:r>
              <a:rPr lang="ar-SA" altLang="en-US" sz="1600" b="1" dirty="0">
                <a:solidFill>
                  <a:srgbClr val="A6D04B"/>
                </a:solidFill>
                <a:latin typeface="Cairo" pitchFamily="34" charset="0"/>
                <a:ea typeface="Cairo" pitchFamily="34" charset="-122"/>
                <a:cs typeface="Cairo" pitchFamily="34" charset="-120"/>
              </a:rPr>
              <a:t>ماذا يبني المشاركون</a:t>
            </a:r>
            <a:endParaRPr lang="ar-SA" sz="1600" dirty="0"/>
          </a:p>
        </p:txBody>
      </p:sp>
      <p:sp>
        <p:nvSpPr>
          <p:cNvPr id="29" name="Text 18"/>
          <p:cNvSpPr txBox="1"/>
          <p:nvPr/>
        </p:nvSpPr>
        <p:spPr>
          <a:xfrm>
            <a:off x="6156655" y="4663440"/>
            <a:ext cx="5029200" cy="566928"/>
          </a:xfrm>
          <a:prstGeom prst="rect">
            <a:avLst/>
          </a:prstGeom>
          <a:noFill/>
          <a:ln/>
        </p:spPr>
        <p:txBody>
          <a:bodyPr wrap="square" lIns="0" tIns="0" rIns="0" bIns="0" rtlCol="0" anchor="t"/>
          <a:lstStyle/>
          <a:p>
            <a:pPr rtl="1" algn="r" indent="0" marL="0">
              <a:lnSpc>
                <a:spcPct val="100000"/>
              </a:lnSpc>
              <a:buNone/>
            </a:pPr>
            <a:r>
              <a:rPr lang="ar-SA" altLang="en-US" sz="1400" dirty="0">
                <a:solidFill>
                  <a:srgbClr val="FFFFFF"/>
                </a:solidFill>
                <a:latin typeface="IBM Plex Sans Arabic" pitchFamily="34" charset="0"/>
                <a:ea typeface="IBM Plex Sans Arabic" pitchFamily="34" charset="-122"/>
                <a:cs typeface="IBM Plex Sans Arabic" pitchFamily="34" charset="-120"/>
              </a:rPr>
              <a:t>صفحة هبوط لمنظمة حقيقية، منشورة على الإنترنت</a:t>
            </a:r>
            <a:endParaRPr lang="ar-SA" sz="1400" dirty="0"/>
          </a:p>
        </p:txBody>
      </p:sp>
      <p:sp>
        <p:nvSpPr>
          <p:cNvPr id="30" name="Text 19"/>
          <p:cNvSpPr txBox="1"/>
          <p:nvPr/>
        </p:nvSpPr>
        <p:spPr>
          <a:xfrm>
            <a:off x="533095" y="4663440"/>
            <a:ext cx="5029200" cy="566928"/>
          </a:xfrm>
          <a:prstGeom prst="rect">
            <a:avLst/>
          </a:prstGeom>
          <a:noFill/>
          <a:ln/>
        </p:spPr>
        <p:txBody>
          <a:bodyPr wrap="square" lIns="0" tIns="0" rIns="0" bIns="0" rtlCol="0" anchor="t"/>
          <a:lstStyle/>
          <a:p>
            <a:pPr rtl="1" algn="r" indent="0" marL="0">
              <a:lnSpc>
                <a:spcPct val="100000"/>
              </a:lnSpc>
              <a:buNone/>
            </a:pPr>
            <a:r>
              <a:rPr lang="ar-SA" altLang="en-US" sz="1400" dirty="0">
                <a:solidFill>
                  <a:srgbClr val="FFFFFF"/>
                </a:solidFill>
                <a:latin typeface="IBM Plex Sans Arabic" pitchFamily="34" charset="0"/>
                <a:ea typeface="IBM Plex Sans Arabic" pitchFamily="34" charset="-122"/>
                <a:cs typeface="IBM Plex Sans Arabic" pitchFamily="34" charset="-120"/>
              </a:rPr>
              <a:t>تقرير منظّم ورسم بياني من جدول بيانات غير مرتّب</a:t>
            </a:r>
            <a:endParaRPr lang="ar-SA" sz="1400" dirty="0"/>
          </a:p>
        </p:txBody>
      </p:sp>
      <p:sp>
        <p:nvSpPr>
          <p:cNvPr id="31" name="Text 20"/>
          <p:cNvSpPr txBox="1"/>
          <p:nvPr/>
        </p:nvSpPr>
        <p:spPr>
          <a:xfrm>
            <a:off x="6156655" y="5321808"/>
            <a:ext cx="5029200" cy="566928"/>
          </a:xfrm>
          <a:prstGeom prst="rect">
            <a:avLst/>
          </a:prstGeom>
          <a:noFill/>
          <a:ln/>
        </p:spPr>
        <p:txBody>
          <a:bodyPr wrap="square" lIns="0" tIns="0" rIns="0" bIns="0" rtlCol="0" anchor="t"/>
          <a:lstStyle/>
          <a:p>
            <a:pPr rtl="1" algn="r" indent="0" marL="0">
              <a:lnSpc>
                <a:spcPct val="100000"/>
              </a:lnSpc>
              <a:buNone/>
            </a:pPr>
            <a:r>
              <a:rPr lang="ar-SA" altLang="en-US" sz="1400" dirty="0">
                <a:solidFill>
                  <a:srgbClr val="FFFFFF"/>
                </a:solidFill>
                <a:latin typeface="IBM Plex Sans Arabic" pitchFamily="34" charset="0"/>
                <a:ea typeface="IBM Plex Sans Arabic" pitchFamily="34" charset="-122"/>
                <a:cs typeface="IBM Plex Sans Arabic" pitchFamily="34" charset="-120"/>
              </a:rPr>
              <a:t>مهام ملفات بالجملة: إعادة تسمية وتحويل وتنظيم</a:t>
            </a:r>
            <a:endParaRPr lang="ar-SA" sz="1400" dirty="0"/>
          </a:p>
        </p:txBody>
      </p:sp>
      <p:sp>
        <p:nvSpPr>
          <p:cNvPr id="32" name="Text 21"/>
          <p:cNvSpPr txBox="1"/>
          <p:nvPr/>
        </p:nvSpPr>
        <p:spPr>
          <a:xfrm>
            <a:off x="533095" y="5321808"/>
            <a:ext cx="5029200" cy="566928"/>
          </a:xfrm>
          <a:prstGeom prst="rect">
            <a:avLst/>
          </a:prstGeom>
          <a:noFill/>
          <a:ln/>
        </p:spPr>
        <p:txBody>
          <a:bodyPr wrap="square" lIns="0" tIns="0" rIns="0" bIns="0" rtlCol="0" anchor="t"/>
          <a:lstStyle/>
          <a:p>
            <a:pPr rtl="1" algn="r" indent="0" marL="0">
              <a:lnSpc>
                <a:spcPct val="100000"/>
              </a:lnSpc>
              <a:buNone/>
            </a:pPr>
            <a:r>
              <a:rPr lang="ar-SA" altLang="en-US" sz="1400" dirty="0">
                <a:solidFill>
                  <a:srgbClr val="FFFFFF"/>
                </a:solidFill>
                <a:latin typeface="IBM Plex Sans Arabic" pitchFamily="34" charset="0"/>
                <a:ea typeface="IBM Plex Sans Arabic" pitchFamily="34" charset="-122"/>
                <a:cs typeface="IBM Plex Sans Arabic" pitchFamily="34" charset="-120"/>
              </a:rPr>
              <a:t>فيديو موشن جرافيك باستخدام Remotion (الوحدة 8)</a:t>
            </a:r>
            <a:endParaRPr lang="ar-SA" sz="1400" dirty="0"/>
          </a:p>
        </p:txBody>
      </p:sp>
      <p:pic>
        <p:nvPicPr>
          <p:cNvPr id="34" name="Image 9" descr="preencoded.png">    </p:cNvPr>
          <p:cNvPicPr>
            <a:picLocks noChangeAspect="1"/>
          </p:cNvPicPr>
          <p:nvPr/>
        </p:nvPicPr>
        <p:blipFill>
          <a:blip r:embed="rId10"/>
          <a:stretch>
            <a:fillRect/>
          </a:stretch>
        </p:blipFill>
        <p:spPr>
          <a:xfrm>
            <a:off x="11332159" y="4700016"/>
            <a:ext cx="310896" cy="310896"/>
          </a:xfrm>
          <a:prstGeom prst="rect">
            <a:avLst/>
          </a:prstGeom>
        </p:spPr>
      </p:pic>
      <p:pic>
        <p:nvPicPr>
          <p:cNvPr id="35" name="Image 10" descr="preencoded.png">    </p:cNvPr>
          <p:cNvPicPr>
            <a:picLocks noChangeAspect="1"/>
          </p:cNvPicPr>
          <p:nvPr/>
        </p:nvPicPr>
        <p:blipFill>
          <a:blip r:embed="rId11"/>
          <a:stretch>
            <a:fillRect/>
          </a:stretch>
        </p:blipFill>
        <p:spPr>
          <a:xfrm>
            <a:off x="11332159" y="5358384"/>
            <a:ext cx="310896" cy="310896"/>
          </a:xfrm>
          <a:prstGeom prst="rect">
            <a:avLst/>
          </a:prstGeom>
        </p:spPr>
      </p:pic>
      <p:pic>
        <p:nvPicPr>
          <p:cNvPr id="36" name="Image 11" descr="preencoded.png">    </p:cNvPr>
          <p:cNvPicPr>
            <a:picLocks noChangeAspect="1"/>
          </p:cNvPicPr>
          <p:nvPr/>
        </p:nvPicPr>
        <p:blipFill>
          <a:blip r:embed="rId12"/>
          <a:stretch>
            <a:fillRect/>
          </a:stretch>
        </p:blipFill>
        <p:spPr>
          <a:xfrm>
            <a:off x="5708599" y="4700016"/>
            <a:ext cx="310896" cy="310896"/>
          </a:xfrm>
          <a:prstGeom prst="rect">
            <a:avLst/>
          </a:prstGeom>
        </p:spPr>
      </p:pic>
      <p:pic>
        <p:nvPicPr>
          <p:cNvPr id="37" name="Image 12" descr="preencoded.png">    </p:cNvPr>
          <p:cNvPicPr>
            <a:picLocks noChangeAspect="1"/>
          </p:cNvPicPr>
          <p:nvPr/>
        </p:nvPicPr>
        <p:blipFill>
          <a:blip r:embed="rId13"/>
          <a:stretch>
            <a:fillRect/>
          </a:stretch>
        </p:blipFill>
        <p:spPr>
          <a:xfrm>
            <a:off x="5708599" y="5358384"/>
            <a:ext cx="310896" cy="3108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Green Circle logo">    </p:cNvPr>
          <p:cNvPicPr>
            <a:picLocks noChangeAspect="1"/>
          </p:cNvPicPr>
          <p:nvPr/>
        </p:nvPicPr>
        <p:blipFill>
          <a:blip r:embed="rId1"/>
          <a:stretch>
            <a:fillRect/>
          </a:stretch>
        </p:blipFill>
        <p:spPr>
          <a:xfrm>
            <a:off x="548640" y="384048"/>
            <a:ext cx="1286501" cy="457200"/>
          </a:xfrm>
          <a:prstGeom prst="rect">
            <a:avLst/>
          </a:prstGeom>
        </p:spPr>
      </p:pic>
      <p:sp>
        <p:nvSpPr>
          <p:cNvPr id="3" name="Text 0"/>
          <p:cNvSpPr txBox="1"/>
          <p:nvPr/>
        </p:nvSpPr>
        <p:spPr>
          <a:xfrm>
            <a:off x="5242255" y="6446520"/>
            <a:ext cx="6400800" cy="228600"/>
          </a:xfrm>
          <a:prstGeom prst="rect">
            <a:avLst/>
          </a:prstGeom>
          <a:noFill/>
          <a:ln/>
        </p:spPr>
        <p:txBody>
          <a:bodyPr wrap="square" lIns="0" tIns="0" rIns="0" bIns="0" rtlCol="0" anchor="t"/>
          <a:lstStyle/>
          <a:p>
            <a:pPr rtl="1" algn="r" indent="0" marL="0">
              <a:lnSpc>
                <a:spcPct val="100000"/>
              </a:lnSpc>
              <a:buNone/>
            </a:pPr>
            <a:r>
              <a:rPr lang="ar-SA" altLang="en-US" sz="900" dirty="0">
                <a:solidFill>
                  <a:srgbClr val="727274"/>
                </a:solidFill>
                <a:latin typeface="IBM Plex Sans Arabic" pitchFamily="34" charset="0"/>
                <a:ea typeface="IBM Plex Sans Arabic" pitchFamily="34" charset="-122"/>
                <a:cs typeface="IBM Plex Sans Arabic" pitchFamily="34" charset="-120"/>
              </a:rPr>
              <a:t>برنامج صُنّاع المحتوى بالذكاء الاصطناعي · مذكرة مفاهيمية</a:t>
            </a:r>
            <a:endParaRPr lang="ar-SA" sz="900" dirty="0"/>
          </a:p>
        </p:txBody>
      </p:sp>
      <p:sp>
        <p:nvSpPr>
          <p:cNvPr id="4" name="Text 1"/>
          <p:cNvSpPr txBox="1"/>
          <p:nvPr/>
        </p:nvSpPr>
        <p:spPr>
          <a:xfrm>
            <a:off x="548640" y="6446520"/>
            <a:ext cx="548640" cy="228600"/>
          </a:xfrm>
          <a:prstGeom prst="rect">
            <a:avLst/>
          </a:prstGeom>
          <a:noFill/>
          <a:ln/>
        </p:spPr>
        <p:txBody>
          <a:bodyPr wrap="square" lIns="0" tIns="0" rIns="0" bIns="0" rtlCol="0" anchor="t"/>
          <a:lstStyle/>
          <a:p>
            <a:pPr rtl="1" algn="l" indent="0" marL="0">
              <a:lnSpc>
                <a:spcPct val="100000"/>
              </a:lnSpc>
              <a:buNone/>
            </a:pPr>
            <a:r>
              <a:rPr lang="ar-SA" altLang="en-US" sz="900" dirty="0">
                <a:solidFill>
                  <a:srgbClr val="727274"/>
                </a:solidFill>
                <a:latin typeface="IBM Plex Sans Arabic" pitchFamily="34" charset="0"/>
                <a:ea typeface="IBM Plex Sans Arabic" pitchFamily="34" charset="-122"/>
                <a:cs typeface="IBM Plex Sans Arabic" pitchFamily="34" charset="-120"/>
              </a:rPr>
              <a:t>9</a:t>
            </a:r>
            <a:endParaRPr lang="ar-SA" sz="900" dirty="0"/>
          </a:p>
        </p:txBody>
      </p:sp>
      <p:sp>
        <p:nvSpPr>
          <p:cNvPr id="5" name="Text 2"/>
          <p:cNvSpPr txBox="1"/>
          <p:nvPr/>
        </p:nvSpPr>
        <p:spPr>
          <a:xfrm>
            <a:off x="2681935" y="384048"/>
            <a:ext cx="8961120" cy="274320"/>
          </a:xfrm>
          <a:prstGeom prst="rect">
            <a:avLst/>
          </a:prstGeom>
          <a:noFill/>
          <a:ln/>
        </p:spPr>
        <p:txBody>
          <a:bodyPr wrap="square" lIns="0" tIns="0" rIns="0" bIns="0" rtlCol="0" anchor="t"/>
          <a:lstStyle/>
          <a:p>
            <a:pPr rtl="1" algn="r" indent="0" marL="0">
              <a:lnSpc>
                <a:spcPct val="100000"/>
              </a:lnSpc>
              <a:buNone/>
            </a:pPr>
            <a:r>
              <a:rPr lang="ar-SA" altLang="en-US" sz="1100" b="1" dirty="0">
                <a:solidFill>
                  <a:srgbClr val="727274"/>
                </a:solidFill>
                <a:latin typeface="IBM Plex Sans Arabic" pitchFamily="34" charset="0"/>
                <a:ea typeface="IBM Plex Sans Arabic" pitchFamily="34" charset="-122"/>
                <a:cs typeface="IBM Plex Sans Arabic" pitchFamily="34" charset="-120"/>
              </a:rPr>
              <a:t>08 · المهارات (Skills) في Claude Code</a:t>
            </a:r>
            <a:endParaRPr lang="ar-SA" sz="1100" dirty="0"/>
          </a:p>
        </p:txBody>
      </p:sp>
      <p:sp>
        <p:nvSpPr>
          <p:cNvPr id="6" name="Text 3"/>
          <p:cNvSpPr txBox="1"/>
          <p:nvPr/>
        </p:nvSpPr>
        <p:spPr>
          <a:xfrm>
            <a:off x="2224735" y="676656"/>
            <a:ext cx="9418320" cy="914400"/>
          </a:xfrm>
          <a:prstGeom prst="rect">
            <a:avLst/>
          </a:prstGeom>
          <a:noFill/>
          <a:ln/>
        </p:spPr>
        <p:txBody>
          <a:bodyPr wrap="square" lIns="0" tIns="0" rIns="0" bIns="0" rtlCol="0" anchor="t"/>
          <a:lstStyle/>
          <a:p>
            <a:pPr rtl="1" algn="r" indent="0" marL="0">
              <a:lnSpc>
                <a:spcPct val="95000"/>
              </a:lnSpc>
              <a:buNone/>
            </a:pPr>
            <a:r>
              <a:rPr lang="ar-SA" altLang="en-US" sz="2600" b="1" dirty="0">
                <a:solidFill>
                  <a:srgbClr val="1A1A1A"/>
                </a:solidFill>
                <a:latin typeface="Cairo" pitchFamily="34" charset="0"/>
                <a:ea typeface="Cairo" pitchFamily="34" charset="-122"/>
                <a:cs typeface="Cairo" pitchFamily="34" charset="-120"/>
              </a:rPr>
              <a:t>تعليم Claude Code تكرار أفضل طريقة عمل لديك</a:t>
            </a:r>
            <a:endParaRPr lang="ar-SA" sz="2600" dirty="0"/>
          </a:p>
        </p:txBody>
      </p:sp>
      <p:sp>
        <p:nvSpPr>
          <p:cNvPr id="7" name="Text 4"/>
          <p:cNvSpPr txBox="1"/>
          <p:nvPr/>
        </p:nvSpPr>
        <p:spPr>
          <a:xfrm>
            <a:off x="548640" y="1600200"/>
            <a:ext cx="11094415" cy="640080"/>
          </a:xfrm>
          <a:prstGeom prst="rect">
            <a:avLst/>
          </a:prstGeom>
          <a:noFill/>
          <a:ln/>
        </p:spPr>
        <p:txBody>
          <a:bodyPr wrap="square" lIns="0" tIns="0" rIns="0" bIns="0" rtlCol="0" anchor="t"/>
          <a:lstStyle/>
          <a:p>
            <a:pPr rtl="1" algn="r" indent="0" marL="0">
              <a:lnSpc>
                <a:spcPct val="105000"/>
              </a:lnSpc>
              <a:buNone/>
            </a:pPr>
            <a:r>
              <a:rPr lang="ar-SA" altLang="en-US" sz="1500" dirty="0">
                <a:solidFill>
                  <a:srgbClr val="3C3E3B"/>
                </a:solidFill>
                <a:latin typeface="IBM Plex Sans Arabic" pitchFamily="34" charset="0"/>
                <a:ea typeface="IBM Plex Sans Arabic" pitchFamily="34" charset="-122"/>
                <a:cs typeface="IBM Plex Sans Arabic" pitchFamily="34" charset="-120"/>
              </a:rPr>
              <a:t>كل مهارة (Skill) مجلد يحتوي ملف SKILL.md بالتعليمات، ومعه قوالب أو سكربتات اختيارية. يحمّلها Claude عندما تحتاجها المهمة، أو عند استدعائها بالاسم.</a:t>
            </a:r>
            <a:endParaRPr lang="ar-SA" sz="1500" dirty="0"/>
          </a:p>
        </p:txBody>
      </p:sp>
      <p:sp>
        <p:nvSpPr>
          <p:cNvPr id="8" name="Shape 5"/>
          <p:cNvSpPr/>
          <p:nvPr/>
        </p:nvSpPr>
        <p:spPr>
          <a:xfrm>
            <a:off x="7436815" y="2423160"/>
            <a:ext cx="4206240" cy="2926080"/>
          </a:xfrm>
          <a:prstGeom prst="roundRect">
            <a:avLst>
              <a:gd name="adj" fmla="val 3750"/>
            </a:avLst>
          </a:prstGeom>
          <a:solidFill>
            <a:srgbClr val="000000"/>
          </a:solidFill>
          <a:ln w="12700">
            <a:solidFill>
              <a:srgbClr val="000000"/>
            </a:solidFill>
            <a:prstDash val="solid"/>
          </a:ln>
        </p:spPr>
      </p:sp>
      <p:sp>
        <p:nvSpPr>
          <p:cNvPr id="9" name="Text 6"/>
          <p:cNvSpPr txBox="1"/>
          <p:nvPr/>
        </p:nvSpPr>
        <p:spPr>
          <a:xfrm>
            <a:off x="7665415" y="2697480"/>
            <a:ext cx="3657600" cy="365760"/>
          </a:xfrm>
          <a:prstGeom prst="rect">
            <a:avLst/>
          </a:prstGeom>
          <a:noFill/>
          <a:ln/>
        </p:spPr>
        <p:txBody>
          <a:bodyPr wrap="square" lIns="0" tIns="0" rIns="0" bIns="0" rtlCol="0" anchor="ctr"/>
          <a:lstStyle/>
          <a:p>
            <a:pPr algn="l" indent="0" marL="0">
              <a:buNone/>
            </a:pPr>
            <a:r>
              <a:rPr lang="en-US" sz="1500" dirty="0">
                <a:solidFill>
                  <a:srgbClr val="FFFFFF"/>
                </a:solidFill>
                <a:latin typeface="JetBrains Mono" pitchFamily="34" charset="0"/>
                <a:ea typeface="JetBrains Mono" pitchFamily="34" charset="-122"/>
                <a:cs typeface="JetBrains Mono" pitchFamily="34" charset="-120"/>
              </a:rPr>
              <a:t>.claude/</a:t>
            </a:r>
            <a:endParaRPr lang="en-US" sz="1500" dirty="0"/>
          </a:p>
        </p:txBody>
      </p:sp>
      <p:sp>
        <p:nvSpPr>
          <p:cNvPr id="10" name="Text 7"/>
          <p:cNvSpPr txBox="1"/>
          <p:nvPr/>
        </p:nvSpPr>
        <p:spPr>
          <a:xfrm>
            <a:off x="7665415" y="3099816"/>
            <a:ext cx="3657600" cy="365760"/>
          </a:xfrm>
          <a:prstGeom prst="rect">
            <a:avLst/>
          </a:prstGeom>
          <a:noFill/>
          <a:ln/>
        </p:spPr>
        <p:txBody>
          <a:bodyPr wrap="square" lIns="0" tIns="0" rIns="0" bIns="0" rtlCol="0" anchor="ctr"/>
          <a:lstStyle/>
          <a:p>
            <a:pPr algn="l" indent="0" marL="0">
              <a:buNone/>
            </a:pPr>
            <a:r>
              <a:rPr lang="en-US" sz="1500" dirty="0">
                <a:solidFill>
                  <a:srgbClr val="FFFFFF"/>
                </a:solidFill>
                <a:latin typeface="JetBrains Mono" pitchFamily="34" charset="0"/>
                <a:ea typeface="JetBrains Mono" pitchFamily="34" charset="-122"/>
                <a:cs typeface="JetBrains Mono" pitchFamily="34" charset="-120"/>
              </a:rPr>
              <a:t>  skills/</a:t>
            </a:r>
            <a:endParaRPr lang="en-US" sz="1500" dirty="0"/>
          </a:p>
        </p:txBody>
      </p:sp>
      <p:sp>
        <p:nvSpPr>
          <p:cNvPr id="11" name="Text 8"/>
          <p:cNvSpPr txBox="1"/>
          <p:nvPr/>
        </p:nvSpPr>
        <p:spPr>
          <a:xfrm>
            <a:off x="7665415" y="3502152"/>
            <a:ext cx="3657600" cy="365760"/>
          </a:xfrm>
          <a:prstGeom prst="rect">
            <a:avLst/>
          </a:prstGeom>
          <a:noFill/>
          <a:ln/>
        </p:spPr>
        <p:txBody>
          <a:bodyPr wrap="square" lIns="0" tIns="0" rIns="0" bIns="0" rtlCol="0" anchor="ctr"/>
          <a:lstStyle/>
          <a:p>
            <a:pPr algn="l" indent="0" marL="0">
              <a:buNone/>
            </a:pPr>
            <a:r>
              <a:rPr lang="en-US" sz="1500" dirty="0">
                <a:solidFill>
                  <a:srgbClr val="FFFFFF"/>
                </a:solidFill>
                <a:latin typeface="JetBrains Mono" pitchFamily="34" charset="0"/>
                <a:ea typeface="JetBrains Mono" pitchFamily="34" charset="-122"/>
                <a:cs typeface="JetBrains Mono" pitchFamily="34" charset="-120"/>
              </a:rPr>
              <a:t>    brand-post/</a:t>
            </a:r>
            <a:endParaRPr lang="en-US" sz="1500" dirty="0"/>
          </a:p>
        </p:txBody>
      </p:sp>
      <p:sp>
        <p:nvSpPr>
          <p:cNvPr id="12" name="Text 9"/>
          <p:cNvSpPr txBox="1"/>
          <p:nvPr/>
        </p:nvSpPr>
        <p:spPr>
          <a:xfrm>
            <a:off x="7665415" y="3904488"/>
            <a:ext cx="3657600" cy="365760"/>
          </a:xfrm>
          <a:prstGeom prst="rect">
            <a:avLst/>
          </a:prstGeom>
          <a:noFill/>
          <a:ln/>
        </p:spPr>
        <p:txBody>
          <a:bodyPr wrap="square" lIns="0" tIns="0" rIns="0" bIns="0" rtlCol="0" anchor="ctr"/>
          <a:lstStyle/>
          <a:p>
            <a:pPr algn="l" indent="0" marL="0">
              <a:buNone/>
            </a:pPr>
            <a:r>
              <a:rPr lang="en-US" sz="1500" b="1" dirty="0">
                <a:solidFill>
                  <a:srgbClr val="A6D04B"/>
                </a:solidFill>
                <a:latin typeface="JetBrains Mono" pitchFamily="34" charset="0"/>
                <a:ea typeface="JetBrains Mono" pitchFamily="34" charset="-122"/>
                <a:cs typeface="JetBrains Mono" pitchFamily="34" charset="-120"/>
              </a:rPr>
              <a:t>      SKILL.md</a:t>
            </a:r>
            <a:endParaRPr lang="en-US" sz="1500" dirty="0"/>
          </a:p>
        </p:txBody>
      </p:sp>
      <p:sp>
        <p:nvSpPr>
          <p:cNvPr id="13" name="Text 10"/>
          <p:cNvSpPr txBox="1"/>
          <p:nvPr/>
        </p:nvSpPr>
        <p:spPr>
          <a:xfrm>
            <a:off x="7665415" y="4306824"/>
            <a:ext cx="3657600" cy="365760"/>
          </a:xfrm>
          <a:prstGeom prst="rect">
            <a:avLst/>
          </a:prstGeom>
          <a:noFill/>
          <a:ln/>
        </p:spPr>
        <p:txBody>
          <a:bodyPr wrap="square" lIns="0" tIns="0" rIns="0" bIns="0" rtlCol="0" anchor="ctr"/>
          <a:lstStyle/>
          <a:p>
            <a:pPr algn="l" indent="0" marL="0">
              <a:buNone/>
            </a:pPr>
            <a:r>
              <a:rPr lang="en-US" sz="1500" dirty="0">
                <a:solidFill>
                  <a:srgbClr val="C9CCC8"/>
                </a:solidFill>
                <a:latin typeface="JetBrains Mono" pitchFamily="34" charset="0"/>
                <a:ea typeface="JetBrains Mono" pitchFamily="34" charset="-122"/>
                <a:cs typeface="JetBrains Mono" pitchFamily="34" charset="-120"/>
              </a:rPr>
              <a:t>      template.md</a:t>
            </a:r>
            <a:endParaRPr lang="en-US" sz="1500" dirty="0"/>
          </a:p>
        </p:txBody>
      </p:sp>
      <p:sp>
        <p:nvSpPr>
          <p:cNvPr id="14" name="Text 11"/>
          <p:cNvSpPr txBox="1"/>
          <p:nvPr/>
        </p:nvSpPr>
        <p:spPr>
          <a:xfrm>
            <a:off x="7665415" y="4709160"/>
            <a:ext cx="3657600" cy="365760"/>
          </a:xfrm>
          <a:prstGeom prst="rect">
            <a:avLst/>
          </a:prstGeom>
          <a:noFill/>
          <a:ln/>
        </p:spPr>
        <p:txBody>
          <a:bodyPr wrap="square" lIns="0" tIns="0" rIns="0" bIns="0" rtlCol="0" anchor="ctr"/>
          <a:lstStyle/>
          <a:p>
            <a:pPr algn="l" indent="0" marL="0">
              <a:buNone/>
            </a:pPr>
            <a:r>
              <a:rPr lang="en-US" sz="1500" dirty="0">
                <a:solidFill>
                  <a:srgbClr val="FFFFFF"/>
                </a:solidFill>
                <a:latin typeface="JetBrains Mono" pitchFamily="34" charset="0"/>
                <a:ea typeface="JetBrains Mono" pitchFamily="34" charset="-122"/>
                <a:cs typeface="JetBrains Mono" pitchFamily="34" charset="-120"/>
              </a:rPr>
              <a:t>      examples/</a:t>
            </a:r>
            <a:endParaRPr lang="en-US" sz="1500" dirty="0"/>
          </a:p>
        </p:txBody>
      </p:sp>
      <p:sp>
        <p:nvSpPr>
          <p:cNvPr id="15" name="Shape 12"/>
          <p:cNvSpPr/>
          <p:nvPr/>
        </p:nvSpPr>
        <p:spPr>
          <a:xfrm>
            <a:off x="548640" y="2423160"/>
            <a:ext cx="6522415" cy="640080"/>
          </a:xfrm>
          <a:prstGeom prst="roundRect">
            <a:avLst>
              <a:gd name="adj" fmla="val 14286"/>
            </a:avLst>
          </a:prstGeom>
          <a:solidFill>
            <a:srgbClr val="EAF5E8"/>
          </a:solidFill>
          <a:ln w="12700">
            <a:solidFill>
              <a:srgbClr val="EAF5E8"/>
            </a:solidFill>
            <a:prstDash val="solid"/>
          </a:ln>
        </p:spPr>
      </p:sp>
      <p:sp>
        <p:nvSpPr>
          <p:cNvPr id="16" name="Shape 13"/>
          <p:cNvSpPr/>
          <p:nvPr/>
        </p:nvSpPr>
        <p:spPr>
          <a:xfrm>
            <a:off x="6485839" y="2532888"/>
            <a:ext cx="420624" cy="420624"/>
          </a:xfrm>
          <a:prstGeom prst="ellipse">
            <a:avLst/>
          </a:prstGeom>
          <a:solidFill>
            <a:srgbClr val="4DB449"/>
          </a:solidFill>
          <a:ln w="6350">
            <a:solidFill>
              <a:srgbClr val="4DB449"/>
            </a:solidFill>
            <a:prstDash val="solid"/>
          </a:ln>
        </p:spPr>
      </p:sp>
      <p:sp>
        <p:nvSpPr>
          <p:cNvPr id="17" name="Text 14"/>
          <p:cNvSpPr txBox="1"/>
          <p:nvPr/>
        </p:nvSpPr>
        <p:spPr>
          <a:xfrm>
            <a:off x="4876495" y="2423160"/>
            <a:ext cx="1463040" cy="640080"/>
          </a:xfrm>
          <a:prstGeom prst="rect">
            <a:avLst/>
          </a:prstGeom>
          <a:noFill/>
          <a:ln/>
        </p:spPr>
        <p:txBody>
          <a:bodyPr wrap="square" lIns="0" tIns="0" rIns="0" bIns="0" rtlCol="0" anchor="ctr"/>
          <a:lstStyle/>
          <a:p>
            <a:pPr rtl="1" algn="r" indent="0" marL="0">
              <a:lnSpc>
                <a:spcPct val="100000"/>
              </a:lnSpc>
              <a:buNone/>
            </a:pPr>
            <a:r>
              <a:rPr lang="ar-SA" altLang="en-US" sz="1600" b="1" dirty="0">
                <a:solidFill>
                  <a:srgbClr val="1A1A1A"/>
                </a:solidFill>
                <a:latin typeface="Cairo" pitchFamily="34" charset="0"/>
                <a:ea typeface="Cairo" pitchFamily="34" charset="-122"/>
                <a:cs typeface="Cairo" pitchFamily="34" charset="-120"/>
              </a:rPr>
              <a:t>التثبيت</a:t>
            </a:r>
            <a:endParaRPr lang="ar-SA" sz="1600" dirty="0"/>
          </a:p>
        </p:txBody>
      </p:sp>
      <p:sp>
        <p:nvSpPr>
          <p:cNvPr id="18" name="Text 15"/>
          <p:cNvSpPr txBox="1"/>
          <p:nvPr/>
        </p:nvSpPr>
        <p:spPr>
          <a:xfrm>
            <a:off x="731520" y="2423160"/>
            <a:ext cx="4144975" cy="640080"/>
          </a:xfrm>
          <a:prstGeom prst="rect">
            <a:avLst/>
          </a:prstGeom>
          <a:noFill/>
          <a:ln/>
        </p:spPr>
        <p:txBody>
          <a:bodyPr wrap="square" lIns="0" tIns="0" rIns="0" bIns="0" rtlCol="0" anchor="ctr"/>
          <a:lstStyle/>
          <a:p>
            <a:pPr rtl="1" algn="r" indent="0" marL="0">
              <a:lnSpc>
                <a:spcPct val="100000"/>
              </a:lnSpc>
              <a:buNone/>
            </a:pPr>
            <a:r>
              <a:rPr lang="ar-SA" altLang="en-US" sz="1350" dirty="0">
                <a:solidFill>
                  <a:srgbClr val="3C3E3B"/>
                </a:solidFill>
                <a:latin typeface="IBM Plex Sans Arabic" pitchFamily="34" charset="0"/>
                <a:ea typeface="IBM Plex Sans Arabic" pitchFamily="34" charset="-122"/>
                <a:cs typeface="IBM Plex Sans Arabic" pitchFamily="34" charset="-120"/>
              </a:rPr>
              <a:t>إضافة مهارات جاهزة من سوق الإضافات داخل Claude Code</a:t>
            </a:r>
            <a:endParaRPr lang="ar-SA" sz="1350" dirty="0"/>
          </a:p>
        </p:txBody>
      </p:sp>
      <p:sp>
        <p:nvSpPr>
          <p:cNvPr id="19" name="Shape 16"/>
          <p:cNvSpPr/>
          <p:nvPr/>
        </p:nvSpPr>
        <p:spPr>
          <a:xfrm>
            <a:off x="548640" y="3172968"/>
            <a:ext cx="6522415" cy="640080"/>
          </a:xfrm>
          <a:prstGeom prst="roundRect">
            <a:avLst>
              <a:gd name="adj" fmla="val 14286"/>
            </a:avLst>
          </a:prstGeom>
          <a:solidFill>
            <a:srgbClr val="F2F4F1"/>
          </a:solidFill>
          <a:ln w="12700">
            <a:solidFill>
              <a:srgbClr val="F2F4F1"/>
            </a:solidFill>
            <a:prstDash val="solid"/>
          </a:ln>
        </p:spPr>
      </p:sp>
      <p:sp>
        <p:nvSpPr>
          <p:cNvPr id="20" name="Shape 17"/>
          <p:cNvSpPr/>
          <p:nvPr/>
        </p:nvSpPr>
        <p:spPr>
          <a:xfrm>
            <a:off x="6485839" y="3282696"/>
            <a:ext cx="420624" cy="420624"/>
          </a:xfrm>
          <a:prstGeom prst="ellipse">
            <a:avLst/>
          </a:prstGeom>
          <a:solidFill>
            <a:srgbClr val="4DB449"/>
          </a:solidFill>
          <a:ln w="6350">
            <a:solidFill>
              <a:srgbClr val="4DB449"/>
            </a:solidFill>
            <a:prstDash val="solid"/>
          </a:ln>
        </p:spPr>
      </p:sp>
      <p:sp>
        <p:nvSpPr>
          <p:cNvPr id="21" name="Text 18"/>
          <p:cNvSpPr txBox="1"/>
          <p:nvPr/>
        </p:nvSpPr>
        <p:spPr>
          <a:xfrm>
            <a:off x="4876495" y="3172968"/>
            <a:ext cx="1463040" cy="640080"/>
          </a:xfrm>
          <a:prstGeom prst="rect">
            <a:avLst/>
          </a:prstGeom>
          <a:noFill/>
          <a:ln/>
        </p:spPr>
        <p:txBody>
          <a:bodyPr wrap="square" lIns="0" tIns="0" rIns="0" bIns="0" rtlCol="0" anchor="ctr"/>
          <a:lstStyle/>
          <a:p>
            <a:pPr rtl="1" algn="r" indent="0" marL="0">
              <a:lnSpc>
                <a:spcPct val="100000"/>
              </a:lnSpc>
              <a:buNone/>
            </a:pPr>
            <a:r>
              <a:rPr lang="ar-SA" altLang="en-US" sz="1600" b="1" dirty="0">
                <a:solidFill>
                  <a:srgbClr val="1A1A1A"/>
                </a:solidFill>
                <a:latin typeface="Cairo" pitchFamily="34" charset="0"/>
                <a:ea typeface="Cairo" pitchFamily="34" charset="-122"/>
                <a:cs typeface="Cairo" pitchFamily="34" charset="-120"/>
              </a:rPr>
              <a:t>الكتابة</a:t>
            </a:r>
            <a:endParaRPr lang="ar-SA" sz="1600" dirty="0"/>
          </a:p>
        </p:txBody>
      </p:sp>
      <p:sp>
        <p:nvSpPr>
          <p:cNvPr id="22" name="Text 19"/>
          <p:cNvSpPr txBox="1"/>
          <p:nvPr/>
        </p:nvSpPr>
        <p:spPr>
          <a:xfrm>
            <a:off x="731520" y="3172968"/>
            <a:ext cx="4144975" cy="640080"/>
          </a:xfrm>
          <a:prstGeom prst="rect">
            <a:avLst/>
          </a:prstGeom>
          <a:noFill/>
          <a:ln/>
        </p:spPr>
        <p:txBody>
          <a:bodyPr wrap="square" lIns="0" tIns="0" rIns="0" bIns="0" rtlCol="0" anchor="ctr"/>
          <a:lstStyle/>
          <a:p>
            <a:pPr rtl="1" algn="r" indent="0" marL="0">
              <a:lnSpc>
                <a:spcPct val="100000"/>
              </a:lnSpc>
              <a:buNone/>
            </a:pPr>
            <a:r>
              <a:rPr lang="ar-SA" altLang="en-US" sz="1350" dirty="0">
                <a:solidFill>
                  <a:srgbClr val="3C3E3B"/>
                </a:solidFill>
                <a:latin typeface="IBM Plex Sans Arabic" pitchFamily="34" charset="0"/>
                <a:ea typeface="IBM Plex Sans Arabic" pitchFamily="34" charset="-122"/>
                <a:cs typeface="IBM Plex Sans Arabic" pitchFamily="34" charset="-120"/>
              </a:rPr>
              <a:t>إنشاء مهارة: الاسم والوصف والخطوات والقالب</a:t>
            </a:r>
            <a:endParaRPr lang="ar-SA" sz="1350" dirty="0"/>
          </a:p>
        </p:txBody>
      </p:sp>
      <p:sp>
        <p:nvSpPr>
          <p:cNvPr id="23" name="Shape 20"/>
          <p:cNvSpPr/>
          <p:nvPr/>
        </p:nvSpPr>
        <p:spPr>
          <a:xfrm>
            <a:off x="548640" y="3922776"/>
            <a:ext cx="6522415" cy="640080"/>
          </a:xfrm>
          <a:prstGeom prst="roundRect">
            <a:avLst>
              <a:gd name="adj" fmla="val 14286"/>
            </a:avLst>
          </a:prstGeom>
          <a:solidFill>
            <a:srgbClr val="EAF5E8"/>
          </a:solidFill>
          <a:ln w="12700">
            <a:solidFill>
              <a:srgbClr val="EAF5E8"/>
            </a:solidFill>
            <a:prstDash val="solid"/>
          </a:ln>
        </p:spPr>
      </p:sp>
      <p:sp>
        <p:nvSpPr>
          <p:cNvPr id="24" name="Shape 21"/>
          <p:cNvSpPr/>
          <p:nvPr/>
        </p:nvSpPr>
        <p:spPr>
          <a:xfrm>
            <a:off x="6485839" y="4032504"/>
            <a:ext cx="420624" cy="420624"/>
          </a:xfrm>
          <a:prstGeom prst="ellipse">
            <a:avLst/>
          </a:prstGeom>
          <a:solidFill>
            <a:srgbClr val="4DB449"/>
          </a:solidFill>
          <a:ln w="6350">
            <a:solidFill>
              <a:srgbClr val="4DB449"/>
            </a:solidFill>
            <a:prstDash val="solid"/>
          </a:ln>
        </p:spPr>
      </p:sp>
      <p:sp>
        <p:nvSpPr>
          <p:cNvPr id="25" name="Text 22"/>
          <p:cNvSpPr txBox="1"/>
          <p:nvPr/>
        </p:nvSpPr>
        <p:spPr>
          <a:xfrm>
            <a:off x="4876495" y="3922776"/>
            <a:ext cx="1463040" cy="640080"/>
          </a:xfrm>
          <a:prstGeom prst="rect">
            <a:avLst/>
          </a:prstGeom>
          <a:noFill/>
          <a:ln/>
        </p:spPr>
        <p:txBody>
          <a:bodyPr wrap="square" lIns="0" tIns="0" rIns="0" bIns="0" rtlCol="0" anchor="ctr"/>
          <a:lstStyle/>
          <a:p>
            <a:pPr rtl="1" algn="r" indent="0" marL="0">
              <a:lnSpc>
                <a:spcPct val="100000"/>
              </a:lnSpc>
              <a:buNone/>
            </a:pPr>
            <a:r>
              <a:rPr lang="ar-SA" altLang="en-US" sz="1600" b="1" dirty="0">
                <a:solidFill>
                  <a:srgbClr val="1A1A1A"/>
                </a:solidFill>
                <a:latin typeface="Cairo" pitchFamily="34" charset="0"/>
                <a:ea typeface="Cairo" pitchFamily="34" charset="-122"/>
                <a:cs typeface="Cairo" pitchFamily="34" charset="-120"/>
              </a:rPr>
              <a:t>الاستخدام</a:t>
            </a:r>
            <a:endParaRPr lang="ar-SA" sz="1600" dirty="0"/>
          </a:p>
        </p:txBody>
      </p:sp>
      <p:sp>
        <p:nvSpPr>
          <p:cNvPr id="26" name="Text 23"/>
          <p:cNvSpPr txBox="1"/>
          <p:nvPr/>
        </p:nvSpPr>
        <p:spPr>
          <a:xfrm>
            <a:off x="731520" y="3922776"/>
            <a:ext cx="4144975" cy="640080"/>
          </a:xfrm>
          <a:prstGeom prst="rect">
            <a:avLst/>
          </a:prstGeom>
          <a:noFill/>
          <a:ln/>
        </p:spPr>
        <p:txBody>
          <a:bodyPr wrap="square" lIns="0" tIns="0" rIns="0" bIns="0" rtlCol="0" anchor="ctr"/>
          <a:lstStyle/>
          <a:p>
            <a:pPr rtl="1" algn="r" indent="0" marL="0">
              <a:lnSpc>
                <a:spcPct val="100000"/>
              </a:lnSpc>
              <a:buNone/>
            </a:pPr>
            <a:r>
              <a:rPr lang="ar-SA" altLang="en-US" sz="1350" dirty="0">
                <a:solidFill>
                  <a:srgbClr val="3C3E3B"/>
                </a:solidFill>
                <a:latin typeface="IBM Plex Sans Arabic" pitchFamily="34" charset="0"/>
                <a:ea typeface="IBM Plex Sans Arabic" pitchFamily="34" charset="-122"/>
                <a:cs typeface="IBM Plex Sans Arabic" pitchFamily="34" charset="-120"/>
              </a:rPr>
              <a:t>استدعاؤها باسمها، مثل brand-post، أو تركها لـ Claude حسب المهمة</a:t>
            </a:r>
            <a:endParaRPr lang="ar-SA" sz="1350" dirty="0"/>
          </a:p>
        </p:txBody>
      </p:sp>
      <p:sp>
        <p:nvSpPr>
          <p:cNvPr id="27" name="Shape 24"/>
          <p:cNvSpPr/>
          <p:nvPr/>
        </p:nvSpPr>
        <p:spPr>
          <a:xfrm>
            <a:off x="548640" y="4672584"/>
            <a:ext cx="6522415" cy="640080"/>
          </a:xfrm>
          <a:prstGeom prst="roundRect">
            <a:avLst>
              <a:gd name="adj" fmla="val 14286"/>
            </a:avLst>
          </a:prstGeom>
          <a:solidFill>
            <a:srgbClr val="F2F4F1"/>
          </a:solidFill>
          <a:ln w="12700">
            <a:solidFill>
              <a:srgbClr val="F2F4F1"/>
            </a:solidFill>
            <a:prstDash val="solid"/>
          </a:ln>
        </p:spPr>
      </p:sp>
      <p:sp>
        <p:nvSpPr>
          <p:cNvPr id="28" name="Shape 25"/>
          <p:cNvSpPr/>
          <p:nvPr/>
        </p:nvSpPr>
        <p:spPr>
          <a:xfrm>
            <a:off x="6485839" y="4782312"/>
            <a:ext cx="420624" cy="420624"/>
          </a:xfrm>
          <a:prstGeom prst="ellipse">
            <a:avLst/>
          </a:prstGeom>
          <a:solidFill>
            <a:srgbClr val="4DB449"/>
          </a:solidFill>
          <a:ln w="6350">
            <a:solidFill>
              <a:srgbClr val="4DB449"/>
            </a:solidFill>
            <a:prstDash val="solid"/>
          </a:ln>
        </p:spPr>
      </p:sp>
      <p:sp>
        <p:nvSpPr>
          <p:cNvPr id="29" name="Text 26"/>
          <p:cNvSpPr txBox="1"/>
          <p:nvPr/>
        </p:nvSpPr>
        <p:spPr>
          <a:xfrm>
            <a:off x="4876495" y="4672584"/>
            <a:ext cx="1463040" cy="640080"/>
          </a:xfrm>
          <a:prstGeom prst="rect">
            <a:avLst/>
          </a:prstGeom>
          <a:noFill/>
          <a:ln/>
        </p:spPr>
        <p:txBody>
          <a:bodyPr wrap="square" lIns="0" tIns="0" rIns="0" bIns="0" rtlCol="0" anchor="ctr"/>
          <a:lstStyle/>
          <a:p>
            <a:pPr rtl="1" algn="r" indent="0" marL="0">
              <a:lnSpc>
                <a:spcPct val="100000"/>
              </a:lnSpc>
              <a:buNone/>
            </a:pPr>
            <a:r>
              <a:rPr lang="ar-SA" altLang="en-US" sz="1600" b="1" dirty="0">
                <a:solidFill>
                  <a:srgbClr val="1A1A1A"/>
                </a:solidFill>
                <a:latin typeface="Cairo" pitchFamily="34" charset="0"/>
                <a:ea typeface="Cairo" pitchFamily="34" charset="-122"/>
                <a:cs typeface="Cairo" pitchFamily="34" charset="-120"/>
              </a:rPr>
              <a:t>التحسين</a:t>
            </a:r>
            <a:endParaRPr lang="ar-SA" sz="1600" dirty="0"/>
          </a:p>
        </p:txBody>
      </p:sp>
      <p:sp>
        <p:nvSpPr>
          <p:cNvPr id="30" name="Text 27"/>
          <p:cNvSpPr txBox="1"/>
          <p:nvPr/>
        </p:nvSpPr>
        <p:spPr>
          <a:xfrm>
            <a:off x="731520" y="4672584"/>
            <a:ext cx="4144975" cy="640080"/>
          </a:xfrm>
          <a:prstGeom prst="rect">
            <a:avLst/>
          </a:prstGeom>
          <a:noFill/>
          <a:ln/>
        </p:spPr>
        <p:txBody>
          <a:bodyPr wrap="square" lIns="0" tIns="0" rIns="0" bIns="0" rtlCol="0" anchor="ctr"/>
          <a:lstStyle/>
          <a:p>
            <a:pPr rtl="1" algn="r" indent="0" marL="0">
              <a:lnSpc>
                <a:spcPct val="100000"/>
              </a:lnSpc>
              <a:buNone/>
            </a:pPr>
            <a:r>
              <a:rPr lang="ar-SA" altLang="en-US" sz="1350" dirty="0">
                <a:solidFill>
                  <a:srgbClr val="3C3E3B"/>
                </a:solidFill>
                <a:latin typeface="IBM Plex Sans Arabic" pitchFamily="34" charset="0"/>
                <a:ea typeface="IBM Plex Sans Arabic" pitchFamily="34" charset="-122"/>
                <a:cs typeface="IBM Plex Sans Arabic" pitchFamily="34" charset="-120"/>
              </a:rPr>
              <a:t>اختبارها على موجزات حقيقية وتطويرها</a:t>
            </a:r>
            <a:endParaRPr lang="ar-SA" sz="1350" dirty="0"/>
          </a:p>
        </p:txBody>
      </p:sp>
      <p:sp>
        <p:nvSpPr>
          <p:cNvPr id="31" name="Shape 28"/>
          <p:cNvSpPr/>
          <p:nvPr/>
        </p:nvSpPr>
        <p:spPr>
          <a:xfrm>
            <a:off x="548640" y="5596128"/>
            <a:ext cx="11094415" cy="566928"/>
          </a:xfrm>
          <a:prstGeom prst="roundRect">
            <a:avLst>
              <a:gd name="adj" fmla="val 16129"/>
            </a:avLst>
          </a:prstGeom>
          <a:solidFill>
            <a:srgbClr val="000000"/>
          </a:solidFill>
          <a:ln w="9525">
            <a:solidFill>
              <a:srgbClr val="000000"/>
            </a:solidFill>
            <a:prstDash val="solid"/>
          </a:ln>
        </p:spPr>
      </p:sp>
      <p:sp>
        <p:nvSpPr>
          <p:cNvPr id="32" name="Text 29"/>
          <p:cNvSpPr txBox="1"/>
          <p:nvPr/>
        </p:nvSpPr>
        <p:spPr>
          <a:xfrm>
            <a:off x="822960" y="5596128"/>
            <a:ext cx="10545775" cy="566928"/>
          </a:xfrm>
          <a:prstGeom prst="rect">
            <a:avLst/>
          </a:prstGeom>
          <a:noFill/>
          <a:ln/>
        </p:spPr>
        <p:txBody>
          <a:bodyPr wrap="square" lIns="0" tIns="0" rIns="0" bIns="0" rtlCol="0" anchor="ctr"/>
          <a:lstStyle/>
          <a:p>
            <a:pPr rtl="1" algn="r" indent="0" marL="0">
              <a:lnSpc>
                <a:spcPct val="100000"/>
              </a:lnSpc>
              <a:buNone/>
            </a:pPr>
            <a:r>
              <a:rPr lang="ar-SA" altLang="en-US" sz="1400" b="1" dirty="0">
                <a:solidFill>
                  <a:srgbClr val="FFFFFF"/>
                </a:solidFill>
                <a:latin typeface="IBM Plex Sans Arabic" pitchFamily="34" charset="0"/>
                <a:ea typeface="IBM Plex Sans Arabic" pitchFamily="34" charset="-122"/>
                <a:cs typeface="IBM Plex Sans Arabic" pitchFamily="34" charset="-120"/>
              </a:rPr>
              <a:t>يكتب كل مشارك مهارة تعمل فعلياً، تحوّل موجزاً قصيراً إلى منشور ونص مرافق وأمر لتوليد صورة بأسلوب المنظمة.</a:t>
            </a:r>
            <a:endParaRPr lang="ar-SA" sz="1400" dirty="0"/>
          </a:p>
        </p:txBody>
      </p:sp>
      <p:pic>
        <p:nvPicPr>
          <p:cNvPr id="34" name="Image 1" descr="preencoded.png">    </p:cNvPr>
          <p:cNvPicPr>
            <a:picLocks noChangeAspect="1"/>
          </p:cNvPicPr>
          <p:nvPr/>
        </p:nvPicPr>
        <p:blipFill>
          <a:blip r:embed="rId2"/>
          <a:stretch>
            <a:fillRect/>
          </a:stretch>
        </p:blipFill>
        <p:spPr>
          <a:xfrm>
            <a:off x="6586423" y="3383280"/>
            <a:ext cx="219456" cy="219456"/>
          </a:xfrm>
          <a:prstGeom prst="rect">
            <a:avLst/>
          </a:prstGeom>
        </p:spPr>
      </p:pic>
      <p:pic>
        <p:nvPicPr>
          <p:cNvPr id="35" name="Image 2" descr="preencoded.png">    </p:cNvPr>
          <p:cNvPicPr>
            <a:picLocks noChangeAspect="1"/>
          </p:cNvPicPr>
          <p:nvPr/>
        </p:nvPicPr>
        <p:blipFill>
          <a:blip r:embed="rId3"/>
          <a:stretch>
            <a:fillRect/>
          </a:stretch>
        </p:blipFill>
        <p:spPr>
          <a:xfrm>
            <a:off x="6586423" y="4133088"/>
            <a:ext cx="219456" cy="219456"/>
          </a:xfrm>
          <a:prstGeom prst="rect">
            <a:avLst/>
          </a:prstGeom>
        </p:spPr>
      </p:pic>
      <p:pic>
        <p:nvPicPr>
          <p:cNvPr id="36" name="Image 3" descr="preencoded.png">    </p:cNvPr>
          <p:cNvPicPr>
            <a:picLocks noChangeAspect="1"/>
          </p:cNvPicPr>
          <p:nvPr/>
        </p:nvPicPr>
        <p:blipFill>
          <a:blip r:embed="rId4"/>
          <a:stretch>
            <a:fillRect/>
          </a:stretch>
        </p:blipFill>
        <p:spPr>
          <a:xfrm>
            <a:off x="6586423" y="2633472"/>
            <a:ext cx="219456" cy="219456"/>
          </a:xfrm>
          <a:prstGeom prst="rect">
            <a:avLst/>
          </a:prstGeom>
        </p:spPr>
      </p:pic>
      <p:pic>
        <p:nvPicPr>
          <p:cNvPr id="37" name="Image 4" descr="preencoded.png">    </p:cNvPr>
          <p:cNvPicPr>
            <a:picLocks noChangeAspect="1"/>
          </p:cNvPicPr>
          <p:nvPr/>
        </p:nvPicPr>
        <p:blipFill>
          <a:blip r:embed="rId5"/>
          <a:stretch>
            <a:fillRect/>
          </a:stretch>
        </p:blipFill>
        <p:spPr>
          <a:xfrm>
            <a:off x="6586423" y="4882896"/>
            <a:ext cx="219456" cy="21945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Green Circle logo">    </p:cNvPr>
          <p:cNvPicPr>
            <a:picLocks noChangeAspect="1"/>
          </p:cNvPicPr>
          <p:nvPr/>
        </p:nvPicPr>
        <p:blipFill>
          <a:blip r:embed="rId1"/>
          <a:stretch>
            <a:fillRect/>
          </a:stretch>
        </p:blipFill>
        <p:spPr>
          <a:xfrm>
            <a:off x="548640" y="384048"/>
            <a:ext cx="1286501" cy="457200"/>
          </a:xfrm>
          <a:prstGeom prst="rect">
            <a:avLst/>
          </a:prstGeom>
        </p:spPr>
      </p:pic>
      <p:sp>
        <p:nvSpPr>
          <p:cNvPr id="3" name="Text 0"/>
          <p:cNvSpPr txBox="1"/>
          <p:nvPr/>
        </p:nvSpPr>
        <p:spPr>
          <a:xfrm>
            <a:off x="5242255" y="6446520"/>
            <a:ext cx="6400800" cy="228600"/>
          </a:xfrm>
          <a:prstGeom prst="rect">
            <a:avLst/>
          </a:prstGeom>
          <a:noFill/>
          <a:ln/>
        </p:spPr>
        <p:txBody>
          <a:bodyPr wrap="square" lIns="0" tIns="0" rIns="0" bIns="0" rtlCol="0" anchor="t"/>
          <a:lstStyle/>
          <a:p>
            <a:pPr rtl="1" algn="r" indent="0" marL="0">
              <a:lnSpc>
                <a:spcPct val="100000"/>
              </a:lnSpc>
              <a:buNone/>
            </a:pPr>
            <a:r>
              <a:rPr lang="ar-SA" altLang="en-US" sz="900" dirty="0">
                <a:solidFill>
                  <a:srgbClr val="727274"/>
                </a:solidFill>
                <a:latin typeface="IBM Plex Sans Arabic" pitchFamily="34" charset="0"/>
                <a:ea typeface="IBM Plex Sans Arabic" pitchFamily="34" charset="-122"/>
                <a:cs typeface="IBM Plex Sans Arabic" pitchFamily="34" charset="-120"/>
              </a:rPr>
              <a:t>برنامج صُنّاع المحتوى بالذكاء الاصطناعي · مذكرة مفاهيمية</a:t>
            </a:r>
            <a:endParaRPr lang="ar-SA" sz="900" dirty="0"/>
          </a:p>
        </p:txBody>
      </p:sp>
      <p:sp>
        <p:nvSpPr>
          <p:cNvPr id="4" name="Text 1"/>
          <p:cNvSpPr txBox="1"/>
          <p:nvPr/>
        </p:nvSpPr>
        <p:spPr>
          <a:xfrm>
            <a:off x="548640" y="6446520"/>
            <a:ext cx="548640" cy="228600"/>
          </a:xfrm>
          <a:prstGeom prst="rect">
            <a:avLst/>
          </a:prstGeom>
          <a:noFill/>
          <a:ln/>
        </p:spPr>
        <p:txBody>
          <a:bodyPr wrap="square" lIns="0" tIns="0" rIns="0" bIns="0" rtlCol="0" anchor="t"/>
          <a:lstStyle/>
          <a:p>
            <a:pPr rtl="1" algn="l" indent="0" marL="0">
              <a:lnSpc>
                <a:spcPct val="100000"/>
              </a:lnSpc>
              <a:buNone/>
            </a:pPr>
            <a:r>
              <a:rPr lang="ar-SA" altLang="en-US" sz="900" dirty="0">
                <a:solidFill>
                  <a:srgbClr val="727274"/>
                </a:solidFill>
                <a:latin typeface="IBM Plex Sans Arabic" pitchFamily="34" charset="0"/>
                <a:ea typeface="IBM Plex Sans Arabic" pitchFamily="34" charset="-122"/>
                <a:cs typeface="IBM Plex Sans Arabic" pitchFamily="34" charset="-120"/>
              </a:rPr>
              <a:t>10</a:t>
            </a:r>
            <a:endParaRPr lang="ar-SA" sz="900" dirty="0"/>
          </a:p>
        </p:txBody>
      </p:sp>
      <p:sp>
        <p:nvSpPr>
          <p:cNvPr id="5" name="Text 2"/>
          <p:cNvSpPr txBox="1"/>
          <p:nvPr/>
        </p:nvSpPr>
        <p:spPr>
          <a:xfrm>
            <a:off x="2681935" y="384048"/>
            <a:ext cx="8961120" cy="274320"/>
          </a:xfrm>
          <a:prstGeom prst="rect">
            <a:avLst/>
          </a:prstGeom>
          <a:noFill/>
          <a:ln/>
        </p:spPr>
        <p:txBody>
          <a:bodyPr wrap="square" lIns="0" tIns="0" rIns="0" bIns="0" rtlCol="0" anchor="t"/>
          <a:lstStyle/>
          <a:p>
            <a:pPr rtl="1" algn="r" indent="0" marL="0">
              <a:lnSpc>
                <a:spcPct val="100000"/>
              </a:lnSpc>
              <a:buNone/>
            </a:pPr>
            <a:r>
              <a:rPr lang="ar-SA" altLang="en-US" sz="1100" b="1" dirty="0">
                <a:solidFill>
                  <a:srgbClr val="727274"/>
                </a:solidFill>
                <a:latin typeface="IBM Plex Sans Arabic" pitchFamily="34" charset="0"/>
                <a:ea typeface="IBM Plex Sans Arabic" pitchFamily="34" charset="-122"/>
                <a:cs typeface="IBM Plex Sans Arabic" pitchFamily="34" charset="-120"/>
              </a:rPr>
              <a:t>09 · الذكاء الاصطناعي في البحث والمحتوى</a:t>
            </a:r>
            <a:endParaRPr lang="ar-SA" sz="1100" dirty="0"/>
          </a:p>
        </p:txBody>
      </p:sp>
      <p:sp>
        <p:nvSpPr>
          <p:cNvPr id="6" name="Text 3"/>
          <p:cNvSpPr txBox="1"/>
          <p:nvPr/>
        </p:nvSpPr>
        <p:spPr>
          <a:xfrm>
            <a:off x="2224735" y="676656"/>
            <a:ext cx="9418320" cy="914400"/>
          </a:xfrm>
          <a:prstGeom prst="rect">
            <a:avLst/>
          </a:prstGeom>
          <a:noFill/>
          <a:ln/>
        </p:spPr>
        <p:txBody>
          <a:bodyPr wrap="square" lIns="0" tIns="0" rIns="0" bIns="0" rtlCol="0" anchor="t"/>
          <a:lstStyle/>
          <a:p>
            <a:pPr rtl="1" algn="r" indent="0" marL="0">
              <a:lnSpc>
                <a:spcPct val="95000"/>
              </a:lnSpc>
              <a:buNone/>
            </a:pPr>
            <a:r>
              <a:rPr lang="ar-SA" altLang="en-US" sz="2600" b="1" dirty="0">
                <a:solidFill>
                  <a:srgbClr val="1A1A1A"/>
                </a:solidFill>
                <a:latin typeface="Cairo" pitchFamily="34" charset="0"/>
                <a:ea typeface="Cairo" pitchFamily="34" charset="-122"/>
                <a:cs typeface="Cairo" pitchFamily="34" charset="-120"/>
              </a:rPr>
              <a:t>من بحث مُتحقَّق منه إلى محتوى جاهز للنشر</a:t>
            </a:r>
            <a:endParaRPr lang="ar-SA" sz="2600" dirty="0"/>
          </a:p>
        </p:txBody>
      </p:sp>
      <p:sp>
        <p:nvSpPr>
          <p:cNvPr id="7" name="Shape 4"/>
          <p:cNvSpPr/>
          <p:nvPr/>
        </p:nvSpPr>
        <p:spPr>
          <a:xfrm>
            <a:off x="8127797" y="1783080"/>
            <a:ext cx="3515258" cy="3611880"/>
          </a:xfrm>
          <a:prstGeom prst="roundRect">
            <a:avLst>
              <a:gd name="adj" fmla="val 3121"/>
            </a:avLst>
          </a:prstGeom>
          <a:solidFill>
            <a:srgbClr val="F2F4F1"/>
          </a:solidFill>
          <a:ln w="12700">
            <a:solidFill>
              <a:srgbClr val="F2F4F1"/>
            </a:solidFill>
            <a:prstDash val="solid"/>
          </a:ln>
        </p:spPr>
      </p:sp>
      <p:sp>
        <p:nvSpPr>
          <p:cNvPr id="8" name="Shape 5"/>
          <p:cNvSpPr/>
          <p:nvPr/>
        </p:nvSpPr>
        <p:spPr>
          <a:xfrm>
            <a:off x="10728655" y="2057400"/>
            <a:ext cx="640080" cy="640080"/>
          </a:xfrm>
          <a:prstGeom prst="ellipse">
            <a:avLst/>
          </a:prstGeom>
          <a:solidFill>
            <a:srgbClr val="4DB449"/>
          </a:solidFill>
          <a:ln w="6350">
            <a:solidFill>
              <a:srgbClr val="4DB449"/>
            </a:solidFill>
            <a:prstDash val="solid"/>
          </a:ln>
        </p:spPr>
      </p:sp>
      <p:pic>
        <p:nvPicPr>
          <p:cNvPr id="9" name="Image 1" descr="preencoded.png">    </p:cNvPr>
          <p:cNvPicPr>
            <a:picLocks noChangeAspect="1"/>
          </p:cNvPicPr>
          <p:nvPr/>
        </p:nvPicPr>
        <p:blipFill>
          <a:blip r:embed="rId2"/>
          <a:stretch>
            <a:fillRect/>
          </a:stretch>
        </p:blipFill>
        <p:spPr>
          <a:xfrm>
            <a:off x="10884103" y="2212848"/>
            <a:ext cx="329184" cy="329184"/>
          </a:xfrm>
          <a:prstGeom prst="rect">
            <a:avLst/>
          </a:prstGeom>
        </p:spPr>
      </p:pic>
      <p:pic>
        <p:nvPicPr>
          <p:cNvPr id="10" name="Image 2" descr="preencoded.png">    </p:cNvPr>
          <p:cNvPicPr>
            <a:picLocks noChangeAspect="1"/>
          </p:cNvPicPr>
          <p:nvPr/>
        </p:nvPicPr>
        <p:blipFill>
          <a:blip r:embed="rId3"/>
          <a:stretch>
            <a:fillRect/>
          </a:stretch>
        </p:blipFill>
        <p:spPr>
          <a:xfrm>
            <a:off x="7871765" y="3470148"/>
            <a:ext cx="237744" cy="237744"/>
          </a:xfrm>
          <a:prstGeom prst="rect">
            <a:avLst/>
          </a:prstGeom>
        </p:spPr>
      </p:pic>
      <p:sp>
        <p:nvSpPr>
          <p:cNvPr id="11" name="Text 6"/>
          <p:cNvSpPr txBox="1"/>
          <p:nvPr/>
        </p:nvSpPr>
        <p:spPr>
          <a:xfrm>
            <a:off x="8356397" y="2130552"/>
            <a:ext cx="2235098" cy="502920"/>
          </a:xfrm>
          <a:prstGeom prst="rect">
            <a:avLst/>
          </a:prstGeom>
          <a:noFill/>
          <a:ln/>
        </p:spPr>
        <p:txBody>
          <a:bodyPr wrap="square" lIns="0" tIns="0" rIns="0" bIns="0" rtlCol="0" anchor="t"/>
          <a:lstStyle/>
          <a:p>
            <a:pPr rtl="1" algn="r" indent="0" marL="0">
              <a:lnSpc>
                <a:spcPct val="100000"/>
              </a:lnSpc>
              <a:buNone/>
            </a:pPr>
            <a:r>
              <a:rPr lang="ar-SA" altLang="en-US" sz="2000" b="1" dirty="0">
                <a:solidFill>
                  <a:srgbClr val="1A1A1A"/>
                </a:solidFill>
                <a:latin typeface="Cairo" pitchFamily="34" charset="0"/>
                <a:ea typeface="Cairo" pitchFamily="34" charset="-122"/>
                <a:cs typeface="Cairo" pitchFamily="34" charset="-120"/>
              </a:rPr>
              <a:t>البحث</a:t>
            </a:r>
            <a:endParaRPr lang="ar-SA" sz="2000" dirty="0"/>
          </a:p>
        </p:txBody>
      </p:sp>
      <p:sp>
        <p:nvSpPr>
          <p:cNvPr id="12" name="Shape 7"/>
          <p:cNvSpPr/>
          <p:nvPr/>
        </p:nvSpPr>
        <p:spPr>
          <a:xfrm>
            <a:off x="9933127" y="2926080"/>
            <a:ext cx="1435608" cy="365760"/>
          </a:xfrm>
          <a:prstGeom prst="roundRect">
            <a:avLst>
              <a:gd name="adj" fmla="val 50000"/>
            </a:avLst>
          </a:prstGeom>
          <a:solidFill>
            <a:srgbClr val="FFFFFF"/>
          </a:solidFill>
          <a:ln w="9525">
            <a:solidFill>
              <a:srgbClr val="D9DDD8"/>
            </a:solidFill>
            <a:prstDash val="solid"/>
          </a:ln>
        </p:spPr>
      </p:sp>
      <p:pic>
        <p:nvPicPr>
          <p:cNvPr id="13" name="Image 3" descr="Perplexity logo">    </p:cNvPr>
          <p:cNvPicPr>
            <a:picLocks noChangeAspect="1"/>
          </p:cNvPicPr>
          <p:nvPr/>
        </p:nvPicPr>
        <p:blipFill>
          <a:blip r:embed="rId4"/>
          <a:stretch>
            <a:fillRect/>
          </a:stretch>
        </p:blipFill>
        <p:spPr>
          <a:xfrm>
            <a:off x="11057839" y="3017520"/>
            <a:ext cx="182880" cy="182880"/>
          </a:xfrm>
          <a:prstGeom prst="rect">
            <a:avLst/>
          </a:prstGeom>
        </p:spPr>
      </p:pic>
      <p:sp>
        <p:nvSpPr>
          <p:cNvPr id="14" name="Text 8"/>
          <p:cNvSpPr txBox="1"/>
          <p:nvPr/>
        </p:nvSpPr>
        <p:spPr>
          <a:xfrm>
            <a:off x="10042855" y="2926080"/>
            <a:ext cx="960120" cy="365760"/>
          </a:xfrm>
          <a:prstGeom prst="rect">
            <a:avLst/>
          </a:prstGeom>
          <a:noFill/>
          <a:ln/>
        </p:spPr>
        <p:txBody>
          <a:bodyPr wrap="square" lIns="0" tIns="0" rIns="0" bIns="0" rtlCol="0" anchor="ctr"/>
          <a:lstStyle/>
          <a:p>
            <a:pPr algn="r" indent="0" marL="0">
              <a:lnSpc>
                <a:spcPct val="100000"/>
              </a:lnSpc>
              <a:buNone/>
            </a:pPr>
            <a:r>
              <a:rPr lang="ar-SA" altLang="en-US" sz="1200" dirty="0">
                <a:solidFill>
                  <a:srgbClr val="1A1A1A"/>
                </a:solidFill>
                <a:latin typeface="IBM Plex Sans Arabic" pitchFamily="34" charset="0"/>
                <a:ea typeface="IBM Plex Sans Arabic" pitchFamily="34" charset="-122"/>
                <a:cs typeface="IBM Plex Sans Arabic" pitchFamily="34" charset="-120"/>
              </a:rPr>
              <a:t>Perplexity</a:t>
            </a:r>
            <a:endParaRPr lang="ar-SA" sz="1200" dirty="0"/>
          </a:p>
        </p:txBody>
      </p:sp>
      <p:sp>
        <p:nvSpPr>
          <p:cNvPr id="15" name="Shape 9"/>
          <p:cNvSpPr/>
          <p:nvPr/>
        </p:nvSpPr>
        <p:spPr>
          <a:xfrm>
            <a:off x="9155887" y="3383280"/>
            <a:ext cx="2212848" cy="365760"/>
          </a:xfrm>
          <a:prstGeom prst="roundRect">
            <a:avLst>
              <a:gd name="adj" fmla="val 50000"/>
            </a:avLst>
          </a:prstGeom>
          <a:solidFill>
            <a:srgbClr val="FFFFFF"/>
          </a:solidFill>
          <a:ln w="9525">
            <a:solidFill>
              <a:srgbClr val="D9DDD8"/>
            </a:solidFill>
            <a:prstDash val="solid"/>
          </a:ln>
        </p:spPr>
      </p:sp>
      <p:pic>
        <p:nvPicPr>
          <p:cNvPr id="16" name="Image 4" descr="Gemini Deep Research logo">    </p:cNvPr>
          <p:cNvPicPr>
            <a:picLocks noChangeAspect="1"/>
          </p:cNvPicPr>
          <p:nvPr/>
        </p:nvPicPr>
        <p:blipFill>
          <a:blip r:embed="rId5"/>
          <a:stretch>
            <a:fillRect/>
          </a:stretch>
        </p:blipFill>
        <p:spPr>
          <a:xfrm>
            <a:off x="11057839" y="3474720"/>
            <a:ext cx="182880" cy="182880"/>
          </a:xfrm>
          <a:prstGeom prst="rect">
            <a:avLst/>
          </a:prstGeom>
        </p:spPr>
      </p:pic>
      <p:sp>
        <p:nvSpPr>
          <p:cNvPr id="17" name="Text 10"/>
          <p:cNvSpPr txBox="1"/>
          <p:nvPr/>
        </p:nvSpPr>
        <p:spPr>
          <a:xfrm>
            <a:off x="9265615" y="3383280"/>
            <a:ext cx="1737360" cy="365760"/>
          </a:xfrm>
          <a:prstGeom prst="rect">
            <a:avLst/>
          </a:prstGeom>
          <a:noFill/>
          <a:ln/>
        </p:spPr>
        <p:txBody>
          <a:bodyPr wrap="square" lIns="0" tIns="0" rIns="0" bIns="0" rtlCol="0" anchor="ctr"/>
          <a:lstStyle/>
          <a:p>
            <a:pPr algn="r" indent="0" marL="0">
              <a:lnSpc>
                <a:spcPct val="100000"/>
              </a:lnSpc>
              <a:buNone/>
            </a:pPr>
            <a:r>
              <a:rPr lang="ar-SA" altLang="en-US" sz="1200" dirty="0">
                <a:solidFill>
                  <a:srgbClr val="1A1A1A"/>
                </a:solidFill>
                <a:latin typeface="IBM Plex Sans Arabic" pitchFamily="34" charset="0"/>
                <a:ea typeface="IBM Plex Sans Arabic" pitchFamily="34" charset="-122"/>
                <a:cs typeface="IBM Plex Sans Arabic" pitchFamily="34" charset="-120"/>
              </a:rPr>
              <a:t>Gemini Deep Research</a:t>
            </a:r>
            <a:endParaRPr lang="ar-SA" sz="1200" dirty="0"/>
          </a:p>
        </p:txBody>
      </p:sp>
      <p:sp>
        <p:nvSpPr>
          <p:cNvPr id="18" name="Shape 11"/>
          <p:cNvSpPr/>
          <p:nvPr/>
        </p:nvSpPr>
        <p:spPr>
          <a:xfrm>
            <a:off x="9933127" y="3840480"/>
            <a:ext cx="1435608" cy="365760"/>
          </a:xfrm>
          <a:prstGeom prst="roundRect">
            <a:avLst>
              <a:gd name="adj" fmla="val 50000"/>
            </a:avLst>
          </a:prstGeom>
          <a:solidFill>
            <a:srgbClr val="FFFFFF"/>
          </a:solidFill>
          <a:ln w="9525">
            <a:solidFill>
              <a:srgbClr val="D9DDD8"/>
            </a:solidFill>
            <a:prstDash val="solid"/>
          </a:ln>
        </p:spPr>
      </p:sp>
      <p:pic>
        <p:nvPicPr>
          <p:cNvPr id="19" name="Image 5" descr="NotebookLM logo">    </p:cNvPr>
          <p:cNvPicPr>
            <a:picLocks noChangeAspect="1"/>
          </p:cNvPicPr>
          <p:nvPr/>
        </p:nvPicPr>
        <p:blipFill>
          <a:blip r:embed="rId6"/>
          <a:stretch>
            <a:fillRect/>
          </a:stretch>
        </p:blipFill>
        <p:spPr>
          <a:xfrm>
            <a:off x="11057839" y="3931920"/>
            <a:ext cx="182880" cy="182880"/>
          </a:xfrm>
          <a:prstGeom prst="rect">
            <a:avLst/>
          </a:prstGeom>
        </p:spPr>
      </p:pic>
      <p:sp>
        <p:nvSpPr>
          <p:cNvPr id="20" name="Text 12"/>
          <p:cNvSpPr txBox="1"/>
          <p:nvPr/>
        </p:nvSpPr>
        <p:spPr>
          <a:xfrm>
            <a:off x="10042855" y="3840480"/>
            <a:ext cx="960120" cy="365760"/>
          </a:xfrm>
          <a:prstGeom prst="rect">
            <a:avLst/>
          </a:prstGeom>
          <a:noFill/>
          <a:ln/>
        </p:spPr>
        <p:txBody>
          <a:bodyPr wrap="square" lIns="0" tIns="0" rIns="0" bIns="0" rtlCol="0" anchor="ctr"/>
          <a:lstStyle/>
          <a:p>
            <a:pPr algn="r" indent="0" marL="0">
              <a:lnSpc>
                <a:spcPct val="100000"/>
              </a:lnSpc>
              <a:buNone/>
            </a:pPr>
            <a:r>
              <a:rPr lang="ar-SA" altLang="en-US" sz="1200" dirty="0">
                <a:solidFill>
                  <a:srgbClr val="1A1A1A"/>
                </a:solidFill>
                <a:latin typeface="IBM Plex Sans Arabic" pitchFamily="34" charset="0"/>
                <a:ea typeface="IBM Plex Sans Arabic" pitchFamily="34" charset="-122"/>
                <a:cs typeface="IBM Plex Sans Arabic" pitchFamily="34" charset="-120"/>
              </a:rPr>
              <a:t>NotebookLM</a:t>
            </a:r>
            <a:endParaRPr lang="ar-SA" sz="1200" dirty="0"/>
          </a:p>
        </p:txBody>
      </p:sp>
      <p:sp>
        <p:nvSpPr>
          <p:cNvPr id="21" name="Text 13"/>
          <p:cNvSpPr txBox="1"/>
          <p:nvPr/>
        </p:nvSpPr>
        <p:spPr>
          <a:xfrm>
            <a:off x="8402117" y="4434840"/>
            <a:ext cx="2966618" cy="1280160"/>
          </a:xfrm>
          <a:prstGeom prst="rect">
            <a:avLst/>
          </a:prstGeom>
          <a:noFill/>
          <a:ln/>
        </p:spPr>
        <p:txBody>
          <a:bodyPr wrap="square" lIns="0" tIns="0" rIns="0" bIns="0" rtlCol="0" anchor="t"/>
          <a:lstStyle/>
          <a:p>
            <a:pPr rtl="1" algn="r" indent="0" marL="0">
              <a:lnSpc>
                <a:spcPct val="103000"/>
              </a:lnSpc>
              <a:buNone/>
            </a:pPr>
            <a:r>
              <a:rPr lang="ar-SA" altLang="en-US" sz="1400" dirty="0">
                <a:solidFill>
                  <a:srgbClr val="3C3E3B"/>
                </a:solidFill>
                <a:latin typeface="IBM Plex Sans Arabic" pitchFamily="34" charset="0"/>
                <a:ea typeface="IBM Plex Sans Arabic" pitchFamily="34" charset="-122"/>
                <a:cs typeface="IBM Plex Sans Arabic" pitchFamily="34" charset="-120"/>
              </a:rPr>
              <a:t>إجابات بمصادر، وتقارير بحث معمّق، ودفاتر مستندة إلى المصادر مع ملخصات صوتية</a:t>
            </a:r>
            <a:endParaRPr lang="ar-SA" sz="1400" dirty="0"/>
          </a:p>
        </p:txBody>
      </p:sp>
      <p:sp>
        <p:nvSpPr>
          <p:cNvPr id="22" name="Shape 14"/>
          <p:cNvSpPr/>
          <p:nvPr/>
        </p:nvSpPr>
        <p:spPr>
          <a:xfrm>
            <a:off x="4338218" y="1783080"/>
            <a:ext cx="3515258" cy="3611880"/>
          </a:xfrm>
          <a:prstGeom prst="roundRect">
            <a:avLst>
              <a:gd name="adj" fmla="val 3121"/>
            </a:avLst>
          </a:prstGeom>
          <a:solidFill>
            <a:srgbClr val="000000"/>
          </a:solidFill>
          <a:ln w="12700">
            <a:solidFill>
              <a:srgbClr val="000000"/>
            </a:solidFill>
            <a:prstDash val="solid"/>
          </a:ln>
        </p:spPr>
      </p:sp>
      <p:sp>
        <p:nvSpPr>
          <p:cNvPr id="23" name="Shape 15"/>
          <p:cNvSpPr/>
          <p:nvPr/>
        </p:nvSpPr>
        <p:spPr>
          <a:xfrm>
            <a:off x="6939077" y="2057400"/>
            <a:ext cx="640080" cy="640080"/>
          </a:xfrm>
          <a:prstGeom prst="ellipse">
            <a:avLst/>
          </a:prstGeom>
          <a:solidFill>
            <a:srgbClr val="A6D04B"/>
          </a:solidFill>
          <a:ln w="6350">
            <a:solidFill>
              <a:srgbClr val="A6D04B"/>
            </a:solidFill>
            <a:prstDash val="solid"/>
          </a:ln>
        </p:spPr>
      </p:sp>
      <p:pic>
        <p:nvPicPr>
          <p:cNvPr id="24" name="Image 6" descr="preencoded.png">    </p:cNvPr>
          <p:cNvPicPr>
            <a:picLocks noChangeAspect="1"/>
          </p:cNvPicPr>
          <p:nvPr/>
        </p:nvPicPr>
        <p:blipFill>
          <a:blip r:embed="rId7"/>
          <a:stretch>
            <a:fillRect/>
          </a:stretch>
        </p:blipFill>
        <p:spPr>
          <a:xfrm>
            <a:off x="7094525" y="2212848"/>
            <a:ext cx="329184" cy="329184"/>
          </a:xfrm>
          <a:prstGeom prst="rect">
            <a:avLst/>
          </a:prstGeom>
        </p:spPr>
      </p:pic>
      <p:pic>
        <p:nvPicPr>
          <p:cNvPr id="25" name="Image 7" descr="preencoded.png">    </p:cNvPr>
          <p:cNvPicPr>
            <a:picLocks noChangeAspect="1"/>
          </p:cNvPicPr>
          <p:nvPr/>
        </p:nvPicPr>
        <p:blipFill>
          <a:blip r:embed="rId8"/>
          <a:stretch>
            <a:fillRect/>
          </a:stretch>
        </p:blipFill>
        <p:spPr>
          <a:xfrm>
            <a:off x="4082186" y="3470148"/>
            <a:ext cx="237744" cy="237744"/>
          </a:xfrm>
          <a:prstGeom prst="rect">
            <a:avLst/>
          </a:prstGeom>
        </p:spPr>
      </p:pic>
      <p:sp>
        <p:nvSpPr>
          <p:cNvPr id="26" name="Text 16"/>
          <p:cNvSpPr txBox="1"/>
          <p:nvPr/>
        </p:nvSpPr>
        <p:spPr>
          <a:xfrm>
            <a:off x="4566818" y="2130552"/>
            <a:ext cx="2235098" cy="502920"/>
          </a:xfrm>
          <a:prstGeom prst="rect">
            <a:avLst/>
          </a:prstGeom>
          <a:noFill/>
          <a:ln/>
        </p:spPr>
        <p:txBody>
          <a:bodyPr wrap="square" lIns="0" tIns="0" rIns="0" bIns="0" rtlCol="0" anchor="t"/>
          <a:lstStyle/>
          <a:p>
            <a:pPr rtl="1" algn="r" indent="0" marL="0">
              <a:lnSpc>
                <a:spcPct val="100000"/>
              </a:lnSpc>
              <a:buNone/>
            </a:pPr>
            <a:r>
              <a:rPr lang="ar-SA" altLang="en-US" sz="2000" b="1" dirty="0">
                <a:solidFill>
                  <a:srgbClr val="FFFFFF"/>
                </a:solidFill>
                <a:latin typeface="Cairo" pitchFamily="34" charset="0"/>
                <a:ea typeface="Cairo" pitchFamily="34" charset="-122"/>
                <a:cs typeface="Cairo" pitchFamily="34" charset="-120"/>
              </a:rPr>
              <a:t>الكتابة</a:t>
            </a:r>
            <a:endParaRPr lang="ar-SA" sz="2000" dirty="0"/>
          </a:p>
        </p:txBody>
      </p:sp>
      <p:sp>
        <p:nvSpPr>
          <p:cNvPr id="27" name="Shape 17"/>
          <p:cNvSpPr/>
          <p:nvPr/>
        </p:nvSpPr>
        <p:spPr>
          <a:xfrm>
            <a:off x="6651041" y="2926080"/>
            <a:ext cx="928116" cy="365760"/>
          </a:xfrm>
          <a:prstGeom prst="roundRect">
            <a:avLst>
              <a:gd name="adj" fmla="val 50000"/>
            </a:avLst>
          </a:prstGeom>
          <a:solidFill>
            <a:srgbClr val="161816"/>
          </a:solidFill>
          <a:ln w="9525">
            <a:solidFill>
              <a:srgbClr val="3A3D39"/>
            </a:solidFill>
            <a:prstDash val="solid"/>
          </a:ln>
        </p:spPr>
      </p:sp>
      <p:sp>
        <p:nvSpPr>
          <p:cNvPr id="28" name="Text 18"/>
          <p:cNvSpPr txBox="1"/>
          <p:nvPr/>
        </p:nvSpPr>
        <p:spPr>
          <a:xfrm>
            <a:off x="6742481" y="2926080"/>
            <a:ext cx="745236" cy="365760"/>
          </a:xfrm>
          <a:prstGeom prst="rect">
            <a:avLst/>
          </a:prstGeom>
          <a:noFill/>
          <a:ln/>
        </p:spPr>
        <p:txBody>
          <a:bodyPr wrap="square" lIns="0" tIns="0" rIns="0" bIns="0" rtlCol="0" anchor="ctr"/>
          <a:lstStyle/>
          <a:p>
            <a:pPr algn="ctr" indent="0" marL="0">
              <a:lnSpc>
                <a:spcPct val="100000"/>
              </a:lnSpc>
              <a:buNone/>
            </a:pPr>
            <a:r>
              <a:rPr lang="ar-SA" altLang="en-US" sz="1200" dirty="0">
                <a:solidFill>
                  <a:srgbClr val="FFFFFF"/>
                </a:solidFill>
                <a:latin typeface="IBM Plex Sans Arabic" pitchFamily="34" charset="0"/>
                <a:ea typeface="IBM Plex Sans Arabic" pitchFamily="34" charset="-122"/>
                <a:cs typeface="IBM Plex Sans Arabic" pitchFamily="34" charset="-120"/>
              </a:rPr>
              <a:t>ChatGPT</a:t>
            </a:r>
            <a:endParaRPr lang="ar-SA" sz="1200" dirty="0"/>
          </a:p>
        </p:txBody>
      </p:sp>
      <p:sp>
        <p:nvSpPr>
          <p:cNvPr id="29" name="Shape 19"/>
          <p:cNvSpPr/>
          <p:nvPr/>
        </p:nvSpPr>
        <p:spPr>
          <a:xfrm>
            <a:off x="5434889" y="2926080"/>
            <a:ext cx="1124712" cy="365760"/>
          </a:xfrm>
          <a:prstGeom prst="roundRect">
            <a:avLst>
              <a:gd name="adj" fmla="val 50000"/>
            </a:avLst>
          </a:prstGeom>
          <a:solidFill>
            <a:srgbClr val="161816"/>
          </a:solidFill>
          <a:ln w="9525">
            <a:solidFill>
              <a:srgbClr val="3A3D39"/>
            </a:solidFill>
            <a:prstDash val="solid"/>
          </a:ln>
        </p:spPr>
      </p:sp>
      <p:pic>
        <p:nvPicPr>
          <p:cNvPr id="30" name="Image 8" descr="Claude logo">    </p:cNvPr>
          <p:cNvPicPr>
            <a:picLocks noChangeAspect="1"/>
          </p:cNvPicPr>
          <p:nvPr/>
        </p:nvPicPr>
        <p:blipFill>
          <a:blip r:embed="rId9"/>
          <a:stretch>
            <a:fillRect/>
          </a:stretch>
        </p:blipFill>
        <p:spPr>
          <a:xfrm>
            <a:off x="6248705" y="3017520"/>
            <a:ext cx="182880" cy="182880"/>
          </a:xfrm>
          <a:prstGeom prst="rect">
            <a:avLst/>
          </a:prstGeom>
        </p:spPr>
      </p:pic>
      <p:sp>
        <p:nvSpPr>
          <p:cNvPr id="31" name="Text 20"/>
          <p:cNvSpPr txBox="1"/>
          <p:nvPr/>
        </p:nvSpPr>
        <p:spPr>
          <a:xfrm>
            <a:off x="5544617" y="2926080"/>
            <a:ext cx="649224" cy="365760"/>
          </a:xfrm>
          <a:prstGeom prst="rect">
            <a:avLst/>
          </a:prstGeom>
          <a:noFill/>
          <a:ln/>
        </p:spPr>
        <p:txBody>
          <a:bodyPr wrap="square" lIns="0" tIns="0" rIns="0" bIns="0" rtlCol="0" anchor="ctr"/>
          <a:lstStyle/>
          <a:p>
            <a:pPr algn="r" indent="0" marL="0">
              <a:lnSpc>
                <a:spcPct val="100000"/>
              </a:lnSpc>
              <a:buNone/>
            </a:pPr>
            <a:r>
              <a:rPr lang="ar-SA" altLang="en-US" sz="1200" dirty="0">
                <a:solidFill>
                  <a:srgbClr val="FFFFFF"/>
                </a:solidFill>
                <a:latin typeface="IBM Plex Sans Arabic" pitchFamily="34" charset="0"/>
                <a:ea typeface="IBM Plex Sans Arabic" pitchFamily="34" charset="-122"/>
                <a:cs typeface="IBM Plex Sans Arabic" pitchFamily="34" charset="-120"/>
              </a:rPr>
              <a:t>Claude</a:t>
            </a:r>
            <a:endParaRPr lang="ar-SA" sz="1200" dirty="0"/>
          </a:p>
        </p:txBody>
      </p:sp>
      <p:sp>
        <p:nvSpPr>
          <p:cNvPr id="32" name="Shape 21"/>
          <p:cNvSpPr/>
          <p:nvPr/>
        </p:nvSpPr>
        <p:spPr>
          <a:xfrm>
            <a:off x="6454445" y="3383280"/>
            <a:ext cx="1124712" cy="365760"/>
          </a:xfrm>
          <a:prstGeom prst="roundRect">
            <a:avLst>
              <a:gd name="adj" fmla="val 50000"/>
            </a:avLst>
          </a:prstGeom>
          <a:solidFill>
            <a:srgbClr val="161816"/>
          </a:solidFill>
          <a:ln w="9525">
            <a:solidFill>
              <a:srgbClr val="3A3D39"/>
            </a:solidFill>
            <a:prstDash val="solid"/>
          </a:ln>
        </p:spPr>
      </p:sp>
      <p:pic>
        <p:nvPicPr>
          <p:cNvPr id="33" name="Image 9" descr="Gemini logo">    </p:cNvPr>
          <p:cNvPicPr>
            <a:picLocks noChangeAspect="1"/>
          </p:cNvPicPr>
          <p:nvPr/>
        </p:nvPicPr>
        <p:blipFill>
          <a:blip r:embed="rId10"/>
          <a:stretch>
            <a:fillRect/>
          </a:stretch>
        </p:blipFill>
        <p:spPr>
          <a:xfrm>
            <a:off x="7268261" y="3474720"/>
            <a:ext cx="182880" cy="182880"/>
          </a:xfrm>
          <a:prstGeom prst="rect">
            <a:avLst/>
          </a:prstGeom>
        </p:spPr>
      </p:pic>
      <p:sp>
        <p:nvSpPr>
          <p:cNvPr id="34" name="Text 22"/>
          <p:cNvSpPr txBox="1"/>
          <p:nvPr/>
        </p:nvSpPr>
        <p:spPr>
          <a:xfrm>
            <a:off x="6564173" y="3383280"/>
            <a:ext cx="649224" cy="365760"/>
          </a:xfrm>
          <a:prstGeom prst="rect">
            <a:avLst/>
          </a:prstGeom>
          <a:noFill/>
          <a:ln/>
        </p:spPr>
        <p:txBody>
          <a:bodyPr wrap="square" lIns="0" tIns="0" rIns="0" bIns="0" rtlCol="0" anchor="ctr"/>
          <a:lstStyle/>
          <a:p>
            <a:pPr algn="r" indent="0" marL="0">
              <a:lnSpc>
                <a:spcPct val="100000"/>
              </a:lnSpc>
              <a:buNone/>
            </a:pPr>
            <a:r>
              <a:rPr lang="ar-SA" altLang="en-US" sz="1200" dirty="0">
                <a:solidFill>
                  <a:srgbClr val="FFFFFF"/>
                </a:solidFill>
                <a:latin typeface="IBM Plex Sans Arabic" pitchFamily="34" charset="0"/>
                <a:ea typeface="IBM Plex Sans Arabic" pitchFamily="34" charset="-122"/>
                <a:cs typeface="IBM Plex Sans Arabic" pitchFamily="34" charset="-120"/>
              </a:rPr>
              <a:t>Gemini</a:t>
            </a:r>
            <a:endParaRPr lang="ar-SA" sz="1200" dirty="0"/>
          </a:p>
        </p:txBody>
      </p:sp>
      <p:sp>
        <p:nvSpPr>
          <p:cNvPr id="35" name="Text 23"/>
          <p:cNvSpPr txBox="1"/>
          <p:nvPr/>
        </p:nvSpPr>
        <p:spPr>
          <a:xfrm>
            <a:off x="4612538" y="3977640"/>
            <a:ext cx="2966618" cy="1280160"/>
          </a:xfrm>
          <a:prstGeom prst="rect">
            <a:avLst/>
          </a:prstGeom>
          <a:noFill/>
          <a:ln/>
        </p:spPr>
        <p:txBody>
          <a:bodyPr wrap="square" lIns="0" tIns="0" rIns="0" bIns="0" rtlCol="0" anchor="t"/>
          <a:lstStyle/>
          <a:p>
            <a:pPr rtl="1" algn="r" indent="0" marL="0">
              <a:lnSpc>
                <a:spcPct val="103000"/>
              </a:lnSpc>
              <a:buNone/>
            </a:pPr>
            <a:r>
              <a:rPr lang="ar-SA" altLang="en-US" sz="1400" dirty="0">
                <a:solidFill>
                  <a:srgbClr val="D6D8D4"/>
                </a:solidFill>
                <a:latin typeface="IBM Plex Sans Arabic" pitchFamily="34" charset="0"/>
                <a:ea typeface="IBM Plex Sans Arabic" pitchFamily="34" charset="-122"/>
                <a:cs typeface="IBM Plex Sans Arabic" pitchFamily="34" charset="-120"/>
              </a:rPr>
              <a:t>مقالات ومنشورات ونشرات بريدية بمسودات من الذكاء الاصطناعي وتحرير بشري</a:t>
            </a:r>
            <a:endParaRPr lang="ar-SA" sz="1400" dirty="0"/>
          </a:p>
        </p:txBody>
      </p:sp>
      <p:sp>
        <p:nvSpPr>
          <p:cNvPr id="36" name="Shape 24"/>
          <p:cNvSpPr/>
          <p:nvPr/>
        </p:nvSpPr>
        <p:spPr>
          <a:xfrm>
            <a:off x="548640" y="1783080"/>
            <a:ext cx="3515258" cy="3611880"/>
          </a:xfrm>
          <a:prstGeom prst="roundRect">
            <a:avLst>
              <a:gd name="adj" fmla="val 3121"/>
            </a:avLst>
          </a:prstGeom>
          <a:solidFill>
            <a:srgbClr val="F2F4F1"/>
          </a:solidFill>
          <a:ln w="12700">
            <a:solidFill>
              <a:srgbClr val="F2F4F1"/>
            </a:solidFill>
            <a:prstDash val="solid"/>
          </a:ln>
        </p:spPr>
      </p:sp>
      <p:sp>
        <p:nvSpPr>
          <p:cNvPr id="37" name="Shape 25"/>
          <p:cNvSpPr/>
          <p:nvPr/>
        </p:nvSpPr>
        <p:spPr>
          <a:xfrm>
            <a:off x="3149498" y="2057400"/>
            <a:ext cx="640080" cy="640080"/>
          </a:xfrm>
          <a:prstGeom prst="ellipse">
            <a:avLst/>
          </a:prstGeom>
          <a:solidFill>
            <a:srgbClr val="4DB449"/>
          </a:solidFill>
          <a:ln w="6350">
            <a:solidFill>
              <a:srgbClr val="4DB449"/>
            </a:solidFill>
            <a:prstDash val="solid"/>
          </a:ln>
        </p:spPr>
      </p:sp>
      <p:pic>
        <p:nvPicPr>
          <p:cNvPr id="38" name="Image 10" descr="preencoded.png">    </p:cNvPr>
          <p:cNvPicPr>
            <a:picLocks noChangeAspect="1"/>
          </p:cNvPicPr>
          <p:nvPr/>
        </p:nvPicPr>
        <p:blipFill>
          <a:blip r:embed="rId11"/>
          <a:stretch>
            <a:fillRect/>
          </a:stretch>
        </p:blipFill>
        <p:spPr>
          <a:xfrm>
            <a:off x="3304946" y="2212848"/>
            <a:ext cx="329184" cy="329184"/>
          </a:xfrm>
          <a:prstGeom prst="rect">
            <a:avLst/>
          </a:prstGeom>
        </p:spPr>
      </p:pic>
      <p:sp>
        <p:nvSpPr>
          <p:cNvPr id="39" name="Text 26"/>
          <p:cNvSpPr txBox="1"/>
          <p:nvPr/>
        </p:nvSpPr>
        <p:spPr>
          <a:xfrm>
            <a:off x="777240" y="2130552"/>
            <a:ext cx="2235098" cy="502920"/>
          </a:xfrm>
          <a:prstGeom prst="rect">
            <a:avLst/>
          </a:prstGeom>
          <a:noFill/>
          <a:ln/>
        </p:spPr>
        <p:txBody>
          <a:bodyPr wrap="square" lIns="0" tIns="0" rIns="0" bIns="0" rtlCol="0" anchor="t"/>
          <a:lstStyle/>
          <a:p>
            <a:pPr rtl="1" algn="r" indent="0" marL="0">
              <a:lnSpc>
                <a:spcPct val="100000"/>
              </a:lnSpc>
              <a:buNone/>
            </a:pPr>
            <a:r>
              <a:rPr lang="ar-SA" altLang="en-US" sz="2000" b="1" dirty="0">
                <a:solidFill>
                  <a:srgbClr val="1A1A1A"/>
                </a:solidFill>
                <a:latin typeface="Cairo" pitchFamily="34" charset="0"/>
                <a:ea typeface="Cairo" pitchFamily="34" charset="-122"/>
                <a:cs typeface="Cairo" pitchFamily="34" charset="-120"/>
              </a:rPr>
              <a:t>التخطيط</a:t>
            </a:r>
            <a:endParaRPr lang="ar-SA" sz="2000" dirty="0"/>
          </a:p>
        </p:txBody>
      </p:sp>
      <p:sp>
        <p:nvSpPr>
          <p:cNvPr id="40" name="Shape 27"/>
          <p:cNvSpPr/>
          <p:nvPr/>
        </p:nvSpPr>
        <p:spPr>
          <a:xfrm>
            <a:off x="2120798" y="2926080"/>
            <a:ext cx="1668780" cy="365760"/>
          </a:xfrm>
          <a:prstGeom prst="roundRect">
            <a:avLst>
              <a:gd name="adj" fmla="val 50000"/>
            </a:avLst>
          </a:prstGeom>
          <a:solidFill>
            <a:srgbClr val="FFFFFF"/>
          </a:solidFill>
          <a:ln w="9525">
            <a:solidFill>
              <a:srgbClr val="D9DDD8"/>
            </a:solidFill>
            <a:prstDash val="solid"/>
          </a:ln>
        </p:spPr>
      </p:sp>
      <p:pic>
        <p:nvPicPr>
          <p:cNvPr id="41" name="Image 11" descr="Google Sheets logo">    </p:cNvPr>
          <p:cNvPicPr>
            <a:picLocks noChangeAspect="1"/>
          </p:cNvPicPr>
          <p:nvPr/>
        </p:nvPicPr>
        <p:blipFill>
          <a:blip r:embed="rId12"/>
          <a:stretch>
            <a:fillRect/>
          </a:stretch>
        </p:blipFill>
        <p:spPr>
          <a:xfrm>
            <a:off x="3478682" y="3017520"/>
            <a:ext cx="182880" cy="182880"/>
          </a:xfrm>
          <a:prstGeom prst="rect">
            <a:avLst/>
          </a:prstGeom>
        </p:spPr>
      </p:pic>
      <p:sp>
        <p:nvSpPr>
          <p:cNvPr id="42" name="Text 28"/>
          <p:cNvSpPr txBox="1"/>
          <p:nvPr/>
        </p:nvSpPr>
        <p:spPr>
          <a:xfrm>
            <a:off x="2230526" y="2926080"/>
            <a:ext cx="1193292" cy="365760"/>
          </a:xfrm>
          <a:prstGeom prst="rect">
            <a:avLst/>
          </a:prstGeom>
          <a:noFill/>
          <a:ln/>
        </p:spPr>
        <p:txBody>
          <a:bodyPr wrap="square" lIns="0" tIns="0" rIns="0" bIns="0" rtlCol="0" anchor="ctr"/>
          <a:lstStyle/>
          <a:p>
            <a:pPr algn="r" indent="0" marL="0">
              <a:lnSpc>
                <a:spcPct val="100000"/>
              </a:lnSpc>
              <a:buNone/>
            </a:pPr>
            <a:r>
              <a:rPr lang="ar-SA" altLang="en-US" sz="1200" dirty="0">
                <a:solidFill>
                  <a:srgbClr val="1A1A1A"/>
                </a:solidFill>
                <a:latin typeface="IBM Plex Sans Arabic" pitchFamily="34" charset="0"/>
                <a:ea typeface="IBM Plex Sans Arabic" pitchFamily="34" charset="-122"/>
                <a:cs typeface="IBM Plex Sans Arabic" pitchFamily="34" charset="-120"/>
              </a:rPr>
              <a:t>Google Sheets</a:t>
            </a:r>
            <a:endParaRPr lang="ar-SA" sz="1200" dirty="0"/>
          </a:p>
        </p:txBody>
      </p:sp>
      <p:sp>
        <p:nvSpPr>
          <p:cNvPr id="43" name="Shape 29"/>
          <p:cNvSpPr/>
          <p:nvPr/>
        </p:nvSpPr>
        <p:spPr>
          <a:xfrm>
            <a:off x="904646" y="2926080"/>
            <a:ext cx="1124712" cy="365760"/>
          </a:xfrm>
          <a:prstGeom prst="roundRect">
            <a:avLst>
              <a:gd name="adj" fmla="val 50000"/>
            </a:avLst>
          </a:prstGeom>
          <a:solidFill>
            <a:srgbClr val="FFFFFF"/>
          </a:solidFill>
          <a:ln w="9525">
            <a:solidFill>
              <a:srgbClr val="D9DDD8"/>
            </a:solidFill>
            <a:prstDash val="solid"/>
          </a:ln>
        </p:spPr>
      </p:sp>
      <p:pic>
        <p:nvPicPr>
          <p:cNvPr id="44" name="Image 12" descr="Claude logo">    </p:cNvPr>
          <p:cNvPicPr>
            <a:picLocks noChangeAspect="1"/>
          </p:cNvPicPr>
          <p:nvPr/>
        </p:nvPicPr>
        <p:blipFill>
          <a:blip r:embed="rId13"/>
          <a:stretch>
            <a:fillRect/>
          </a:stretch>
        </p:blipFill>
        <p:spPr>
          <a:xfrm>
            <a:off x="1718462" y="3017520"/>
            <a:ext cx="182880" cy="182880"/>
          </a:xfrm>
          <a:prstGeom prst="rect">
            <a:avLst/>
          </a:prstGeom>
        </p:spPr>
      </p:pic>
      <p:sp>
        <p:nvSpPr>
          <p:cNvPr id="45" name="Text 30"/>
          <p:cNvSpPr txBox="1"/>
          <p:nvPr/>
        </p:nvSpPr>
        <p:spPr>
          <a:xfrm>
            <a:off x="1014374" y="2926080"/>
            <a:ext cx="649224" cy="365760"/>
          </a:xfrm>
          <a:prstGeom prst="rect">
            <a:avLst/>
          </a:prstGeom>
          <a:noFill/>
          <a:ln/>
        </p:spPr>
        <p:txBody>
          <a:bodyPr wrap="square" lIns="0" tIns="0" rIns="0" bIns="0" rtlCol="0" anchor="ctr"/>
          <a:lstStyle/>
          <a:p>
            <a:pPr algn="r" indent="0" marL="0">
              <a:lnSpc>
                <a:spcPct val="100000"/>
              </a:lnSpc>
              <a:buNone/>
            </a:pPr>
            <a:r>
              <a:rPr lang="ar-SA" altLang="en-US" sz="1200" dirty="0">
                <a:solidFill>
                  <a:srgbClr val="1A1A1A"/>
                </a:solidFill>
                <a:latin typeface="IBM Plex Sans Arabic" pitchFamily="34" charset="0"/>
                <a:ea typeface="IBM Plex Sans Arabic" pitchFamily="34" charset="-122"/>
                <a:cs typeface="IBM Plex Sans Arabic" pitchFamily="34" charset="-120"/>
              </a:rPr>
              <a:t>Claude</a:t>
            </a:r>
            <a:endParaRPr lang="ar-SA" sz="1200" dirty="0"/>
          </a:p>
        </p:txBody>
      </p:sp>
      <p:sp>
        <p:nvSpPr>
          <p:cNvPr id="46" name="Shape 31"/>
          <p:cNvSpPr/>
          <p:nvPr/>
        </p:nvSpPr>
        <p:spPr>
          <a:xfrm>
            <a:off x="2861462" y="3383280"/>
            <a:ext cx="928116" cy="365760"/>
          </a:xfrm>
          <a:prstGeom prst="roundRect">
            <a:avLst>
              <a:gd name="adj" fmla="val 50000"/>
            </a:avLst>
          </a:prstGeom>
          <a:solidFill>
            <a:srgbClr val="FFFFFF"/>
          </a:solidFill>
          <a:ln w="9525">
            <a:solidFill>
              <a:srgbClr val="D9DDD8"/>
            </a:solidFill>
            <a:prstDash val="solid"/>
          </a:ln>
        </p:spPr>
      </p:sp>
      <p:sp>
        <p:nvSpPr>
          <p:cNvPr id="47" name="Text 32"/>
          <p:cNvSpPr txBox="1"/>
          <p:nvPr/>
        </p:nvSpPr>
        <p:spPr>
          <a:xfrm>
            <a:off x="2952902" y="3383280"/>
            <a:ext cx="745236" cy="365760"/>
          </a:xfrm>
          <a:prstGeom prst="rect">
            <a:avLst/>
          </a:prstGeom>
          <a:noFill/>
          <a:ln/>
        </p:spPr>
        <p:txBody>
          <a:bodyPr wrap="square" lIns="0" tIns="0" rIns="0" bIns="0" rtlCol="0" anchor="ctr"/>
          <a:lstStyle/>
          <a:p>
            <a:pPr algn="ctr" indent="0" marL="0">
              <a:lnSpc>
                <a:spcPct val="100000"/>
              </a:lnSpc>
              <a:buNone/>
            </a:pPr>
            <a:r>
              <a:rPr lang="ar-SA" altLang="en-US" sz="1200" dirty="0">
                <a:solidFill>
                  <a:srgbClr val="1A1A1A"/>
                </a:solidFill>
                <a:latin typeface="IBM Plex Sans Arabic" pitchFamily="34" charset="0"/>
                <a:ea typeface="IBM Plex Sans Arabic" pitchFamily="34" charset="-122"/>
                <a:cs typeface="IBM Plex Sans Arabic" pitchFamily="34" charset="-120"/>
              </a:rPr>
              <a:t>ChatGPT</a:t>
            </a:r>
            <a:endParaRPr lang="ar-SA" sz="1200" dirty="0"/>
          </a:p>
        </p:txBody>
      </p:sp>
      <p:sp>
        <p:nvSpPr>
          <p:cNvPr id="48" name="Text 33"/>
          <p:cNvSpPr txBox="1"/>
          <p:nvPr/>
        </p:nvSpPr>
        <p:spPr>
          <a:xfrm>
            <a:off x="822960" y="3977640"/>
            <a:ext cx="2966618" cy="1280160"/>
          </a:xfrm>
          <a:prstGeom prst="rect">
            <a:avLst/>
          </a:prstGeom>
          <a:noFill/>
          <a:ln/>
        </p:spPr>
        <p:txBody>
          <a:bodyPr wrap="square" lIns="0" tIns="0" rIns="0" bIns="0" rtlCol="0" anchor="t"/>
          <a:lstStyle/>
          <a:p>
            <a:pPr rtl="1" algn="r" indent="0" marL="0">
              <a:lnSpc>
                <a:spcPct val="103000"/>
              </a:lnSpc>
              <a:buNone/>
            </a:pPr>
            <a:r>
              <a:rPr lang="ar-SA" altLang="en-US" sz="1400" dirty="0">
                <a:solidFill>
                  <a:srgbClr val="3C3E3B"/>
                </a:solidFill>
                <a:latin typeface="IBM Plex Sans Arabic" pitchFamily="34" charset="0"/>
                <a:ea typeface="IBM Plex Sans Arabic" pitchFamily="34" charset="-122"/>
                <a:cs typeface="IBM Plex Sans Arabic" pitchFamily="34" charset="-120"/>
              </a:rPr>
              <a:t>ركائز المحتوى، وتقويم لأربعة أسابيع، وخطة حملة</a:t>
            </a:r>
            <a:endParaRPr lang="ar-SA" sz="1400" dirty="0"/>
          </a:p>
        </p:txBody>
      </p:sp>
      <p:sp>
        <p:nvSpPr>
          <p:cNvPr id="49" name="Shape 34"/>
          <p:cNvSpPr/>
          <p:nvPr/>
        </p:nvSpPr>
        <p:spPr>
          <a:xfrm>
            <a:off x="548640" y="5596128"/>
            <a:ext cx="11094415" cy="566928"/>
          </a:xfrm>
          <a:prstGeom prst="roundRect">
            <a:avLst>
              <a:gd name="adj" fmla="val 16129"/>
            </a:avLst>
          </a:prstGeom>
          <a:solidFill>
            <a:srgbClr val="000000"/>
          </a:solidFill>
          <a:ln w="9525">
            <a:solidFill>
              <a:srgbClr val="000000"/>
            </a:solidFill>
            <a:prstDash val="solid"/>
          </a:ln>
        </p:spPr>
      </p:sp>
      <p:sp>
        <p:nvSpPr>
          <p:cNvPr id="50" name="Text 35"/>
          <p:cNvSpPr txBox="1"/>
          <p:nvPr/>
        </p:nvSpPr>
        <p:spPr>
          <a:xfrm>
            <a:off x="822960" y="5596128"/>
            <a:ext cx="10545775" cy="566928"/>
          </a:xfrm>
          <a:prstGeom prst="rect">
            <a:avLst/>
          </a:prstGeom>
          <a:noFill/>
          <a:ln/>
        </p:spPr>
        <p:txBody>
          <a:bodyPr wrap="square" lIns="0" tIns="0" rIns="0" bIns="0" rtlCol="0" anchor="ctr"/>
          <a:lstStyle/>
          <a:p>
            <a:pPr rtl="1" algn="r" indent="0" marL="0">
              <a:lnSpc>
                <a:spcPct val="100000"/>
              </a:lnSpc>
              <a:buNone/>
            </a:pPr>
            <a:r>
              <a:rPr lang="ar-SA" altLang="en-US" sz="1400" b="1" dirty="0">
                <a:solidFill>
                  <a:srgbClr val="FFFFFF"/>
                </a:solidFill>
                <a:latin typeface="IBM Plex Sans Arabic" pitchFamily="34" charset="0"/>
                <a:ea typeface="IBM Plex Sans Arabic" pitchFamily="34" charset="-122"/>
                <a:cs typeface="IBM Plex Sans Arabic" pitchFamily="34" charset="-120"/>
              </a:rPr>
              <a:t>المُخرَج: موجز بحثي مُتحقَّق منه، ومقال، وخمسة منشورات، وتقويم محتوى لأربعة أسابيع</a:t>
            </a:r>
            <a:endParaRPr lang="ar-SA"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Green Circle logo">    </p:cNvPr>
          <p:cNvPicPr>
            <a:picLocks noChangeAspect="1"/>
          </p:cNvPicPr>
          <p:nvPr/>
        </p:nvPicPr>
        <p:blipFill>
          <a:blip r:embed="rId1"/>
          <a:stretch>
            <a:fillRect/>
          </a:stretch>
        </p:blipFill>
        <p:spPr>
          <a:xfrm>
            <a:off x="548640" y="384048"/>
            <a:ext cx="1286501" cy="457200"/>
          </a:xfrm>
          <a:prstGeom prst="rect">
            <a:avLst/>
          </a:prstGeom>
        </p:spPr>
      </p:pic>
      <p:sp>
        <p:nvSpPr>
          <p:cNvPr id="3" name="Text 0"/>
          <p:cNvSpPr txBox="1"/>
          <p:nvPr/>
        </p:nvSpPr>
        <p:spPr>
          <a:xfrm>
            <a:off x="5242255" y="6446520"/>
            <a:ext cx="6400800" cy="228600"/>
          </a:xfrm>
          <a:prstGeom prst="rect">
            <a:avLst/>
          </a:prstGeom>
          <a:noFill/>
          <a:ln/>
        </p:spPr>
        <p:txBody>
          <a:bodyPr wrap="square" lIns="0" tIns="0" rIns="0" bIns="0" rtlCol="0" anchor="t"/>
          <a:lstStyle/>
          <a:p>
            <a:pPr rtl="1" algn="r" indent="0" marL="0">
              <a:lnSpc>
                <a:spcPct val="100000"/>
              </a:lnSpc>
              <a:buNone/>
            </a:pPr>
            <a:r>
              <a:rPr lang="ar-SA" altLang="en-US" sz="900" dirty="0">
                <a:solidFill>
                  <a:srgbClr val="727274"/>
                </a:solidFill>
                <a:latin typeface="IBM Plex Sans Arabic" pitchFamily="34" charset="0"/>
                <a:ea typeface="IBM Plex Sans Arabic" pitchFamily="34" charset="-122"/>
                <a:cs typeface="IBM Plex Sans Arabic" pitchFamily="34" charset="-120"/>
              </a:rPr>
              <a:t>برنامج صُنّاع المحتوى بالذكاء الاصطناعي · مذكرة مفاهيمية</a:t>
            </a:r>
            <a:endParaRPr lang="ar-SA" sz="900" dirty="0"/>
          </a:p>
        </p:txBody>
      </p:sp>
      <p:sp>
        <p:nvSpPr>
          <p:cNvPr id="4" name="Text 1"/>
          <p:cNvSpPr txBox="1"/>
          <p:nvPr/>
        </p:nvSpPr>
        <p:spPr>
          <a:xfrm>
            <a:off x="548640" y="6446520"/>
            <a:ext cx="548640" cy="228600"/>
          </a:xfrm>
          <a:prstGeom prst="rect">
            <a:avLst/>
          </a:prstGeom>
          <a:noFill/>
          <a:ln/>
        </p:spPr>
        <p:txBody>
          <a:bodyPr wrap="square" lIns="0" tIns="0" rIns="0" bIns="0" rtlCol="0" anchor="t"/>
          <a:lstStyle/>
          <a:p>
            <a:pPr rtl="1" algn="l" indent="0" marL="0">
              <a:lnSpc>
                <a:spcPct val="100000"/>
              </a:lnSpc>
              <a:buNone/>
            </a:pPr>
            <a:r>
              <a:rPr lang="ar-SA" altLang="en-US" sz="900" dirty="0">
                <a:solidFill>
                  <a:srgbClr val="727274"/>
                </a:solidFill>
                <a:latin typeface="IBM Plex Sans Arabic" pitchFamily="34" charset="0"/>
                <a:ea typeface="IBM Plex Sans Arabic" pitchFamily="34" charset="-122"/>
                <a:cs typeface="IBM Plex Sans Arabic" pitchFamily="34" charset="-120"/>
              </a:rPr>
              <a:t>11</a:t>
            </a:r>
            <a:endParaRPr lang="ar-SA" sz="900" dirty="0"/>
          </a:p>
        </p:txBody>
      </p:sp>
      <p:sp>
        <p:nvSpPr>
          <p:cNvPr id="5" name="Text 2"/>
          <p:cNvSpPr txBox="1"/>
          <p:nvPr/>
        </p:nvSpPr>
        <p:spPr>
          <a:xfrm>
            <a:off x="2681935" y="384048"/>
            <a:ext cx="8961120" cy="274320"/>
          </a:xfrm>
          <a:prstGeom prst="rect">
            <a:avLst/>
          </a:prstGeom>
          <a:noFill/>
          <a:ln/>
        </p:spPr>
        <p:txBody>
          <a:bodyPr wrap="square" lIns="0" tIns="0" rIns="0" bIns="0" rtlCol="0" anchor="t"/>
          <a:lstStyle/>
          <a:p>
            <a:pPr rtl="1" algn="r" indent="0" marL="0">
              <a:lnSpc>
                <a:spcPct val="100000"/>
              </a:lnSpc>
              <a:buNone/>
            </a:pPr>
            <a:r>
              <a:rPr lang="ar-SA" altLang="en-US" sz="1100" b="1" dirty="0">
                <a:solidFill>
                  <a:srgbClr val="727274"/>
                </a:solidFill>
                <a:latin typeface="IBM Plex Sans Arabic" pitchFamily="34" charset="0"/>
                <a:ea typeface="IBM Plex Sans Arabic" pitchFamily="34" charset="-122"/>
                <a:cs typeface="IBM Plex Sans Arabic" pitchFamily="34" charset="-120"/>
              </a:rPr>
              <a:t>10 · الذكاء الاصطناعي في التصميم والصور</a:t>
            </a:r>
            <a:endParaRPr lang="ar-SA" sz="1100" dirty="0"/>
          </a:p>
        </p:txBody>
      </p:sp>
      <p:sp>
        <p:nvSpPr>
          <p:cNvPr id="6" name="Text 3"/>
          <p:cNvSpPr txBox="1"/>
          <p:nvPr/>
        </p:nvSpPr>
        <p:spPr>
          <a:xfrm>
            <a:off x="2224735" y="676656"/>
            <a:ext cx="9418320" cy="914400"/>
          </a:xfrm>
          <a:prstGeom prst="rect">
            <a:avLst/>
          </a:prstGeom>
          <a:noFill/>
          <a:ln/>
        </p:spPr>
        <p:txBody>
          <a:bodyPr wrap="square" lIns="0" tIns="0" rIns="0" bIns="0" rtlCol="0" anchor="t"/>
          <a:lstStyle/>
          <a:p>
            <a:pPr rtl="1" algn="r" indent="0" marL="0">
              <a:lnSpc>
                <a:spcPct val="95000"/>
              </a:lnSpc>
              <a:buNone/>
            </a:pPr>
            <a:r>
              <a:rPr lang="ar-SA" altLang="en-US" sz="2600" b="1" dirty="0">
                <a:solidFill>
                  <a:srgbClr val="1A1A1A"/>
                </a:solidFill>
                <a:latin typeface="Cairo" pitchFamily="34" charset="0"/>
                <a:ea typeface="Cairo" pitchFamily="34" charset="-122"/>
                <a:cs typeface="Cairo" pitchFamily="34" charset="-120"/>
              </a:rPr>
              <a:t>توليد الصور وتحويلها إلى تصاميم مكتملة</a:t>
            </a:r>
            <a:endParaRPr lang="ar-SA" sz="2600" dirty="0"/>
          </a:p>
        </p:txBody>
      </p:sp>
      <p:sp>
        <p:nvSpPr>
          <p:cNvPr id="7" name="Shape 4"/>
          <p:cNvSpPr/>
          <p:nvPr/>
        </p:nvSpPr>
        <p:spPr>
          <a:xfrm>
            <a:off x="9075191" y="1783080"/>
            <a:ext cx="2567864" cy="3611880"/>
          </a:xfrm>
          <a:prstGeom prst="roundRect">
            <a:avLst>
              <a:gd name="adj" fmla="val 4273"/>
            </a:avLst>
          </a:prstGeom>
          <a:solidFill>
            <a:srgbClr val="EAF5E8"/>
          </a:solidFill>
          <a:ln w="12700">
            <a:solidFill>
              <a:srgbClr val="EAF5E8"/>
            </a:solidFill>
            <a:prstDash val="solid"/>
          </a:ln>
        </p:spPr>
      </p:sp>
      <p:sp>
        <p:nvSpPr>
          <p:cNvPr id="8" name="Text 5"/>
          <p:cNvSpPr txBox="1"/>
          <p:nvPr/>
        </p:nvSpPr>
        <p:spPr>
          <a:xfrm>
            <a:off x="10454335" y="2011680"/>
            <a:ext cx="914400" cy="457200"/>
          </a:xfrm>
          <a:prstGeom prst="rect">
            <a:avLst/>
          </a:prstGeom>
          <a:noFill/>
          <a:ln/>
        </p:spPr>
        <p:txBody>
          <a:bodyPr wrap="square" lIns="0" tIns="0" rIns="0" bIns="0" rtlCol="0" anchor="t"/>
          <a:lstStyle/>
          <a:p>
            <a:pPr rtl="1" algn="r" indent="0" marL="0">
              <a:lnSpc>
                <a:spcPct val="100000"/>
              </a:lnSpc>
              <a:buNone/>
            </a:pPr>
            <a:r>
              <a:rPr lang="ar-SA" altLang="en-US" sz="2600" b="1" dirty="0">
                <a:solidFill>
                  <a:srgbClr val="4DB449"/>
                </a:solidFill>
                <a:latin typeface="Cairo" pitchFamily="34" charset="0"/>
                <a:ea typeface="Cairo" pitchFamily="34" charset="-122"/>
                <a:cs typeface="Cairo" pitchFamily="34" charset="-120"/>
              </a:rPr>
              <a:t>01</a:t>
            </a:r>
            <a:endParaRPr lang="ar-SA" sz="2600" dirty="0"/>
          </a:p>
        </p:txBody>
      </p:sp>
      <p:pic>
        <p:nvPicPr>
          <p:cNvPr id="9" name="Image 1" descr="preencoded.png">    </p:cNvPr>
          <p:cNvPicPr>
            <a:picLocks noChangeAspect="1"/>
          </p:cNvPicPr>
          <p:nvPr/>
        </p:nvPicPr>
        <p:blipFill>
          <a:blip r:embed="rId2"/>
          <a:stretch>
            <a:fillRect/>
          </a:stretch>
        </p:blipFill>
        <p:spPr>
          <a:xfrm>
            <a:off x="9376943" y="2057400"/>
            <a:ext cx="384048" cy="384048"/>
          </a:xfrm>
          <a:prstGeom prst="rect">
            <a:avLst/>
          </a:prstGeom>
        </p:spPr>
      </p:pic>
      <p:sp>
        <p:nvSpPr>
          <p:cNvPr id="10" name="Text 6"/>
          <p:cNvSpPr txBox="1"/>
          <p:nvPr/>
        </p:nvSpPr>
        <p:spPr>
          <a:xfrm>
            <a:off x="9349511" y="2651760"/>
            <a:ext cx="2019224" cy="411480"/>
          </a:xfrm>
          <a:prstGeom prst="rect">
            <a:avLst/>
          </a:prstGeom>
          <a:noFill/>
          <a:ln/>
        </p:spPr>
        <p:txBody>
          <a:bodyPr wrap="square" lIns="0" tIns="0" rIns="0" bIns="0" rtlCol="0" anchor="t"/>
          <a:lstStyle/>
          <a:p>
            <a:pPr rtl="1" algn="r" indent="0" marL="0">
              <a:lnSpc>
                <a:spcPct val="100000"/>
              </a:lnSpc>
              <a:buNone/>
            </a:pPr>
            <a:r>
              <a:rPr lang="ar-SA" altLang="en-US" sz="1900" b="1" dirty="0">
                <a:solidFill>
                  <a:srgbClr val="1A1A1A"/>
                </a:solidFill>
                <a:latin typeface="Cairo" pitchFamily="34" charset="0"/>
                <a:ea typeface="Cairo" pitchFamily="34" charset="-122"/>
                <a:cs typeface="Cairo" pitchFamily="34" charset="-120"/>
              </a:rPr>
              <a:t>التوليد</a:t>
            </a:r>
            <a:endParaRPr lang="ar-SA" sz="1900" dirty="0"/>
          </a:p>
        </p:txBody>
      </p:sp>
      <p:sp>
        <p:nvSpPr>
          <p:cNvPr id="11" name="Text 7"/>
          <p:cNvSpPr txBox="1"/>
          <p:nvPr/>
        </p:nvSpPr>
        <p:spPr>
          <a:xfrm>
            <a:off x="9349511" y="3108960"/>
            <a:ext cx="2019224" cy="731520"/>
          </a:xfrm>
          <a:prstGeom prst="rect">
            <a:avLst/>
          </a:prstGeom>
          <a:noFill/>
          <a:ln/>
        </p:spPr>
        <p:txBody>
          <a:bodyPr wrap="square" lIns="0" tIns="0" rIns="0" bIns="0" rtlCol="0" anchor="t"/>
          <a:lstStyle/>
          <a:p>
            <a:pPr rtl="1" algn="r" indent="0" marL="0">
              <a:lnSpc>
                <a:spcPct val="100000"/>
              </a:lnSpc>
              <a:buNone/>
            </a:pPr>
            <a:r>
              <a:rPr lang="ar-SA" altLang="en-US" sz="1400" dirty="0">
                <a:solidFill>
                  <a:srgbClr val="3C3E3B"/>
                </a:solidFill>
                <a:latin typeface="IBM Plex Sans Arabic" pitchFamily="34" charset="0"/>
                <a:ea typeface="IBM Plex Sans Arabic" pitchFamily="34" charset="-122"/>
                <a:cs typeface="IBM Plex Sans Arabic" pitchFamily="34" charset="-120"/>
              </a:rPr>
              <a:t>صور من أوامر مفصّلة</a:t>
            </a:r>
            <a:endParaRPr lang="ar-SA" sz="1400" dirty="0"/>
          </a:p>
        </p:txBody>
      </p:sp>
      <p:sp>
        <p:nvSpPr>
          <p:cNvPr id="12" name="Shape 8"/>
          <p:cNvSpPr/>
          <p:nvPr/>
        </p:nvSpPr>
        <p:spPr>
          <a:xfrm>
            <a:off x="9349511" y="3931920"/>
            <a:ext cx="2019224" cy="365760"/>
          </a:xfrm>
          <a:prstGeom prst="roundRect">
            <a:avLst>
              <a:gd name="adj" fmla="val 50000"/>
            </a:avLst>
          </a:prstGeom>
          <a:solidFill>
            <a:srgbClr val="FFFFFF"/>
          </a:solidFill>
          <a:ln w="9525">
            <a:solidFill>
              <a:srgbClr val="D9DDD8"/>
            </a:solidFill>
            <a:prstDash val="solid"/>
          </a:ln>
        </p:spPr>
      </p:sp>
      <p:sp>
        <p:nvSpPr>
          <p:cNvPr id="13" name="Text 9"/>
          <p:cNvSpPr txBox="1"/>
          <p:nvPr/>
        </p:nvSpPr>
        <p:spPr>
          <a:xfrm>
            <a:off x="9440951" y="3931920"/>
            <a:ext cx="1836344" cy="365760"/>
          </a:xfrm>
          <a:prstGeom prst="rect">
            <a:avLst/>
          </a:prstGeom>
          <a:noFill/>
          <a:ln/>
        </p:spPr>
        <p:txBody>
          <a:bodyPr wrap="square" lIns="0" tIns="0" rIns="0" bIns="0" rtlCol="0" anchor="ctr"/>
          <a:lstStyle/>
          <a:p>
            <a:pPr algn="ctr" indent="0" marL="0">
              <a:lnSpc>
                <a:spcPct val="100000"/>
              </a:lnSpc>
              <a:buNone/>
            </a:pPr>
            <a:r>
              <a:rPr lang="ar-SA" altLang="en-US" sz="1200" dirty="0">
                <a:solidFill>
                  <a:srgbClr val="1A1A1A"/>
                </a:solidFill>
                <a:latin typeface="IBM Plex Sans Arabic" pitchFamily="34" charset="0"/>
                <a:ea typeface="IBM Plex Sans Arabic" pitchFamily="34" charset="-122"/>
                <a:cs typeface="IBM Plex Sans Arabic" pitchFamily="34" charset="-120"/>
              </a:rPr>
              <a:t>ChatGPT</a:t>
            </a:r>
            <a:endParaRPr lang="ar-SA" sz="1200" dirty="0"/>
          </a:p>
        </p:txBody>
      </p:sp>
      <p:sp>
        <p:nvSpPr>
          <p:cNvPr id="14" name="Shape 10"/>
          <p:cNvSpPr/>
          <p:nvPr/>
        </p:nvSpPr>
        <p:spPr>
          <a:xfrm>
            <a:off x="9349511" y="4370832"/>
            <a:ext cx="2019224" cy="365760"/>
          </a:xfrm>
          <a:prstGeom prst="roundRect">
            <a:avLst>
              <a:gd name="adj" fmla="val 50000"/>
            </a:avLst>
          </a:prstGeom>
          <a:solidFill>
            <a:srgbClr val="FFFFFF"/>
          </a:solidFill>
          <a:ln w="9525">
            <a:solidFill>
              <a:srgbClr val="D9DDD8"/>
            </a:solidFill>
            <a:prstDash val="solid"/>
          </a:ln>
        </p:spPr>
      </p:sp>
      <p:pic>
        <p:nvPicPr>
          <p:cNvPr id="15" name="Image 2" descr="Gemini logo">    </p:cNvPr>
          <p:cNvPicPr>
            <a:picLocks noChangeAspect="1"/>
          </p:cNvPicPr>
          <p:nvPr/>
        </p:nvPicPr>
        <p:blipFill>
          <a:blip r:embed="rId3"/>
          <a:stretch>
            <a:fillRect/>
          </a:stretch>
        </p:blipFill>
        <p:spPr>
          <a:xfrm>
            <a:off x="11057839" y="4462272"/>
            <a:ext cx="182880" cy="182880"/>
          </a:xfrm>
          <a:prstGeom prst="rect">
            <a:avLst/>
          </a:prstGeom>
        </p:spPr>
      </p:pic>
      <p:sp>
        <p:nvSpPr>
          <p:cNvPr id="16" name="Text 11"/>
          <p:cNvSpPr txBox="1"/>
          <p:nvPr/>
        </p:nvSpPr>
        <p:spPr>
          <a:xfrm>
            <a:off x="9459239" y="4370832"/>
            <a:ext cx="1543736" cy="365760"/>
          </a:xfrm>
          <a:prstGeom prst="rect">
            <a:avLst/>
          </a:prstGeom>
          <a:noFill/>
          <a:ln/>
        </p:spPr>
        <p:txBody>
          <a:bodyPr wrap="square" lIns="0" tIns="0" rIns="0" bIns="0" rtlCol="0" anchor="ctr"/>
          <a:lstStyle/>
          <a:p>
            <a:pPr algn="ctr" indent="0" marL="0">
              <a:lnSpc>
                <a:spcPct val="100000"/>
              </a:lnSpc>
              <a:buNone/>
            </a:pPr>
            <a:r>
              <a:rPr lang="ar-SA" altLang="en-US" sz="1200" dirty="0">
                <a:solidFill>
                  <a:srgbClr val="1A1A1A"/>
                </a:solidFill>
                <a:latin typeface="IBM Plex Sans Arabic" pitchFamily="34" charset="0"/>
                <a:ea typeface="IBM Plex Sans Arabic" pitchFamily="34" charset="-122"/>
                <a:cs typeface="IBM Plex Sans Arabic" pitchFamily="34" charset="-120"/>
              </a:rPr>
              <a:t>Gemini</a:t>
            </a:r>
            <a:endParaRPr lang="ar-SA" sz="1200" dirty="0"/>
          </a:p>
        </p:txBody>
      </p:sp>
      <p:sp>
        <p:nvSpPr>
          <p:cNvPr id="17" name="Shape 12"/>
          <p:cNvSpPr/>
          <p:nvPr/>
        </p:nvSpPr>
        <p:spPr>
          <a:xfrm>
            <a:off x="9349511" y="4809744"/>
            <a:ext cx="2019224" cy="365760"/>
          </a:xfrm>
          <a:prstGeom prst="roundRect">
            <a:avLst>
              <a:gd name="adj" fmla="val 50000"/>
            </a:avLst>
          </a:prstGeom>
          <a:solidFill>
            <a:srgbClr val="FFFFFF"/>
          </a:solidFill>
          <a:ln w="9525">
            <a:solidFill>
              <a:srgbClr val="D9DDD8"/>
            </a:solidFill>
            <a:prstDash val="solid"/>
          </a:ln>
        </p:spPr>
      </p:sp>
      <p:sp>
        <p:nvSpPr>
          <p:cNvPr id="18" name="Text 13"/>
          <p:cNvSpPr txBox="1"/>
          <p:nvPr/>
        </p:nvSpPr>
        <p:spPr>
          <a:xfrm>
            <a:off x="9440951" y="4809744"/>
            <a:ext cx="1836344" cy="365760"/>
          </a:xfrm>
          <a:prstGeom prst="rect">
            <a:avLst/>
          </a:prstGeom>
          <a:noFill/>
          <a:ln/>
        </p:spPr>
        <p:txBody>
          <a:bodyPr wrap="square" lIns="0" tIns="0" rIns="0" bIns="0" rtlCol="0" anchor="ctr"/>
          <a:lstStyle/>
          <a:p>
            <a:pPr algn="ctr" indent="0" marL="0">
              <a:lnSpc>
                <a:spcPct val="100000"/>
              </a:lnSpc>
              <a:buNone/>
            </a:pPr>
            <a:r>
              <a:rPr lang="ar-SA" altLang="en-US" sz="1200" dirty="0">
                <a:solidFill>
                  <a:srgbClr val="1A1A1A"/>
                </a:solidFill>
                <a:latin typeface="IBM Plex Sans Arabic" pitchFamily="34" charset="0"/>
                <a:ea typeface="IBM Plex Sans Arabic" pitchFamily="34" charset="-122"/>
                <a:cs typeface="IBM Plex Sans Arabic" pitchFamily="34" charset="-120"/>
              </a:rPr>
              <a:t>Adobe Firefly</a:t>
            </a:r>
            <a:endParaRPr lang="ar-SA" sz="1200" dirty="0"/>
          </a:p>
        </p:txBody>
      </p:sp>
      <p:sp>
        <p:nvSpPr>
          <p:cNvPr id="19" name="Shape 14"/>
          <p:cNvSpPr/>
          <p:nvPr/>
        </p:nvSpPr>
        <p:spPr>
          <a:xfrm>
            <a:off x="6233008" y="1783080"/>
            <a:ext cx="2567864" cy="3611880"/>
          </a:xfrm>
          <a:prstGeom prst="roundRect">
            <a:avLst>
              <a:gd name="adj" fmla="val 4273"/>
            </a:avLst>
          </a:prstGeom>
          <a:solidFill>
            <a:srgbClr val="EAF5E8"/>
          </a:solidFill>
          <a:ln w="12700">
            <a:solidFill>
              <a:srgbClr val="EAF5E8"/>
            </a:solidFill>
            <a:prstDash val="solid"/>
          </a:ln>
        </p:spPr>
      </p:sp>
      <p:sp>
        <p:nvSpPr>
          <p:cNvPr id="20" name="Text 15"/>
          <p:cNvSpPr txBox="1"/>
          <p:nvPr/>
        </p:nvSpPr>
        <p:spPr>
          <a:xfrm>
            <a:off x="7612151" y="2011680"/>
            <a:ext cx="914400" cy="457200"/>
          </a:xfrm>
          <a:prstGeom prst="rect">
            <a:avLst/>
          </a:prstGeom>
          <a:noFill/>
          <a:ln/>
        </p:spPr>
        <p:txBody>
          <a:bodyPr wrap="square" lIns="0" tIns="0" rIns="0" bIns="0" rtlCol="0" anchor="t"/>
          <a:lstStyle/>
          <a:p>
            <a:pPr rtl="1" algn="r" indent="0" marL="0">
              <a:lnSpc>
                <a:spcPct val="100000"/>
              </a:lnSpc>
              <a:buNone/>
            </a:pPr>
            <a:r>
              <a:rPr lang="ar-SA" altLang="en-US" sz="2600" b="1" dirty="0">
                <a:solidFill>
                  <a:srgbClr val="4DB449"/>
                </a:solidFill>
                <a:latin typeface="Cairo" pitchFamily="34" charset="0"/>
                <a:ea typeface="Cairo" pitchFamily="34" charset="-122"/>
                <a:cs typeface="Cairo" pitchFamily="34" charset="-120"/>
              </a:rPr>
              <a:t>02</a:t>
            </a:r>
            <a:endParaRPr lang="ar-SA" sz="2600" dirty="0"/>
          </a:p>
        </p:txBody>
      </p:sp>
      <p:pic>
        <p:nvPicPr>
          <p:cNvPr id="21" name="Image 3" descr="preencoded.png">    </p:cNvPr>
          <p:cNvPicPr>
            <a:picLocks noChangeAspect="1"/>
          </p:cNvPicPr>
          <p:nvPr/>
        </p:nvPicPr>
        <p:blipFill>
          <a:blip r:embed="rId4"/>
          <a:stretch>
            <a:fillRect/>
          </a:stretch>
        </p:blipFill>
        <p:spPr>
          <a:xfrm>
            <a:off x="6534760" y="2057400"/>
            <a:ext cx="384048" cy="384048"/>
          </a:xfrm>
          <a:prstGeom prst="rect">
            <a:avLst/>
          </a:prstGeom>
        </p:spPr>
      </p:pic>
      <p:sp>
        <p:nvSpPr>
          <p:cNvPr id="22" name="Text 16"/>
          <p:cNvSpPr txBox="1"/>
          <p:nvPr/>
        </p:nvSpPr>
        <p:spPr>
          <a:xfrm>
            <a:off x="6507328" y="2651760"/>
            <a:ext cx="2019224" cy="411480"/>
          </a:xfrm>
          <a:prstGeom prst="rect">
            <a:avLst/>
          </a:prstGeom>
          <a:noFill/>
          <a:ln/>
        </p:spPr>
        <p:txBody>
          <a:bodyPr wrap="square" lIns="0" tIns="0" rIns="0" bIns="0" rtlCol="0" anchor="t"/>
          <a:lstStyle/>
          <a:p>
            <a:pPr rtl="1" algn="r" indent="0" marL="0">
              <a:lnSpc>
                <a:spcPct val="100000"/>
              </a:lnSpc>
              <a:buNone/>
            </a:pPr>
            <a:r>
              <a:rPr lang="ar-SA" altLang="en-US" sz="1900" b="1" dirty="0">
                <a:solidFill>
                  <a:srgbClr val="1A1A1A"/>
                </a:solidFill>
                <a:latin typeface="Cairo" pitchFamily="34" charset="0"/>
                <a:ea typeface="Cairo" pitchFamily="34" charset="-122"/>
                <a:cs typeface="Cairo" pitchFamily="34" charset="-120"/>
              </a:rPr>
              <a:t>الثبات</a:t>
            </a:r>
            <a:endParaRPr lang="ar-SA" sz="1900" dirty="0"/>
          </a:p>
        </p:txBody>
      </p:sp>
      <p:sp>
        <p:nvSpPr>
          <p:cNvPr id="23" name="Text 17"/>
          <p:cNvSpPr txBox="1"/>
          <p:nvPr/>
        </p:nvSpPr>
        <p:spPr>
          <a:xfrm>
            <a:off x="6507328" y="3108960"/>
            <a:ext cx="2019224" cy="731520"/>
          </a:xfrm>
          <a:prstGeom prst="rect">
            <a:avLst/>
          </a:prstGeom>
          <a:noFill/>
          <a:ln/>
        </p:spPr>
        <p:txBody>
          <a:bodyPr wrap="square" lIns="0" tIns="0" rIns="0" bIns="0" rtlCol="0" anchor="t"/>
          <a:lstStyle/>
          <a:p>
            <a:pPr rtl="1" algn="r" indent="0" marL="0">
              <a:lnSpc>
                <a:spcPct val="100000"/>
              </a:lnSpc>
              <a:buNone/>
            </a:pPr>
            <a:r>
              <a:rPr lang="ar-SA" altLang="en-US" sz="1400" dirty="0">
                <a:solidFill>
                  <a:srgbClr val="3C3E3B"/>
                </a:solidFill>
                <a:latin typeface="IBM Plex Sans Arabic" pitchFamily="34" charset="0"/>
                <a:ea typeface="IBM Plex Sans Arabic" pitchFamily="34" charset="-122"/>
                <a:cs typeface="IBM Plex Sans Arabic" pitchFamily="34" charset="-120"/>
              </a:rPr>
              <a:t>شخصية واحدة في أربعة مشاهد</a:t>
            </a:r>
            <a:endParaRPr lang="ar-SA" sz="1400" dirty="0"/>
          </a:p>
        </p:txBody>
      </p:sp>
      <p:sp>
        <p:nvSpPr>
          <p:cNvPr id="24" name="Shape 18"/>
          <p:cNvSpPr/>
          <p:nvPr/>
        </p:nvSpPr>
        <p:spPr>
          <a:xfrm>
            <a:off x="6507328" y="3931920"/>
            <a:ext cx="2019224" cy="365760"/>
          </a:xfrm>
          <a:prstGeom prst="roundRect">
            <a:avLst>
              <a:gd name="adj" fmla="val 50000"/>
            </a:avLst>
          </a:prstGeom>
          <a:solidFill>
            <a:srgbClr val="FFFFFF"/>
          </a:solidFill>
          <a:ln w="9525">
            <a:solidFill>
              <a:srgbClr val="D9DDD8"/>
            </a:solidFill>
            <a:prstDash val="solid"/>
          </a:ln>
        </p:spPr>
      </p:sp>
      <p:pic>
        <p:nvPicPr>
          <p:cNvPr id="25" name="Image 4" descr="Gemini logo">    </p:cNvPr>
          <p:cNvPicPr>
            <a:picLocks noChangeAspect="1"/>
          </p:cNvPicPr>
          <p:nvPr/>
        </p:nvPicPr>
        <p:blipFill>
          <a:blip r:embed="rId5"/>
          <a:stretch>
            <a:fillRect/>
          </a:stretch>
        </p:blipFill>
        <p:spPr>
          <a:xfrm>
            <a:off x="8215655" y="4023360"/>
            <a:ext cx="182880" cy="182880"/>
          </a:xfrm>
          <a:prstGeom prst="rect">
            <a:avLst/>
          </a:prstGeom>
        </p:spPr>
      </p:pic>
      <p:sp>
        <p:nvSpPr>
          <p:cNvPr id="26" name="Text 19"/>
          <p:cNvSpPr txBox="1"/>
          <p:nvPr/>
        </p:nvSpPr>
        <p:spPr>
          <a:xfrm>
            <a:off x="6617056" y="3931920"/>
            <a:ext cx="1543736" cy="365760"/>
          </a:xfrm>
          <a:prstGeom prst="rect">
            <a:avLst/>
          </a:prstGeom>
          <a:noFill/>
          <a:ln/>
        </p:spPr>
        <p:txBody>
          <a:bodyPr wrap="square" lIns="0" tIns="0" rIns="0" bIns="0" rtlCol="0" anchor="ctr"/>
          <a:lstStyle/>
          <a:p>
            <a:pPr algn="ctr" indent="0" marL="0">
              <a:lnSpc>
                <a:spcPct val="100000"/>
              </a:lnSpc>
              <a:buNone/>
            </a:pPr>
            <a:r>
              <a:rPr lang="ar-SA" altLang="en-US" sz="1200" dirty="0">
                <a:solidFill>
                  <a:srgbClr val="1A1A1A"/>
                </a:solidFill>
                <a:latin typeface="IBM Plex Sans Arabic" pitchFamily="34" charset="0"/>
                <a:ea typeface="IBM Plex Sans Arabic" pitchFamily="34" charset="-122"/>
                <a:cs typeface="IBM Plex Sans Arabic" pitchFamily="34" charset="-120"/>
              </a:rPr>
              <a:t>Gemini</a:t>
            </a:r>
            <a:endParaRPr lang="ar-SA" sz="1200" dirty="0"/>
          </a:p>
        </p:txBody>
      </p:sp>
      <p:sp>
        <p:nvSpPr>
          <p:cNvPr id="27" name="Shape 20"/>
          <p:cNvSpPr/>
          <p:nvPr/>
        </p:nvSpPr>
        <p:spPr>
          <a:xfrm>
            <a:off x="6507328" y="4370832"/>
            <a:ext cx="2019224" cy="365760"/>
          </a:xfrm>
          <a:prstGeom prst="roundRect">
            <a:avLst>
              <a:gd name="adj" fmla="val 50000"/>
            </a:avLst>
          </a:prstGeom>
          <a:solidFill>
            <a:srgbClr val="FFFFFF"/>
          </a:solidFill>
          <a:ln w="9525">
            <a:solidFill>
              <a:srgbClr val="D9DDD8"/>
            </a:solidFill>
            <a:prstDash val="solid"/>
          </a:ln>
        </p:spPr>
      </p:sp>
      <p:sp>
        <p:nvSpPr>
          <p:cNvPr id="28" name="Text 21"/>
          <p:cNvSpPr txBox="1"/>
          <p:nvPr/>
        </p:nvSpPr>
        <p:spPr>
          <a:xfrm>
            <a:off x="6598768" y="4370832"/>
            <a:ext cx="1836344" cy="365760"/>
          </a:xfrm>
          <a:prstGeom prst="rect">
            <a:avLst/>
          </a:prstGeom>
          <a:noFill/>
          <a:ln/>
        </p:spPr>
        <p:txBody>
          <a:bodyPr wrap="square" lIns="0" tIns="0" rIns="0" bIns="0" rtlCol="0" anchor="ctr"/>
          <a:lstStyle/>
          <a:p>
            <a:pPr algn="ctr" indent="0" marL="0">
              <a:lnSpc>
                <a:spcPct val="100000"/>
              </a:lnSpc>
              <a:buNone/>
            </a:pPr>
            <a:r>
              <a:rPr lang="ar-SA" altLang="en-US" sz="1200" dirty="0">
                <a:solidFill>
                  <a:srgbClr val="1A1A1A"/>
                </a:solidFill>
                <a:latin typeface="IBM Plex Sans Arabic" pitchFamily="34" charset="0"/>
                <a:ea typeface="IBM Plex Sans Arabic" pitchFamily="34" charset="-122"/>
                <a:cs typeface="IBM Plex Sans Arabic" pitchFamily="34" charset="-120"/>
              </a:rPr>
              <a:t>Adobe Firefly</a:t>
            </a:r>
            <a:endParaRPr lang="ar-SA" sz="1200" dirty="0"/>
          </a:p>
        </p:txBody>
      </p:sp>
      <p:sp>
        <p:nvSpPr>
          <p:cNvPr id="29" name="Shape 22"/>
          <p:cNvSpPr/>
          <p:nvPr/>
        </p:nvSpPr>
        <p:spPr>
          <a:xfrm>
            <a:off x="3390824" y="1783080"/>
            <a:ext cx="2567864" cy="3611880"/>
          </a:xfrm>
          <a:prstGeom prst="roundRect">
            <a:avLst>
              <a:gd name="adj" fmla="val 4273"/>
            </a:avLst>
          </a:prstGeom>
          <a:solidFill>
            <a:srgbClr val="EAF5E8"/>
          </a:solidFill>
          <a:ln w="12700">
            <a:solidFill>
              <a:srgbClr val="EAF5E8"/>
            </a:solidFill>
            <a:prstDash val="solid"/>
          </a:ln>
        </p:spPr>
      </p:sp>
      <p:sp>
        <p:nvSpPr>
          <p:cNvPr id="30" name="Text 23"/>
          <p:cNvSpPr txBox="1"/>
          <p:nvPr/>
        </p:nvSpPr>
        <p:spPr>
          <a:xfrm>
            <a:off x="4769968" y="2011680"/>
            <a:ext cx="914400" cy="457200"/>
          </a:xfrm>
          <a:prstGeom prst="rect">
            <a:avLst/>
          </a:prstGeom>
          <a:noFill/>
          <a:ln/>
        </p:spPr>
        <p:txBody>
          <a:bodyPr wrap="square" lIns="0" tIns="0" rIns="0" bIns="0" rtlCol="0" anchor="t"/>
          <a:lstStyle/>
          <a:p>
            <a:pPr rtl="1" algn="r" indent="0" marL="0">
              <a:lnSpc>
                <a:spcPct val="100000"/>
              </a:lnSpc>
              <a:buNone/>
            </a:pPr>
            <a:r>
              <a:rPr lang="ar-SA" altLang="en-US" sz="2600" b="1" dirty="0">
                <a:solidFill>
                  <a:srgbClr val="4DB449"/>
                </a:solidFill>
                <a:latin typeface="Cairo" pitchFamily="34" charset="0"/>
                <a:ea typeface="Cairo" pitchFamily="34" charset="-122"/>
                <a:cs typeface="Cairo" pitchFamily="34" charset="-120"/>
              </a:rPr>
              <a:t>03</a:t>
            </a:r>
            <a:endParaRPr lang="ar-SA" sz="2600" dirty="0"/>
          </a:p>
        </p:txBody>
      </p:sp>
      <p:pic>
        <p:nvPicPr>
          <p:cNvPr id="31" name="Image 5" descr="preencoded.png">    </p:cNvPr>
          <p:cNvPicPr>
            <a:picLocks noChangeAspect="1"/>
          </p:cNvPicPr>
          <p:nvPr/>
        </p:nvPicPr>
        <p:blipFill>
          <a:blip r:embed="rId6"/>
          <a:stretch>
            <a:fillRect/>
          </a:stretch>
        </p:blipFill>
        <p:spPr>
          <a:xfrm>
            <a:off x="3692576" y="2057400"/>
            <a:ext cx="384048" cy="384048"/>
          </a:xfrm>
          <a:prstGeom prst="rect">
            <a:avLst/>
          </a:prstGeom>
        </p:spPr>
      </p:pic>
      <p:sp>
        <p:nvSpPr>
          <p:cNvPr id="32" name="Text 24"/>
          <p:cNvSpPr txBox="1"/>
          <p:nvPr/>
        </p:nvSpPr>
        <p:spPr>
          <a:xfrm>
            <a:off x="3665144" y="2651760"/>
            <a:ext cx="2019224" cy="411480"/>
          </a:xfrm>
          <a:prstGeom prst="rect">
            <a:avLst/>
          </a:prstGeom>
          <a:noFill/>
          <a:ln/>
        </p:spPr>
        <p:txBody>
          <a:bodyPr wrap="square" lIns="0" tIns="0" rIns="0" bIns="0" rtlCol="0" anchor="t"/>
          <a:lstStyle/>
          <a:p>
            <a:pPr rtl="1" algn="r" indent="0" marL="0">
              <a:lnSpc>
                <a:spcPct val="100000"/>
              </a:lnSpc>
              <a:buNone/>
            </a:pPr>
            <a:r>
              <a:rPr lang="ar-SA" altLang="en-US" sz="1900" b="1" dirty="0">
                <a:solidFill>
                  <a:srgbClr val="1A1A1A"/>
                </a:solidFill>
                <a:latin typeface="Cairo" pitchFamily="34" charset="0"/>
                <a:ea typeface="Cairo" pitchFamily="34" charset="-122"/>
                <a:cs typeface="Cairo" pitchFamily="34" charset="-120"/>
              </a:rPr>
              <a:t>التحرير</a:t>
            </a:r>
            <a:endParaRPr lang="ar-SA" sz="1900" dirty="0"/>
          </a:p>
        </p:txBody>
      </p:sp>
      <p:sp>
        <p:nvSpPr>
          <p:cNvPr id="33" name="Text 25"/>
          <p:cNvSpPr txBox="1"/>
          <p:nvPr/>
        </p:nvSpPr>
        <p:spPr>
          <a:xfrm>
            <a:off x="3665144" y="3108960"/>
            <a:ext cx="2019224" cy="731520"/>
          </a:xfrm>
          <a:prstGeom prst="rect">
            <a:avLst/>
          </a:prstGeom>
          <a:noFill/>
          <a:ln/>
        </p:spPr>
        <p:txBody>
          <a:bodyPr wrap="square" lIns="0" tIns="0" rIns="0" bIns="0" rtlCol="0" anchor="t"/>
          <a:lstStyle/>
          <a:p>
            <a:pPr rtl="1" algn="r" indent="0" marL="0">
              <a:lnSpc>
                <a:spcPct val="100000"/>
              </a:lnSpc>
              <a:buNone/>
            </a:pPr>
            <a:r>
              <a:rPr lang="ar-SA" altLang="en-US" sz="1400" dirty="0">
                <a:solidFill>
                  <a:srgbClr val="3C3E3B"/>
                </a:solidFill>
                <a:latin typeface="IBM Plex Sans Arabic" pitchFamily="34" charset="0"/>
                <a:ea typeface="IBM Plex Sans Arabic" pitchFamily="34" charset="-122"/>
                <a:cs typeface="IBM Plex Sans Arabic" pitchFamily="34" charset="-120"/>
              </a:rPr>
              <a:t>إزالة الخلفية والتعبئة والتوسيع</a:t>
            </a:r>
            <a:endParaRPr lang="ar-SA" sz="1400" dirty="0"/>
          </a:p>
        </p:txBody>
      </p:sp>
      <p:sp>
        <p:nvSpPr>
          <p:cNvPr id="34" name="Shape 26"/>
          <p:cNvSpPr/>
          <p:nvPr/>
        </p:nvSpPr>
        <p:spPr>
          <a:xfrm>
            <a:off x="3665144" y="3931920"/>
            <a:ext cx="2019224" cy="365760"/>
          </a:xfrm>
          <a:prstGeom prst="roundRect">
            <a:avLst>
              <a:gd name="adj" fmla="val 50000"/>
            </a:avLst>
          </a:prstGeom>
          <a:solidFill>
            <a:srgbClr val="FFFFFF"/>
          </a:solidFill>
          <a:ln w="9525">
            <a:solidFill>
              <a:srgbClr val="D9DDD8"/>
            </a:solidFill>
            <a:prstDash val="solid"/>
          </a:ln>
        </p:spPr>
      </p:sp>
      <p:sp>
        <p:nvSpPr>
          <p:cNvPr id="35" name="Text 27"/>
          <p:cNvSpPr txBox="1"/>
          <p:nvPr/>
        </p:nvSpPr>
        <p:spPr>
          <a:xfrm>
            <a:off x="3756584" y="3931920"/>
            <a:ext cx="1836344" cy="365760"/>
          </a:xfrm>
          <a:prstGeom prst="rect">
            <a:avLst/>
          </a:prstGeom>
          <a:noFill/>
          <a:ln/>
        </p:spPr>
        <p:txBody>
          <a:bodyPr wrap="square" lIns="0" tIns="0" rIns="0" bIns="0" rtlCol="0" anchor="ctr"/>
          <a:lstStyle/>
          <a:p>
            <a:pPr algn="ctr" indent="0" marL="0">
              <a:lnSpc>
                <a:spcPct val="100000"/>
              </a:lnSpc>
              <a:buNone/>
            </a:pPr>
            <a:r>
              <a:rPr lang="ar-SA" altLang="en-US" sz="1200" dirty="0">
                <a:solidFill>
                  <a:srgbClr val="1A1A1A"/>
                </a:solidFill>
                <a:latin typeface="IBM Plex Sans Arabic" pitchFamily="34" charset="0"/>
                <a:ea typeface="IBM Plex Sans Arabic" pitchFamily="34" charset="-122"/>
                <a:cs typeface="IBM Plex Sans Arabic" pitchFamily="34" charset="-120"/>
              </a:rPr>
              <a:t>Canva</a:t>
            </a:r>
            <a:endParaRPr lang="ar-SA" sz="1200" dirty="0"/>
          </a:p>
        </p:txBody>
      </p:sp>
      <p:sp>
        <p:nvSpPr>
          <p:cNvPr id="36" name="Shape 28"/>
          <p:cNvSpPr/>
          <p:nvPr/>
        </p:nvSpPr>
        <p:spPr>
          <a:xfrm>
            <a:off x="3665144" y="4370832"/>
            <a:ext cx="2019224" cy="365760"/>
          </a:xfrm>
          <a:prstGeom prst="roundRect">
            <a:avLst>
              <a:gd name="adj" fmla="val 50000"/>
            </a:avLst>
          </a:prstGeom>
          <a:solidFill>
            <a:srgbClr val="FFFFFF"/>
          </a:solidFill>
          <a:ln w="9525">
            <a:solidFill>
              <a:srgbClr val="D9DDD8"/>
            </a:solidFill>
            <a:prstDash val="solid"/>
          </a:ln>
        </p:spPr>
      </p:sp>
      <p:sp>
        <p:nvSpPr>
          <p:cNvPr id="37" name="Text 29"/>
          <p:cNvSpPr txBox="1"/>
          <p:nvPr/>
        </p:nvSpPr>
        <p:spPr>
          <a:xfrm>
            <a:off x="3756584" y="4370832"/>
            <a:ext cx="1836344" cy="365760"/>
          </a:xfrm>
          <a:prstGeom prst="rect">
            <a:avLst/>
          </a:prstGeom>
          <a:noFill/>
          <a:ln/>
        </p:spPr>
        <p:txBody>
          <a:bodyPr wrap="square" lIns="0" tIns="0" rIns="0" bIns="0" rtlCol="0" anchor="ctr"/>
          <a:lstStyle/>
          <a:p>
            <a:pPr algn="ctr" indent="0" marL="0">
              <a:lnSpc>
                <a:spcPct val="100000"/>
              </a:lnSpc>
              <a:buNone/>
            </a:pPr>
            <a:r>
              <a:rPr lang="ar-SA" altLang="en-US" sz="1200" dirty="0">
                <a:solidFill>
                  <a:srgbClr val="1A1A1A"/>
                </a:solidFill>
                <a:latin typeface="IBM Plex Sans Arabic" pitchFamily="34" charset="0"/>
                <a:ea typeface="IBM Plex Sans Arabic" pitchFamily="34" charset="-122"/>
                <a:cs typeface="IBM Plex Sans Arabic" pitchFamily="34" charset="-120"/>
              </a:rPr>
              <a:t>Adobe Firefly</a:t>
            </a:r>
            <a:endParaRPr lang="ar-SA" sz="1200" dirty="0"/>
          </a:p>
        </p:txBody>
      </p:sp>
      <p:sp>
        <p:nvSpPr>
          <p:cNvPr id="38" name="Shape 30"/>
          <p:cNvSpPr/>
          <p:nvPr/>
        </p:nvSpPr>
        <p:spPr>
          <a:xfrm>
            <a:off x="548640" y="1783080"/>
            <a:ext cx="2567864" cy="3611880"/>
          </a:xfrm>
          <a:prstGeom prst="roundRect">
            <a:avLst>
              <a:gd name="adj" fmla="val 4273"/>
            </a:avLst>
          </a:prstGeom>
          <a:solidFill>
            <a:srgbClr val="000000"/>
          </a:solidFill>
          <a:ln w="12700">
            <a:solidFill>
              <a:srgbClr val="000000"/>
            </a:solidFill>
            <a:prstDash val="solid"/>
          </a:ln>
        </p:spPr>
      </p:sp>
      <p:sp>
        <p:nvSpPr>
          <p:cNvPr id="39" name="Text 31"/>
          <p:cNvSpPr txBox="1"/>
          <p:nvPr/>
        </p:nvSpPr>
        <p:spPr>
          <a:xfrm>
            <a:off x="1927784" y="2011680"/>
            <a:ext cx="914400" cy="457200"/>
          </a:xfrm>
          <a:prstGeom prst="rect">
            <a:avLst/>
          </a:prstGeom>
          <a:noFill/>
          <a:ln/>
        </p:spPr>
        <p:txBody>
          <a:bodyPr wrap="square" lIns="0" tIns="0" rIns="0" bIns="0" rtlCol="0" anchor="t"/>
          <a:lstStyle/>
          <a:p>
            <a:pPr rtl="1" algn="r" indent="0" marL="0">
              <a:lnSpc>
                <a:spcPct val="100000"/>
              </a:lnSpc>
              <a:buNone/>
            </a:pPr>
            <a:r>
              <a:rPr lang="ar-SA" altLang="en-US" sz="2600" b="1" dirty="0">
                <a:solidFill>
                  <a:srgbClr val="A6D04B"/>
                </a:solidFill>
                <a:latin typeface="Cairo" pitchFamily="34" charset="0"/>
                <a:ea typeface="Cairo" pitchFamily="34" charset="-122"/>
                <a:cs typeface="Cairo" pitchFamily="34" charset="-120"/>
              </a:rPr>
              <a:t>04</a:t>
            </a:r>
            <a:endParaRPr lang="ar-SA" sz="2600" dirty="0"/>
          </a:p>
        </p:txBody>
      </p:sp>
      <p:pic>
        <p:nvPicPr>
          <p:cNvPr id="40" name="Image 6" descr="preencoded.png">    </p:cNvPr>
          <p:cNvPicPr>
            <a:picLocks noChangeAspect="1"/>
          </p:cNvPicPr>
          <p:nvPr/>
        </p:nvPicPr>
        <p:blipFill>
          <a:blip r:embed="rId7"/>
          <a:stretch>
            <a:fillRect/>
          </a:stretch>
        </p:blipFill>
        <p:spPr>
          <a:xfrm>
            <a:off x="850392" y="2057400"/>
            <a:ext cx="384048" cy="384048"/>
          </a:xfrm>
          <a:prstGeom prst="rect">
            <a:avLst/>
          </a:prstGeom>
        </p:spPr>
      </p:pic>
      <p:sp>
        <p:nvSpPr>
          <p:cNvPr id="41" name="Text 32"/>
          <p:cNvSpPr txBox="1"/>
          <p:nvPr/>
        </p:nvSpPr>
        <p:spPr>
          <a:xfrm>
            <a:off x="822960" y="2651760"/>
            <a:ext cx="2019224" cy="411480"/>
          </a:xfrm>
          <a:prstGeom prst="rect">
            <a:avLst/>
          </a:prstGeom>
          <a:noFill/>
          <a:ln/>
        </p:spPr>
        <p:txBody>
          <a:bodyPr wrap="square" lIns="0" tIns="0" rIns="0" bIns="0" rtlCol="0" anchor="t"/>
          <a:lstStyle/>
          <a:p>
            <a:pPr rtl="1" algn="r" indent="0" marL="0">
              <a:lnSpc>
                <a:spcPct val="100000"/>
              </a:lnSpc>
              <a:buNone/>
            </a:pPr>
            <a:r>
              <a:rPr lang="ar-SA" altLang="en-US" sz="1900" b="1" dirty="0">
                <a:solidFill>
                  <a:srgbClr val="FFFFFF"/>
                </a:solidFill>
                <a:latin typeface="Cairo" pitchFamily="34" charset="0"/>
                <a:ea typeface="Cairo" pitchFamily="34" charset="-122"/>
                <a:cs typeface="Cairo" pitchFamily="34" charset="-120"/>
              </a:rPr>
              <a:t>التصميم</a:t>
            </a:r>
            <a:endParaRPr lang="ar-SA" sz="1900" dirty="0"/>
          </a:p>
        </p:txBody>
      </p:sp>
      <p:sp>
        <p:nvSpPr>
          <p:cNvPr id="42" name="Text 33"/>
          <p:cNvSpPr txBox="1"/>
          <p:nvPr/>
        </p:nvSpPr>
        <p:spPr>
          <a:xfrm>
            <a:off x="822960" y="3108960"/>
            <a:ext cx="2019224" cy="731520"/>
          </a:xfrm>
          <a:prstGeom prst="rect">
            <a:avLst/>
          </a:prstGeom>
          <a:noFill/>
          <a:ln/>
        </p:spPr>
        <p:txBody>
          <a:bodyPr wrap="square" lIns="0" tIns="0" rIns="0" bIns="0" rtlCol="0" anchor="t"/>
          <a:lstStyle/>
          <a:p>
            <a:pPr rtl="1" algn="r" indent="0" marL="0">
              <a:lnSpc>
                <a:spcPct val="100000"/>
              </a:lnSpc>
              <a:buNone/>
            </a:pPr>
            <a:r>
              <a:rPr lang="ar-SA" altLang="en-US" sz="1400" dirty="0">
                <a:solidFill>
                  <a:srgbClr val="D6D8D4"/>
                </a:solidFill>
                <a:latin typeface="IBM Plex Sans Arabic" pitchFamily="34" charset="0"/>
                <a:ea typeface="IBM Plex Sans Arabic" pitchFamily="34" charset="-122"/>
                <a:cs typeface="IBM Plex Sans Arabic" pitchFamily="34" charset="-120"/>
              </a:rPr>
              <a:t>قوالب وملصق وكاروسيل</a:t>
            </a:r>
            <a:endParaRPr lang="ar-SA" sz="1400" dirty="0"/>
          </a:p>
        </p:txBody>
      </p:sp>
      <p:sp>
        <p:nvSpPr>
          <p:cNvPr id="43" name="Shape 34"/>
          <p:cNvSpPr/>
          <p:nvPr/>
        </p:nvSpPr>
        <p:spPr>
          <a:xfrm>
            <a:off x="822960" y="3931920"/>
            <a:ext cx="2019224" cy="365760"/>
          </a:xfrm>
          <a:prstGeom prst="roundRect">
            <a:avLst>
              <a:gd name="adj" fmla="val 50000"/>
            </a:avLst>
          </a:prstGeom>
          <a:solidFill>
            <a:srgbClr val="161816"/>
          </a:solidFill>
          <a:ln w="9525">
            <a:solidFill>
              <a:srgbClr val="3A3D39"/>
            </a:solidFill>
            <a:prstDash val="solid"/>
          </a:ln>
        </p:spPr>
      </p:sp>
      <p:sp>
        <p:nvSpPr>
          <p:cNvPr id="44" name="Text 35"/>
          <p:cNvSpPr txBox="1"/>
          <p:nvPr/>
        </p:nvSpPr>
        <p:spPr>
          <a:xfrm>
            <a:off x="914400" y="3931920"/>
            <a:ext cx="1836344" cy="365760"/>
          </a:xfrm>
          <a:prstGeom prst="rect">
            <a:avLst/>
          </a:prstGeom>
          <a:noFill/>
          <a:ln/>
        </p:spPr>
        <p:txBody>
          <a:bodyPr wrap="square" lIns="0" tIns="0" rIns="0" bIns="0" rtlCol="0" anchor="ctr"/>
          <a:lstStyle/>
          <a:p>
            <a:pPr algn="ctr" indent="0" marL="0">
              <a:lnSpc>
                <a:spcPct val="100000"/>
              </a:lnSpc>
              <a:buNone/>
            </a:pPr>
            <a:r>
              <a:rPr lang="ar-SA" altLang="en-US" sz="1200" dirty="0">
                <a:solidFill>
                  <a:srgbClr val="FFFFFF"/>
                </a:solidFill>
                <a:latin typeface="IBM Plex Sans Arabic" pitchFamily="34" charset="0"/>
                <a:ea typeface="IBM Plex Sans Arabic" pitchFamily="34" charset="-122"/>
                <a:cs typeface="IBM Plex Sans Arabic" pitchFamily="34" charset="-120"/>
              </a:rPr>
              <a:t>Canva Magic Studio</a:t>
            </a:r>
            <a:endParaRPr lang="ar-SA" sz="1200" dirty="0"/>
          </a:p>
        </p:txBody>
      </p:sp>
      <p:sp>
        <p:nvSpPr>
          <p:cNvPr id="45" name="Shape 36"/>
          <p:cNvSpPr/>
          <p:nvPr/>
        </p:nvSpPr>
        <p:spPr>
          <a:xfrm>
            <a:off x="548640" y="5596128"/>
            <a:ext cx="11094415" cy="566928"/>
          </a:xfrm>
          <a:prstGeom prst="roundRect">
            <a:avLst>
              <a:gd name="adj" fmla="val 16129"/>
            </a:avLst>
          </a:prstGeom>
          <a:solidFill>
            <a:srgbClr val="000000"/>
          </a:solidFill>
          <a:ln w="9525">
            <a:solidFill>
              <a:srgbClr val="000000"/>
            </a:solidFill>
            <a:prstDash val="solid"/>
          </a:ln>
        </p:spPr>
      </p:sp>
      <p:sp>
        <p:nvSpPr>
          <p:cNvPr id="46" name="Text 37"/>
          <p:cNvSpPr txBox="1"/>
          <p:nvPr/>
        </p:nvSpPr>
        <p:spPr>
          <a:xfrm>
            <a:off x="822960" y="5596128"/>
            <a:ext cx="10545775" cy="566928"/>
          </a:xfrm>
          <a:prstGeom prst="rect">
            <a:avLst/>
          </a:prstGeom>
          <a:noFill/>
          <a:ln/>
        </p:spPr>
        <p:txBody>
          <a:bodyPr wrap="square" lIns="0" tIns="0" rIns="0" bIns="0" rtlCol="0" anchor="ctr"/>
          <a:lstStyle/>
          <a:p>
            <a:pPr rtl="1" algn="r" indent="0" marL="0">
              <a:lnSpc>
                <a:spcPct val="100000"/>
              </a:lnSpc>
              <a:buNone/>
            </a:pPr>
            <a:r>
              <a:rPr lang="ar-SA" altLang="en-US" sz="1400" b="1" dirty="0">
                <a:solidFill>
                  <a:srgbClr val="FFFFFF"/>
                </a:solidFill>
                <a:latin typeface="IBM Plex Sans Arabic" pitchFamily="34" charset="0"/>
                <a:ea typeface="IBM Plex Sans Arabic" pitchFamily="34" charset="-122"/>
                <a:cs typeface="IBM Plex Sans Arabic" pitchFamily="34" charset="-120"/>
              </a:rPr>
              <a:t>المُخرَج: حزمة بصرية للعلامة تضم بطاقة شخصية وثماني صور للحملة وقوالب لمنصات التواصل</a:t>
            </a:r>
            <a:endParaRPr lang="ar-SA"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242255" y="6446520"/>
            <a:ext cx="6400800" cy="228600"/>
          </a:xfrm>
          <a:prstGeom prst="rect">
            <a:avLst/>
          </a:prstGeom>
          <a:noFill/>
          <a:ln/>
        </p:spPr>
        <p:txBody>
          <a:bodyPr wrap="square" lIns="0" tIns="0" rIns="0" bIns="0" rtlCol="0" anchor="t"/>
          <a:lstStyle/>
          <a:p>
            <a:pPr rtl="1" algn="r" indent="0" marL="0">
              <a:lnSpc>
                <a:spcPct val="100000"/>
              </a:lnSpc>
              <a:buNone/>
            </a:pPr>
            <a:r>
              <a:rPr lang="ar-SA" altLang="en-US" sz="900" dirty="0">
                <a:solidFill>
                  <a:srgbClr val="8A8C88"/>
                </a:solidFill>
                <a:latin typeface="IBM Plex Sans Arabic" pitchFamily="34" charset="0"/>
                <a:ea typeface="IBM Plex Sans Arabic" pitchFamily="34" charset="-122"/>
                <a:cs typeface="IBM Plex Sans Arabic" pitchFamily="34" charset="-120"/>
              </a:rPr>
              <a:t>برنامج صُنّاع المحتوى بالذكاء الاصطناعي · مذكرة مفاهيمية</a:t>
            </a:r>
            <a:endParaRPr lang="ar-SA" sz="900" dirty="0"/>
          </a:p>
        </p:txBody>
      </p:sp>
      <p:sp>
        <p:nvSpPr>
          <p:cNvPr id="3" name="Text 1"/>
          <p:cNvSpPr txBox="1"/>
          <p:nvPr/>
        </p:nvSpPr>
        <p:spPr>
          <a:xfrm>
            <a:off x="548640" y="6446520"/>
            <a:ext cx="548640" cy="228600"/>
          </a:xfrm>
          <a:prstGeom prst="rect">
            <a:avLst/>
          </a:prstGeom>
          <a:noFill/>
          <a:ln/>
        </p:spPr>
        <p:txBody>
          <a:bodyPr wrap="square" lIns="0" tIns="0" rIns="0" bIns="0" rtlCol="0" anchor="t"/>
          <a:lstStyle/>
          <a:p>
            <a:pPr rtl="1" algn="l" indent="0" marL="0">
              <a:lnSpc>
                <a:spcPct val="100000"/>
              </a:lnSpc>
              <a:buNone/>
            </a:pPr>
            <a:r>
              <a:rPr lang="ar-SA" altLang="en-US" sz="900" dirty="0">
                <a:solidFill>
                  <a:srgbClr val="8A8C88"/>
                </a:solidFill>
                <a:latin typeface="IBM Plex Sans Arabic" pitchFamily="34" charset="0"/>
                <a:ea typeface="IBM Plex Sans Arabic" pitchFamily="34" charset="-122"/>
                <a:cs typeface="IBM Plex Sans Arabic" pitchFamily="34" charset="-120"/>
              </a:rPr>
              <a:t>12</a:t>
            </a:r>
            <a:endParaRPr lang="ar-SA" sz="900" dirty="0"/>
          </a:p>
        </p:txBody>
      </p:sp>
      <p:pic>
        <p:nvPicPr>
          <p:cNvPr id="4" name="Image 0" descr="Green Circle logo">    </p:cNvPr>
          <p:cNvPicPr>
            <a:picLocks noChangeAspect="1"/>
          </p:cNvPicPr>
          <p:nvPr/>
        </p:nvPicPr>
        <p:blipFill>
          <a:blip r:embed="rId1"/>
          <a:stretch>
            <a:fillRect/>
          </a:stretch>
        </p:blipFill>
        <p:spPr>
          <a:xfrm>
            <a:off x="548640" y="384048"/>
            <a:ext cx="1417320" cy="503691"/>
          </a:xfrm>
          <a:prstGeom prst="rect">
            <a:avLst/>
          </a:prstGeom>
        </p:spPr>
      </p:pic>
      <p:sp>
        <p:nvSpPr>
          <p:cNvPr id="5" name="Text 2"/>
          <p:cNvSpPr txBox="1"/>
          <p:nvPr/>
        </p:nvSpPr>
        <p:spPr>
          <a:xfrm>
            <a:off x="2681935" y="384048"/>
            <a:ext cx="8961120" cy="274320"/>
          </a:xfrm>
          <a:prstGeom prst="rect">
            <a:avLst/>
          </a:prstGeom>
          <a:noFill/>
          <a:ln/>
        </p:spPr>
        <p:txBody>
          <a:bodyPr wrap="square" lIns="0" tIns="0" rIns="0" bIns="0" rtlCol="0" anchor="t"/>
          <a:lstStyle/>
          <a:p>
            <a:pPr rtl="1" algn="r" indent="0" marL="0">
              <a:lnSpc>
                <a:spcPct val="100000"/>
              </a:lnSpc>
              <a:buNone/>
            </a:pPr>
            <a:r>
              <a:rPr lang="ar-SA" altLang="en-US" sz="1100" b="1" dirty="0">
                <a:solidFill>
                  <a:srgbClr val="A6D04B"/>
                </a:solidFill>
                <a:latin typeface="IBM Plex Sans Arabic" pitchFamily="34" charset="0"/>
                <a:ea typeface="IBM Plex Sans Arabic" pitchFamily="34" charset="-122"/>
                <a:cs typeface="IBM Plex Sans Arabic" pitchFamily="34" charset="-120"/>
              </a:rPr>
              <a:t>11 · الفيديو والمونتاج والحركة</a:t>
            </a:r>
            <a:endParaRPr lang="ar-SA" sz="1100" dirty="0"/>
          </a:p>
        </p:txBody>
      </p:sp>
      <p:sp>
        <p:nvSpPr>
          <p:cNvPr id="6" name="Text 3"/>
          <p:cNvSpPr txBox="1"/>
          <p:nvPr/>
        </p:nvSpPr>
        <p:spPr>
          <a:xfrm>
            <a:off x="2224735" y="676656"/>
            <a:ext cx="9418320" cy="914400"/>
          </a:xfrm>
          <a:prstGeom prst="rect">
            <a:avLst/>
          </a:prstGeom>
          <a:noFill/>
          <a:ln/>
        </p:spPr>
        <p:txBody>
          <a:bodyPr wrap="square" lIns="0" tIns="0" rIns="0" bIns="0" rtlCol="0" anchor="t"/>
          <a:lstStyle/>
          <a:p>
            <a:pPr rtl="1" algn="r" indent="0" marL="0">
              <a:lnSpc>
                <a:spcPct val="95000"/>
              </a:lnSpc>
              <a:buNone/>
            </a:pPr>
            <a:r>
              <a:rPr lang="ar-SA" altLang="en-US" sz="2600" b="1" dirty="0">
                <a:solidFill>
                  <a:srgbClr val="FFFFFF"/>
                </a:solidFill>
                <a:latin typeface="Cairo" pitchFamily="34" charset="0"/>
                <a:ea typeface="Cairo" pitchFamily="34" charset="-122"/>
                <a:cs typeface="Cairo" pitchFamily="34" charset="-120"/>
              </a:rPr>
              <a:t>إنتاج فيديو قصير من السيناريو إلى النسخة النهائية</a:t>
            </a:r>
            <a:endParaRPr lang="ar-SA" sz="2600" dirty="0"/>
          </a:p>
        </p:txBody>
      </p:sp>
      <p:pic>
        <p:nvPicPr>
          <p:cNvPr id="7" name="Image 1" descr="preencoded.png">    </p:cNvPr>
          <p:cNvPicPr>
            <a:picLocks noChangeAspect="1"/>
          </p:cNvPicPr>
          <p:nvPr/>
        </p:nvPicPr>
        <p:blipFill>
          <a:blip r:embed="rId2"/>
          <a:stretch>
            <a:fillRect/>
          </a:stretch>
        </p:blipFill>
        <p:spPr>
          <a:xfrm>
            <a:off x="9241292" y="2148840"/>
            <a:ext cx="365760" cy="365760"/>
          </a:xfrm>
          <a:prstGeom prst="rect">
            <a:avLst/>
          </a:prstGeom>
        </p:spPr>
      </p:pic>
      <p:sp>
        <p:nvSpPr>
          <p:cNvPr id="8" name="Shape 4"/>
          <p:cNvSpPr/>
          <p:nvPr/>
        </p:nvSpPr>
        <p:spPr>
          <a:xfrm>
            <a:off x="10076414" y="1874520"/>
            <a:ext cx="914400" cy="914400"/>
          </a:xfrm>
          <a:prstGeom prst="ellipse">
            <a:avLst/>
          </a:prstGeom>
          <a:solidFill>
            <a:srgbClr val="4DB449"/>
          </a:solidFill>
          <a:ln w="12700">
            <a:solidFill>
              <a:srgbClr val="4DB449"/>
            </a:solidFill>
            <a:prstDash val="solid"/>
          </a:ln>
        </p:spPr>
      </p:sp>
      <p:pic>
        <p:nvPicPr>
          <p:cNvPr id="9" name="Image 2" descr="preencoded.png">    </p:cNvPr>
          <p:cNvPicPr>
            <a:picLocks noChangeAspect="1"/>
          </p:cNvPicPr>
          <p:nvPr/>
        </p:nvPicPr>
        <p:blipFill>
          <a:blip r:embed="rId3"/>
          <a:stretch>
            <a:fillRect/>
          </a:stretch>
        </p:blipFill>
        <p:spPr>
          <a:xfrm>
            <a:off x="10305014" y="2103120"/>
            <a:ext cx="457200" cy="457200"/>
          </a:xfrm>
          <a:prstGeom prst="rect">
            <a:avLst/>
          </a:prstGeom>
        </p:spPr>
      </p:pic>
      <p:sp>
        <p:nvSpPr>
          <p:cNvPr id="10" name="Text 5"/>
          <p:cNvSpPr txBox="1"/>
          <p:nvPr/>
        </p:nvSpPr>
        <p:spPr>
          <a:xfrm>
            <a:off x="9515612" y="2971800"/>
            <a:ext cx="2036003" cy="384048"/>
          </a:xfrm>
          <a:prstGeom prst="rect">
            <a:avLst/>
          </a:prstGeom>
          <a:noFill/>
          <a:ln/>
        </p:spPr>
        <p:txBody>
          <a:bodyPr wrap="square" lIns="0" tIns="0" rIns="0" bIns="0" rtlCol="0" anchor="t"/>
          <a:lstStyle/>
          <a:p>
            <a:pPr rtl="1" algn="ctr" indent="0" marL="0">
              <a:lnSpc>
                <a:spcPct val="100000"/>
              </a:lnSpc>
              <a:buNone/>
            </a:pPr>
            <a:r>
              <a:rPr lang="ar-SA" altLang="en-US" sz="1700" b="1" dirty="0">
                <a:solidFill>
                  <a:srgbClr val="FFFFFF"/>
                </a:solidFill>
                <a:latin typeface="Cairo" pitchFamily="34" charset="0"/>
                <a:ea typeface="Cairo" pitchFamily="34" charset="-122"/>
                <a:cs typeface="Cairo" pitchFamily="34" charset="-120"/>
              </a:rPr>
              <a:t>التخطيط</a:t>
            </a:r>
            <a:endParaRPr lang="ar-SA" sz="1700" dirty="0"/>
          </a:p>
        </p:txBody>
      </p:sp>
      <p:sp>
        <p:nvSpPr>
          <p:cNvPr id="11" name="Text 6"/>
          <p:cNvSpPr txBox="1"/>
          <p:nvPr/>
        </p:nvSpPr>
        <p:spPr>
          <a:xfrm>
            <a:off x="9533900" y="3383280"/>
            <a:ext cx="1999427" cy="777240"/>
          </a:xfrm>
          <a:prstGeom prst="rect">
            <a:avLst/>
          </a:prstGeom>
          <a:noFill/>
          <a:ln/>
        </p:spPr>
        <p:txBody>
          <a:bodyPr wrap="square" lIns="0" tIns="0" rIns="0" bIns="0" rtlCol="0" anchor="t"/>
          <a:lstStyle/>
          <a:p>
            <a:pPr rtl="1" algn="ctr" indent="0" marL="0">
              <a:lnSpc>
                <a:spcPct val="100000"/>
              </a:lnSpc>
              <a:buNone/>
            </a:pPr>
            <a:r>
              <a:rPr lang="ar-SA" altLang="en-US" sz="1300" dirty="0">
                <a:solidFill>
                  <a:srgbClr val="C9CCC8"/>
                </a:solidFill>
                <a:latin typeface="IBM Plex Sans Arabic" pitchFamily="34" charset="0"/>
                <a:ea typeface="IBM Plex Sans Arabic" pitchFamily="34" charset="-122"/>
                <a:cs typeface="IBM Plex Sans Arabic" pitchFamily="34" charset="-120"/>
              </a:rPr>
              <a:t>السيناريو واللوحة المصوّرة وقائمة اللقطات</a:t>
            </a:r>
            <a:endParaRPr lang="ar-SA" sz="1300" dirty="0"/>
          </a:p>
        </p:txBody>
      </p:sp>
      <p:sp>
        <p:nvSpPr>
          <p:cNvPr id="12" name="Text 7"/>
          <p:cNvSpPr txBox="1"/>
          <p:nvPr/>
        </p:nvSpPr>
        <p:spPr>
          <a:xfrm>
            <a:off x="9515612" y="4251960"/>
            <a:ext cx="2036003" cy="457200"/>
          </a:xfrm>
          <a:prstGeom prst="rect">
            <a:avLst/>
          </a:prstGeom>
          <a:noFill/>
          <a:ln/>
        </p:spPr>
        <p:txBody>
          <a:bodyPr wrap="square" lIns="0" tIns="0" rIns="0" bIns="0" rtlCol="0" anchor="t"/>
          <a:lstStyle/>
          <a:p>
            <a:pPr algn="ctr" indent="0" marL="0">
              <a:lnSpc>
                <a:spcPct val="100000"/>
              </a:lnSpc>
              <a:buNone/>
            </a:pPr>
            <a:r>
              <a:rPr lang="ar-SA" altLang="en-US" sz="1200" b="1" dirty="0">
                <a:solidFill>
                  <a:srgbClr val="A6D04B"/>
                </a:solidFill>
                <a:latin typeface="IBM Plex Sans Arabic" pitchFamily="34" charset="0"/>
                <a:ea typeface="IBM Plex Sans Arabic" pitchFamily="34" charset="-122"/>
                <a:cs typeface="IBM Plex Sans Arabic" pitchFamily="34" charset="-120"/>
              </a:rPr>
              <a:t>ChatGPT · Claude</a:t>
            </a:r>
            <a:endParaRPr lang="ar-SA" sz="1200" dirty="0"/>
          </a:p>
        </p:txBody>
      </p:sp>
      <p:pic>
        <p:nvPicPr>
          <p:cNvPr id="13" name="Image 3" descr="preencoded.png">    </p:cNvPr>
          <p:cNvPicPr>
            <a:picLocks noChangeAspect="1"/>
          </p:cNvPicPr>
          <p:nvPr/>
        </p:nvPicPr>
        <p:blipFill>
          <a:blip r:embed="rId4"/>
          <a:stretch>
            <a:fillRect/>
          </a:stretch>
        </p:blipFill>
        <p:spPr>
          <a:xfrm>
            <a:off x="7022409" y="2148840"/>
            <a:ext cx="365760" cy="365760"/>
          </a:xfrm>
          <a:prstGeom prst="rect">
            <a:avLst/>
          </a:prstGeom>
        </p:spPr>
      </p:pic>
      <p:sp>
        <p:nvSpPr>
          <p:cNvPr id="14" name="Shape 8"/>
          <p:cNvSpPr/>
          <p:nvPr/>
        </p:nvSpPr>
        <p:spPr>
          <a:xfrm>
            <a:off x="7857531" y="1874520"/>
            <a:ext cx="914400" cy="914400"/>
          </a:xfrm>
          <a:prstGeom prst="ellipse">
            <a:avLst/>
          </a:prstGeom>
          <a:solidFill>
            <a:srgbClr val="A6D04B"/>
          </a:solidFill>
          <a:ln w="12700">
            <a:solidFill>
              <a:srgbClr val="A6D04B"/>
            </a:solidFill>
            <a:prstDash val="solid"/>
          </a:ln>
        </p:spPr>
      </p:sp>
      <p:pic>
        <p:nvPicPr>
          <p:cNvPr id="15" name="Image 4" descr="preencoded.png">    </p:cNvPr>
          <p:cNvPicPr>
            <a:picLocks noChangeAspect="1"/>
          </p:cNvPicPr>
          <p:nvPr/>
        </p:nvPicPr>
        <p:blipFill>
          <a:blip r:embed="rId5"/>
          <a:stretch>
            <a:fillRect/>
          </a:stretch>
        </p:blipFill>
        <p:spPr>
          <a:xfrm>
            <a:off x="8086131" y="2103120"/>
            <a:ext cx="457200" cy="457200"/>
          </a:xfrm>
          <a:prstGeom prst="rect">
            <a:avLst/>
          </a:prstGeom>
        </p:spPr>
      </p:pic>
      <p:sp>
        <p:nvSpPr>
          <p:cNvPr id="16" name="Text 9"/>
          <p:cNvSpPr txBox="1"/>
          <p:nvPr/>
        </p:nvSpPr>
        <p:spPr>
          <a:xfrm>
            <a:off x="7296729" y="2971800"/>
            <a:ext cx="2036003" cy="384048"/>
          </a:xfrm>
          <a:prstGeom prst="rect">
            <a:avLst/>
          </a:prstGeom>
          <a:noFill/>
          <a:ln/>
        </p:spPr>
        <p:txBody>
          <a:bodyPr wrap="square" lIns="0" tIns="0" rIns="0" bIns="0" rtlCol="0" anchor="t"/>
          <a:lstStyle/>
          <a:p>
            <a:pPr rtl="1" algn="ctr" indent="0" marL="0">
              <a:lnSpc>
                <a:spcPct val="100000"/>
              </a:lnSpc>
              <a:buNone/>
            </a:pPr>
            <a:r>
              <a:rPr lang="ar-SA" altLang="en-US" sz="1700" b="1" dirty="0">
                <a:solidFill>
                  <a:srgbClr val="FFFFFF"/>
                </a:solidFill>
                <a:latin typeface="Cairo" pitchFamily="34" charset="0"/>
                <a:ea typeface="Cairo" pitchFamily="34" charset="-122"/>
                <a:cs typeface="Cairo" pitchFamily="34" charset="-120"/>
              </a:rPr>
              <a:t>التوليد</a:t>
            </a:r>
            <a:endParaRPr lang="ar-SA" sz="1700" dirty="0"/>
          </a:p>
        </p:txBody>
      </p:sp>
      <p:sp>
        <p:nvSpPr>
          <p:cNvPr id="17" name="Text 10"/>
          <p:cNvSpPr txBox="1"/>
          <p:nvPr/>
        </p:nvSpPr>
        <p:spPr>
          <a:xfrm>
            <a:off x="7315017" y="3383280"/>
            <a:ext cx="1999427" cy="777240"/>
          </a:xfrm>
          <a:prstGeom prst="rect">
            <a:avLst/>
          </a:prstGeom>
          <a:noFill/>
          <a:ln/>
        </p:spPr>
        <p:txBody>
          <a:bodyPr wrap="square" lIns="0" tIns="0" rIns="0" bIns="0" rtlCol="0" anchor="t"/>
          <a:lstStyle/>
          <a:p>
            <a:pPr rtl="1" algn="ctr" indent="0" marL="0">
              <a:lnSpc>
                <a:spcPct val="100000"/>
              </a:lnSpc>
              <a:buNone/>
            </a:pPr>
            <a:r>
              <a:rPr lang="ar-SA" altLang="en-US" sz="1300" dirty="0">
                <a:solidFill>
                  <a:srgbClr val="C9CCC8"/>
                </a:solidFill>
                <a:latin typeface="IBM Plex Sans Arabic" pitchFamily="34" charset="0"/>
                <a:ea typeface="IBM Plex Sans Arabic" pitchFamily="34" charset="-122"/>
                <a:cs typeface="IBM Plex Sans Arabic" pitchFamily="34" charset="-120"/>
              </a:rPr>
              <a:t>لقطات من نص أو إطارات أو صور مرجعية</a:t>
            </a:r>
            <a:endParaRPr lang="ar-SA" sz="1300" dirty="0"/>
          </a:p>
        </p:txBody>
      </p:sp>
      <p:sp>
        <p:nvSpPr>
          <p:cNvPr id="18" name="Text 11"/>
          <p:cNvSpPr txBox="1"/>
          <p:nvPr/>
        </p:nvSpPr>
        <p:spPr>
          <a:xfrm>
            <a:off x="7296729" y="4251960"/>
            <a:ext cx="2036003" cy="457200"/>
          </a:xfrm>
          <a:prstGeom prst="rect">
            <a:avLst/>
          </a:prstGeom>
          <a:noFill/>
          <a:ln/>
        </p:spPr>
        <p:txBody>
          <a:bodyPr wrap="square" lIns="0" tIns="0" rIns="0" bIns="0" rtlCol="0" anchor="t"/>
          <a:lstStyle/>
          <a:p>
            <a:pPr algn="ctr" indent="0" marL="0">
              <a:lnSpc>
                <a:spcPct val="100000"/>
              </a:lnSpc>
              <a:buNone/>
            </a:pPr>
            <a:r>
              <a:rPr lang="ar-SA" altLang="en-US" sz="1200" b="1" dirty="0">
                <a:solidFill>
                  <a:srgbClr val="A6D04B"/>
                </a:solidFill>
                <a:latin typeface="IBM Plex Sans Arabic" pitchFamily="34" charset="0"/>
                <a:ea typeface="IBM Plex Sans Arabic" pitchFamily="34" charset="-122"/>
                <a:cs typeface="IBM Plex Sans Arabic" pitchFamily="34" charset="-120"/>
              </a:rPr>
              <a:t>Google Flow · Runway</a:t>
            </a:r>
            <a:endParaRPr lang="ar-SA" sz="1200" dirty="0"/>
          </a:p>
        </p:txBody>
      </p:sp>
      <p:pic>
        <p:nvPicPr>
          <p:cNvPr id="19" name="Image 5" descr="preencoded.png">    </p:cNvPr>
          <p:cNvPicPr>
            <a:picLocks noChangeAspect="1"/>
          </p:cNvPicPr>
          <p:nvPr/>
        </p:nvPicPr>
        <p:blipFill>
          <a:blip r:embed="rId6"/>
          <a:stretch>
            <a:fillRect/>
          </a:stretch>
        </p:blipFill>
        <p:spPr>
          <a:xfrm>
            <a:off x="4803526" y="2148840"/>
            <a:ext cx="365760" cy="365760"/>
          </a:xfrm>
          <a:prstGeom prst="rect">
            <a:avLst/>
          </a:prstGeom>
        </p:spPr>
      </p:pic>
      <p:sp>
        <p:nvSpPr>
          <p:cNvPr id="20" name="Shape 12"/>
          <p:cNvSpPr/>
          <p:nvPr/>
        </p:nvSpPr>
        <p:spPr>
          <a:xfrm>
            <a:off x="5638648" y="1874520"/>
            <a:ext cx="914400" cy="914400"/>
          </a:xfrm>
          <a:prstGeom prst="ellipse">
            <a:avLst/>
          </a:prstGeom>
          <a:solidFill>
            <a:srgbClr val="4DB449"/>
          </a:solidFill>
          <a:ln w="12700">
            <a:solidFill>
              <a:srgbClr val="4DB449"/>
            </a:solidFill>
            <a:prstDash val="solid"/>
          </a:ln>
        </p:spPr>
      </p:sp>
      <p:pic>
        <p:nvPicPr>
          <p:cNvPr id="21" name="Image 6" descr="preencoded.png">    </p:cNvPr>
          <p:cNvPicPr>
            <a:picLocks noChangeAspect="1"/>
          </p:cNvPicPr>
          <p:nvPr/>
        </p:nvPicPr>
        <p:blipFill>
          <a:blip r:embed="rId7"/>
          <a:stretch>
            <a:fillRect/>
          </a:stretch>
        </p:blipFill>
        <p:spPr>
          <a:xfrm>
            <a:off x="5867248" y="2103120"/>
            <a:ext cx="457200" cy="457200"/>
          </a:xfrm>
          <a:prstGeom prst="rect">
            <a:avLst/>
          </a:prstGeom>
        </p:spPr>
      </p:pic>
      <p:sp>
        <p:nvSpPr>
          <p:cNvPr id="22" name="Text 13"/>
          <p:cNvSpPr txBox="1"/>
          <p:nvPr/>
        </p:nvSpPr>
        <p:spPr>
          <a:xfrm>
            <a:off x="5077846" y="2971800"/>
            <a:ext cx="2036003" cy="384048"/>
          </a:xfrm>
          <a:prstGeom prst="rect">
            <a:avLst/>
          </a:prstGeom>
          <a:noFill/>
          <a:ln/>
        </p:spPr>
        <p:txBody>
          <a:bodyPr wrap="square" lIns="0" tIns="0" rIns="0" bIns="0" rtlCol="0" anchor="t"/>
          <a:lstStyle/>
          <a:p>
            <a:pPr rtl="1" algn="ctr" indent="0" marL="0">
              <a:lnSpc>
                <a:spcPct val="100000"/>
              </a:lnSpc>
              <a:buNone/>
            </a:pPr>
            <a:r>
              <a:rPr lang="ar-SA" altLang="en-US" sz="1700" b="1" dirty="0">
                <a:solidFill>
                  <a:srgbClr val="FFFFFF"/>
                </a:solidFill>
                <a:latin typeface="Cairo" pitchFamily="34" charset="0"/>
                <a:ea typeface="Cairo" pitchFamily="34" charset="-122"/>
                <a:cs typeface="Cairo" pitchFamily="34" charset="-120"/>
              </a:rPr>
              <a:t>المونتاج</a:t>
            </a:r>
            <a:endParaRPr lang="ar-SA" sz="1700" dirty="0"/>
          </a:p>
        </p:txBody>
      </p:sp>
      <p:sp>
        <p:nvSpPr>
          <p:cNvPr id="23" name="Text 14"/>
          <p:cNvSpPr txBox="1"/>
          <p:nvPr/>
        </p:nvSpPr>
        <p:spPr>
          <a:xfrm>
            <a:off x="5096134" y="3383280"/>
            <a:ext cx="1999427" cy="777240"/>
          </a:xfrm>
          <a:prstGeom prst="rect">
            <a:avLst/>
          </a:prstGeom>
          <a:noFill/>
          <a:ln/>
        </p:spPr>
        <p:txBody>
          <a:bodyPr wrap="square" lIns="0" tIns="0" rIns="0" bIns="0" rtlCol="0" anchor="t"/>
          <a:lstStyle/>
          <a:p>
            <a:pPr rtl="1" algn="ctr" indent="0" marL="0">
              <a:lnSpc>
                <a:spcPct val="100000"/>
              </a:lnSpc>
              <a:buNone/>
            </a:pPr>
            <a:r>
              <a:rPr lang="ar-SA" altLang="en-US" sz="1300" dirty="0">
                <a:solidFill>
                  <a:srgbClr val="C9CCC8"/>
                </a:solidFill>
                <a:latin typeface="IBM Plex Sans Arabic" pitchFamily="34" charset="0"/>
                <a:ea typeface="IBM Plex Sans Arabic" pitchFamily="34" charset="-122"/>
                <a:cs typeface="IBM Plex Sans Arabic" pitchFamily="34" charset="-120"/>
              </a:rPr>
              <a:t>تحرير عبر النص، ونصوص على الشاشة، وحذف الحشو</a:t>
            </a:r>
            <a:endParaRPr lang="ar-SA" sz="1300" dirty="0"/>
          </a:p>
        </p:txBody>
      </p:sp>
      <p:sp>
        <p:nvSpPr>
          <p:cNvPr id="24" name="Text 15"/>
          <p:cNvSpPr txBox="1"/>
          <p:nvPr/>
        </p:nvSpPr>
        <p:spPr>
          <a:xfrm>
            <a:off x="5077846" y="4251960"/>
            <a:ext cx="2036003" cy="457200"/>
          </a:xfrm>
          <a:prstGeom prst="rect">
            <a:avLst/>
          </a:prstGeom>
          <a:noFill/>
          <a:ln/>
        </p:spPr>
        <p:txBody>
          <a:bodyPr wrap="square" lIns="0" tIns="0" rIns="0" bIns="0" rtlCol="0" anchor="t"/>
          <a:lstStyle/>
          <a:p>
            <a:pPr algn="ctr" indent="0" marL="0">
              <a:lnSpc>
                <a:spcPct val="100000"/>
              </a:lnSpc>
              <a:buNone/>
            </a:pPr>
            <a:r>
              <a:rPr lang="ar-SA" altLang="en-US" sz="1200" b="1" dirty="0">
                <a:solidFill>
                  <a:srgbClr val="A6D04B"/>
                </a:solidFill>
                <a:latin typeface="IBM Plex Sans Arabic" pitchFamily="34" charset="0"/>
                <a:ea typeface="IBM Plex Sans Arabic" pitchFamily="34" charset="-122"/>
                <a:cs typeface="IBM Plex Sans Arabic" pitchFamily="34" charset="-120"/>
              </a:rPr>
              <a:t>Descript · CapCut</a:t>
            </a:r>
            <a:endParaRPr lang="ar-SA" sz="1200" dirty="0"/>
          </a:p>
        </p:txBody>
      </p:sp>
      <p:pic>
        <p:nvPicPr>
          <p:cNvPr id="25" name="Image 7" descr="preencoded.png">    </p:cNvPr>
          <p:cNvPicPr>
            <a:picLocks noChangeAspect="1"/>
          </p:cNvPicPr>
          <p:nvPr/>
        </p:nvPicPr>
        <p:blipFill>
          <a:blip r:embed="rId8"/>
          <a:stretch>
            <a:fillRect/>
          </a:stretch>
        </p:blipFill>
        <p:spPr>
          <a:xfrm>
            <a:off x="2584643" y="2148840"/>
            <a:ext cx="365760" cy="365760"/>
          </a:xfrm>
          <a:prstGeom prst="rect">
            <a:avLst/>
          </a:prstGeom>
        </p:spPr>
      </p:pic>
      <p:sp>
        <p:nvSpPr>
          <p:cNvPr id="26" name="Shape 16"/>
          <p:cNvSpPr/>
          <p:nvPr/>
        </p:nvSpPr>
        <p:spPr>
          <a:xfrm>
            <a:off x="3419765" y="1874520"/>
            <a:ext cx="914400" cy="914400"/>
          </a:xfrm>
          <a:prstGeom prst="ellipse">
            <a:avLst/>
          </a:prstGeom>
          <a:solidFill>
            <a:srgbClr val="A6D04B"/>
          </a:solidFill>
          <a:ln w="12700">
            <a:solidFill>
              <a:srgbClr val="A6D04B"/>
            </a:solidFill>
            <a:prstDash val="solid"/>
          </a:ln>
        </p:spPr>
      </p:sp>
      <p:pic>
        <p:nvPicPr>
          <p:cNvPr id="27" name="Image 8" descr="preencoded.png">    </p:cNvPr>
          <p:cNvPicPr>
            <a:picLocks noChangeAspect="1"/>
          </p:cNvPicPr>
          <p:nvPr/>
        </p:nvPicPr>
        <p:blipFill>
          <a:blip r:embed="rId9"/>
          <a:stretch>
            <a:fillRect/>
          </a:stretch>
        </p:blipFill>
        <p:spPr>
          <a:xfrm>
            <a:off x="3648365" y="2103120"/>
            <a:ext cx="457200" cy="457200"/>
          </a:xfrm>
          <a:prstGeom prst="rect">
            <a:avLst/>
          </a:prstGeom>
        </p:spPr>
      </p:pic>
      <p:sp>
        <p:nvSpPr>
          <p:cNvPr id="28" name="Text 17"/>
          <p:cNvSpPr txBox="1"/>
          <p:nvPr/>
        </p:nvSpPr>
        <p:spPr>
          <a:xfrm>
            <a:off x="2858963" y="2971800"/>
            <a:ext cx="2036003" cy="384048"/>
          </a:xfrm>
          <a:prstGeom prst="rect">
            <a:avLst/>
          </a:prstGeom>
          <a:noFill/>
          <a:ln/>
        </p:spPr>
        <p:txBody>
          <a:bodyPr wrap="square" lIns="0" tIns="0" rIns="0" bIns="0" rtlCol="0" anchor="t"/>
          <a:lstStyle/>
          <a:p>
            <a:pPr rtl="1" algn="ctr" indent="0" marL="0">
              <a:lnSpc>
                <a:spcPct val="100000"/>
              </a:lnSpc>
              <a:buNone/>
            </a:pPr>
            <a:r>
              <a:rPr lang="ar-SA" altLang="en-US" sz="1700" b="1" dirty="0">
                <a:solidFill>
                  <a:srgbClr val="FFFFFF"/>
                </a:solidFill>
                <a:latin typeface="Cairo" pitchFamily="34" charset="0"/>
                <a:ea typeface="Cairo" pitchFamily="34" charset="-122"/>
                <a:cs typeface="Cairo" pitchFamily="34" charset="-120"/>
              </a:rPr>
              <a:t>التحريك</a:t>
            </a:r>
            <a:endParaRPr lang="ar-SA" sz="1700" dirty="0"/>
          </a:p>
        </p:txBody>
      </p:sp>
      <p:sp>
        <p:nvSpPr>
          <p:cNvPr id="29" name="Text 18"/>
          <p:cNvSpPr txBox="1"/>
          <p:nvPr/>
        </p:nvSpPr>
        <p:spPr>
          <a:xfrm>
            <a:off x="2877251" y="3383280"/>
            <a:ext cx="1999427" cy="777240"/>
          </a:xfrm>
          <a:prstGeom prst="rect">
            <a:avLst/>
          </a:prstGeom>
          <a:noFill/>
          <a:ln/>
        </p:spPr>
        <p:txBody>
          <a:bodyPr wrap="square" lIns="0" tIns="0" rIns="0" bIns="0" rtlCol="0" anchor="t"/>
          <a:lstStyle/>
          <a:p>
            <a:pPr rtl="1" algn="ctr" indent="0" marL="0">
              <a:lnSpc>
                <a:spcPct val="100000"/>
              </a:lnSpc>
              <a:buNone/>
            </a:pPr>
            <a:r>
              <a:rPr lang="ar-SA" altLang="en-US" sz="1300" dirty="0">
                <a:solidFill>
                  <a:srgbClr val="C9CCC8"/>
                </a:solidFill>
                <a:latin typeface="IBM Plex Sans Arabic" pitchFamily="34" charset="0"/>
                <a:ea typeface="IBM Plex Sans Arabic" pitchFamily="34" charset="-122"/>
                <a:cs typeface="IBM Plex Sans Arabic" pitchFamily="34" charset="-120"/>
              </a:rPr>
              <a:t>عناوين متحركة ومنشورات حركة</a:t>
            </a:r>
            <a:endParaRPr lang="ar-SA" sz="1300" dirty="0"/>
          </a:p>
        </p:txBody>
      </p:sp>
      <p:sp>
        <p:nvSpPr>
          <p:cNvPr id="30" name="Text 19"/>
          <p:cNvSpPr txBox="1"/>
          <p:nvPr/>
        </p:nvSpPr>
        <p:spPr>
          <a:xfrm>
            <a:off x="2858963" y="4251960"/>
            <a:ext cx="2036003" cy="457200"/>
          </a:xfrm>
          <a:prstGeom prst="rect">
            <a:avLst/>
          </a:prstGeom>
          <a:noFill/>
          <a:ln/>
        </p:spPr>
        <p:txBody>
          <a:bodyPr wrap="square" lIns="0" tIns="0" rIns="0" bIns="0" rtlCol="0" anchor="t"/>
          <a:lstStyle/>
          <a:p>
            <a:pPr algn="ctr" indent="0" marL="0">
              <a:lnSpc>
                <a:spcPct val="100000"/>
              </a:lnSpc>
              <a:buNone/>
            </a:pPr>
            <a:r>
              <a:rPr lang="ar-SA" altLang="en-US" sz="1200" b="1" dirty="0">
                <a:solidFill>
                  <a:srgbClr val="A6D04B"/>
                </a:solidFill>
                <a:latin typeface="IBM Plex Sans Arabic" pitchFamily="34" charset="0"/>
                <a:ea typeface="IBM Plex Sans Arabic" pitchFamily="34" charset="-122"/>
                <a:cs typeface="IBM Plex Sans Arabic" pitchFamily="34" charset="-120"/>
              </a:rPr>
              <a:t>Canva · Runway · CapCut</a:t>
            </a:r>
            <a:endParaRPr lang="ar-SA" sz="1200" dirty="0"/>
          </a:p>
        </p:txBody>
      </p:sp>
      <p:sp>
        <p:nvSpPr>
          <p:cNvPr id="31" name="Shape 20"/>
          <p:cNvSpPr/>
          <p:nvPr/>
        </p:nvSpPr>
        <p:spPr>
          <a:xfrm>
            <a:off x="1200882" y="1874520"/>
            <a:ext cx="914400" cy="914400"/>
          </a:xfrm>
          <a:prstGeom prst="ellipse">
            <a:avLst/>
          </a:prstGeom>
          <a:solidFill>
            <a:srgbClr val="4DB449"/>
          </a:solidFill>
          <a:ln w="12700">
            <a:solidFill>
              <a:srgbClr val="4DB449"/>
            </a:solidFill>
            <a:prstDash val="solid"/>
          </a:ln>
        </p:spPr>
      </p:sp>
      <p:pic>
        <p:nvPicPr>
          <p:cNvPr id="32" name="Image 9" descr="preencoded.png">    </p:cNvPr>
          <p:cNvPicPr>
            <a:picLocks noChangeAspect="1"/>
          </p:cNvPicPr>
          <p:nvPr/>
        </p:nvPicPr>
        <p:blipFill>
          <a:blip r:embed="rId10"/>
          <a:stretch>
            <a:fillRect/>
          </a:stretch>
        </p:blipFill>
        <p:spPr>
          <a:xfrm>
            <a:off x="1429482" y="2103120"/>
            <a:ext cx="457200" cy="457200"/>
          </a:xfrm>
          <a:prstGeom prst="rect">
            <a:avLst/>
          </a:prstGeom>
        </p:spPr>
      </p:pic>
      <p:sp>
        <p:nvSpPr>
          <p:cNvPr id="33" name="Text 21"/>
          <p:cNvSpPr txBox="1"/>
          <p:nvPr/>
        </p:nvSpPr>
        <p:spPr>
          <a:xfrm>
            <a:off x="640080" y="2971800"/>
            <a:ext cx="2036003" cy="384048"/>
          </a:xfrm>
          <a:prstGeom prst="rect">
            <a:avLst/>
          </a:prstGeom>
          <a:noFill/>
          <a:ln/>
        </p:spPr>
        <p:txBody>
          <a:bodyPr wrap="square" lIns="0" tIns="0" rIns="0" bIns="0" rtlCol="0" anchor="t"/>
          <a:lstStyle/>
          <a:p>
            <a:pPr rtl="1" algn="ctr" indent="0" marL="0">
              <a:lnSpc>
                <a:spcPct val="100000"/>
              </a:lnSpc>
              <a:buNone/>
            </a:pPr>
            <a:r>
              <a:rPr lang="ar-SA" altLang="en-US" sz="1700" b="1" dirty="0">
                <a:solidFill>
                  <a:srgbClr val="FFFFFF"/>
                </a:solidFill>
                <a:latin typeface="Cairo" pitchFamily="34" charset="0"/>
                <a:ea typeface="Cairo" pitchFamily="34" charset="-122"/>
                <a:cs typeface="Cairo" pitchFamily="34" charset="-120"/>
              </a:rPr>
              <a:t>حركة بالكود</a:t>
            </a:r>
            <a:endParaRPr lang="ar-SA" sz="1700" dirty="0"/>
          </a:p>
        </p:txBody>
      </p:sp>
      <p:sp>
        <p:nvSpPr>
          <p:cNvPr id="34" name="Text 22"/>
          <p:cNvSpPr txBox="1"/>
          <p:nvPr/>
        </p:nvSpPr>
        <p:spPr>
          <a:xfrm>
            <a:off x="658368" y="3383280"/>
            <a:ext cx="1999427" cy="777240"/>
          </a:xfrm>
          <a:prstGeom prst="rect">
            <a:avLst/>
          </a:prstGeom>
          <a:noFill/>
          <a:ln/>
        </p:spPr>
        <p:txBody>
          <a:bodyPr wrap="square" lIns="0" tIns="0" rIns="0" bIns="0" rtlCol="0" anchor="t"/>
          <a:lstStyle/>
          <a:p>
            <a:pPr rtl="1" algn="ctr" indent="0" marL="0">
              <a:lnSpc>
                <a:spcPct val="100000"/>
              </a:lnSpc>
              <a:buNone/>
            </a:pPr>
            <a:r>
              <a:rPr lang="ar-SA" altLang="en-US" sz="1300" dirty="0">
                <a:solidFill>
                  <a:srgbClr val="C9CCC8"/>
                </a:solidFill>
                <a:latin typeface="IBM Plex Sans Arabic" pitchFamily="34" charset="0"/>
                <a:ea typeface="IBM Plex Sans Arabic" pitchFamily="34" charset="-122"/>
                <a:cs typeface="IBM Plex Sans Arabic" pitchFamily="34" charset="-120"/>
              </a:rPr>
              <a:t>موشن جرافيك يُصدَّر من الكود</a:t>
            </a:r>
            <a:endParaRPr lang="ar-SA" sz="1300" dirty="0"/>
          </a:p>
        </p:txBody>
      </p:sp>
      <p:sp>
        <p:nvSpPr>
          <p:cNvPr id="35" name="Text 23"/>
          <p:cNvSpPr txBox="1"/>
          <p:nvPr/>
        </p:nvSpPr>
        <p:spPr>
          <a:xfrm>
            <a:off x="640080" y="4251960"/>
            <a:ext cx="2036003" cy="457200"/>
          </a:xfrm>
          <a:prstGeom prst="rect">
            <a:avLst/>
          </a:prstGeom>
          <a:noFill/>
          <a:ln/>
        </p:spPr>
        <p:txBody>
          <a:bodyPr wrap="square" lIns="0" tIns="0" rIns="0" bIns="0" rtlCol="0" anchor="t"/>
          <a:lstStyle/>
          <a:p>
            <a:pPr algn="ctr" indent="0" marL="0">
              <a:lnSpc>
                <a:spcPct val="100000"/>
              </a:lnSpc>
              <a:buNone/>
            </a:pPr>
            <a:r>
              <a:rPr lang="ar-SA" altLang="en-US" sz="1200" b="1" dirty="0">
                <a:solidFill>
                  <a:srgbClr val="A6D04B"/>
                </a:solidFill>
                <a:latin typeface="IBM Plex Sans Arabic" pitchFamily="34" charset="0"/>
                <a:ea typeface="IBM Plex Sans Arabic" pitchFamily="34" charset="-122"/>
                <a:cs typeface="IBM Plex Sans Arabic" pitchFamily="34" charset="-120"/>
              </a:rPr>
              <a:t>Claude Code · Remotion</a:t>
            </a:r>
            <a:endParaRPr lang="ar-SA" sz="1200" dirty="0"/>
          </a:p>
        </p:txBody>
      </p:sp>
      <p:sp>
        <p:nvSpPr>
          <p:cNvPr id="36" name="Shape 24"/>
          <p:cNvSpPr/>
          <p:nvPr/>
        </p:nvSpPr>
        <p:spPr>
          <a:xfrm>
            <a:off x="548640" y="5257800"/>
            <a:ext cx="11094415" cy="566928"/>
          </a:xfrm>
          <a:prstGeom prst="roundRect">
            <a:avLst>
              <a:gd name="adj" fmla="val 16129"/>
            </a:avLst>
          </a:prstGeom>
          <a:solidFill>
            <a:srgbClr val="161816"/>
          </a:solidFill>
          <a:ln w="9525">
            <a:solidFill>
              <a:srgbClr val="3A3D39"/>
            </a:solidFill>
            <a:prstDash val="solid"/>
          </a:ln>
        </p:spPr>
      </p:sp>
      <p:sp>
        <p:nvSpPr>
          <p:cNvPr id="37" name="Text 25"/>
          <p:cNvSpPr txBox="1"/>
          <p:nvPr/>
        </p:nvSpPr>
        <p:spPr>
          <a:xfrm>
            <a:off x="822960" y="5257800"/>
            <a:ext cx="10545775" cy="566928"/>
          </a:xfrm>
          <a:prstGeom prst="rect">
            <a:avLst/>
          </a:prstGeom>
          <a:noFill/>
          <a:ln/>
        </p:spPr>
        <p:txBody>
          <a:bodyPr wrap="square" lIns="0" tIns="0" rIns="0" bIns="0" rtlCol="0" anchor="ctr"/>
          <a:lstStyle/>
          <a:p>
            <a:pPr rtl="1" algn="r" indent="0" marL="0">
              <a:lnSpc>
                <a:spcPct val="100000"/>
              </a:lnSpc>
              <a:buNone/>
            </a:pPr>
            <a:r>
              <a:rPr lang="ar-SA" altLang="en-US" sz="1400" b="1" dirty="0">
                <a:solidFill>
                  <a:srgbClr val="FFFFFF"/>
                </a:solidFill>
                <a:latin typeface="IBM Plex Sans Arabic" pitchFamily="34" charset="0"/>
                <a:ea typeface="IBM Plex Sans Arabic" pitchFamily="34" charset="-122"/>
                <a:cs typeface="IBM Plex Sans Arabic" pitchFamily="34" charset="-120"/>
              </a:rPr>
              <a:t>المُخرَج: فيديو مدته من 45 إلى 60 ثانية مع نصوص، وعنوان متحرك، ومقطع موشن جرافيك مُصدَّر</a:t>
            </a:r>
            <a:endParaRPr lang="ar-SA"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Green Circle logo">    </p:cNvPr>
          <p:cNvPicPr>
            <a:picLocks noChangeAspect="1"/>
          </p:cNvPicPr>
          <p:nvPr/>
        </p:nvPicPr>
        <p:blipFill>
          <a:blip r:embed="rId1"/>
          <a:stretch>
            <a:fillRect/>
          </a:stretch>
        </p:blipFill>
        <p:spPr>
          <a:xfrm>
            <a:off x="548640" y="384048"/>
            <a:ext cx="1286501" cy="457200"/>
          </a:xfrm>
          <a:prstGeom prst="rect">
            <a:avLst/>
          </a:prstGeom>
        </p:spPr>
      </p:pic>
      <p:sp>
        <p:nvSpPr>
          <p:cNvPr id="3" name="Text 0"/>
          <p:cNvSpPr txBox="1"/>
          <p:nvPr/>
        </p:nvSpPr>
        <p:spPr>
          <a:xfrm>
            <a:off x="5242255" y="6446520"/>
            <a:ext cx="6400800" cy="228600"/>
          </a:xfrm>
          <a:prstGeom prst="rect">
            <a:avLst/>
          </a:prstGeom>
          <a:noFill/>
          <a:ln/>
        </p:spPr>
        <p:txBody>
          <a:bodyPr wrap="square" lIns="0" tIns="0" rIns="0" bIns="0" rtlCol="0" anchor="t"/>
          <a:lstStyle/>
          <a:p>
            <a:pPr rtl="1" algn="r" indent="0" marL="0">
              <a:lnSpc>
                <a:spcPct val="100000"/>
              </a:lnSpc>
              <a:buNone/>
            </a:pPr>
            <a:r>
              <a:rPr lang="ar-SA" altLang="en-US" sz="900" dirty="0">
                <a:solidFill>
                  <a:srgbClr val="727274"/>
                </a:solidFill>
                <a:latin typeface="IBM Plex Sans Arabic" pitchFamily="34" charset="0"/>
                <a:ea typeface="IBM Plex Sans Arabic" pitchFamily="34" charset="-122"/>
                <a:cs typeface="IBM Plex Sans Arabic" pitchFamily="34" charset="-120"/>
              </a:rPr>
              <a:t>برنامج صُنّاع المحتوى بالذكاء الاصطناعي · مذكرة مفاهيمية</a:t>
            </a:r>
            <a:endParaRPr lang="ar-SA" sz="900" dirty="0"/>
          </a:p>
        </p:txBody>
      </p:sp>
      <p:sp>
        <p:nvSpPr>
          <p:cNvPr id="4" name="Text 1"/>
          <p:cNvSpPr txBox="1"/>
          <p:nvPr/>
        </p:nvSpPr>
        <p:spPr>
          <a:xfrm>
            <a:off x="548640" y="6446520"/>
            <a:ext cx="548640" cy="228600"/>
          </a:xfrm>
          <a:prstGeom prst="rect">
            <a:avLst/>
          </a:prstGeom>
          <a:noFill/>
          <a:ln/>
        </p:spPr>
        <p:txBody>
          <a:bodyPr wrap="square" lIns="0" tIns="0" rIns="0" bIns="0" rtlCol="0" anchor="t"/>
          <a:lstStyle/>
          <a:p>
            <a:pPr rtl="1" algn="l" indent="0" marL="0">
              <a:lnSpc>
                <a:spcPct val="100000"/>
              </a:lnSpc>
              <a:buNone/>
            </a:pPr>
            <a:r>
              <a:rPr lang="ar-SA" altLang="en-US" sz="900" dirty="0">
                <a:solidFill>
                  <a:srgbClr val="727274"/>
                </a:solidFill>
                <a:latin typeface="IBM Plex Sans Arabic" pitchFamily="34" charset="0"/>
                <a:ea typeface="IBM Plex Sans Arabic" pitchFamily="34" charset="-122"/>
                <a:cs typeface="IBM Plex Sans Arabic" pitchFamily="34" charset="-120"/>
              </a:rPr>
              <a:t>13</a:t>
            </a:r>
            <a:endParaRPr lang="ar-SA" sz="900" dirty="0"/>
          </a:p>
        </p:txBody>
      </p:sp>
      <p:sp>
        <p:nvSpPr>
          <p:cNvPr id="5" name="Text 2"/>
          <p:cNvSpPr txBox="1"/>
          <p:nvPr/>
        </p:nvSpPr>
        <p:spPr>
          <a:xfrm>
            <a:off x="2681935" y="384048"/>
            <a:ext cx="8961120" cy="274320"/>
          </a:xfrm>
          <a:prstGeom prst="rect">
            <a:avLst/>
          </a:prstGeom>
          <a:noFill/>
          <a:ln/>
        </p:spPr>
        <p:txBody>
          <a:bodyPr wrap="square" lIns="0" tIns="0" rIns="0" bIns="0" rtlCol="0" anchor="t"/>
          <a:lstStyle/>
          <a:p>
            <a:pPr rtl="1" algn="r" indent="0" marL="0">
              <a:lnSpc>
                <a:spcPct val="100000"/>
              </a:lnSpc>
              <a:buNone/>
            </a:pPr>
            <a:r>
              <a:rPr lang="ar-SA" altLang="en-US" sz="1100" b="1" dirty="0">
                <a:solidFill>
                  <a:srgbClr val="727274"/>
                </a:solidFill>
                <a:latin typeface="IBM Plex Sans Arabic" pitchFamily="34" charset="0"/>
                <a:ea typeface="IBM Plex Sans Arabic" pitchFamily="34" charset="-122"/>
                <a:cs typeface="IBM Plex Sans Arabic" pitchFamily="34" charset="-120"/>
              </a:rPr>
              <a:t>12 · التعليق الصوتي والصوتيات</a:t>
            </a:r>
            <a:endParaRPr lang="ar-SA" sz="1100" dirty="0"/>
          </a:p>
        </p:txBody>
      </p:sp>
      <p:sp>
        <p:nvSpPr>
          <p:cNvPr id="6" name="Text 3"/>
          <p:cNvSpPr txBox="1"/>
          <p:nvPr/>
        </p:nvSpPr>
        <p:spPr>
          <a:xfrm>
            <a:off x="2224735" y="676656"/>
            <a:ext cx="9418320" cy="914400"/>
          </a:xfrm>
          <a:prstGeom prst="rect">
            <a:avLst/>
          </a:prstGeom>
          <a:noFill/>
          <a:ln/>
        </p:spPr>
        <p:txBody>
          <a:bodyPr wrap="square" lIns="0" tIns="0" rIns="0" bIns="0" rtlCol="0" anchor="t"/>
          <a:lstStyle/>
          <a:p>
            <a:pPr rtl="1" algn="r" indent="0" marL="0">
              <a:lnSpc>
                <a:spcPct val="95000"/>
              </a:lnSpc>
              <a:buNone/>
            </a:pPr>
            <a:r>
              <a:rPr lang="ar-SA" altLang="en-US" sz="2600" b="1" dirty="0">
                <a:solidFill>
                  <a:srgbClr val="1A1A1A"/>
                </a:solidFill>
                <a:latin typeface="Cairo" pitchFamily="34" charset="0"/>
                <a:ea typeface="Cairo" pitchFamily="34" charset="-122"/>
                <a:cs typeface="Cairo" pitchFamily="34" charset="-120"/>
              </a:rPr>
              <a:t>منح الفيديو صوتاً وموسيقى</a:t>
            </a:r>
            <a:endParaRPr lang="ar-SA" sz="2600" dirty="0"/>
          </a:p>
        </p:txBody>
      </p:sp>
      <p:sp>
        <p:nvSpPr>
          <p:cNvPr id="7" name="Shape 4"/>
          <p:cNvSpPr/>
          <p:nvPr/>
        </p:nvSpPr>
        <p:spPr>
          <a:xfrm>
            <a:off x="6233008" y="1783080"/>
            <a:ext cx="5410048" cy="1691640"/>
          </a:xfrm>
          <a:prstGeom prst="roundRect">
            <a:avLst>
              <a:gd name="adj" fmla="val 6486"/>
            </a:avLst>
          </a:prstGeom>
          <a:solidFill>
            <a:srgbClr val="000000"/>
          </a:solidFill>
          <a:ln w="12700">
            <a:solidFill>
              <a:srgbClr val="000000"/>
            </a:solidFill>
            <a:prstDash val="solid"/>
          </a:ln>
        </p:spPr>
      </p:sp>
      <p:sp>
        <p:nvSpPr>
          <p:cNvPr id="8" name="Shape 5"/>
          <p:cNvSpPr/>
          <p:nvPr/>
        </p:nvSpPr>
        <p:spPr>
          <a:xfrm>
            <a:off x="10710367" y="2075688"/>
            <a:ext cx="658368" cy="658368"/>
          </a:xfrm>
          <a:prstGeom prst="ellipse">
            <a:avLst/>
          </a:prstGeom>
          <a:solidFill>
            <a:srgbClr val="A6D04B"/>
          </a:solidFill>
          <a:ln w="6350">
            <a:solidFill>
              <a:srgbClr val="A6D04B"/>
            </a:solidFill>
            <a:prstDash val="solid"/>
          </a:ln>
        </p:spPr>
      </p:sp>
      <p:pic>
        <p:nvPicPr>
          <p:cNvPr id="9" name="Image 1" descr="preencoded.png">    </p:cNvPr>
          <p:cNvPicPr>
            <a:picLocks noChangeAspect="1"/>
          </p:cNvPicPr>
          <p:nvPr/>
        </p:nvPicPr>
        <p:blipFill>
          <a:blip r:embed="rId2"/>
          <a:stretch>
            <a:fillRect/>
          </a:stretch>
        </p:blipFill>
        <p:spPr>
          <a:xfrm>
            <a:off x="10874959" y="2240280"/>
            <a:ext cx="329184" cy="329184"/>
          </a:xfrm>
          <a:prstGeom prst="rect">
            <a:avLst/>
          </a:prstGeom>
        </p:spPr>
      </p:pic>
      <p:sp>
        <p:nvSpPr>
          <p:cNvPr id="10" name="Text 6"/>
          <p:cNvSpPr txBox="1"/>
          <p:nvPr/>
        </p:nvSpPr>
        <p:spPr>
          <a:xfrm>
            <a:off x="6461608" y="2011680"/>
            <a:ext cx="4038448" cy="411480"/>
          </a:xfrm>
          <a:prstGeom prst="rect">
            <a:avLst/>
          </a:prstGeom>
          <a:noFill/>
          <a:ln/>
        </p:spPr>
        <p:txBody>
          <a:bodyPr wrap="square" lIns="0" tIns="0" rIns="0" bIns="0" rtlCol="0" anchor="t"/>
          <a:lstStyle/>
          <a:p>
            <a:pPr rtl="1" algn="r" indent="0" marL="0">
              <a:lnSpc>
                <a:spcPct val="100000"/>
              </a:lnSpc>
              <a:buNone/>
            </a:pPr>
            <a:r>
              <a:rPr lang="ar-SA" altLang="en-US" sz="1900" b="1" dirty="0">
                <a:solidFill>
                  <a:srgbClr val="FFFFFF"/>
                </a:solidFill>
                <a:latin typeface="Cairo" pitchFamily="34" charset="0"/>
                <a:ea typeface="Cairo" pitchFamily="34" charset="-122"/>
                <a:cs typeface="Cairo" pitchFamily="34" charset="-120"/>
              </a:rPr>
              <a:t>التعليق الصوتي</a:t>
            </a:r>
            <a:endParaRPr lang="ar-SA" sz="1900" dirty="0"/>
          </a:p>
        </p:txBody>
      </p:sp>
      <p:sp>
        <p:nvSpPr>
          <p:cNvPr id="11" name="Text 7"/>
          <p:cNvSpPr txBox="1"/>
          <p:nvPr/>
        </p:nvSpPr>
        <p:spPr>
          <a:xfrm>
            <a:off x="6461608" y="2441448"/>
            <a:ext cx="4038448" cy="594360"/>
          </a:xfrm>
          <a:prstGeom prst="rect">
            <a:avLst/>
          </a:prstGeom>
          <a:noFill/>
          <a:ln/>
        </p:spPr>
        <p:txBody>
          <a:bodyPr wrap="square" lIns="0" tIns="0" rIns="0" bIns="0" rtlCol="0" anchor="t"/>
          <a:lstStyle/>
          <a:p>
            <a:pPr rtl="1" algn="r" indent="0" marL="0">
              <a:lnSpc>
                <a:spcPct val="100000"/>
              </a:lnSpc>
              <a:buNone/>
            </a:pPr>
            <a:r>
              <a:rPr lang="ar-SA" altLang="en-US" sz="1400" dirty="0">
                <a:solidFill>
                  <a:srgbClr val="D6D8D4"/>
                </a:solidFill>
                <a:latin typeface="IBM Plex Sans Arabic" pitchFamily="34" charset="0"/>
                <a:ea typeface="IBM Plex Sans Arabic" pitchFamily="34" charset="-122"/>
                <a:cs typeface="IBM Plex Sans Arabic" pitchFamily="34" charset="-120"/>
              </a:rPr>
              <a:t>تحويل طبيعي للنص إلى كلام بالعربية والإنجليزية، مع ضبط الإيقاع من النص</a:t>
            </a:r>
            <a:endParaRPr lang="ar-SA" sz="1400" dirty="0"/>
          </a:p>
        </p:txBody>
      </p:sp>
      <p:sp>
        <p:nvSpPr>
          <p:cNvPr id="12" name="Shape 8"/>
          <p:cNvSpPr/>
          <p:nvPr/>
        </p:nvSpPr>
        <p:spPr>
          <a:xfrm>
            <a:off x="9064447" y="3044952"/>
            <a:ext cx="1435608" cy="329184"/>
          </a:xfrm>
          <a:prstGeom prst="roundRect">
            <a:avLst>
              <a:gd name="adj" fmla="val 50000"/>
            </a:avLst>
          </a:prstGeom>
          <a:solidFill>
            <a:srgbClr val="161816"/>
          </a:solidFill>
          <a:ln w="9525">
            <a:solidFill>
              <a:srgbClr val="3A3D39"/>
            </a:solidFill>
            <a:prstDash val="solid"/>
          </a:ln>
        </p:spPr>
      </p:sp>
      <p:pic>
        <p:nvPicPr>
          <p:cNvPr id="13" name="Image 2" descr="ElevenLabs logo">    </p:cNvPr>
          <p:cNvPicPr>
            <a:picLocks noChangeAspect="1"/>
          </p:cNvPicPr>
          <p:nvPr/>
        </p:nvPicPr>
        <p:blipFill>
          <a:blip r:embed="rId3"/>
          <a:stretch>
            <a:fillRect/>
          </a:stretch>
        </p:blipFill>
        <p:spPr>
          <a:xfrm>
            <a:off x="10207447" y="3127248"/>
            <a:ext cx="164592" cy="164592"/>
          </a:xfrm>
          <a:prstGeom prst="rect">
            <a:avLst/>
          </a:prstGeom>
        </p:spPr>
      </p:pic>
      <p:sp>
        <p:nvSpPr>
          <p:cNvPr id="14" name="Text 9"/>
          <p:cNvSpPr txBox="1"/>
          <p:nvPr/>
        </p:nvSpPr>
        <p:spPr>
          <a:xfrm>
            <a:off x="9174175" y="3044952"/>
            <a:ext cx="978408" cy="329184"/>
          </a:xfrm>
          <a:prstGeom prst="rect">
            <a:avLst/>
          </a:prstGeom>
          <a:noFill/>
          <a:ln/>
        </p:spPr>
        <p:txBody>
          <a:bodyPr wrap="square" lIns="0" tIns="0" rIns="0" bIns="0" rtlCol="0" anchor="ctr"/>
          <a:lstStyle/>
          <a:p>
            <a:pPr algn="r" indent="0" marL="0">
              <a:lnSpc>
                <a:spcPct val="100000"/>
              </a:lnSpc>
              <a:buNone/>
            </a:pPr>
            <a:r>
              <a:rPr lang="ar-SA" altLang="en-US" sz="1150" dirty="0">
                <a:solidFill>
                  <a:srgbClr val="FFFFFF"/>
                </a:solidFill>
                <a:latin typeface="IBM Plex Sans Arabic" pitchFamily="34" charset="0"/>
                <a:ea typeface="IBM Plex Sans Arabic" pitchFamily="34" charset="-122"/>
                <a:cs typeface="IBM Plex Sans Arabic" pitchFamily="34" charset="-120"/>
              </a:rPr>
              <a:t>ElevenLabs</a:t>
            </a:r>
            <a:endParaRPr lang="ar-SA" sz="1150" dirty="0"/>
          </a:p>
        </p:txBody>
      </p:sp>
      <p:sp>
        <p:nvSpPr>
          <p:cNvPr id="15" name="Shape 10"/>
          <p:cNvSpPr/>
          <p:nvPr/>
        </p:nvSpPr>
        <p:spPr>
          <a:xfrm>
            <a:off x="8122615" y="3044952"/>
            <a:ext cx="850392" cy="329184"/>
          </a:xfrm>
          <a:prstGeom prst="roundRect">
            <a:avLst>
              <a:gd name="adj" fmla="val 50000"/>
            </a:avLst>
          </a:prstGeom>
          <a:solidFill>
            <a:srgbClr val="161816"/>
          </a:solidFill>
          <a:ln w="9525">
            <a:solidFill>
              <a:srgbClr val="3A3D39"/>
            </a:solidFill>
            <a:prstDash val="solid"/>
          </a:ln>
        </p:spPr>
      </p:sp>
      <p:sp>
        <p:nvSpPr>
          <p:cNvPr id="16" name="Text 11"/>
          <p:cNvSpPr txBox="1"/>
          <p:nvPr/>
        </p:nvSpPr>
        <p:spPr>
          <a:xfrm>
            <a:off x="8214055" y="3044952"/>
            <a:ext cx="667512" cy="329184"/>
          </a:xfrm>
          <a:prstGeom prst="rect">
            <a:avLst/>
          </a:prstGeom>
          <a:noFill/>
          <a:ln/>
        </p:spPr>
        <p:txBody>
          <a:bodyPr wrap="square" lIns="0" tIns="0" rIns="0" bIns="0" rtlCol="0" anchor="ctr"/>
          <a:lstStyle/>
          <a:p>
            <a:pPr algn="ctr" indent="0" marL="0">
              <a:lnSpc>
                <a:spcPct val="100000"/>
              </a:lnSpc>
              <a:buNone/>
            </a:pPr>
            <a:r>
              <a:rPr lang="ar-SA" altLang="en-US" sz="1150" dirty="0">
                <a:solidFill>
                  <a:srgbClr val="FFFFFF"/>
                </a:solidFill>
                <a:latin typeface="IBM Plex Sans Arabic" pitchFamily="34" charset="0"/>
                <a:ea typeface="IBM Plex Sans Arabic" pitchFamily="34" charset="-122"/>
                <a:cs typeface="IBM Plex Sans Arabic" pitchFamily="34" charset="-120"/>
              </a:rPr>
              <a:t>CapCut</a:t>
            </a:r>
            <a:endParaRPr lang="ar-SA" sz="1150" dirty="0"/>
          </a:p>
        </p:txBody>
      </p:sp>
      <p:sp>
        <p:nvSpPr>
          <p:cNvPr id="17" name="Shape 12"/>
          <p:cNvSpPr/>
          <p:nvPr/>
        </p:nvSpPr>
        <p:spPr>
          <a:xfrm>
            <a:off x="548640" y="1783080"/>
            <a:ext cx="5410048" cy="1691640"/>
          </a:xfrm>
          <a:prstGeom prst="roundRect">
            <a:avLst>
              <a:gd name="adj" fmla="val 6486"/>
            </a:avLst>
          </a:prstGeom>
          <a:solidFill>
            <a:srgbClr val="F2F4F1"/>
          </a:solidFill>
          <a:ln w="12700">
            <a:solidFill>
              <a:srgbClr val="F2F4F1"/>
            </a:solidFill>
            <a:prstDash val="solid"/>
          </a:ln>
        </p:spPr>
      </p:sp>
      <p:sp>
        <p:nvSpPr>
          <p:cNvPr id="18" name="Shape 13"/>
          <p:cNvSpPr/>
          <p:nvPr/>
        </p:nvSpPr>
        <p:spPr>
          <a:xfrm>
            <a:off x="5026000" y="2075688"/>
            <a:ext cx="658368" cy="658368"/>
          </a:xfrm>
          <a:prstGeom prst="ellipse">
            <a:avLst/>
          </a:prstGeom>
          <a:solidFill>
            <a:srgbClr val="4DB449"/>
          </a:solidFill>
          <a:ln w="6350">
            <a:solidFill>
              <a:srgbClr val="4DB449"/>
            </a:solidFill>
            <a:prstDash val="solid"/>
          </a:ln>
        </p:spPr>
      </p:sp>
      <p:pic>
        <p:nvPicPr>
          <p:cNvPr id="19" name="Image 3" descr="preencoded.png">    </p:cNvPr>
          <p:cNvPicPr>
            <a:picLocks noChangeAspect="1"/>
          </p:cNvPicPr>
          <p:nvPr/>
        </p:nvPicPr>
        <p:blipFill>
          <a:blip r:embed="rId4"/>
          <a:stretch>
            <a:fillRect/>
          </a:stretch>
        </p:blipFill>
        <p:spPr>
          <a:xfrm>
            <a:off x="5190592" y="2240280"/>
            <a:ext cx="329184" cy="329184"/>
          </a:xfrm>
          <a:prstGeom prst="rect">
            <a:avLst/>
          </a:prstGeom>
        </p:spPr>
      </p:pic>
      <p:sp>
        <p:nvSpPr>
          <p:cNvPr id="20" name="Text 14"/>
          <p:cNvSpPr txBox="1"/>
          <p:nvPr/>
        </p:nvSpPr>
        <p:spPr>
          <a:xfrm>
            <a:off x="777240" y="2011680"/>
            <a:ext cx="4038448" cy="411480"/>
          </a:xfrm>
          <a:prstGeom prst="rect">
            <a:avLst/>
          </a:prstGeom>
          <a:noFill/>
          <a:ln/>
        </p:spPr>
        <p:txBody>
          <a:bodyPr wrap="square" lIns="0" tIns="0" rIns="0" bIns="0" rtlCol="0" anchor="t"/>
          <a:lstStyle/>
          <a:p>
            <a:pPr rtl="1" algn="r" indent="0" marL="0">
              <a:lnSpc>
                <a:spcPct val="100000"/>
              </a:lnSpc>
              <a:buNone/>
            </a:pPr>
            <a:r>
              <a:rPr lang="ar-SA" altLang="en-US" sz="1900" b="1" dirty="0">
                <a:solidFill>
                  <a:srgbClr val="1A1A1A"/>
                </a:solidFill>
                <a:latin typeface="Cairo" pitchFamily="34" charset="0"/>
                <a:ea typeface="Cairo" pitchFamily="34" charset="-122"/>
                <a:cs typeface="Cairo" pitchFamily="34" charset="-120"/>
              </a:rPr>
              <a:t>تصميم الصوت</a:t>
            </a:r>
            <a:endParaRPr lang="ar-SA" sz="1900" dirty="0"/>
          </a:p>
        </p:txBody>
      </p:sp>
      <p:sp>
        <p:nvSpPr>
          <p:cNvPr id="21" name="Text 15"/>
          <p:cNvSpPr txBox="1"/>
          <p:nvPr/>
        </p:nvSpPr>
        <p:spPr>
          <a:xfrm>
            <a:off x="777240" y="2441448"/>
            <a:ext cx="4038448" cy="594360"/>
          </a:xfrm>
          <a:prstGeom prst="rect">
            <a:avLst/>
          </a:prstGeom>
          <a:noFill/>
          <a:ln/>
        </p:spPr>
        <p:txBody>
          <a:bodyPr wrap="square" lIns="0" tIns="0" rIns="0" bIns="0" rtlCol="0" anchor="t"/>
          <a:lstStyle/>
          <a:p>
            <a:pPr rtl="1" algn="r" indent="0" marL="0">
              <a:lnSpc>
                <a:spcPct val="100000"/>
              </a:lnSpc>
              <a:buNone/>
            </a:pPr>
            <a:r>
              <a:rPr lang="ar-SA" altLang="en-US" sz="1400" dirty="0">
                <a:solidFill>
                  <a:srgbClr val="3C3E3B"/>
                </a:solidFill>
                <a:latin typeface="IBM Plex Sans Arabic" pitchFamily="34" charset="0"/>
                <a:ea typeface="IBM Plex Sans Arabic" pitchFamily="34" charset="-122"/>
                <a:cs typeface="IBM Plex Sans Arabic" pitchFamily="34" charset="-120"/>
              </a:rPr>
              <a:t>صوت يناسب العلامة، مع قواعد واضحة للموافقة عند استخدام أصوات حقيقية</a:t>
            </a:r>
            <a:endParaRPr lang="ar-SA" sz="1400" dirty="0"/>
          </a:p>
        </p:txBody>
      </p:sp>
      <p:sp>
        <p:nvSpPr>
          <p:cNvPr id="22" name="Shape 16"/>
          <p:cNvSpPr/>
          <p:nvPr/>
        </p:nvSpPr>
        <p:spPr>
          <a:xfrm>
            <a:off x="3380080" y="3044952"/>
            <a:ext cx="1435608" cy="329184"/>
          </a:xfrm>
          <a:prstGeom prst="roundRect">
            <a:avLst>
              <a:gd name="adj" fmla="val 50000"/>
            </a:avLst>
          </a:prstGeom>
          <a:solidFill>
            <a:srgbClr val="FFFFFF"/>
          </a:solidFill>
          <a:ln w="9525">
            <a:solidFill>
              <a:srgbClr val="D9DDD8"/>
            </a:solidFill>
            <a:prstDash val="solid"/>
          </a:ln>
        </p:spPr>
      </p:sp>
      <p:pic>
        <p:nvPicPr>
          <p:cNvPr id="23" name="Image 4" descr="ElevenLabs logo">    </p:cNvPr>
          <p:cNvPicPr>
            <a:picLocks noChangeAspect="1"/>
          </p:cNvPicPr>
          <p:nvPr/>
        </p:nvPicPr>
        <p:blipFill>
          <a:blip r:embed="rId5"/>
          <a:stretch>
            <a:fillRect/>
          </a:stretch>
        </p:blipFill>
        <p:spPr>
          <a:xfrm>
            <a:off x="4523080" y="3127248"/>
            <a:ext cx="164592" cy="164592"/>
          </a:xfrm>
          <a:prstGeom prst="rect">
            <a:avLst/>
          </a:prstGeom>
        </p:spPr>
      </p:pic>
      <p:sp>
        <p:nvSpPr>
          <p:cNvPr id="24" name="Text 17"/>
          <p:cNvSpPr txBox="1"/>
          <p:nvPr/>
        </p:nvSpPr>
        <p:spPr>
          <a:xfrm>
            <a:off x="3489808" y="3044952"/>
            <a:ext cx="978408" cy="329184"/>
          </a:xfrm>
          <a:prstGeom prst="rect">
            <a:avLst/>
          </a:prstGeom>
          <a:noFill/>
          <a:ln/>
        </p:spPr>
        <p:txBody>
          <a:bodyPr wrap="square" lIns="0" tIns="0" rIns="0" bIns="0" rtlCol="0" anchor="ctr"/>
          <a:lstStyle/>
          <a:p>
            <a:pPr algn="r" indent="0" marL="0">
              <a:lnSpc>
                <a:spcPct val="100000"/>
              </a:lnSpc>
              <a:buNone/>
            </a:pPr>
            <a:r>
              <a:rPr lang="ar-SA" altLang="en-US" sz="1150" dirty="0">
                <a:solidFill>
                  <a:srgbClr val="1A1A1A"/>
                </a:solidFill>
                <a:latin typeface="IBM Plex Sans Arabic" pitchFamily="34" charset="0"/>
                <a:ea typeface="IBM Plex Sans Arabic" pitchFamily="34" charset="-122"/>
                <a:cs typeface="IBM Plex Sans Arabic" pitchFamily="34" charset="-120"/>
              </a:rPr>
              <a:t>ElevenLabs</a:t>
            </a:r>
            <a:endParaRPr lang="ar-SA" sz="1150" dirty="0"/>
          </a:p>
        </p:txBody>
      </p:sp>
      <p:sp>
        <p:nvSpPr>
          <p:cNvPr id="25" name="Shape 18"/>
          <p:cNvSpPr/>
          <p:nvPr/>
        </p:nvSpPr>
        <p:spPr>
          <a:xfrm>
            <a:off x="6233008" y="3675888"/>
            <a:ext cx="5410048" cy="1691640"/>
          </a:xfrm>
          <a:prstGeom prst="roundRect">
            <a:avLst>
              <a:gd name="adj" fmla="val 6486"/>
            </a:avLst>
          </a:prstGeom>
          <a:solidFill>
            <a:srgbClr val="F2F4F1"/>
          </a:solidFill>
          <a:ln w="12700">
            <a:solidFill>
              <a:srgbClr val="F2F4F1"/>
            </a:solidFill>
            <a:prstDash val="solid"/>
          </a:ln>
        </p:spPr>
      </p:sp>
      <p:sp>
        <p:nvSpPr>
          <p:cNvPr id="26" name="Shape 19"/>
          <p:cNvSpPr/>
          <p:nvPr/>
        </p:nvSpPr>
        <p:spPr>
          <a:xfrm>
            <a:off x="10710367" y="3968496"/>
            <a:ext cx="658368" cy="658368"/>
          </a:xfrm>
          <a:prstGeom prst="ellipse">
            <a:avLst/>
          </a:prstGeom>
          <a:solidFill>
            <a:srgbClr val="4DB449"/>
          </a:solidFill>
          <a:ln w="6350">
            <a:solidFill>
              <a:srgbClr val="4DB449"/>
            </a:solidFill>
            <a:prstDash val="solid"/>
          </a:ln>
        </p:spPr>
      </p:sp>
      <p:pic>
        <p:nvPicPr>
          <p:cNvPr id="27" name="Image 5" descr="preencoded.png">    </p:cNvPr>
          <p:cNvPicPr>
            <a:picLocks noChangeAspect="1"/>
          </p:cNvPicPr>
          <p:nvPr/>
        </p:nvPicPr>
        <p:blipFill>
          <a:blip r:embed="rId6"/>
          <a:stretch>
            <a:fillRect/>
          </a:stretch>
        </p:blipFill>
        <p:spPr>
          <a:xfrm>
            <a:off x="10874959" y="4133088"/>
            <a:ext cx="329184" cy="329184"/>
          </a:xfrm>
          <a:prstGeom prst="rect">
            <a:avLst/>
          </a:prstGeom>
        </p:spPr>
      </p:pic>
      <p:sp>
        <p:nvSpPr>
          <p:cNvPr id="28" name="Text 20"/>
          <p:cNvSpPr txBox="1"/>
          <p:nvPr/>
        </p:nvSpPr>
        <p:spPr>
          <a:xfrm>
            <a:off x="6461608" y="3904488"/>
            <a:ext cx="4038448" cy="411480"/>
          </a:xfrm>
          <a:prstGeom prst="rect">
            <a:avLst/>
          </a:prstGeom>
          <a:noFill/>
          <a:ln/>
        </p:spPr>
        <p:txBody>
          <a:bodyPr wrap="square" lIns="0" tIns="0" rIns="0" bIns="0" rtlCol="0" anchor="t"/>
          <a:lstStyle/>
          <a:p>
            <a:pPr rtl="1" algn="r" indent="0" marL="0">
              <a:lnSpc>
                <a:spcPct val="100000"/>
              </a:lnSpc>
              <a:buNone/>
            </a:pPr>
            <a:r>
              <a:rPr lang="ar-SA" altLang="en-US" sz="1900" b="1" dirty="0">
                <a:solidFill>
                  <a:srgbClr val="1A1A1A"/>
                </a:solidFill>
                <a:latin typeface="Cairo" pitchFamily="34" charset="0"/>
                <a:ea typeface="Cairo" pitchFamily="34" charset="-122"/>
                <a:cs typeface="Cairo" pitchFamily="34" charset="-120"/>
              </a:rPr>
              <a:t>المؤثرات والموسيقى</a:t>
            </a:r>
            <a:endParaRPr lang="ar-SA" sz="1900" dirty="0"/>
          </a:p>
        </p:txBody>
      </p:sp>
      <p:sp>
        <p:nvSpPr>
          <p:cNvPr id="29" name="Text 21"/>
          <p:cNvSpPr txBox="1"/>
          <p:nvPr/>
        </p:nvSpPr>
        <p:spPr>
          <a:xfrm>
            <a:off x="6461608" y="4334256"/>
            <a:ext cx="4038448" cy="594360"/>
          </a:xfrm>
          <a:prstGeom prst="rect">
            <a:avLst/>
          </a:prstGeom>
          <a:noFill/>
          <a:ln/>
        </p:spPr>
        <p:txBody>
          <a:bodyPr wrap="square" lIns="0" tIns="0" rIns="0" bIns="0" rtlCol="0" anchor="t"/>
          <a:lstStyle/>
          <a:p>
            <a:pPr rtl="1" algn="r" indent="0" marL="0">
              <a:lnSpc>
                <a:spcPct val="100000"/>
              </a:lnSpc>
              <a:buNone/>
            </a:pPr>
            <a:r>
              <a:rPr lang="ar-SA" altLang="en-US" sz="1400" dirty="0">
                <a:solidFill>
                  <a:srgbClr val="3C3E3B"/>
                </a:solidFill>
                <a:latin typeface="IBM Plex Sans Arabic" pitchFamily="34" charset="0"/>
                <a:ea typeface="IBM Plex Sans Arabic" pitchFamily="34" charset="-122"/>
                <a:cs typeface="IBM Plex Sans Arabic" pitchFamily="34" charset="-120"/>
              </a:rPr>
              <a:t>تُولَّد من وصف نصي</a:t>
            </a:r>
            <a:endParaRPr lang="ar-SA" sz="1400" dirty="0"/>
          </a:p>
        </p:txBody>
      </p:sp>
      <p:sp>
        <p:nvSpPr>
          <p:cNvPr id="30" name="Shape 22"/>
          <p:cNvSpPr/>
          <p:nvPr/>
        </p:nvSpPr>
        <p:spPr>
          <a:xfrm>
            <a:off x="9064447" y="4937760"/>
            <a:ext cx="1435608" cy="329184"/>
          </a:xfrm>
          <a:prstGeom prst="roundRect">
            <a:avLst>
              <a:gd name="adj" fmla="val 50000"/>
            </a:avLst>
          </a:prstGeom>
          <a:solidFill>
            <a:srgbClr val="FFFFFF"/>
          </a:solidFill>
          <a:ln w="9525">
            <a:solidFill>
              <a:srgbClr val="D9DDD8"/>
            </a:solidFill>
            <a:prstDash val="solid"/>
          </a:ln>
        </p:spPr>
      </p:sp>
      <p:pic>
        <p:nvPicPr>
          <p:cNvPr id="31" name="Image 6" descr="ElevenLabs logo">    </p:cNvPr>
          <p:cNvPicPr>
            <a:picLocks noChangeAspect="1"/>
          </p:cNvPicPr>
          <p:nvPr/>
        </p:nvPicPr>
        <p:blipFill>
          <a:blip r:embed="rId7"/>
          <a:stretch>
            <a:fillRect/>
          </a:stretch>
        </p:blipFill>
        <p:spPr>
          <a:xfrm>
            <a:off x="10207447" y="5020056"/>
            <a:ext cx="164592" cy="164592"/>
          </a:xfrm>
          <a:prstGeom prst="rect">
            <a:avLst/>
          </a:prstGeom>
        </p:spPr>
      </p:pic>
      <p:sp>
        <p:nvSpPr>
          <p:cNvPr id="32" name="Text 23"/>
          <p:cNvSpPr txBox="1"/>
          <p:nvPr/>
        </p:nvSpPr>
        <p:spPr>
          <a:xfrm>
            <a:off x="9174175" y="4937760"/>
            <a:ext cx="978408" cy="329184"/>
          </a:xfrm>
          <a:prstGeom prst="rect">
            <a:avLst/>
          </a:prstGeom>
          <a:noFill/>
          <a:ln/>
        </p:spPr>
        <p:txBody>
          <a:bodyPr wrap="square" lIns="0" tIns="0" rIns="0" bIns="0" rtlCol="0" anchor="ctr"/>
          <a:lstStyle/>
          <a:p>
            <a:pPr algn="r" indent="0" marL="0">
              <a:lnSpc>
                <a:spcPct val="100000"/>
              </a:lnSpc>
              <a:buNone/>
            </a:pPr>
            <a:r>
              <a:rPr lang="ar-SA" altLang="en-US" sz="1150" dirty="0">
                <a:solidFill>
                  <a:srgbClr val="1A1A1A"/>
                </a:solidFill>
                <a:latin typeface="IBM Plex Sans Arabic" pitchFamily="34" charset="0"/>
                <a:ea typeface="IBM Plex Sans Arabic" pitchFamily="34" charset="-122"/>
                <a:cs typeface="IBM Plex Sans Arabic" pitchFamily="34" charset="-120"/>
              </a:rPr>
              <a:t>ElevenLabs</a:t>
            </a:r>
            <a:endParaRPr lang="ar-SA" sz="1150" dirty="0"/>
          </a:p>
        </p:txBody>
      </p:sp>
      <p:sp>
        <p:nvSpPr>
          <p:cNvPr id="33" name="Shape 24"/>
          <p:cNvSpPr/>
          <p:nvPr/>
        </p:nvSpPr>
        <p:spPr>
          <a:xfrm>
            <a:off x="548640" y="3675888"/>
            <a:ext cx="5410048" cy="1691640"/>
          </a:xfrm>
          <a:prstGeom prst="roundRect">
            <a:avLst>
              <a:gd name="adj" fmla="val 6486"/>
            </a:avLst>
          </a:prstGeom>
          <a:solidFill>
            <a:srgbClr val="F2F4F1"/>
          </a:solidFill>
          <a:ln w="12700">
            <a:solidFill>
              <a:srgbClr val="F2F4F1"/>
            </a:solidFill>
            <a:prstDash val="solid"/>
          </a:ln>
        </p:spPr>
      </p:sp>
      <p:sp>
        <p:nvSpPr>
          <p:cNvPr id="34" name="Shape 25"/>
          <p:cNvSpPr/>
          <p:nvPr/>
        </p:nvSpPr>
        <p:spPr>
          <a:xfrm>
            <a:off x="5026000" y="3968496"/>
            <a:ext cx="658368" cy="658368"/>
          </a:xfrm>
          <a:prstGeom prst="ellipse">
            <a:avLst/>
          </a:prstGeom>
          <a:solidFill>
            <a:srgbClr val="4DB449"/>
          </a:solidFill>
          <a:ln w="6350">
            <a:solidFill>
              <a:srgbClr val="4DB449"/>
            </a:solidFill>
            <a:prstDash val="solid"/>
          </a:ln>
        </p:spPr>
      </p:sp>
      <p:pic>
        <p:nvPicPr>
          <p:cNvPr id="35" name="Image 7" descr="preencoded.png">    </p:cNvPr>
          <p:cNvPicPr>
            <a:picLocks noChangeAspect="1"/>
          </p:cNvPicPr>
          <p:nvPr/>
        </p:nvPicPr>
        <p:blipFill>
          <a:blip r:embed="rId8"/>
          <a:stretch>
            <a:fillRect/>
          </a:stretch>
        </p:blipFill>
        <p:spPr>
          <a:xfrm>
            <a:off x="5190592" y="4133088"/>
            <a:ext cx="329184" cy="329184"/>
          </a:xfrm>
          <a:prstGeom prst="rect">
            <a:avLst/>
          </a:prstGeom>
        </p:spPr>
      </p:pic>
      <p:sp>
        <p:nvSpPr>
          <p:cNvPr id="36" name="Text 26"/>
          <p:cNvSpPr txBox="1"/>
          <p:nvPr/>
        </p:nvSpPr>
        <p:spPr>
          <a:xfrm>
            <a:off x="777240" y="3904488"/>
            <a:ext cx="4038448" cy="411480"/>
          </a:xfrm>
          <a:prstGeom prst="rect">
            <a:avLst/>
          </a:prstGeom>
          <a:noFill/>
          <a:ln/>
        </p:spPr>
        <p:txBody>
          <a:bodyPr wrap="square" lIns="0" tIns="0" rIns="0" bIns="0" rtlCol="0" anchor="t"/>
          <a:lstStyle/>
          <a:p>
            <a:pPr rtl="1" algn="r" indent="0" marL="0">
              <a:lnSpc>
                <a:spcPct val="100000"/>
              </a:lnSpc>
              <a:buNone/>
            </a:pPr>
            <a:r>
              <a:rPr lang="ar-SA" altLang="en-US" sz="1900" b="1" dirty="0">
                <a:solidFill>
                  <a:srgbClr val="1A1A1A"/>
                </a:solidFill>
                <a:latin typeface="Cairo" pitchFamily="34" charset="0"/>
                <a:ea typeface="Cairo" pitchFamily="34" charset="-122"/>
                <a:cs typeface="Cairo" pitchFamily="34" charset="-120"/>
              </a:rPr>
              <a:t>تنقية الكلام</a:t>
            </a:r>
            <a:endParaRPr lang="ar-SA" sz="1900" dirty="0"/>
          </a:p>
        </p:txBody>
      </p:sp>
      <p:sp>
        <p:nvSpPr>
          <p:cNvPr id="37" name="Text 27"/>
          <p:cNvSpPr txBox="1"/>
          <p:nvPr/>
        </p:nvSpPr>
        <p:spPr>
          <a:xfrm>
            <a:off x="777240" y="4334256"/>
            <a:ext cx="4038448" cy="594360"/>
          </a:xfrm>
          <a:prstGeom prst="rect">
            <a:avLst/>
          </a:prstGeom>
          <a:noFill/>
          <a:ln/>
        </p:spPr>
        <p:txBody>
          <a:bodyPr wrap="square" lIns="0" tIns="0" rIns="0" bIns="0" rtlCol="0" anchor="t"/>
          <a:lstStyle/>
          <a:p>
            <a:pPr rtl="1" algn="r" indent="0" marL="0">
              <a:lnSpc>
                <a:spcPct val="100000"/>
              </a:lnSpc>
              <a:buNone/>
            </a:pPr>
            <a:r>
              <a:rPr lang="ar-SA" altLang="en-US" sz="1400" dirty="0">
                <a:solidFill>
                  <a:srgbClr val="3C3E3B"/>
                </a:solidFill>
                <a:latin typeface="IBM Plex Sans Arabic" pitchFamily="34" charset="0"/>
                <a:ea typeface="IBM Plex Sans Arabic" pitchFamily="34" charset="-122"/>
                <a:cs typeface="IBM Plex Sans Arabic" pitchFamily="34" charset="-120"/>
              </a:rPr>
              <a:t>إزالة الضجيج والصدى من التسجيلات</a:t>
            </a:r>
            <a:endParaRPr lang="ar-SA" sz="1400" dirty="0"/>
          </a:p>
        </p:txBody>
      </p:sp>
      <p:sp>
        <p:nvSpPr>
          <p:cNvPr id="38" name="Shape 28"/>
          <p:cNvSpPr/>
          <p:nvPr/>
        </p:nvSpPr>
        <p:spPr>
          <a:xfrm>
            <a:off x="3421228" y="4937760"/>
            <a:ext cx="1394460" cy="329184"/>
          </a:xfrm>
          <a:prstGeom prst="roundRect">
            <a:avLst>
              <a:gd name="adj" fmla="val 50000"/>
            </a:avLst>
          </a:prstGeom>
          <a:solidFill>
            <a:srgbClr val="FFFFFF"/>
          </a:solidFill>
          <a:ln w="9525">
            <a:solidFill>
              <a:srgbClr val="D9DDD8"/>
            </a:solidFill>
            <a:prstDash val="solid"/>
          </a:ln>
        </p:spPr>
      </p:sp>
      <p:sp>
        <p:nvSpPr>
          <p:cNvPr id="39" name="Text 29"/>
          <p:cNvSpPr txBox="1"/>
          <p:nvPr/>
        </p:nvSpPr>
        <p:spPr>
          <a:xfrm>
            <a:off x="3512668" y="4937760"/>
            <a:ext cx="1211580" cy="329184"/>
          </a:xfrm>
          <a:prstGeom prst="rect">
            <a:avLst/>
          </a:prstGeom>
          <a:noFill/>
          <a:ln/>
        </p:spPr>
        <p:txBody>
          <a:bodyPr wrap="square" lIns="0" tIns="0" rIns="0" bIns="0" rtlCol="0" anchor="ctr"/>
          <a:lstStyle/>
          <a:p>
            <a:pPr algn="ctr" indent="0" marL="0">
              <a:lnSpc>
                <a:spcPct val="100000"/>
              </a:lnSpc>
              <a:buNone/>
            </a:pPr>
            <a:r>
              <a:rPr lang="ar-SA" altLang="en-US" sz="1150" dirty="0">
                <a:solidFill>
                  <a:srgbClr val="1A1A1A"/>
                </a:solidFill>
                <a:latin typeface="IBM Plex Sans Arabic" pitchFamily="34" charset="0"/>
                <a:ea typeface="IBM Plex Sans Arabic" pitchFamily="34" charset="-122"/>
                <a:cs typeface="IBM Plex Sans Arabic" pitchFamily="34" charset="-120"/>
              </a:rPr>
              <a:t>Adobe Podcast</a:t>
            </a:r>
            <a:endParaRPr lang="ar-SA" sz="1150" dirty="0"/>
          </a:p>
        </p:txBody>
      </p:sp>
      <p:sp>
        <p:nvSpPr>
          <p:cNvPr id="40" name="Shape 30"/>
          <p:cNvSpPr/>
          <p:nvPr/>
        </p:nvSpPr>
        <p:spPr>
          <a:xfrm>
            <a:off x="2323948" y="4937760"/>
            <a:ext cx="1005840" cy="329184"/>
          </a:xfrm>
          <a:prstGeom prst="roundRect">
            <a:avLst>
              <a:gd name="adj" fmla="val 50000"/>
            </a:avLst>
          </a:prstGeom>
          <a:solidFill>
            <a:srgbClr val="FFFFFF"/>
          </a:solidFill>
          <a:ln w="9525">
            <a:solidFill>
              <a:srgbClr val="D9DDD8"/>
            </a:solidFill>
            <a:prstDash val="solid"/>
          </a:ln>
        </p:spPr>
      </p:sp>
      <p:sp>
        <p:nvSpPr>
          <p:cNvPr id="41" name="Text 31"/>
          <p:cNvSpPr txBox="1"/>
          <p:nvPr/>
        </p:nvSpPr>
        <p:spPr>
          <a:xfrm>
            <a:off x="2415388" y="4937760"/>
            <a:ext cx="822960" cy="329184"/>
          </a:xfrm>
          <a:prstGeom prst="rect">
            <a:avLst/>
          </a:prstGeom>
          <a:noFill/>
          <a:ln/>
        </p:spPr>
        <p:txBody>
          <a:bodyPr wrap="square" lIns="0" tIns="0" rIns="0" bIns="0" rtlCol="0" anchor="ctr"/>
          <a:lstStyle/>
          <a:p>
            <a:pPr algn="ctr" indent="0" marL="0">
              <a:lnSpc>
                <a:spcPct val="100000"/>
              </a:lnSpc>
              <a:buNone/>
            </a:pPr>
            <a:r>
              <a:rPr lang="ar-SA" altLang="en-US" sz="1150" dirty="0">
                <a:solidFill>
                  <a:srgbClr val="1A1A1A"/>
                </a:solidFill>
                <a:latin typeface="IBM Plex Sans Arabic" pitchFamily="34" charset="0"/>
                <a:ea typeface="IBM Plex Sans Arabic" pitchFamily="34" charset="-122"/>
                <a:cs typeface="IBM Plex Sans Arabic" pitchFamily="34" charset="-120"/>
              </a:rPr>
              <a:t>Descript</a:t>
            </a:r>
            <a:endParaRPr lang="ar-SA" sz="1150" dirty="0"/>
          </a:p>
        </p:txBody>
      </p:sp>
      <p:sp>
        <p:nvSpPr>
          <p:cNvPr id="42" name="Shape 32"/>
          <p:cNvSpPr/>
          <p:nvPr/>
        </p:nvSpPr>
        <p:spPr>
          <a:xfrm>
            <a:off x="548640" y="5596128"/>
            <a:ext cx="11094415" cy="566928"/>
          </a:xfrm>
          <a:prstGeom prst="roundRect">
            <a:avLst>
              <a:gd name="adj" fmla="val 16129"/>
            </a:avLst>
          </a:prstGeom>
          <a:solidFill>
            <a:srgbClr val="000000"/>
          </a:solidFill>
          <a:ln w="9525">
            <a:solidFill>
              <a:srgbClr val="000000"/>
            </a:solidFill>
            <a:prstDash val="solid"/>
          </a:ln>
        </p:spPr>
      </p:sp>
      <p:sp>
        <p:nvSpPr>
          <p:cNvPr id="43" name="Text 33"/>
          <p:cNvSpPr txBox="1"/>
          <p:nvPr/>
        </p:nvSpPr>
        <p:spPr>
          <a:xfrm>
            <a:off x="822960" y="5596128"/>
            <a:ext cx="10545775" cy="566928"/>
          </a:xfrm>
          <a:prstGeom prst="rect">
            <a:avLst/>
          </a:prstGeom>
          <a:noFill/>
          <a:ln/>
        </p:spPr>
        <p:txBody>
          <a:bodyPr wrap="square" lIns="0" tIns="0" rIns="0" bIns="0" rtlCol="0" anchor="ctr"/>
          <a:lstStyle/>
          <a:p>
            <a:pPr rtl="1" algn="r" indent="0" marL="0">
              <a:lnSpc>
                <a:spcPct val="100000"/>
              </a:lnSpc>
              <a:buNone/>
            </a:pPr>
            <a:r>
              <a:rPr lang="ar-SA" altLang="en-US" sz="1400" b="1" dirty="0">
                <a:solidFill>
                  <a:srgbClr val="FFFFFF"/>
                </a:solidFill>
                <a:latin typeface="IBM Plex Sans Arabic" pitchFamily="34" charset="0"/>
                <a:ea typeface="IBM Plex Sans Arabic" pitchFamily="34" charset="-122"/>
                <a:cs typeface="IBM Plex Sans Arabic" pitchFamily="34" charset="-120"/>
              </a:rPr>
              <a:t>المُخرَج: فيديو المشروع مع تعليق صوتي وموسيقى ومؤثرات ومزج صوتي نقي</a:t>
            </a:r>
            <a:endParaRPr lang="ar-SA"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242255" y="6446520"/>
            <a:ext cx="6400800" cy="228600"/>
          </a:xfrm>
          <a:prstGeom prst="rect">
            <a:avLst/>
          </a:prstGeom>
          <a:noFill/>
          <a:ln/>
        </p:spPr>
        <p:txBody>
          <a:bodyPr wrap="square" lIns="0" tIns="0" rIns="0" bIns="0" rtlCol="0" anchor="t"/>
          <a:lstStyle/>
          <a:p>
            <a:pPr rtl="1" algn="r" indent="0" marL="0">
              <a:lnSpc>
                <a:spcPct val="100000"/>
              </a:lnSpc>
              <a:buNone/>
            </a:pPr>
            <a:r>
              <a:rPr lang="ar-SA" altLang="en-US" sz="900" dirty="0">
                <a:solidFill>
                  <a:srgbClr val="8A8C88"/>
                </a:solidFill>
                <a:latin typeface="IBM Plex Sans Arabic" pitchFamily="34" charset="0"/>
                <a:ea typeface="IBM Plex Sans Arabic" pitchFamily="34" charset="-122"/>
                <a:cs typeface="IBM Plex Sans Arabic" pitchFamily="34" charset="-120"/>
              </a:rPr>
              <a:t>برنامج صُنّاع المحتوى بالذكاء الاصطناعي · مذكرة مفاهيمية</a:t>
            </a:r>
            <a:endParaRPr lang="ar-SA" sz="900" dirty="0"/>
          </a:p>
        </p:txBody>
      </p:sp>
      <p:sp>
        <p:nvSpPr>
          <p:cNvPr id="3" name="Text 1"/>
          <p:cNvSpPr txBox="1"/>
          <p:nvPr/>
        </p:nvSpPr>
        <p:spPr>
          <a:xfrm>
            <a:off x="548640" y="6446520"/>
            <a:ext cx="548640" cy="228600"/>
          </a:xfrm>
          <a:prstGeom prst="rect">
            <a:avLst/>
          </a:prstGeom>
          <a:noFill/>
          <a:ln/>
        </p:spPr>
        <p:txBody>
          <a:bodyPr wrap="square" lIns="0" tIns="0" rIns="0" bIns="0" rtlCol="0" anchor="t"/>
          <a:lstStyle/>
          <a:p>
            <a:pPr rtl="1" algn="l" indent="0" marL="0">
              <a:lnSpc>
                <a:spcPct val="100000"/>
              </a:lnSpc>
              <a:buNone/>
            </a:pPr>
            <a:r>
              <a:rPr lang="ar-SA" altLang="en-US" sz="900" dirty="0">
                <a:solidFill>
                  <a:srgbClr val="8A8C88"/>
                </a:solidFill>
                <a:latin typeface="IBM Plex Sans Arabic" pitchFamily="34" charset="0"/>
                <a:ea typeface="IBM Plex Sans Arabic" pitchFamily="34" charset="-122"/>
                <a:cs typeface="IBM Plex Sans Arabic" pitchFamily="34" charset="-120"/>
              </a:rPr>
              <a:t>14</a:t>
            </a:r>
            <a:endParaRPr lang="ar-SA" sz="900" dirty="0"/>
          </a:p>
        </p:txBody>
      </p:sp>
      <p:pic>
        <p:nvPicPr>
          <p:cNvPr id="4" name="Image 0" descr="Green Circle logo">    </p:cNvPr>
          <p:cNvPicPr>
            <a:picLocks noChangeAspect="1"/>
          </p:cNvPicPr>
          <p:nvPr/>
        </p:nvPicPr>
        <p:blipFill>
          <a:blip r:embed="rId1"/>
          <a:stretch>
            <a:fillRect/>
          </a:stretch>
        </p:blipFill>
        <p:spPr>
          <a:xfrm>
            <a:off x="548640" y="384048"/>
            <a:ext cx="1417320" cy="503691"/>
          </a:xfrm>
          <a:prstGeom prst="rect">
            <a:avLst/>
          </a:prstGeom>
        </p:spPr>
      </p:pic>
      <p:sp>
        <p:nvSpPr>
          <p:cNvPr id="5" name="Text 2"/>
          <p:cNvSpPr txBox="1"/>
          <p:nvPr/>
        </p:nvSpPr>
        <p:spPr>
          <a:xfrm>
            <a:off x="2681935" y="384048"/>
            <a:ext cx="8961120" cy="274320"/>
          </a:xfrm>
          <a:prstGeom prst="rect">
            <a:avLst/>
          </a:prstGeom>
          <a:noFill/>
          <a:ln/>
        </p:spPr>
        <p:txBody>
          <a:bodyPr wrap="square" lIns="0" tIns="0" rIns="0" bIns="0" rtlCol="0" anchor="t"/>
          <a:lstStyle/>
          <a:p>
            <a:pPr rtl="1" algn="r" indent="0" marL="0">
              <a:lnSpc>
                <a:spcPct val="100000"/>
              </a:lnSpc>
              <a:buNone/>
            </a:pPr>
            <a:r>
              <a:rPr lang="ar-SA" altLang="en-US" sz="1100" b="1" dirty="0">
                <a:solidFill>
                  <a:srgbClr val="A6D04B"/>
                </a:solidFill>
                <a:latin typeface="IBM Plex Sans Arabic" pitchFamily="34" charset="0"/>
                <a:ea typeface="IBM Plex Sans Arabic" pitchFamily="34" charset="-122"/>
                <a:cs typeface="IBM Plex Sans Arabic" pitchFamily="34" charset="-120"/>
              </a:rPr>
              <a:t>13 · الأتمتة باستخدام n8n</a:t>
            </a:r>
            <a:endParaRPr lang="ar-SA" sz="1100" dirty="0"/>
          </a:p>
        </p:txBody>
      </p:sp>
      <p:sp>
        <p:nvSpPr>
          <p:cNvPr id="6" name="Text 3"/>
          <p:cNvSpPr txBox="1"/>
          <p:nvPr/>
        </p:nvSpPr>
        <p:spPr>
          <a:xfrm>
            <a:off x="2224735" y="676656"/>
            <a:ext cx="9418320" cy="914400"/>
          </a:xfrm>
          <a:prstGeom prst="rect">
            <a:avLst/>
          </a:prstGeom>
          <a:noFill/>
          <a:ln/>
        </p:spPr>
        <p:txBody>
          <a:bodyPr wrap="square" lIns="0" tIns="0" rIns="0" bIns="0" rtlCol="0" anchor="t"/>
          <a:lstStyle/>
          <a:p>
            <a:pPr rtl="1" algn="r" indent="0" marL="0">
              <a:lnSpc>
                <a:spcPct val="95000"/>
              </a:lnSpc>
              <a:buNone/>
            </a:pPr>
            <a:r>
              <a:rPr lang="ar-SA" altLang="en-US" sz="2600" b="1" dirty="0">
                <a:solidFill>
                  <a:srgbClr val="FFFFFF"/>
                </a:solidFill>
                <a:latin typeface="Cairo" pitchFamily="34" charset="0"/>
                <a:ea typeface="Cairo" pitchFamily="34" charset="-122"/>
                <a:cs typeface="Cairo" pitchFamily="34" charset="-120"/>
              </a:rPr>
              <a:t>ربط الأدوات ليُنجَز العمل المتكرر تلقائياً</a:t>
            </a:r>
            <a:endParaRPr lang="ar-SA" sz="2600" dirty="0"/>
          </a:p>
        </p:txBody>
      </p:sp>
      <p:sp>
        <p:nvSpPr>
          <p:cNvPr id="7" name="Shape 4"/>
          <p:cNvSpPr/>
          <p:nvPr/>
        </p:nvSpPr>
        <p:spPr>
          <a:xfrm>
            <a:off x="9178061" y="1783080"/>
            <a:ext cx="2464994" cy="1051560"/>
          </a:xfrm>
          <a:prstGeom prst="roundRect">
            <a:avLst>
              <a:gd name="adj" fmla="val 10435"/>
            </a:avLst>
          </a:prstGeom>
          <a:solidFill>
            <a:srgbClr val="161816"/>
          </a:solidFill>
          <a:ln w="15875">
            <a:solidFill>
              <a:srgbClr val="A6D04B"/>
            </a:solidFill>
            <a:prstDash val="solid"/>
          </a:ln>
        </p:spPr>
      </p:sp>
      <p:pic>
        <p:nvPicPr>
          <p:cNvPr id="8" name="Image 1" descr="preencoded.png">    </p:cNvPr>
          <p:cNvPicPr>
            <a:picLocks noChangeAspect="1"/>
          </p:cNvPicPr>
          <p:nvPr/>
        </p:nvPicPr>
        <p:blipFill>
          <a:blip r:embed="rId2"/>
          <a:stretch>
            <a:fillRect/>
          </a:stretch>
        </p:blipFill>
        <p:spPr>
          <a:xfrm>
            <a:off x="10957255" y="2075688"/>
            <a:ext cx="457200" cy="457200"/>
          </a:xfrm>
          <a:prstGeom prst="rect">
            <a:avLst/>
          </a:prstGeom>
        </p:spPr>
      </p:pic>
      <p:sp>
        <p:nvSpPr>
          <p:cNvPr id="9" name="Text 5"/>
          <p:cNvSpPr txBox="1"/>
          <p:nvPr/>
        </p:nvSpPr>
        <p:spPr>
          <a:xfrm>
            <a:off x="9269501" y="1938528"/>
            <a:ext cx="1550594" cy="411480"/>
          </a:xfrm>
          <a:prstGeom prst="rect">
            <a:avLst/>
          </a:prstGeom>
          <a:noFill/>
          <a:ln/>
        </p:spPr>
        <p:txBody>
          <a:bodyPr wrap="square" lIns="0" tIns="0" rIns="0" bIns="0" rtlCol="0" anchor="t"/>
          <a:lstStyle/>
          <a:p>
            <a:pPr rtl="1" algn="r" indent="0" marL="0">
              <a:lnSpc>
                <a:spcPct val="100000"/>
              </a:lnSpc>
              <a:buNone/>
            </a:pPr>
            <a:r>
              <a:rPr lang="ar-SA" altLang="en-US" sz="1600" b="1" dirty="0">
                <a:solidFill>
                  <a:srgbClr val="FFFFFF"/>
                </a:solidFill>
                <a:latin typeface="Cairo" pitchFamily="34" charset="0"/>
                <a:ea typeface="Cairo" pitchFamily="34" charset="-122"/>
                <a:cs typeface="Cairo" pitchFamily="34" charset="-120"/>
              </a:rPr>
              <a:t>المُشغِّل</a:t>
            </a:r>
            <a:endParaRPr lang="ar-SA" sz="1600" dirty="0"/>
          </a:p>
        </p:txBody>
      </p:sp>
      <p:sp>
        <p:nvSpPr>
          <p:cNvPr id="10" name="Text 6"/>
          <p:cNvSpPr txBox="1"/>
          <p:nvPr/>
        </p:nvSpPr>
        <p:spPr>
          <a:xfrm>
            <a:off x="9269501" y="2350008"/>
            <a:ext cx="1550594" cy="411480"/>
          </a:xfrm>
          <a:prstGeom prst="rect">
            <a:avLst/>
          </a:prstGeom>
          <a:noFill/>
          <a:ln/>
        </p:spPr>
        <p:txBody>
          <a:bodyPr wrap="square" lIns="0" tIns="0" rIns="0" bIns="0" rtlCol="0" anchor="t"/>
          <a:lstStyle/>
          <a:p>
            <a:pPr rtl="1" algn="r" indent="0" marL="0">
              <a:lnSpc>
                <a:spcPct val="100000"/>
              </a:lnSpc>
              <a:buNone/>
            </a:pPr>
            <a:r>
              <a:rPr lang="ar-SA" altLang="en-US" sz="1250" dirty="0">
                <a:solidFill>
                  <a:srgbClr val="C9CCC8"/>
                </a:solidFill>
                <a:latin typeface="IBM Plex Sans Arabic" pitchFamily="34" charset="0"/>
                <a:ea typeface="IBM Plex Sans Arabic" pitchFamily="34" charset="-122"/>
                <a:cs typeface="IBM Plex Sans Arabic" pitchFamily="34" charset="-120"/>
              </a:rPr>
              <a:t>نموذج أو جدول زمني أو نقرة</a:t>
            </a:r>
            <a:endParaRPr lang="ar-SA" sz="1250" dirty="0"/>
          </a:p>
        </p:txBody>
      </p:sp>
      <p:pic>
        <p:nvPicPr>
          <p:cNvPr id="11" name="Image 2" descr="preencoded.png">    </p:cNvPr>
          <p:cNvPicPr>
            <a:picLocks noChangeAspect="1"/>
          </p:cNvPicPr>
          <p:nvPr/>
        </p:nvPicPr>
        <p:blipFill>
          <a:blip r:embed="rId3"/>
          <a:stretch>
            <a:fillRect/>
          </a:stretch>
        </p:blipFill>
        <p:spPr>
          <a:xfrm>
            <a:off x="8821445" y="2148840"/>
            <a:ext cx="301752" cy="301752"/>
          </a:xfrm>
          <a:prstGeom prst="rect">
            <a:avLst/>
          </a:prstGeom>
        </p:spPr>
      </p:pic>
      <p:sp>
        <p:nvSpPr>
          <p:cNvPr id="12" name="Shape 7"/>
          <p:cNvSpPr/>
          <p:nvPr/>
        </p:nvSpPr>
        <p:spPr>
          <a:xfrm>
            <a:off x="6301588" y="1783080"/>
            <a:ext cx="2464994" cy="1051560"/>
          </a:xfrm>
          <a:prstGeom prst="roundRect">
            <a:avLst>
              <a:gd name="adj" fmla="val 10435"/>
            </a:avLst>
          </a:prstGeom>
          <a:solidFill>
            <a:srgbClr val="161816"/>
          </a:solidFill>
          <a:ln w="15875">
            <a:solidFill>
              <a:srgbClr val="A6D04B"/>
            </a:solidFill>
            <a:prstDash val="solid"/>
          </a:ln>
        </p:spPr>
      </p:sp>
      <p:pic>
        <p:nvPicPr>
          <p:cNvPr id="13" name="Image 3" descr="preencoded.png">    </p:cNvPr>
          <p:cNvPicPr>
            <a:picLocks noChangeAspect="1"/>
          </p:cNvPicPr>
          <p:nvPr/>
        </p:nvPicPr>
        <p:blipFill>
          <a:blip r:embed="rId4"/>
          <a:stretch>
            <a:fillRect/>
          </a:stretch>
        </p:blipFill>
        <p:spPr>
          <a:xfrm>
            <a:off x="8080781" y="2075688"/>
            <a:ext cx="457200" cy="457200"/>
          </a:xfrm>
          <a:prstGeom prst="rect">
            <a:avLst/>
          </a:prstGeom>
        </p:spPr>
      </p:pic>
      <p:sp>
        <p:nvSpPr>
          <p:cNvPr id="14" name="Text 8"/>
          <p:cNvSpPr txBox="1"/>
          <p:nvPr/>
        </p:nvSpPr>
        <p:spPr>
          <a:xfrm>
            <a:off x="6393028" y="1938528"/>
            <a:ext cx="1550594" cy="411480"/>
          </a:xfrm>
          <a:prstGeom prst="rect">
            <a:avLst/>
          </a:prstGeom>
          <a:noFill/>
          <a:ln/>
        </p:spPr>
        <p:txBody>
          <a:bodyPr wrap="square" lIns="0" tIns="0" rIns="0" bIns="0" rtlCol="0" anchor="t"/>
          <a:lstStyle/>
          <a:p>
            <a:pPr rtl="1" algn="r" indent="0" marL="0">
              <a:lnSpc>
                <a:spcPct val="100000"/>
              </a:lnSpc>
              <a:buNone/>
            </a:pPr>
            <a:r>
              <a:rPr lang="ar-SA" altLang="en-US" sz="1600" b="1" dirty="0">
                <a:solidFill>
                  <a:srgbClr val="FFFFFF"/>
                </a:solidFill>
                <a:latin typeface="Cairo" pitchFamily="34" charset="0"/>
                <a:ea typeface="Cairo" pitchFamily="34" charset="-122"/>
                <a:cs typeface="Cairo" pitchFamily="34" charset="-120"/>
              </a:rPr>
              <a:t>المعالجة</a:t>
            </a:r>
            <a:endParaRPr lang="ar-SA" sz="1600" dirty="0"/>
          </a:p>
        </p:txBody>
      </p:sp>
      <p:sp>
        <p:nvSpPr>
          <p:cNvPr id="15" name="Text 9"/>
          <p:cNvSpPr txBox="1"/>
          <p:nvPr/>
        </p:nvSpPr>
        <p:spPr>
          <a:xfrm>
            <a:off x="6393028" y="2350008"/>
            <a:ext cx="1550594" cy="411480"/>
          </a:xfrm>
          <a:prstGeom prst="rect">
            <a:avLst/>
          </a:prstGeom>
          <a:noFill/>
          <a:ln/>
        </p:spPr>
        <p:txBody>
          <a:bodyPr wrap="square" lIns="0" tIns="0" rIns="0" bIns="0" rtlCol="0" anchor="t"/>
          <a:lstStyle/>
          <a:p>
            <a:pPr rtl="1" algn="r" indent="0" marL="0">
              <a:lnSpc>
                <a:spcPct val="100000"/>
              </a:lnSpc>
              <a:buNone/>
            </a:pPr>
            <a:r>
              <a:rPr lang="ar-SA" altLang="en-US" sz="1250" dirty="0">
                <a:solidFill>
                  <a:srgbClr val="C9CCC8"/>
                </a:solidFill>
                <a:latin typeface="IBM Plex Sans Arabic" pitchFamily="34" charset="0"/>
                <a:ea typeface="IBM Plex Sans Arabic" pitchFamily="34" charset="-122"/>
                <a:cs typeface="IBM Plex Sans Arabic" pitchFamily="34" charset="-120"/>
              </a:rPr>
              <a:t>ربط البيانات والتحقق منها</a:t>
            </a:r>
            <a:endParaRPr lang="ar-SA" sz="1250" dirty="0"/>
          </a:p>
        </p:txBody>
      </p:sp>
      <p:pic>
        <p:nvPicPr>
          <p:cNvPr id="16" name="Image 4" descr="preencoded.png">    </p:cNvPr>
          <p:cNvPicPr>
            <a:picLocks noChangeAspect="1"/>
          </p:cNvPicPr>
          <p:nvPr/>
        </p:nvPicPr>
        <p:blipFill>
          <a:blip r:embed="rId5"/>
          <a:stretch>
            <a:fillRect/>
          </a:stretch>
        </p:blipFill>
        <p:spPr>
          <a:xfrm>
            <a:off x="5944972" y="2148840"/>
            <a:ext cx="301752" cy="301752"/>
          </a:xfrm>
          <a:prstGeom prst="rect">
            <a:avLst/>
          </a:prstGeom>
        </p:spPr>
      </p:pic>
      <p:sp>
        <p:nvSpPr>
          <p:cNvPr id="17" name="Shape 10"/>
          <p:cNvSpPr/>
          <p:nvPr/>
        </p:nvSpPr>
        <p:spPr>
          <a:xfrm>
            <a:off x="3425114" y="1783080"/>
            <a:ext cx="2464994" cy="1051560"/>
          </a:xfrm>
          <a:prstGeom prst="roundRect">
            <a:avLst>
              <a:gd name="adj" fmla="val 10435"/>
            </a:avLst>
          </a:prstGeom>
          <a:solidFill>
            <a:srgbClr val="4DB449"/>
          </a:solidFill>
          <a:ln w="15875">
            <a:solidFill>
              <a:srgbClr val="4DB449"/>
            </a:solidFill>
            <a:prstDash val="solid"/>
          </a:ln>
        </p:spPr>
      </p:sp>
      <p:pic>
        <p:nvPicPr>
          <p:cNvPr id="18" name="Image 5" descr="preencoded.png">    </p:cNvPr>
          <p:cNvPicPr>
            <a:picLocks noChangeAspect="1"/>
          </p:cNvPicPr>
          <p:nvPr/>
        </p:nvPicPr>
        <p:blipFill>
          <a:blip r:embed="rId6"/>
          <a:stretch>
            <a:fillRect/>
          </a:stretch>
        </p:blipFill>
        <p:spPr>
          <a:xfrm>
            <a:off x="5204308" y="2075688"/>
            <a:ext cx="457200" cy="457200"/>
          </a:xfrm>
          <a:prstGeom prst="rect">
            <a:avLst/>
          </a:prstGeom>
        </p:spPr>
      </p:pic>
      <p:sp>
        <p:nvSpPr>
          <p:cNvPr id="19" name="Text 11"/>
          <p:cNvSpPr txBox="1"/>
          <p:nvPr/>
        </p:nvSpPr>
        <p:spPr>
          <a:xfrm>
            <a:off x="3516554" y="1938528"/>
            <a:ext cx="1550594" cy="411480"/>
          </a:xfrm>
          <a:prstGeom prst="rect">
            <a:avLst/>
          </a:prstGeom>
          <a:noFill/>
          <a:ln/>
        </p:spPr>
        <p:txBody>
          <a:bodyPr wrap="square" lIns="0" tIns="0" rIns="0" bIns="0" rtlCol="0" anchor="t"/>
          <a:lstStyle/>
          <a:p>
            <a:pPr rtl="1" algn="r" indent="0" marL="0">
              <a:lnSpc>
                <a:spcPct val="100000"/>
              </a:lnSpc>
              <a:buNone/>
            </a:pPr>
            <a:r>
              <a:rPr lang="ar-SA" altLang="en-US" sz="1600" b="1" dirty="0">
                <a:solidFill>
                  <a:srgbClr val="000000"/>
                </a:solidFill>
                <a:latin typeface="Cairo" pitchFamily="34" charset="0"/>
                <a:ea typeface="Cairo" pitchFamily="34" charset="-122"/>
                <a:cs typeface="Cairo" pitchFamily="34" charset="-120"/>
              </a:rPr>
              <a:t>ذكاء اصطناعي</a:t>
            </a:r>
            <a:endParaRPr lang="ar-SA" sz="1600" dirty="0"/>
          </a:p>
        </p:txBody>
      </p:sp>
      <p:sp>
        <p:nvSpPr>
          <p:cNvPr id="20" name="Text 12"/>
          <p:cNvSpPr txBox="1"/>
          <p:nvPr/>
        </p:nvSpPr>
        <p:spPr>
          <a:xfrm>
            <a:off x="3516554" y="2350008"/>
            <a:ext cx="1550594" cy="411480"/>
          </a:xfrm>
          <a:prstGeom prst="rect">
            <a:avLst/>
          </a:prstGeom>
          <a:noFill/>
          <a:ln/>
        </p:spPr>
        <p:txBody>
          <a:bodyPr wrap="square" lIns="0" tIns="0" rIns="0" bIns="0" rtlCol="0" anchor="t"/>
          <a:lstStyle/>
          <a:p>
            <a:pPr rtl="1" algn="r" indent="0" marL="0">
              <a:lnSpc>
                <a:spcPct val="100000"/>
              </a:lnSpc>
              <a:buNone/>
            </a:pPr>
            <a:r>
              <a:rPr lang="ar-SA" altLang="en-US" sz="1250" dirty="0">
                <a:solidFill>
                  <a:srgbClr val="000000"/>
                </a:solidFill>
                <a:latin typeface="IBM Plex Sans Arabic" pitchFamily="34" charset="0"/>
                <a:ea typeface="IBM Plex Sans Arabic" pitchFamily="34" charset="-122"/>
                <a:cs typeface="IBM Plex Sans Arabic" pitchFamily="34" charset="-120"/>
              </a:rPr>
              <a:t>نموذج يكتب المحتوى</a:t>
            </a:r>
            <a:endParaRPr lang="ar-SA" sz="1250" dirty="0"/>
          </a:p>
        </p:txBody>
      </p:sp>
      <p:pic>
        <p:nvPicPr>
          <p:cNvPr id="21" name="Image 6" descr="preencoded.png">    </p:cNvPr>
          <p:cNvPicPr>
            <a:picLocks noChangeAspect="1"/>
          </p:cNvPicPr>
          <p:nvPr/>
        </p:nvPicPr>
        <p:blipFill>
          <a:blip r:embed="rId7"/>
          <a:stretch>
            <a:fillRect/>
          </a:stretch>
        </p:blipFill>
        <p:spPr>
          <a:xfrm>
            <a:off x="3068498" y="2148840"/>
            <a:ext cx="301752" cy="301752"/>
          </a:xfrm>
          <a:prstGeom prst="rect">
            <a:avLst/>
          </a:prstGeom>
        </p:spPr>
      </p:pic>
      <p:sp>
        <p:nvSpPr>
          <p:cNvPr id="22" name="Shape 13"/>
          <p:cNvSpPr/>
          <p:nvPr/>
        </p:nvSpPr>
        <p:spPr>
          <a:xfrm>
            <a:off x="548640" y="1783080"/>
            <a:ext cx="2464994" cy="1051560"/>
          </a:xfrm>
          <a:prstGeom prst="roundRect">
            <a:avLst>
              <a:gd name="adj" fmla="val 10435"/>
            </a:avLst>
          </a:prstGeom>
          <a:solidFill>
            <a:srgbClr val="161816"/>
          </a:solidFill>
          <a:ln w="15875">
            <a:solidFill>
              <a:srgbClr val="A6D04B"/>
            </a:solidFill>
            <a:prstDash val="solid"/>
          </a:ln>
        </p:spPr>
      </p:sp>
      <p:pic>
        <p:nvPicPr>
          <p:cNvPr id="23" name="Image 7" descr="preencoded.png">    </p:cNvPr>
          <p:cNvPicPr>
            <a:picLocks noChangeAspect="1"/>
          </p:cNvPicPr>
          <p:nvPr/>
        </p:nvPicPr>
        <p:blipFill>
          <a:blip r:embed="rId8"/>
          <a:stretch>
            <a:fillRect/>
          </a:stretch>
        </p:blipFill>
        <p:spPr>
          <a:xfrm>
            <a:off x="2327834" y="2075688"/>
            <a:ext cx="457200" cy="457200"/>
          </a:xfrm>
          <a:prstGeom prst="rect">
            <a:avLst/>
          </a:prstGeom>
        </p:spPr>
      </p:pic>
      <p:sp>
        <p:nvSpPr>
          <p:cNvPr id="24" name="Text 14"/>
          <p:cNvSpPr txBox="1"/>
          <p:nvPr/>
        </p:nvSpPr>
        <p:spPr>
          <a:xfrm>
            <a:off x="640080" y="1938528"/>
            <a:ext cx="1550594" cy="411480"/>
          </a:xfrm>
          <a:prstGeom prst="rect">
            <a:avLst/>
          </a:prstGeom>
          <a:noFill/>
          <a:ln/>
        </p:spPr>
        <p:txBody>
          <a:bodyPr wrap="square" lIns="0" tIns="0" rIns="0" bIns="0" rtlCol="0" anchor="t"/>
          <a:lstStyle/>
          <a:p>
            <a:pPr rtl="1" algn="r" indent="0" marL="0">
              <a:lnSpc>
                <a:spcPct val="100000"/>
              </a:lnSpc>
              <a:buNone/>
            </a:pPr>
            <a:r>
              <a:rPr lang="ar-SA" altLang="en-US" sz="1600" b="1" dirty="0">
                <a:solidFill>
                  <a:srgbClr val="FFFFFF"/>
                </a:solidFill>
                <a:latin typeface="Cairo" pitchFamily="34" charset="0"/>
                <a:ea typeface="Cairo" pitchFamily="34" charset="-122"/>
                <a:cs typeface="Cairo" pitchFamily="34" charset="-120"/>
              </a:rPr>
              <a:t>الإجراء</a:t>
            </a:r>
            <a:endParaRPr lang="ar-SA" sz="1600" dirty="0"/>
          </a:p>
        </p:txBody>
      </p:sp>
      <p:sp>
        <p:nvSpPr>
          <p:cNvPr id="25" name="Text 15"/>
          <p:cNvSpPr txBox="1"/>
          <p:nvPr/>
        </p:nvSpPr>
        <p:spPr>
          <a:xfrm>
            <a:off x="640080" y="2350008"/>
            <a:ext cx="1550594" cy="411480"/>
          </a:xfrm>
          <a:prstGeom prst="rect">
            <a:avLst/>
          </a:prstGeom>
          <a:noFill/>
          <a:ln/>
        </p:spPr>
        <p:txBody>
          <a:bodyPr wrap="square" lIns="0" tIns="0" rIns="0" bIns="0" rtlCol="0" anchor="t"/>
          <a:lstStyle/>
          <a:p>
            <a:pPr rtl="1" algn="r" indent="0" marL="0">
              <a:lnSpc>
                <a:spcPct val="100000"/>
              </a:lnSpc>
              <a:buNone/>
            </a:pPr>
            <a:r>
              <a:rPr lang="ar-SA" altLang="en-US" sz="1250" dirty="0">
                <a:solidFill>
                  <a:srgbClr val="C9CCC8"/>
                </a:solidFill>
                <a:latin typeface="IBM Plex Sans Arabic" pitchFamily="34" charset="0"/>
                <a:ea typeface="IBM Plex Sans Arabic" pitchFamily="34" charset="-122"/>
                <a:cs typeface="IBM Plex Sans Arabic" pitchFamily="34" charset="-120"/>
              </a:rPr>
              <a:t>الحفظ في Sheets أو الإرسال للمراجعة</a:t>
            </a:r>
            <a:endParaRPr lang="ar-SA" sz="1250" dirty="0"/>
          </a:p>
        </p:txBody>
      </p:sp>
      <p:sp>
        <p:nvSpPr>
          <p:cNvPr id="26" name="Text 16"/>
          <p:cNvSpPr txBox="1"/>
          <p:nvPr/>
        </p:nvSpPr>
        <p:spPr>
          <a:xfrm>
            <a:off x="3413455" y="3127248"/>
            <a:ext cx="8229600" cy="365760"/>
          </a:xfrm>
          <a:prstGeom prst="rect">
            <a:avLst/>
          </a:prstGeom>
          <a:noFill/>
          <a:ln/>
        </p:spPr>
        <p:txBody>
          <a:bodyPr wrap="square" lIns="0" tIns="0" rIns="0" bIns="0" rtlCol="0" anchor="t"/>
          <a:lstStyle/>
          <a:p>
            <a:pPr rtl="1" algn="r" indent="0" marL="0">
              <a:lnSpc>
                <a:spcPct val="100000"/>
              </a:lnSpc>
              <a:buNone/>
            </a:pPr>
            <a:r>
              <a:rPr lang="ar-SA" altLang="en-US" sz="1500" b="1" dirty="0">
                <a:solidFill>
                  <a:srgbClr val="A6D04B"/>
                </a:solidFill>
                <a:latin typeface="Cairo" pitchFamily="34" charset="0"/>
                <a:ea typeface="Cairo" pitchFamily="34" charset="-122"/>
                <a:cs typeface="Cairo" pitchFamily="34" charset="-120"/>
              </a:rPr>
              <a:t>سير عمل المشارك: مولّد أفكار المحتوى</a:t>
            </a:r>
            <a:endParaRPr lang="ar-SA" sz="1500" dirty="0"/>
          </a:p>
        </p:txBody>
      </p:sp>
      <p:sp>
        <p:nvSpPr>
          <p:cNvPr id="27" name="Shape 17"/>
          <p:cNvSpPr/>
          <p:nvPr/>
        </p:nvSpPr>
        <p:spPr>
          <a:xfrm>
            <a:off x="10454335" y="3584448"/>
            <a:ext cx="1188720" cy="731520"/>
          </a:xfrm>
          <a:prstGeom prst="roundRect">
            <a:avLst>
              <a:gd name="adj" fmla="val 12500"/>
            </a:avLst>
          </a:prstGeom>
          <a:solidFill>
            <a:srgbClr val="FFFFFF"/>
          </a:solidFill>
          <a:ln w="15875">
            <a:solidFill>
              <a:srgbClr val="FFFFFF"/>
            </a:solidFill>
            <a:prstDash val="solid"/>
          </a:ln>
        </p:spPr>
      </p:sp>
      <p:sp>
        <p:nvSpPr>
          <p:cNvPr id="28" name="Text 18"/>
          <p:cNvSpPr txBox="1"/>
          <p:nvPr/>
        </p:nvSpPr>
        <p:spPr>
          <a:xfrm>
            <a:off x="10527487" y="3584448"/>
            <a:ext cx="1042416" cy="731520"/>
          </a:xfrm>
          <a:prstGeom prst="rect">
            <a:avLst/>
          </a:prstGeom>
          <a:noFill/>
          <a:ln/>
        </p:spPr>
        <p:txBody>
          <a:bodyPr wrap="square" lIns="0" tIns="0" rIns="0" bIns="0" rtlCol="0" anchor="ctr"/>
          <a:lstStyle/>
          <a:p>
            <a:pPr rtl="1" algn="ctr" indent="0" marL="0">
              <a:lnSpc>
                <a:spcPct val="100000"/>
              </a:lnSpc>
              <a:buNone/>
            </a:pPr>
            <a:r>
              <a:rPr lang="ar-SA" altLang="en-US" sz="1350" b="1" dirty="0">
                <a:solidFill>
                  <a:srgbClr val="000000"/>
                </a:solidFill>
                <a:latin typeface="IBM Plex Sans Arabic" pitchFamily="34" charset="0"/>
                <a:ea typeface="IBM Plex Sans Arabic" pitchFamily="34" charset="-122"/>
                <a:cs typeface="IBM Plex Sans Arabic" pitchFamily="34" charset="-120"/>
              </a:rPr>
              <a:t>نموذج</a:t>
            </a:r>
            <a:endParaRPr lang="ar-SA" sz="1350" dirty="0"/>
          </a:p>
        </p:txBody>
      </p:sp>
      <p:pic>
        <p:nvPicPr>
          <p:cNvPr id="29" name="Image 8" descr="preencoded.png">    </p:cNvPr>
          <p:cNvPicPr>
            <a:picLocks noChangeAspect="1"/>
          </p:cNvPicPr>
          <p:nvPr/>
        </p:nvPicPr>
        <p:blipFill>
          <a:blip r:embed="rId9"/>
          <a:stretch>
            <a:fillRect/>
          </a:stretch>
        </p:blipFill>
        <p:spPr>
          <a:xfrm>
            <a:off x="10250150" y="3831336"/>
            <a:ext cx="237744" cy="237744"/>
          </a:xfrm>
          <a:prstGeom prst="rect">
            <a:avLst/>
          </a:prstGeom>
        </p:spPr>
      </p:pic>
      <p:sp>
        <p:nvSpPr>
          <p:cNvPr id="30" name="Shape 19"/>
          <p:cNvSpPr/>
          <p:nvPr/>
        </p:nvSpPr>
        <p:spPr>
          <a:xfrm>
            <a:off x="9094988" y="3584448"/>
            <a:ext cx="1188720" cy="731520"/>
          </a:xfrm>
          <a:prstGeom prst="roundRect">
            <a:avLst>
              <a:gd name="adj" fmla="val 12500"/>
            </a:avLst>
          </a:prstGeom>
          <a:solidFill>
            <a:srgbClr val="161816"/>
          </a:solidFill>
          <a:ln w="15875">
            <a:solidFill>
              <a:srgbClr val="EA4B71"/>
            </a:solidFill>
            <a:prstDash val="solid"/>
          </a:ln>
        </p:spPr>
      </p:sp>
      <p:pic>
        <p:nvPicPr>
          <p:cNvPr id="31" name="Image 9" descr="n8n logo">    </p:cNvPr>
          <p:cNvPicPr>
            <a:picLocks noChangeAspect="1"/>
          </p:cNvPicPr>
          <p:nvPr/>
        </p:nvPicPr>
        <p:blipFill>
          <a:blip r:embed="rId10"/>
          <a:stretch>
            <a:fillRect/>
          </a:stretch>
        </p:blipFill>
        <p:spPr>
          <a:xfrm>
            <a:off x="9771644" y="3758184"/>
            <a:ext cx="384048" cy="384048"/>
          </a:xfrm>
          <a:prstGeom prst="rect">
            <a:avLst/>
          </a:prstGeom>
        </p:spPr>
      </p:pic>
      <p:sp>
        <p:nvSpPr>
          <p:cNvPr id="32" name="Text 20"/>
          <p:cNvSpPr txBox="1"/>
          <p:nvPr/>
        </p:nvSpPr>
        <p:spPr>
          <a:xfrm>
            <a:off x="9168140" y="3584448"/>
            <a:ext cx="548640" cy="731520"/>
          </a:xfrm>
          <a:prstGeom prst="rect">
            <a:avLst/>
          </a:prstGeom>
          <a:noFill/>
          <a:ln/>
        </p:spPr>
        <p:txBody>
          <a:bodyPr wrap="square" lIns="0" tIns="0" rIns="0" bIns="0" rtlCol="0" anchor="ctr"/>
          <a:lstStyle/>
          <a:p>
            <a:pPr algn="r" indent="0" marL="0">
              <a:lnSpc>
                <a:spcPct val="100000"/>
              </a:lnSpc>
              <a:buNone/>
            </a:pPr>
            <a:r>
              <a:rPr lang="ar-SA" altLang="en-US" sz="1350" b="1" dirty="0">
                <a:solidFill>
                  <a:srgbClr val="FFFFFF"/>
                </a:solidFill>
                <a:latin typeface="IBM Plex Sans Arabic" pitchFamily="34" charset="0"/>
                <a:ea typeface="IBM Plex Sans Arabic" pitchFamily="34" charset="-122"/>
                <a:cs typeface="IBM Plex Sans Arabic" pitchFamily="34" charset="-120"/>
              </a:rPr>
              <a:t>n8n</a:t>
            </a:r>
            <a:endParaRPr lang="ar-SA" sz="1350" dirty="0"/>
          </a:p>
        </p:txBody>
      </p:sp>
      <p:pic>
        <p:nvPicPr>
          <p:cNvPr id="33" name="Image 10" descr="preencoded.png">    </p:cNvPr>
          <p:cNvPicPr>
            <a:picLocks noChangeAspect="1"/>
          </p:cNvPicPr>
          <p:nvPr/>
        </p:nvPicPr>
        <p:blipFill>
          <a:blip r:embed="rId11"/>
          <a:stretch>
            <a:fillRect/>
          </a:stretch>
        </p:blipFill>
        <p:spPr>
          <a:xfrm>
            <a:off x="8890803" y="3831336"/>
            <a:ext cx="237744" cy="237744"/>
          </a:xfrm>
          <a:prstGeom prst="rect">
            <a:avLst/>
          </a:prstGeom>
        </p:spPr>
      </p:pic>
      <p:sp>
        <p:nvSpPr>
          <p:cNvPr id="34" name="Shape 21"/>
          <p:cNvSpPr/>
          <p:nvPr/>
        </p:nvSpPr>
        <p:spPr>
          <a:xfrm>
            <a:off x="7507041" y="3584448"/>
            <a:ext cx="1417320" cy="731520"/>
          </a:xfrm>
          <a:prstGeom prst="roundRect">
            <a:avLst>
              <a:gd name="adj" fmla="val 12500"/>
            </a:avLst>
          </a:prstGeom>
          <a:solidFill>
            <a:srgbClr val="4DB449"/>
          </a:solidFill>
          <a:ln w="15875">
            <a:solidFill>
              <a:srgbClr val="4DB449"/>
            </a:solidFill>
            <a:prstDash val="solid"/>
          </a:ln>
        </p:spPr>
      </p:sp>
      <p:sp>
        <p:nvSpPr>
          <p:cNvPr id="35" name="Text 22"/>
          <p:cNvSpPr txBox="1"/>
          <p:nvPr/>
        </p:nvSpPr>
        <p:spPr>
          <a:xfrm>
            <a:off x="7580193" y="3584448"/>
            <a:ext cx="1271016" cy="731520"/>
          </a:xfrm>
          <a:prstGeom prst="rect">
            <a:avLst/>
          </a:prstGeom>
          <a:noFill/>
          <a:ln/>
        </p:spPr>
        <p:txBody>
          <a:bodyPr wrap="square" lIns="0" tIns="0" rIns="0" bIns="0" rtlCol="0" anchor="ctr"/>
          <a:lstStyle/>
          <a:p>
            <a:pPr algn="ctr" indent="0" marL="0">
              <a:lnSpc>
                <a:spcPct val="100000"/>
              </a:lnSpc>
              <a:buNone/>
            </a:pPr>
            <a:r>
              <a:rPr lang="ar-SA" altLang="en-US" sz="1350" b="1" dirty="0">
                <a:solidFill>
                  <a:srgbClr val="000000"/>
                </a:solidFill>
                <a:latin typeface="IBM Plex Sans Arabic" pitchFamily="34" charset="0"/>
                <a:ea typeface="IBM Plex Sans Arabic" pitchFamily="34" charset="-122"/>
                <a:cs typeface="IBM Plex Sans Arabic" pitchFamily="34" charset="-120"/>
              </a:rPr>
              <a:t>AI Agent</a:t>
            </a:r>
            <a:endParaRPr lang="ar-SA" sz="1350" dirty="0"/>
          </a:p>
        </p:txBody>
      </p:sp>
      <p:pic>
        <p:nvPicPr>
          <p:cNvPr id="36" name="Image 11" descr="preencoded.png">    </p:cNvPr>
          <p:cNvPicPr>
            <a:picLocks noChangeAspect="1"/>
          </p:cNvPicPr>
          <p:nvPr/>
        </p:nvPicPr>
        <p:blipFill>
          <a:blip r:embed="rId12"/>
          <a:stretch>
            <a:fillRect/>
          </a:stretch>
        </p:blipFill>
        <p:spPr>
          <a:xfrm>
            <a:off x="7302856" y="3831336"/>
            <a:ext cx="237744" cy="237744"/>
          </a:xfrm>
          <a:prstGeom prst="rect">
            <a:avLst/>
          </a:prstGeom>
        </p:spPr>
      </p:pic>
      <p:sp>
        <p:nvSpPr>
          <p:cNvPr id="37" name="Shape 23"/>
          <p:cNvSpPr/>
          <p:nvPr/>
        </p:nvSpPr>
        <p:spPr>
          <a:xfrm>
            <a:off x="4318894" y="3584448"/>
            <a:ext cx="3017520" cy="731520"/>
          </a:xfrm>
          <a:prstGeom prst="roundRect">
            <a:avLst>
              <a:gd name="adj" fmla="val 12500"/>
            </a:avLst>
          </a:prstGeom>
          <a:solidFill>
            <a:srgbClr val="FFFFFF"/>
          </a:solidFill>
          <a:ln w="15875">
            <a:solidFill>
              <a:srgbClr val="FFFFFF"/>
            </a:solidFill>
            <a:prstDash val="solid"/>
          </a:ln>
        </p:spPr>
      </p:sp>
      <p:sp>
        <p:nvSpPr>
          <p:cNvPr id="38" name="Text 24"/>
          <p:cNvSpPr txBox="1"/>
          <p:nvPr/>
        </p:nvSpPr>
        <p:spPr>
          <a:xfrm>
            <a:off x="4392046" y="3584448"/>
            <a:ext cx="2871216" cy="731520"/>
          </a:xfrm>
          <a:prstGeom prst="rect">
            <a:avLst/>
          </a:prstGeom>
          <a:noFill/>
          <a:ln/>
        </p:spPr>
        <p:txBody>
          <a:bodyPr wrap="square" lIns="0" tIns="0" rIns="0" bIns="0" rtlCol="0" anchor="ctr"/>
          <a:lstStyle/>
          <a:p>
            <a:pPr rtl="1" algn="ctr" indent="0" marL="0">
              <a:lnSpc>
                <a:spcPct val="100000"/>
              </a:lnSpc>
              <a:buNone/>
            </a:pPr>
            <a:r>
              <a:rPr lang="ar-SA" altLang="en-US" sz="1350" b="1" dirty="0">
                <a:solidFill>
                  <a:srgbClr val="000000"/>
                </a:solidFill>
                <a:latin typeface="IBM Plex Sans Arabic" pitchFamily="34" charset="0"/>
                <a:ea typeface="IBM Plex Sans Arabic" pitchFamily="34" charset="-122"/>
                <a:cs typeface="IBM Plex Sans Arabic" pitchFamily="34" charset="-120"/>
              </a:rPr>
              <a:t>افتتاحية · نص · CTA · أمر صورة</a:t>
            </a:r>
            <a:endParaRPr lang="ar-SA" sz="1350" dirty="0"/>
          </a:p>
        </p:txBody>
      </p:sp>
      <p:pic>
        <p:nvPicPr>
          <p:cNvPr id="39" name="Image 12" descr="preencoded.png">    </p:cNvPr>
          <p:cNvPicPr>
            <a:picLocks noChangeAspect="1"/>
          </p:cNvPicPr>
          <p:nvPr/>
        </p:nvPicPr>
        <p:blipFill>
          <a:blip r:embed="rId13"/>
          <a:stretch>
            <a:fillRect/>
          </a:stretch>
        </p:blipFill>
        <p:spPr>
          <a:xfrm>
            <a:off x="4114709" y="3831336"/>
            <a:ext cx="237744" cy="237744"/>
          </a:xfrm>
          <a:prstGeom prst="rect">
            <a:avLst/>
          </a:prstGeom>
        </p:spPr>
      </p:pic>
      <p:sp>
        <p:nvSpPr>
          <p:cNvPr id="40" name="Shape 25"/>
          <p:cNvSpPr/>
          <p:nvPr/>
        </p:nvSpPr>
        <p:spPr>
          <a:xfrm>
            <a:off x="2319467" y="3584448"/>
            <a:ext cx="1828800" cy="731520"/>
          </a:xfrm>
          <a:prstGeom prst="roundRect">
            <a:avLst>
              <a:gd name="adj" fmla="val 12500"/>
            </a:avLst>
          </a:prstGeom>
          <a:solidFill>
            <a:srgbClr val="FFFFFF"/>
          </a:solidFill>
          <a:ln w="15875">
            <a:solidFill>
              <a:srgbClr val="FFFFFF"/>
            </a:solidFill>
            <a:prstDash val="solid"/>
          </a:ln>
        </p:spPr>
      </p:sp>
      <p:pic>
        <p:nvPicPr>
          <p:cNvPr id="41" name="Image 13" descr="Google Sheets logo">    </p:cNvPr>
          <p:cNvPicPr>
            <a:picLocks noChangeAspect="1"/>
          </p:cNvPicPr>
          <p:nvPr/>
        </p:nvPicPr>
        <p:blipFill>
          <a:blip r:embed="rId14"/>
          <a:stretch>
            <a:fillRect/>
          </a:stretch>
        </p:blipFill>
        <p:spPr>
          <a:xfrm>
            <a:off x="3636203" y="3758184"/>
            <a:ext cx="384048" cy="384048"/>
          </a:xfrm>
          <a:prstGeom prst="rect">
            <a:avLst/>
          </a:prstGeom>
        </p:spPr>
      </p:pic>
      <p:sp>
        <p:nvSpPr>
          <p:cNvPr id="42" name="Text 26"/>
          <p:cNvSpPr txBox="1"/>
          <p:nvPr/>
        </p:nvSpPr>
        <p:spPr>
          <a:xfrm>
            <a:off x="2392619" y="3584448"/>
            <a:ext cx="1188720" cy="731520"/>
          </a:xfrm>
          <a:prstGeom prst="rect">
            <a:avLst/>
          </a:prstGeom>
          <a:noFill/>
          <a:ln/>
        </p:spPr>
        <p:txBody>
          <a:bodyPr wrap="square" lIns="0" tIns="0" rIns="0" bIns="0" rtlCol="0" anchor="ctr"/>
          <a:lstStyle/>
          <a:p>
            <a:pPr algn="r" indent="0" marL="0">
              <a:lnSpc>
                <a:spcPct val="100000"/>
              </a:lnSpc>
              <a:buNone/>
            </a:pPr>
            <a:r>
              <a:rPr lang="ar-SA" altLang="en-US" sz="1350" b="1" dirty="0">
                <a:solidFill>
                  <a:srgbClr val="000000"/>
                </a:solidFill>
                <a:latin typeface="IBM Plex Sans Arabic" pitchFamily="34" charset="0"/>
                <a:ea typeface="IBM Plex Sans Arabic" pitchFamily="34" charset="-122"/>
                <a:cs typeface="IBM Plex Sans Arabic" pitchFamily="34" charset="-120"/>
              </a:rPr>
              <a:t>Google Sheets</a:t>
            </a:r>
            <a:endParaRPr lang="ar-SA" sz="1350" dirty="0"/>
          </a:p>
        </p:txBody>
      </p:sp>
      <p:pic>
        <p:nvPicPr>
          <p:cNvPr id="43" name="Image 14" descr="preencoded.png">    </p:cNvPr>
          <p:cNvPicPr>
            <a:picLocks noChangeAspect="1"/>
          </p:cNvPicPr>
          <p:nvPr/>
        </p:nvPicPr>
        <p:blipFill>
          <a:blip r:embed="rId15"/>
          <a:stretch>
            <a:fillRect/>
          </a:stretch>
        </p:blipFill>
        <p:spPr>
          <a:xfrm>
            <a:off x="2115282" y="3831336"/>
            <a:ext cx="237744" cy="237744"/>
          </a:xfrm>
          <a:prstGeom prst="rect">
            <a:avLst/>
          </a:prstGeom>
        </p:spPr>
      </p:pic>
      <p:sp>
        <p:nvSpPr>
          <p:cNvPr id="44" name="Shape 27"/>
          <p:cNvSpPr/>
          <p:nvPr/>
        </p:nvSpPr>
        <p:spPr>
          <a:xfrm>
            <a:off x="548640" y="3584448"/>
            <a:ext cx="1600200" cy="731520"/>
          </a:xfrm>
          <a:prstGeom prst="roundRect">
            <a:avLst>
              <a:gd name="adj" fmla="val 12500"/>
            </a:avLst>
          </a:prstGeom>
          <a:solidFill>
            <a:srgbClr val="FFFFFF"/>
          </a:solidFill>
          <a:ln w="15875">
            <a:solidFill>
              <a:srgbClr val="FFFFFF"/>
            </a:solidFill>
            <a:prstDash val="solid"/>
          </a:ln>
        </p:spPr>
      </p:sp>
      <p:sp>
        <p:nvSpPr>
          <p:cNvPr id="45" name="Text 28"/>
          <p:cNvSpPr txBox="1"/>
          <p:nvPr/>
        </p:nvSpPr>
        <p:spPr>
          <a:xfrm>
            <a:off x="621792" y="3584448"/>
            <a:ext cx="1453896" cy="731520"/>
          </a:xfrm>
          <a:prstGeom prst="rect">
            <a:avLst/>
          </a:prstGeom>
          <a:noFill/>
          <a:ln/>
        </p:spPr>
        <p:txBody>
          <a:bodyPr wrap="square" lIns="0" tIns="0" rIns="0" bIns="0" rtlCol="0" anchor="ctr"/>
          <a:lstStyle/>
          <a:p>
            <a:pPr rtl="1" algn="ctr" indent="0" marL="0">
              <a:lnSpc>
                <a:spcPct val="100000"/>
              </a:lnSpc>
              <a:buNone/>
            </a:pPr>
            <a:r>
              <a:rPr lang="ar-SA" altLang="en-US" sz="1350" b="1" dirty="0">
                <a:solidFill>
                  <a:srgbClr val="000000"/>
                </a:solidFill>
                <a:latin typeface="IBM Plex Sans Arabic" pitchFamily="34" charset="0"/>
                <a:ea typeface="IBM Plex Sans Arabic" pitchFamily="34" charset="-122"/>
                <a:cs typeface="IBM Plex Sans Arabic" pitchFamily="34" charset="-120"/>
              </a:rPr>
              <a:t>بريد للمراجعة</a:t>
            </a:r>
            <a:endParaRPr lang="ar-SA" sz="1350" dirty="0"/>
          </a:p>
        </p:txBody>
      </p:sp>
      <p:sp>
        <p:nvSpPr>
          <p:cNvPr id="46" name="Shape 29"/>
          <p:cNvSpPr/>
          <p:nvPr/>
        </p:nvSpPr>
        <p:spPr>
          <a:xfrm>
            <a:off x="9667951" y="4663440"/>
            <a:ext cx="1975104" cy="384048"/>
          </a:xfrm>
          <a:prstGeom prst="roundRect">
            <a:avLst>
              <a:gd name="adj" fmla="val 50000"/>
            </a:avLst>
          </a:prstGeom>
          <a:solidFill>
            <a:srgbClr val="161816"/>
          </a:solidFill>
          <a:ln w="9525">
            <a:solidFill>
              <a:srgbClr val="3A3D39"/>
            </a:solidFill>
            <a:prstDash val="solid"/>
          </a:ln>
        </p:spPr>
      </p:sp>
      <p:sp>
        <p:nvSpPr>
          <p:cNvPr id="47" name="Text 30"/>
          <p:cNvSpPr txBox="1"/>
          <p:nvPr/>
        </p:nvSpPr>
        <p:spPr>
          <a:xfrm>
            <a:off x="9777679" y="4663440"/>
            <a:ext cx="1755648" cy="384048"/>
          </a:xfrm>
          <a:prstGeom prst="rect">
            <a:avLst/>
          </a:prstGeom>
          <a:noFill/>
          <a:ln/>
        </p:spPr>
        <p:txBody>
          <a:bodyPr wrap="square" lIns="0" tIns="0" rIns="0" bIns="0" rtlCol="0" anchor="ctr"/>
          <a:lstStyle/>
          <a:p>
            <a:pPr rtl="1" algn="ctr" indent="0" marL="0">
              <a:lnSpc>
                <a:spcPct val="100000"/>
              </a:lnSpc>
              <a:buNone/>
            </a:pPr>
            <a:r>
              <a:rPr lang="ar-SA" altLang="en-US" sz="1200" dirty="0">
                <a:solidFill>
                  <a:srgbClr val="FFFFFF"/>
                </a:solidFill>
                <a:latin typeface="IBM Plex Sans Arabic" pitchFamily="34" charset="0"/>
                <a:ea typeface="IBM Plex Sans Arabic" pitchFamily="34" charset="-122"/>
                <a:cs typeface="IBM Plex Sans Arabic" pitchFamily="34" charset="-120"/>
              </a:rPr>
              <a:t>المُشغِّلات والعُقد</a:t>
            </a:r>
            <a:endParaRPr lang="ar-SA" sz="1200" dirty="0"/>
          </a:p>
        </p:txBody>
      </p:sp>
      <p:sp>
        <p:nvSpPr>
          <p:cNvPr id="48" name="Shape 31"/>
          <p:cNvSpPr/>
          <p:nvPr/>
        </p:nvSpPr>
        <p:spPr>
          <a:xfrm>
            <a:off x="7226503" y="4663440"/>
            <a:ext cx="2304288" cy="384048"/>
          </a:xfrm>
          <a:prstGeom prst="roundRect">
            <a:avLst>
              <a:gd name="adj" fmla="val 50000"/>
            </a:avLst>
          </a:prstGeom>
          <a:solidFill>
            <a:srgbClr val="161816"/>
          </a:solidFill>
          <a:ln w="9525">
            <a:solidFill>
              <a:srgbClr val="3A3D39"/>
            </a:solidFill>
            <a:prstDash val="solid"/>
          </a:ln>
        </p:spPr>
      </p:sp>
      <p:sp>
        <p:nvSpPr>
          <p:cNvPr id="49" name="Text 32"/>
          <p:cNvSpPr txBox="1"/>
          <p:nvPr/>
        </p:nvSpPr>
        <p:spPr>
          <a:xfrm>
            <a:off x="7336231" y="4663440"/>
            <a:ext cx="2084832" cy="384048"/>
          </a:xfrm>
          <a:prstGeom prst="rect">
            <a:avLst/>
          </a:prstGeom>
          <a:noFill/>
          <a:ln/>
        </p:spPr>
        <p:txBody>
          <a:bodyPr wrap="square" lIns="0" tIns="0" rIns="0" bIns="0" rtlCol="0" anchor="ctr"/>
          <a:lstStyle/>
          <a:p>
            <a:pPr rtl="1" algn="ctr" indent="0" marL="0">
              <a:lnSpc>
                <a:spcPct val="100000"/>
              </a:lnSpc>
              <a:buNone/>
            </a:pPr>
            <a:r>
              <a:rPr lang="ar-SA" altLang="en-US" sz="1200" dirty="0">
                <a:solidFill>
                  <a:srgbClr val="FFFFFF"/>
                </a:solidFill>
                <a:latin typeface="IBM Plex Sans Arabic" pitchFamily="34" charset="0"/>
                <a:ea typeface="IBM Plex Sans Arabic" pitchFamily="34" charset="-122"/>
                <a:cs typeface="IBM Plex Sans Arabic" pitchFamily="34" charset="-120"/>
              </a:rPr>
              <a:t>ربط البيانات والتعبيرات</a:t>
            </a:r>
            <a:endParaRPr lang="ar-SA" sz="1200" dirty="0"/>
          </a:p>
        </p:txBody>
      </p:sp>
      <p:sp>
        <p:nvSpPr>
          <p:cNvPr id="50" name="Shape 33"/>
          <p:cNvSpPr/>
          <p:nvPr/>
        </p:nvSpPr>
        <p:spPr>
          <a:xfrm>
            <a:off x="6101791" y="4663440"/>
            <a:ext cx="987552" cy="384048"/>
          </a:xfrm>
          <a:prstGeom prst="roundRect">
            <a:avLst>
              <a:gd name="adj" fmla="val 50000"/>
            </a:avLst>
          </a:prstGeom>
          <a:solidFill>
            <a:srgbClr val="161816"/>
          </a:solidFill>
          <a:ln w="9525">
            <a:solidFill>
              <a:srgbClr val="3A3D39"/>
            </a:solidFill>
            <a:prstDash val="solid"/>
          </a:ln>
        </p:spPr>
      </p:sp>
      <p:sp>
        <p:nvSpPr>
          <p:cNvPr id="51" name="Text 34"/>
          <p:cNvSpPr txBox="1"/>
          <p:nvPr/>
        </p:nvSpPr>
        <p:spPr>
          <a:xfrm>
            <a:off x="6211519" y="4663440"/>
            <a:ext cx="768096" cy="384048"/>
          </a:xfrm>
          <a:prstGeom prst="rect">
            <a:avLst/>
          </a:prstGeom>
          <a:noFill/>
          <a:ln/>
        </p:spPr>
        <p:txBody>
          <a:bodyPr wrap="square" lIns="0" tIns="0" rIns="0" bIns="0" rtlCol="0" anchor="ctr"/>
          <a:lstStyle/>
          <a:p>
            <a:pPr rtl="1" algn="ctr" indent="0" marL="0">
              <a:lnSpc>
                <a:spcPct val="100000"/>
              </a:lnSpc>
              <a:buNone/>
            </a:pPr>
            <a:r>
              <a:rPr lang="ar-SA" altLang="en-US" sz="1200" dirty="0">
                <a:solidFill>
                  <a:srgbClr val="FFFFFF"/>
                </a:solidFill>
                <a:latin typeface="IBM Plex Sans Arabic" pitchFamily="34" charset="0"/>
                <a:ea typeface="IBM Plex Sans Arabic" pitchFamily="34" charset="-122"/>
                <a:cs typeface="IBM Plex Sans Arabic" pitchFamily="34" charset="-120"/>
              </a:rPr>
              <a:t>شروط IF</a:t>
            </a:r>
            <a:endParaRPr lang="ar-SA" sz="1200" dirty="0"/>
          </a:p>
        </p:txBody>
      </p:sp>
      <p:sp>
        <p:nvSpPr>
          <p:cNvPr id="52" name="Shape 35"/>
          <p:cNvSpPr/>
          <p:nvPr/>
        </p:nvSpPr>
        <p:spPr>
          <a:xfrm>
            <a:off x="4483303" y="4663440"/>
            <a:ext cx="1481328" cy="384048"/>
          </a:xfrm>
          <a:prstGeom prst="roundRect">
            <a:avLst>
              <a:gd name="adj" fmla="val 50000"/>
            </a:avLst>
          </a:prstGeom>
          <a:solidFill>
            <a:srgbClr val="161816"/>
          </a:solidFill>
          <a:ln w="9525">
            <a:solidFill>
              <a:srgbClr val="3A3D39"/>
            </a:solidFill>
            <a:prstDash val="solid"/>
          </a:ln>
        </p:spPr>
      </p:sp>
      <p:sp>
        <p:nvSpPr>
          <p:cNvPr id="53" name="Text 36"/>
          <p:cNvSpPr txBox="1"/>
          <p:nvPr/>
        </p:nvSpPr>
        <p:spPr>
          <a:xfrm>
            <a:off x="4593031" y="4663440"/>
            <a:ext cx="1261872" cy="384048"/>
          </a:xfrm>
          <a:prstGeom prst="rect">
            <a:avLst/>
          </a:prstGeom>
          <a:noFill/>
          <a:ln/>
        </p:spPr>
        <p:txBody>
          <a:bodyPr wrap="square" lIns="0" tIns="0" rIns="0" bIns="0" rtlCol="0" anchor="ctr"/>
          <a:lstStyle/>
          <a:p>
            <a:pPr rtl="1" algn="ctr" indent="0" marL="0">
              <a:lnSpc>
                <a:spcPct val="100000"/>
              </a:lnSpc>
              <a:buNone/>
            </a:pPr>
            <a:r>
              <a:rPr lang="ar-SA" altLang="en-US" sz="1200" dirty="0">
                <a:solidFill>
                  <a:srgbClr val="FFFFFF"/>
                </a:solidFill>
                <a:latin typeface="IBM Plex Sans Arabic" pitchFamily="34" charset="0"/>
                <a:ea typeface="IBM Plex Sans Arabic" pitchFamily="34" charset="-122"/>
                <a:cs typeface="IBM Plex Sans Arabic" pitchFamily="34" charset="-120"/>
              </a:rPr>
              <a:t>عقدة AI Agent</a:t>
            </a:r>
            <a:endParaRPr lang="ar-SA" sz="1200" dirty="0"/>
          </a:p>
        </p:txBody>
      </p:sp>
      <p:sp>
        <p:nvSpPr>
          <p:cNvPr id="54" name="Shape 37"/>
          <p:cNvSpPr/>
          <p:nvPr/>
        </p:nvSpPr>
        <p:spPr>
          <a:xfrm>
            <a:off x="3358591" y="4663440"/>
            <a:ext cx="987552" cy="384048"/>
          </a:xfrm>
          <a:prstGeom prst="roundRect">
            <a:avLst>
              <a:gd name="adj" fmla="val 50000"/>
            </a:avLst>
          </a:prstGeom>
          <a:solidFill>
            <a:srgbClr val="161816"/>
          </a:solidFill>
          <a:ln w="9525">
            <a:solidFill>
              <a:srgbClr val="3A3D39"/>
            </a:solidFill>
            <a:prstDash val="solid"/>
          </a:ln>
        </p:spPr>
      </p:sp>
      <p:sp>
        <p:nvSpPr>
          <p:cNvPr id="55" name="Text 38"/>
          <p:cNvSpPr txBox="1"/>
          <p:nvPr/>
        </p:nvSpPr>
        <p:spPr>
          <a:xfrm>
            <a:off x="3468319" y="4663440"/>
            <a:ext cx="768096" cy="384048"/>
          </a:xfrm>
          <a:prstGeom prst="rect">
            <a:avLst/>
          </a:prstGeom>
          <a:noFill/>
          <a:ln/>
        </p:spPr>
        <p:txBody>
          <a:bodyPr wrap="square" lIns="0" tIns="0" rIns="0" bIns="0" rtlCol="0" anchor="ctr"/>
          <a:lstStyle/>
          <a:p>
            <a:pPr rtl="1" algn="ctr" indent="0" marL="0">
              <a:lnSpc>
                <a:spcPct val="100000"/>
              </a:lnSpc>
              <a:buNone/>
            </a:pPr>
            <a:r>
              <a:rPr lang="ar-SA" altLang="en-US" sz="1200" dirty="0">
                <a:solidFill>
                  <a:srgbClr val="FFFFFF"/>
                </a:solidFill>
                <a:latin typeface="IBM Plex Sans Arabic" pitchFamily="34" charset="0"/>
                <a:ea typeface="IBM Plex Sans Arabic" pitchFamily="34" charset="-122"/>
                <a:cs typeface="IBM Plex Sans Arabic" pitchFamily="34" charset="-120"/>
              </a:rPr>
              <a:t>الجدولة</a:t>
            </a:r>
            <a:endParaRPr lang="ar-SA" sz="1200" dirty="0"/>
          </a:p>
        </p:txBody>
      </p:sp>
      <p:sp>
        <p:nvSpPr>
          <p:cNvPr id="56" name="Shape 39"/>
          <p:cNvSpPr/>
          <p:nvPr/>
        </p:nvSpPr>
        <p:spPr>
          <a:xfrm>
            <a:off x="1164031" y="4663440"/>
            <a:ext cx="2057400" cy="384048"/>
          </a:xfrm>
          <a:prstGeom prst="roundRect">
            <a:avLst>
              <a:gd name="adj" fmla="val 50000"/>
            </a:avLst>
          </a:prstGeom>
          <a:solidFill>
            <a:srgbClr val="161816"/>
          </a:solidFill>
          <a:ln w="9525">
            <a:solidFill>
              <a:srgbClr val="3A3D39"/>
            </a:solidFill>
            <a:prstDash val="solid"/>
          </a:ln>
        </p:spPr>
      </p:sp>
      <p:sp>
        <p:nvSpPr>
          <p:cNvPr id="57" name="Text 40"/>
          <p:cNvSpPr txBox="1"/>
          <p:nvPr/>
        </p:nvSpPr>
        <p:spPr>
          <a:xfrm>
            <a:off x="1273759" y="4663440"/>
            <a:ext cx="1837944" cy="384048"/>
          </a:xfrm>
          <a:prstGeom prst="rect">
            <a:avLst/>
          </a:prstGeom>
          <a:noFill/>
          <a:ln/>
        </p:spPr>
        <p:txBody>
          <a:bodyPr wrap="square" lIns="0" tIns="0" rIns="0" bIns="0" rtlCol="0" anchor="ctr"/>
          <a:lstStyle/>
          <a:p>
            <a:pPr rtl="1" algn="ctr" indent="0" marL="0">
              <a:lnSpc>
                <a:spcPct val="100000"/>
              </a:lnSpc>
              <a:buNone/>
            </a:pPr>
            <a:r>
              <a:rPr lang="ar-SA" altLang="en-US" sz="1200" dirty="0">
                <a:solidFill>
                  <a:srgbClr val="FFFFFF"/>
                </a:solidFill>
                <a:latin typeface="IBM Plex Sans Arabic" pitchFamily="34" charset="0"/>
                <a:ea typeface="IBM Plex Sans Arabic" pitchFamily="34" charset="-122"/>
                <a:cs typeface="IBM Plex Sans Arabic" pitchFamily="34" charset="-120"/>
              </a:rPr>
              <a:t>أمان بيانات الاعتماد</a:t>
            </a:r>
            <a:endParaRPr lang="ar-SA" sz="1200" dirty="0"/>
          </a:p>
        </p:txBody>
      </p:sp>
      <p:sp>
        <p:nvSpPr>
          <p:cNvPr id="58" name="Text 41"/>
          <p:cNvSpPr txBox="1"/>
          <p:nvPr/>
        </p:nvSpPr>
        <p:spPr>
          <a:xfrm>
            <a:off x="548640" y="5715000"/>
            <a:ext cx="11094415" cy="457200"/>
          </a:xfrm>
          <a:prstGeom prst="rect">
            <a:avLst/>
          </a:prstGeom>
          <a:noFill/>
          <a:ln/>
        </p:spPr>
        <p:txBody>
          <a:bodyPr wrap="square" lIns="0" tIns="0" rIns="0" bIns="0" rtlCol="0" anchor="t"/>
          <a:lstStyle/>
          <a:p>
            <a:pPr rtl="1" algn="r" indent="0" marL="0">
              <a:lnSpc>
                <a:spcPct val="100000"/>
              </a:lnSpc>
              <a:buNone/>
            </a:pPr>
            <a:r>
              <a:rPr lang="ar-SA" altLang="en-US" sz="1400" dirty="0">
                <a:solidFill>
                  <a:srgbClr val="C9CCC8"/>
                </a:solidFill>
                <a:latin typeface="IBM Plex Sans Arabic" pitchFamily="34" charset="0"/>
                <a:ea typeface="IBM Plex Sans Arabic" pitchFamily="34" charset="-122"/>
                <a:cs typeface="IBM Plex Sans Arabic" pitchFamily="34" charset="-120"/>
              </a:rPr>
              <a:t>مستوى عملي: يبني المشاركون مسارات عملهم ويشغّلونها بأنفسهم، دون الحاجة إلى خوادم أو برمجة متقدمة.</a:t>
            </a:r>
            <a:endParaRPr lang="ar-SA"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Green Circle logo">    </p:cNvPr>
          <p:cNvPicPr>
            <a:picLocks noChangeAspect="1"/>
          </p:cNvPicPr>
          <p:nvPr/>
        </p:nvPicPr>
        <p:blipFill>
          <a:blip r:embed="rId1"/>
          <a:stretch>
            <a:fillRect/>
          </a:stretch>
        </p:blipFill>
        <p:spPr>
          <a:xfrm>
            <a:off x="548640" y="384048"/>
            <a:ext cx="1286501" cy="457200"/>
          </a:xfrm>
          <a:prstGeom prst="rect">
            <a:avLst/>
          </a:prstGeom>
        </p:spPr>
      </p:pic>
      <p:sp>
        <p:nvSpPr>
          <p:cNvPr id="3" name="Text 0"/>
          <p:cNvSpPr txBox="1"/>
          <p:nvPr/>
        </p:nvSpPr>
        <p:spPr>
          <a:xfrm>
            <a:off x="5242255" y="6446520"/>
            <a:ext cx="6400800" cy="228600"/>
          </a:xfrm>
          <a:prstGeom prst="rect">
            <a:avLst/>
          </a:prstGeom>
          <a:noFill/>
          <a:ln/>
        </p:spPr>
        <p:txBody>
          <a:bodyPr wrap="square" lIns="0" tIns="0" rIns="0" bIns="0" rtlCol="0" anchor="t"/>
          <a:lstStyle/>
          <a:p>
            <a:pPr rtl="1" algn="r" indent="0" marL="0">
              <a:lnSpc>
                <a:spcPct val="100000"/>
              </a:lnSpc>
              <a:buNone/>
            </a:pPr>
            <a:r>
              <a:rPr lang="ar-SA" altLang="en-US" sz="900" dirty="0">
                <a:solidFill>
                  <a:srgbClr val="727274"/>
                </a:solidFill>
                <a:latin typeface="IBM Plex Sans Arabic" pitchFamily="34" charset="0"/>
                <a:ea typeface="IBM Plex Sans Arabic" pitchFamily="34" charset="-122"/>
                <a:cs typeface="IBM Plex Sans Arabic" pitchFamily="34" charset="-120"/>
              </a:rPr>
              <a:t>برنامج صُنّاع المحتوى بالذكاء الاصطناعي · مذكرة مفاهيمية</a:t>
            </a:r>
            <a:endParaRPr lang="ar-SA" sz="900" dirty="0"/>
          </a:p>
        </p:txBody>
      </p:sp>
      <p:sp>
        <p:nvSpPr>
          <p:cNvPr id="4" name="Text 1"/>
          <p:cNvSpPr txBox="1"/>
          <p:nvPr/>
        </p:nvSpPr>
        <p:spPr>
          <a:xfrm>
            <a:off x="548640" y="6446520"/>
            <a:ext cx="548640" cy="228600"/>
          </a:xfrm>
          <a:prstGeom prst="rect">
            <a:avLst/>
          </a:prstGeom>
          <a:noFill/>
          <a:ln/>
        </p:spPr>
        <p:txBody>
          <a:bodyPr wrap="square" lIns="0" tIns="0" rIns="0" bIns="0" rtlCol="0" anchor="t"/>
          <a:lstStyle/>
          <a:p>
            <a:pPr rtl="1" algn="l" indent="0" marL="0">
              <a:lnSpc>
                <a:spcPct val="100000"/>
              </a:lnSpc>
              <a:buNone/>
            </a:pPr>
            <a:r>
              <a:rPr lang="ar-SA" altLang="en-US" sz="900" dirty="0">
                <a:solidFill>
                  <a:srgbClr val="727274"/>
                </a:solidFill>
                <a:latin typeface="IBM Plex Sans Arabic" pitchFamily="34" charset="0"/>
                <a:ea typeface="IBM Plex Sans Arabic" pitchFamily="34" charset="-122"/>
                <a:cs typeface="IBM Plex Sans Arabic" pitchFamily="34" charset="-120"/>
              </a:rPr>
              <a:t>15</a:t>
            </a:r>
            <a:endParaRPr lang="ar-SA" sz="900" dirty="0"/>
          </a:p>
        </p:txBody>
      </p:sp>
      <p:sp>
        <p:nvSpPr>
          <p:cNvPr id="5" name="Text 2"/>
          <p:cNvSpPr txBox="1"/>
          <p:nvPr/>
        </p:nvSpPr>
        <p:spPr>
          <a:xfrm>
            <a:off x="2681935" y="384048"/>
            <a:ext cx="8961120" cy="274320"/>
          </a:xfrm>
          <a:prstGeom prst="rect">
            <a:avLst/>
          </a:prstGeom>
          <a:noFill/>
          <a:ln/>
        </p:spPr>
        <p:txBody>
          <a:bodyPr wrap="square" lIns="0" tIns="0" rIns="0" bIns="0" rtlCol="0" anchor="t"/>
          <a:lstStyle/>
          <a:p>
            <a:pPr rtl="1" algn="r" indent="0" marL="0">
              <a:lnSpc>
                <a:spcPct val="100000"/>
              </a:lnSpc>
              <a:buNone/>
            </a:pPr>
            <a:r>
              <a:rPr lang="ar-SA" altLang="en-US" sz="1100" b="1" dirty="0">
                <a:solidFill>
                  <a:srgbClr val="727274"/>
                </a:solidFill>
                <a:latin typeface="IBM Plex Sans Arabic" pitchFamily="34" charset="0"/>
                <a:ea typeface="IBM Plex Sans Arabic" pitchFamily="34" charset="-122"/>
                <a:cs typeface="IBM Plex Sans Arabic" pitchFamily="34" charset="-120"/>
              </a:rPr>
              <a:t>14 · التعلّم بالتطبيق</a:t>
            </a:r>
            <a:endParaRPr lang="ar-SA" sz="1100" dirty="0"/>
          </a:p>
        </p:txBody>
      </p:sp>
      <p:sp>
        <p:nvSpPr>
          <p:cNvPr id="6" name="Text 3"/>
          <p:cNvSpPr txBox="1"/>
          <p:nvPr/>
        </p:nvSpPr>
        <p:spPr>
          <a:xfrm>
            <a:off x="2224735" y="676656"/>
            <a:ext cx="9418320" cy="914400"/>
          </a:xfrm>
          <a:prstGeom prst="rect">
            <a:avLst/>
          </a:prstGeom>
          <a:noFill/>
          <a:ln/>
        </p:spPr>
        <p:txBody>
          <a:bodyPr wrap="square" lIns="0" tIns="0" rIns="0" bIns="0" rtlCol="0" anchor="t"/>
          <a:lstStyle/>
          <a:p>
            <a:pPr rtl="1" algn="r" indent="0" marL="0">
              <a:lnSpc>
                <a:spcPct val="95000"/>
              </a:lnSpc>
              <a:buNone/>
            </a:pPr>
            <a:r>
              <a:rPr lang="ar-SA" altLang="en-US" sz="2600" b="1" dirty="0">
                <a:solidFill>
                  <a:srgbClr val="1A1A1A"/>
                </a:solidFill>
                <a:latin typeface="Cairo" pitchFamily="34" charset="0"/>
                <a:ea typeface="Cairo" pitchFamily="34" charset="-122"/>
                <a:cs typeface="Cairo" pitchFamily="34" charset="-120"/>
              </a:rPr>
              <a:t>عشرة مشاريع مصغّرة، مشروع في كل وحدة</a:t>
            </a:r>
            <a:endParaRPr lang="ar-SA" sz="2600" dirty="0"/>
          </a:p>
        </p:txBody>
      </p:sp>
      <p:sp>
        <p:nvSpPr>
          <p:cNvPr id="7" name="Shape 4"/>
          <p:cNvSpPr/>
          <p:nvPr/>
        </p:nvSpPr>
        <p:spPr>
          <a:xfrm>
            <a:off x="9570476" y="1783080"/>
            <a:ext cx="2072579" cy="1691640"/>
          </a:xfrm>
          <a:prstGeom prst="roundRect">
            <a:avLst>
              <a:gd name="adj" fmla="val 5405"/>
            </a:avLst>
          </a:prstGeom>
          <a:solidFill>
            <a:srgbClr val="EAF5E8"/>
          </a:solidFill>
          <a:ln w="12700">
            <a:solidFill>
              <a:srgbClr val="EAF5E8"/>
            </a:solidFill>
            <a:prstDash val="solid"/>
          </a:ln>
        </p:spPr>
      </p:sp>
      <p:sp>
        <p:nvSpPr>
          <p:cNvPr id="8" name="Text 5"/>
          <p:cNvSpPr txBox="1"/>
          <p:nvPr/>
        </p:nvSpPr>
        <p:spPr>
          <a:xfrm>
            <a:off x="10618927" y="1920240"/>
            <a:ext cx="822960" cy="457200"/>
          </a:xfrm>
          <a:prstGeom prst="rect">
            <a:avLst/>
          </a:prstGeom>
          <a:noFill/>
          <a:ln/>
        </p:spPr>
        <p:txBody>
          <a:bodyPr wrap="square" lIns="0" tIns="0" rIns="0" bIns="0" rtlCol="0" anchor="t"/>
          <a:lstStyle/>
          <a:p>
            <a:pPr rtl="1" algn="r" indent="0" marL="0">
              <a:lnSpc>
                <a:spcPct val="100000"/>
              </a:lnSpc>
              <a:buNone/>
            </a:pPr>
            <a:r>
              <a:rPr lang="ar-SA" altLang="en-US" sz="2400" b="1" dirty="0">
                <a:solidFill>
                  <a:srgbClr val="4DB449"/>
                </a:solidFill>
                <a:latin typeface="Cairo" pitchFamily="34" charset="0"/>
                <a:ea typeface="Cairo" pitchFamily="34" charset="-122"/>
                <a:cs typeface="Cairo" pitchFamily="34" charset="-120"/>
              </a:rPr>
              <a:t>01</a:t>
            </a:r>
            <a:endParaRPr lang="ar-SA" sz="2400" dirty="0"/>
          </a:p>
        </p:txBody>
      </p:sp>
      <p:sp>
        <p:nvSpPr>
          <p:cNvPr id="9" name="Text 6"/>
          <p:cNvSpPr txBox="1"/>
          <p:nvPr/>
        </p:nvSpPr>
        <p:spPr>
          <a:xfrm>
            <a:off x="9735068" y="2377440"/>
            <a:ext cx="1706819" cy="292608"/>
          </a:xfrm>
          <a:prstGeom prst="rect">
            <a:avLst/>
          </a:prstGeom>
          <a:noFill/>
          <a:ln/>
        </p:spPr>
        <p:txBody>
          <a:bodyPr wrap="square" lIns="0" tIns="0" rIns="0" bIns="0" rtlCol="0" anchor="t"/>
          <a:lstStyle/>
          <a:p>
            <a:pPr rtl="1" algn="r" indent="0" marL="0">
              <a:lnSpc>
                <a:spcPct val="100000"/>
              </a:lnSpc>
              <a:buNone/>
            </a:pPr>
            <a:r>
              <a:rPr lang="ar-SA" altLang="en-US" sz="1100" b="1" dirty="0">
                <a:solidFill>
                  <a:srgbClr val="727274"/>
                </a:solidFill>
                <a:latin typeface="IBM Plex Sans Arabic" pitchFamily="34" charset="0"/>
                <a:ea typeface="IBM Plex Sans Arabic" pitchFamily="34" charset="-122"/>
                <a:cs typeface="IBM Plex Sans Arabic" pitchFamily="34" charset="-120"/>
              </a:rPr>
              <a:t>M1 · اختيار الأداة المناسبة</a:t>
            </a:r>
            <a:endParaRPr lang="ar-SA" sz="1100" dirty="0"/>
          </a:p>
        </p:txBody>
      </p:sp>
      <p:sp>
        <p:nvSpPr>
          <p:cNvPr id="10" name="Text 7"/>
          <p:cNvSpPr txBox="1"/>
          <p:nvPr/>
        </p:nvSpPr>
        <p:spPr>
          <a:xfrm>
            <a:off x="9735068" y="2679192"/>
            <a:ext cx="1706819" cy="731520"/>
          </a:xfrm>
          <a:prstGeom prst="rect">
            <a:avLst/>
          </a:prstGeom>
          <a:noFill/>
          <a:ln/>
        </p:spPr>
        <p:txBody>
          <a:bodyPr wrap="square" lIns="0" tIns="0" rIns="0" bIns="0" rtlCol="0" anchor="t"/>
          <a:lstStyle/>
          <a:p>
            <a:pPr rtl="1" algn="r" indent="0" marL="0">
              <a:lnSpc>
                <a:spcPct val="95000"/>
              </a:lnSpc>
              <a:buNone/>
            </a:pPr>
            <a:r>
              <a:rPr lang="ar-SA" altLang="en-US" sz="1500" b="1" dirty="0">
                <a:solidFill>
                  <a:srgbClr val="1A1A1A"/>
                </a:solidFill>
                <a:latin typeface="Cairo" pitchFamily="34" charset="0"/>
                <a:ea typeface="Cairo" pitchFamily="34" charset="-122"/>
                <a:cs typeface="Cairo" pitchFamily="34" charset="-120"/>
              </a:rPr>
              <a:t>خريطة الأدوات الشخصية</a:t>
            </a:r>
            <a:endParaRPr lang="ar-SA" sz="1500" dirty="0"/>
          </a:p>
        </p:txBody>
      </p:sp>
      <p:sp>
        <p:nvSpPr>
          <p:cNvPr id="11" name="Shape 8"/>
          <p:cNvSpPr/>
          <p:nvPr/>
        </p:nvSpPr>
        <p:spPr>
          <a:xfrm>
            <a:off x="7315017" y="1783080"/>
            <a:ext cx="2072579" cy="1691640"/>
          </a:xfrm>
          <a:prstGeom prst="roundRect">
            <a:avLst>
              <a:gd name="adj" fmla="val 5405"/>
            </a:avLst>
          </a:prstGeom>
          <a:solidFill>
            <a:srgbClr val="F2F4F1"/>
          </a:solidFill>
          <a:ln w="12700">
            <a:solidFill>
              <a:srgbClr val="F2F4F1"/>
            </a:solidFill>
            <a:prstDash val="solid"/>
          </a:ln>
        </p:spPr>
      </p:sp>
      <p:sp>
        <p:nvSpPr>
          <p:cNvPr id="12" name="Text 9"/>
          <p:cNvSpPr txBox="1"/>
          <p:nvPr/>
        </p:nvSpPr>
        <p:spPr>
          <a:xfrm>
            <a:off x="8363468" y="1920240"/>
            <a:ext cx="822960" cy="457200"/>
          </a:xfrm>
          <a:prstGeom prst="rect">
            <a:avLst/>
          </a:prstGeom>
          <a:noFill/>
          <a:ln/>
        </p:spPr>
        <p:txBody>
          <a:bodyPr wrap="square" lIns="0" tIns="0" rIns="0" bIns="0" rtlCol="0" anchor="t"/>
          <a:lstStyle/>
          <a:p>
            <a:pPr rtl="1" algn="r" indent="0" marL="0">
              <a:lnSpc>
                <a:spcPct val="100000"/>
              </a:lnSpc>
              <a:buNone/>
            </a:pPr>
            <a:r>
              <a:rPr lang="ar-SA" altLang="en-US" sz="2400" b="1" dirty="0">
                <a:solidFill>
                  <a:srgbClr val="4DB449"/>
                </a:solidFill>
                <a:latin typeface="Cairo" pitchFamily="34" charset="0"/>
                <a:ea typeface="Cairo" pitchFamily="34" charset="-122"/>
                <a:cs typeface="Cairo" pitchFamily="34" charset="-120"/>
              </a:rPr>
              <a:t>02</a:t>
            </a:r>
            <a:endParaRPr lang="ar-SA" sz="2400" dirty="0"/>
          </a:p>
        </p:txBody>
      </p:sp>
      <p:sp>
        <p:nvSpPr>
          <p:cNvPr id="13" name="Text 10"/>
          <p:cNvSpPr txBox="1"/>
          <p:nvPr/>
        </p:nvSpPr>
        <p:spPr>
          <a:xfrm>
            <a:off x="7479609" y="2377440"/>
            <a:ext cx="1706819" cy="292608"/>
          </a:xfrm>
          <a:prstGeom prst="rect">
            <a:avLst/>
          </a:prstGeom>
          <a:noFill/>
          <a:ln/>
        </p:spPr>
        <p:txBody>
          <a:bodyPr wrap="square" lIns="0" tIns="0" rIns="0" bIns="0" rtlCol="0" anchor="t"/>
          <a:lstStyle/>
          <a:p>
            <a:pPr rtl="1" algn="r" indent="0" marL="0">
              <a:lnSpc>
                <a:spcPct val="100000"/>
              </a:lnSpc>
              <a:buNone/>
            </a:pPr>
            <a:r>
              <a:rPr lang="ar-SA" altLang="en-US" sz="1100" b="1" dirty="0">
                <a:solidFill>
                  <a:srgbClr val="727274"/>
                </a:solidFill>
                <a:latin typeface="IBM Plex Sans Arabic" pitchFamily="34" charset="0"/>
                <a:ea typeface="IBM Plex Sans Arabic" pitchFamily="34" charset="-122"/>
                <a:cs typeface="IBM Plex Sans Arabic" pitchFamily="34" charset="-120"/>
              </a:rPr>
              <a:t>M2 · كتابة الأوامر</a:t>
            </a:r>
            <a:endParaRPr lang="ar-SA" sz="1100" dirty="0"/>
          </a:p>
        </p:txBody>
      </p:sp>
      <p:sp>
        <p:nvSpPr>
          <p:cNvPr id="14" name="Text 11"/>
          <p:cNvSpPr txBox="1"/>
          <p:nvPr/>
        </p:nvSpPr>
        <p:spPr>
          <a:xfrm>
            <a:off x="7479609" y="2679192"/>
            <a:ext cx="1706819" cy="731520"/>
          </a:xfrm>
          <a:prstGeom prst="rect">
            <a:avLst/>
          </a:prstGeom>
          <a:noFill/>
          <a:ln/>
        </p:spPr>
        <p:txBody>
          <a:bodyPr wrap="square" lIns="0" tIns="0" rIns="0" bIns="0" rtlCol="0" anchor="t"/>
          <a:lstStyle/>
          <a:p>
            <a:pPr rtl="1" algn="r" indent="0" marL="0">
              <a:lnSpc>
                <a:spcPct val="95000"/>
              </a:lnSpc>
              <a:buNone/>
            </a:pPr>
            <a:r>
              <a:rPr lang="ar-SA" altLang="en-US" sz="1500" b="1" dirty="0">
                <a:solidFill>
                  <a:srgbClr val="1A1A1A"/>
                </a:solidFill>
                <a:latin typeface="Cairo" pitchFamily="34" charset="0"/>
                <a:ea typeface="Cairo" pitchFamily="34" charset="-122"/>
                <a:cs typeface="Cairo" pitchFamily="34" charset="-120"/>
              </a:rPr>
              <a:t>مساعد بصوت العلامة</a:t>
            </a:r>
            <a:endParaRPr lang="ar-SA" sz="1500" dirty="0"/>
          </a:p>
        </p:txBody>
      </p:sp>
      <p:sp>
        <p:nvSpPr>
          <p:cNvPr id="15" name="Shape 12"/>
          <p:cNvSpPr/>
          <p:nvPr/>
        </p:nvSpPr>
        <p:spPr>
          <a:xfrm>
            <a:off x="5059558" y="1783080"/>
            <a:ext cx="2072579" cy="1691640"/>
          </a:xfrm>
          <a:prstGeom prst="roundRect">
            <a:avLst>
              <a:gd name="adj" fmla="val 5405"/>
            </a:avLst>
          </a:prstGeom>
          <a:solidFill>
            <a:srgbClr val="EAF5E8"/>
          </a:solidFill>
          <a:ln w="12700">
            <a:solidFill>
              <a:srgbClr val="EAF5E8"/>
            </a:solidFill>
            <a:prstDash val="solid"/>
          </a:ln>
        </p:spPr>
      </p:sp>
      <p:sp>
        <p:nvSpPr>
          <p:cNvPr id="16" name="Text 13"/>
          <p:cNvSpPr txBox="1"/>
          <p:nvPr/>
        </p:nvSpPr>
        <p:spPr>
          <a:xfrm>
            <a:off x="6108009" y="1920240"/>
            <a:ext cx="822960" cy="457200"/>
          </a:xfrm>
          <a:prstGeom prst="rect">
            <a:avLst/>
          </a:prstGeom>
          <a:noFill/>
          <a:ln/>
        </p:spPr>
        <p:txBody>
          <a:bodyPr wrap="square" lIns="0" tIns="0" rIns="0" bIns="0" rtlCol="0" anchor="t"/>
          <a:lstStyle/>
          <a:p>
            <a:pPr rtl="1" algn="r" indent="0" marL="0">
              <a:lnSpc>
                <a:spcPct val="100000"/>
              </a:lnSpc>
              <a:buNone/>
            </a:pPr>
            <a:r>
              <a:rPr lang="ar-SA" altLang="en-US" sz="2400" b="1" dirty="0">
                <a:solidFill>
                  <a:srgbClr val="4DB449"/>
                </a:solidFill>
                <a:latin typeface="Cairo" pitchFamily="34" charset="0"/>
                <a:ea typeface="Cairo" pitchFamily="34" charset="-122"/>
                <a:cs typeface="Cairo" pitchFamily="34" charset="-120"/>
              </a:rPr>
              <a:t>03</a:t>
            </a:r>
            <a:endParaRPr lang="ar-SA" sz="2400" dirty="0"/>
          </a:p>
        </p:txBody>
      </p:sp>
      <p:sp>
        <p:nvSpPr>
          <p:cNvPr id="17" name="Text 14"/>
          <p:cNvSpPr txBox="1"/>
          <p:nvPr/>
        </p:nvSpPr>
        <p:spPr>
          <a:xfrm>
            <a:off x="5224150" y="2377440"/>
            <a:ext cx="1706819" cy="292608"/>
          </a:xfrm>
          <a:prstGeom prst="rect">
            <a:avLst/>
          </a:prstGeom>
          <a:noFill/>
          <a:ln/>
        </p:spPr>
        <p:txBody>
          <a:bodyPr wrap="square" lIns="0" tIns="0" rIns="0" bIns="0" rtlCol="0" anchor="t"/>
          <a:lstStyle/>
          <a:p>
            <a:pPr rtl="1" algn="r" indent="0" marL="0">
              <a:lnSpc>
                <a:spcPct val="100000"/>
              </a:lnSpc>
              <a:buNone/>
            </a:pPr>
            <a:r>
              <a:rPr lang="ar-SA" altLang="en-US" sz="1100" b="1" dirty="0">
                <a:solidFill>
                  <a:srgbClr val="727274"/>
                </a:solidFill>
                <a:latin typeface="IBM Plex Sans Arabic" pitchFamily="34" charset="0"/>
                <a:ea typeface="IBM Plex Sans Arabic" pitchFamily="34" charset="-122"/>
                <a:cs typeface="IBM Plex Sans Arabic" pitchFamily="34" charset="-120"/>
              </a:rPr>
              <a:t>M3 · البحث وكتابة المحتوى</a:t>
            </a:r>
            <a:endParaRPr lang="ar-SA" sz="1100" dirty="0"/>
          </a:p>
        </p:txBody>
      </p:sp>
      <p:sp>
        <p:nvSpPr>
          <p:cNvPr id="18" name="Text 15"/>
          <p:cNvSpPr txBox="1"/>
          <p:nvPr/>
        </p:nvSpPr>
        <p:spPr>
          <a:xfrm>
            <a:off x="5224150" y="2679192"/>
            <a:ext cx="1706819" cy="731520"/>
          </a:xfrm>
          <a:prstGeom prst="rect">
            <a:avLst/>
          </a:prstGeom>
          <a:noFill/>
          <a:ln/>
        </p:spPr>
        <p:txBody>
          <a:bodyPr wrap="square" lIns="0" tIns="0" rIns="0" bIns="0" rtlCol="0" anchor="t"/>
          <a:lstStyle/>
          <a:p>
            <a:pPr rtl="1" algn="r" indent="0" marL="0">
              <a:lnSpc>
                <a:spcPct val="95000"/>
              </a:lnSpc>
              <a:buNone/>
            </a:pPr>
            <a:r>
              <a:rPr lang="ar-SA" altLang="en-US" sz="1500" b="1" dirty="0">
                <a:solidFill>
                  <a:srgbClr val="1A1A1A"/>
                </a:solidFill>
                <a:latin typeface="Cairo" pitchFamily="34" charset="0"/>
                <a:ea typeface="Cairo" pitchFamily="34" charset="-122"/>
                <a:cs typeface="Cairo" pitchFamily="34" charset="-120"/>
              </a:rPr>
              <a:t>حزمة من البحث إلى المحتوى</a:t>
            </a:r>
            <a:endParaRPr lang="ar-SA" sz="1500" dirty="0"/>
          </a:p>
        </p:txBody>
      </p:sp>
      <p:sp>
        <p:nvSpPr>
          <p:cNvPr id="19" name="Shape 16"/>
          <p:cNvSpPr/>
          <p:nvPr/>
        </p:nvSpPr>
        <p:spPr>
          <a:xfrm>
            <a:off x="2804099" y="1783080"/>
            <a:ext cx="2072579" cy="1691640"/>
          </a:xfrm>
          <a:prstGeom prst="roundRect">
            <a:avLst>
              <a:gd name="adj" fmla="val 5405"/>
            </a:avLst>
          </a:prstGeom>
          <a:solidFill>
            <a:srgbClr val="F2F4F1"/>
          </a:solidFill>
          <a:ln w="12700">
            <a:solidFill>
              <a:srgbClr val="F2F4F1"/>
            </a:solidFill>
            <a:prstDash val="solid"/>
          </a:ln>
        </p:spPr>
      </p:sp>
      <p:sp>
        <p:nvSpPr>
          <p:cNvPr id="20" name="Text 17"/>
          <p:cNvSpPr txBox="1"/>
          <p:nvPr/>
        </p:nvSpPr>
        <p:spPr>
          <a:xfrm>
            <a:off x="3852550" y="1920240"/>
            <a:ext cx="822960" cy="457200"/>
          </a:xfrm>
          <a:prstGeom prst="rect">
            <a:avLst/>
          </a:prstGeom>
          <a:noFill/>
          <a:ln/>
        </p:spPr>
        <p:txBody>
          <a:bodyPr wrap="square" lIns="0" tIns="0" rIns="0" bIns="0" rtlCol="0" anchor="t"/>
          <a:lstStyle/>
          <a:p>
            <a:pPr rtl="1" algn="r" indent="0" marL="0">
              <a:lnSpc>
                <a:spcPct val="100000"/>
              </a:lnSpc>
              <a:buNone/>
            </a:pPr>
            <a:r>
              <a:rPr lang="ar-SA" altLang="en-US" sz="2400" b="1" dirty="0">
                <a:solidFill>
                  <a:srgbClr val="4DB449"/>
                </a:solidFill>
                <a:latin typeface="Cairo" pitchFamily="34" charset="0"/>
                <a:ea typeface="Cairo" pitchFamily="34" charset="-122"/>
                <a:cs typeface="Cairo" pitchFamily="34" charset="-120"/>
              </a:rPr>
              <a:t>04</a:t>
            </a:r>
            <a:endParaRPr lang="ar-SA" sz="2400" dirty="0"/>
          </a:p>
        </p:txBody>
      </p:sp>
      <p:sp>
        <p:nvSpPr>
          <p:cNvPr id="21" name="Text 18"/>
          <p:cNvSpPr txBox="1"/>
          <p:nvPr/>
        </p:nvSpPr>
        <p:spPr>
          <a:xfrm>
            <a:off x="2968691" y="2377440"/>
            <a:ext cx="1706819" cy="292608"/>
          </a:xfrm>
          <a:prstGeom prst="rect">
            <a:avLst/>
          </a:prstGeom>
          <a:noFill/>
          <a:ln/>
        </p:spPr>
        <p:txBody>
          <a:bodyPr wrap="square" lIns="0" tIns="0" rIns="0" bIns="0" rtlCol="0" anchor="t"/>
          <a:lstStyle/>
          <a:p>
            <a:pPr rtl="1" algn="r" indent="0" marL="0">
              <a:lnSpc>
                <a:spcPct val="100000"/>
              </a:lnSpc>
              <a:buNone/>
            </a:pPr>
            <a:r>
              <a:rPr lang="ar-SA" altLang="en-US" sz="1100" b="1" dirty="0">
                <a:solidFill>
                  <a:srgbClr val="727274"/>
                </a:solidFill>
                <a:latin typeface="IBM Plex Sans Arabic" pitchFamily="34" charset="0"/>
                <a:ea typeface="IBM Plex Sans Arabic" pitchFamily="34" charset="-122"/>
                <a:cs typeface="IBM Plex Sans Arabic" pitchFamily="34" charset="-120"/>
              </a:rPr>
              <a:t>M4 · Claude Code عملياً</a:t>
            </a:r>
            <a:endParaRPr lang="ar-SA" sz="1100" dirty="0"/>
          </a:p>
        </p:txBody>
      </p:sp>
      <p:sp>
        <p:nvSpPr>
          <p:cNvPr id="22" name="Text 19"/>
          <p:cNvSpPr txBox="1"/>
          <p:nvPr/>
        </p:nvSpPr>
        <p:spPr>
          <a:xfrm>
            <a:off x="2968691" y="2679192"/>
            <a:ext cx="1706819" cy="731520"/>
          </a:xfrm>
          <a:prstGeom prst="rect">
            <a:avLst/>
          </a:prstGeom>
          <a:noFill/>
          <a:ln/>
        </p:spPr>
        <p:txBody>
          <a:bodyPr wrap="square" lIns="0" tIns="0" rIns="0" bIns="0" rtlCol="0" anchor="t"/>
          <a:lstStyle/>
          <a:p>
            <a:pPr rtl="1" algn="r" indent="0" marL="0">
              <a:lnSpc>
                <a:spcPct val="95000"/>
              </a:lnSpc>
              <a:buNone/>
            </a:pPr>
            <a:r>
              <a:rPr lang="ar-SA" altLang="en-US" sz="1500" b="1" dirty="0">
                <a:solidFill>
                  <a:srgbClr val="1A1A1A"/>
                </a:solidFill>
                <a:latin typeface="Cairo" pitchFamily="34" charset="0"/>
                <a:ea typeface="Cairo" pitchFamily="34" charset="-122"/>
                <a:cs typeface="Cairo" pitchFamily="34" charset="-120"/>
              </a:rPr>
              <a:t>صفحة هبوط منشورة وتقرير بيانات</a:t>
            </a:r>
            <a:endParaRPr lang="ar-SA" sz="1500" dirty="0"/>
          </a:p>
        </p:txBody>
      </p:sp>
      <p:sp>
        <p:nvSpPr>
          <p:cNvPr id="23" name="Shape 20"/>
          <p:cNvSpPr/>
          <p:nvPr/>
        </p:nvSpPr>
        <p:spPr>
          <a:xfrm>
            <a:off x="548640" y="1783080"/>
            <a:ext cx="2072579" cy="1691640"/>
          </a:xfrm>
          <a:prstGeom prst="roundRect">
            <a:avLst>
              <a:gd name="adj" fmla="val 5405"/>
            </a:avLst>
          </a:prstGeom>
          <a:solidFill>
            <a:srgbClr val="EAF5E8"/>
          </a:solidFill>
          <a:ln w="12700">
            <a:solidFill>
              <a:srgbClr val="EAF5E8"/>
            </a:solidFill>
            <a:prstDash val="solid"/>
          </a:ln>
        </p:spPr>
      </p:sp>
      <p:sp>
        <p:nvSpPr>
          <p:cNvPr id="24" name="Text 21"/>
          <p:cNvSpPr txBox="1"/>
          <p:nvPr/>
        </p:nvSpPr>
        <p:spPr>
          <a:xfrm>
            <a:off x="1597091" y="1920240"/>
            <a:ext cx="822960" cy="457200"/>
          </a:xfrm>
          <a:prstGeom prst="rect">
            <a:avLst/>
          </a:prstGeom>
          <a:noFill/>
          <a:ln/>
        </p:spPr>
        <p:txBody>
          <a:bodyPr wrap="square" lIns="0" tIns="0" rIns="0" bIns="0" rtlCol="0" anchor="t"/>
          <a:lstStyle/>
          <a:p>
            <a:pPr rtl="1" algn="r" indent="0" marL="0">
              <a:lnSpc>
                <a:spcPct val="100000"/>
              </a:lnSpc>
              <a:buNone/>
            </a:pPr>
            <a:r>
              <a:rPr lang="ar-SA" altLang="en-US" sz="2400" b="1" dirty="0">
                <a:solidFill>
                  <a:srgbClr val="4DB449"/>
                </a:solidFill>
                <a:latin typeface="Cairo" pitchFamily="34" charset="0"/>
                <a:ea typeface="Cairo" pitchFamily="34" charset="-122"/>
                <a:cs typeface="Cairo" pitchFamily="34" charset="-120"/>
              </a:rPr>
              <a:t>05</a:t>
            </a:r>
            <a:endParaRPr lang="ar-SA" sz="2400" dirty="0"/>
          </a:p>
        </p:txBody>
      </p:sp>
      <p:sp>
        <p:nvSpPr>
          <p:cNvPr id="25" name="Text 22"/>
          <p:cNvSpPr txBox="1"/>
          <p:nvPr/>
        </p:nvSpPr>
        <p:spPr>
          <a:xfrm>
            <a:off x="713232" y="2377440"/>
            <a:ext cx="1706819" cy="292608"/>
          </a:xfrm>
          <a:prstGeom prst="rect">
            <a:avLst/>
          </a:prstGeom>
          <a:noFill/>
          <a:ln/>
        </p:spPr>
        <p:txBody>
          <a:bodyPr wrap="square" lIns="0" tIns="0" rIns="0" bIns="0" rtlCol="0" anchor="t"/>
          <a:lstStyle/>
          <a:p>
            <a:pPr rtl="1" algn="r" indent="0" marL="0">
              <a:lnSpc>
                <a:spcPct val="100000"/>
              </a:lnSpc>
              <a:buNone/>
            </a:pPr>
            <a:r>
              <a:rPr lang="ar-SA" altLang="en-US" sz="1100" b="1" dirty="0">
                <a:solidFill>
                  <a:srgbClr val="727274"/>
                </a:solidFill>
                <a:latin typeface="IBM Plex Sans Arabic" pitchFamily="34" charset="0"/>
                <a:ea typeface="IBM Plex Sans Arabic" pitchFamily="34" charset="-122"/>
                <a:cs typeface="IBM Plex Sans Arabic" pitchFamily="34" charset="-120"/>
              </a:rPr>
              <a:t>M5 · مهارات Claude Code</a:t>
            </a:r>
            <a:endParaRPr lang="ar-SA" sz="1100" dirty="0"/>
          </a:p>
        </p:txBody>
      </p:sp>
      <p:sp>
        <p:nvSpPr>
          <p:cNvPr id="26" name="Text 23"/>
          <p:cNvSpPr txBox="1"/>
          <p:nvPr/>
        </p:nvSpPr>
        <p:spPr>
          <a:xfrm>
            <a:off x="713232" y="2679192"/>
            <a:ext cx="1706819" cy="731520"/>
          </a:xfrm>
          <a:prstGeom prst="rect">
            <a:avLst/>
          </a:prstGeom>
          <a:noFill/>
          <a:ln/>
        </p:spPr>
        <p:txBody>
          <a:bodyPr wrap="square" lIns="0" tIns="0" rIns="0" bIns="0" rtlCol="0" anchor="t"/>
          <a:lstStyle/>
          <a:p>
            <a:pPr rtl="1" algn="r" indent="0" marL="0">
              <a:lnSpc>
                <a:spcPct val="95000"/>
              </a:lnSpc>
              <a:buNone/>
            </a:pPr>
            <a:r>
              <a:rPr lang="ar-SA" altLang="en-US" sz="1500" b="1" dirty="0">
                <a:solidFill>
                  <a:srgbClr val="1A1A1A"/>
                </a:solidFill>
                <a:latin typeface="Cairo" pitchFamily="34" charset="0"/>
                <a:ea typeface="Cairo" pitchFamily="34" charset="-122"/>
                <a:cs typeface="Cairo" pitchFamily="34" charset="-120"/>
              </a:rPr>
              <a:t>مهارة مخصّصة للمحتوى</a:t>
            </a:r>
            <a:endParaRPr lang="ar-SA" sz="1500" dirty="0"/>
          </a:p>
        </p:txBody>
      </p:sp>
      <p:sp>
        <p:nvSpPr>
          <p:cNvPr id="27" name="Shape 24"/>
          <p:cNvSpPr/>
          <p:nvPr/>
        </p:nvSpPr>
        <p:spPr>
          <a:xfrm>
            <a:off x="9570476" y="3657600"/>
            <a:ext cx="2072579" cy="1691640"/>
          </a:xfrm>
          <a:prstGeom prst="roundRect">
            <a:avLst>
              <a:gd name="adj" fmla="val 5405"/>
            </a:avLst>
          </a:prstGeom>
          <a:solidFill>
            <a:srgbClr val="F2F4F1"/>
          </a:solidFill>
          <a:ln w="12700">
            <a:solidFill>
              <a:srgbClr val="F2F4F1"/>
            </a:solidFill>
            <a:prstDash val="solid"/>
          </a:ln>
        </p:spPr>
      </p:sp>
      <p:sp>
        <p:nvSpPr>
          <p:cNvPr id="28" name="Text 25"/>
          <p:cNvSpPr txBox="1"/>
          <p:nvPr/>
        </p:nvSpPr>
        <p:spPr>
          <a:xfrm>
            <a:off x="10618927" y="3794760"/>
            <a:ext cx="822960" cy="457200"/>
          </a:xfrm>
          <a:prstGeom prst="rect">
            <a:avLst/>
          </a:prstGeom>
          <a:noFill/>
          <a:ln/>
        </p:spPr>
        <p:txBody>
          <a:bodyPr wrap="square" lIns="0" tIns="0" rIns="0" bIns="0" rtlCol="0" anchor="t"/>
          <a:lstStyle/>
          <a:p>
            <a:pPr rtl="1" algn="r" indent="0" marL="0">
              <a:lnSpc>
                <a:spcPct val="100000"/>
              </a:lnSpc>
              <a:buNone/>
            </a:pPr>
            <a:r>
              <a:rPr lang="ar-SA" altLang="en-US" sz="2400" b="1" dirty="0">
                <a:solidFill>
                  <a:srgbClr val="4DB449"/>
                </a:solidFill>
                <a:latin typeface="Cairo" pitchFamily="34" charset="0"/>
                <a:ea typeface="Cairo" pitchFamily="34" charset="-122"/>
                <a:cs typeface="Cairo" pitchFamily="34" charset="-120"/>
              </a:rPr>
              <a:t>06</a:t>
            </a:r>
            <a:endParaRPr lang="ar-SA" sz="2400" dirty="0"/>
          </a:p>
        </p:txBody>
      </p:sp>
      <p:sp>
        <p:nvSpPr>
          <p:cNvPr id="29" name="Text 26"/>
          <p:cNvSpPr txBox="1"/>
          <p:nvPr/>
        </p:nvSpPr>
        <p:spPr>
          <a:xfrm>
            <a:off x="9735068" y="4251960"/>
            <a:ext cx="1706819" cy="292608"/>
          </a:xfrm>
          <a:prstGeom prst="rect">
            <a:avLst/>
          </a:prstGeom>
          <a:noFill/>
          <a:ln/>
        </p:spPr>
        <p:txBody>
          <a:bodyPr wrap="square" lIns="0" tIns="0" rIns="0" bIns="0" rtlCol="0" anchor="t"/>
          <a:lstStyle/>
          <a:p>
            <a:pPr rtl="1" algn="r" indent="0" marL="0">
              <a:lnSpc>
                <a:spcPct val="100000"/>
              </a:lnSpc>
              <a:buNone/>
            </a:pPr>
            <a:r>
              <a:rPr lang="ar-SA" altLang="en-US" sz="1100" b="1" dirty="0">
                <a:solidFill>
                  <a:srgbClr val="727274"/>
                </a:solidFill>
                <a:latin typeface="IBM Plex Sans Arabic" pitchFamily="34" charset="0"/>
                <a:ea typeface="IBM Plex Sans Arabic" pitchFamily="34" charset="-122"/>
                <a:cs typeface="IBM Plex Sans Arabic" pitchFamily="34" charset="-120"/>
              </a:rPr>
              <a:t>M6 · التصميم والصور</a:t>
            </a:r>
            <a:endParaRPr lang="ar-SA" sz="1100" dirty="0"/>
          </a:p>
        </p:txBody>
      </p:sp>
      <p:sp>
        <p:nvSpPr>
          <p:cNvPr id="30" name="Text 27"/>
          <p:cNvSpPr txBox="1"/>
          <p:nvPr/>
        </p:nvSpPr>
        <p:spPr>
          <a:xfrm>
            <a:off x="9735068" y="4553712"/>
            <a:ext cx="1706819" cy="731520"/>
          </a:xfrm>
          <a:prstGeom prst="rect">
            <a:avLst/>
          </a:prstGeom>
          <a:noFill/>
          <a:ln/>
        </p:spPr>
        <p:txBody>
          <a:bodyPr wrap="square" lIns="0" tIns="0" rIns="0" bIns="0" rtlCol="0" anchor="t"/>
          <a:lstStyle/>
          <a:p>
            <a:pPr rtl="1" algn="r" indent="0" marL="0">
              <a:lnSpc>
                <a:spcPct val="95000"/>
              </a:lnSpc>
              <a:buNone/>
            </a:pPr>
            <a:r>
              <a:rPr lang="ar-SA" altLang="en-US" sz="1500" b="1" dirty="0">
                <a:solidFill>
                  <a:srgbClr val="1A1A1A"/>
                </a:solidFill>
                <a:latin typeface="Cairo" pitchFamily="34" charset="0"/>
                <a:ea typeface="Cairo" pitchFamily="34" charset="-122"/>
                <a:cs typeface="Cairo" pitchFamily="34" charset="-120"/>
              </a:rPr>
              <a:t>الحزمة البصرية للعلامة</a:t>
            </a:r>
            <a:endParaRPr lang="ar-SA" sz="1500" dirty="0"/>
          </a:p>
        </p:txBody>
      </p:sp>
      <p:sp>
        <p:nvSpPr>
          <p:cNvPr id="31" name="Shape 28"/>
          <p:cNvSpPr/>
          <p:nvPr/>
        </p:nvSpPr>
        <p:spPr>
          <a:xfrm>
            <a:off x="7315017" y="3657600"/>
            <a:ext cx="2072579" cy="1691640"/>
          </a:xfrm>
          <a:prstGeom prst="roundRect">
            <a:avLst>
              <a:gd name="adj" fmla="val 5405"/>
            </a:avLst>
          </a:prstGeom>
          <a:solidFill>
            <a:srgbClr val="EAF5E8"/>
          </a:solidFill>
          <a:ln w="12700">
            <a:solidFill>
              <a:srgbClr val="EAF5E8"/>
            </a:solidFill>
            <a:prstDash val="solid"/>
          </a:ln>
        </p:spPr>
      </p:sp>
      <p:sp>
        <p:nvSpPr>
          <p:cNvPr id="32" name="Text 29"/>
          <p:cNvSpPr txBox="1"/>
          <p:nvPr/>
        </p:nvSpPr>
        <p:spPr>
          <a:xfrm>
            <a:off x="8363468" y="3794760"/>
            <a:ext cx="822960" cy="457200"/>
          </a:xfrm>
          <a:prstGeom prst="rect">
            <a:avLst/>
          </a:prstGeom>
          <a:noFill/>
          <a:ln/>
        </p:spPr>
        <p:txBody>
          <a:bodyPr wrap="square" lIns="0" tIns="0" rIns="0" bIns="0" rtlCol="0" anchor="t"/>
          <a:lstStyle/>
          <a:p>
            <a:pPr rtl="1" algn="r" indent="0" marL="0">
              <a:lnSpc>
                <a:spcPct val="100000"/>
              </a:lnSpc>
              <a:buNone/>
            </a:pPr>
            <a:r>
              <a:rPr lang="ar-SA" altLang="en-US" sz="2400" b="1" dirty="0">
                <a:solidFill>
                  <a:srgbClr val="4DB449"/>
                </a:solidFill>
                <a:latin typeface="Cairo" pitchFamily="34" charset="0"/>
                <a:ea typeface="Cairo" pitchFamily="34" charset="-122"/>
                <a:cs typeface="Cairo" pitchFamily="34" charset="-120"/>
              </a:rPr>
              <a:t>07</a:t>
            </a:r>
            <a:endParaRPr lang="ar-SA" sz="2400" dirty="0"/>
          </a:p>
        </p:txBody>
      </p:sp>
      <p:sp>
        <p:nvSpPr>
          <p:cNvPr id="33" name="Text 30"/>
          <p:cNvSpPr txBox="1"/>
          <p:nvPr/>
        </p:nvSpPr>
        <p:spPr>
          <a:xfrm>
            <a:off x="7479609" y="4251960"/>
            <a:ext cx="1706819" cy="292608"/>
          </a:xfrm>
          <a:prstGeom prst="rect">
            <a:avLst/>
          </a:prstGeom>
          <a:noFill/>
          <a:ln/>
        </p:spPr>
        <p:txBody>
          <a:bodyPr wrap="square" lIns="0" tIns="0" rIns="0" bIns="0" rtlCol="0" anchor="t"/>
          <a:lstStyle/>
          <a:p>
            <a:pPr rtl="1" algn="r" indent="0" marL="0">
              <a:lnSpc>
                <a:spcPct val="100000"/>
              </a:lnSpc>
              <a:buNone/>
            </a:pPr>
            <a:r>
              <a:rPr lang="ar-SA" altLang="en-US" sz="1100" b="1" dirty="0">
                <a:solidFill>
                  <a:srgbClr val="727274"/>
                </a:solidFill>
                <a:latin typeface="IBM Plex Sans Arabic" pitchFamily="34" charset="0"/>
                <a:ea typeface="IBM Plex Sans Arabic" pitchFamily="34" charset="-122"/>
                <a:cs typeface="IBM Plex Sans Arabic" pitchFamily="34" charset="-120"/>
              </a:rPr>
              <a:t>M7 · إنشاء الفيديو</a:t>
            </a:r>
            <a:endParaRPr lang="ar-SA" sz="1100" dirty="0"/>
          </a:p>
        </p:txBody>
      </p:sp>
      <p:sp>
        <p:nvSpPr>
          <p:cNvPr id="34" name="Text 31"/>
          <p:cNvSpPr txBox="1"/>
          <p:nvPr/>
        </p:nvSpPr>
        <p:spPr>
          <a:xfrm>
            <a:off x="7479609" y="4553712"/>
            <a:ext cx="1706819" cy="731520"/>
          </a:xfrm>
          <a:prstGeom prst="rect">
            <a:avLst/>
          </a:prstGeom>
          <a:noFill/>
          <a:ln/>
        </p:spPr>
        <p:txBody>
          <a:bodyPr wrap="square" lIns="0" tIns="0" rIns="0" bIns="0" rtlCol="0" anchor="t"/>
          <a:lstStyle/>
          <a:p>
            <a:pPr rtl="1" algn="r" indent="0" marL="0">
              <a:lnSpc>
                <a:spcPct val="95000"/>
              </a:lnSpc>
              <a:buNone/>
            </a:pPr>
            <a:r>
              <a:rPr lang="ar-SA" altLang="en-US" sz="1500" b="1" dirty="0">
                <a:solidFill>
                  <a:srgbClr val="1A1A1A"/>
                </a:solidFill>
                <a:latin typeface="Cairo" pitchFamily="34" charset="0"/>
                <a:ea typeface="Cairo" pitchFamily="34" charset="-122"/>
                <a:cs typeface="Cairo" pitchFamily="34" charset="-120"/>
              </a:rPr>
              <a:t>سلسلة لقطات مولَّدة</a:t>
            </a:r>
            <a:endParaRPr lang="ar-SA" sz="1500" dirty="0"/>
          </a:p>
        </p:txBody>
      </p:sp>
      <p:sp>
        <p:nvSpPr>
          <p:cNvPr id="35" name="Shape 32"/>
          <p:cNvSpPr/>
          <p:nvPr/>
        </p:nvSpPr>
        <p:spPr>
          <a:xfrm>
            <a:off x="5059558" y="3657600"/>
            <a:ext cx="2072579" cy="1691640"/>
          </a:xfrm>
          <a:prstGeom prst="roundRect">
            <a:avLst>
              <a:gd name="adj" fmla="val 5405"/>
            </a:avLst>
          </a:prstGeom>
          <a:solidFill>
            <a:srgbClr val="F2F4F1"/>
          </a:solidFill>
          <a:ln w="12700">
            <a:solidFill>
              <a:srgbClr val="F2F4F1"/>
            </a:solidFill>
            <a:prstDash val="solid"/>
          </a:ln>
        </p:spPr>
      </p:sp>
      <p:sp>
        <p:nvSpPr>
          <p:cNvPr id="36" name="Text 33"/>
          <p:cNvSpPr txBox="1"/>
          <p:nvPr/>
        </p:nvSpPr>
        <p:spPr>
          <a:xfrm>
            <a:off x="6108009" y="3794760"/>
            <a:ext cx="822960" cy="457200"/>
          </a:xfrm>
          <a:prstGeom prst="rect">
            <a:avLst/>
          </a:prstGeom>
          <a:noFill/>
          <a:ln/>
        </p:spPr>
        <p:txBody>
          <a:bodyPr wrap="square" lIns="0" tIns="0" rIns="0" bIns="0" rtlCol="0" anchor="t"/>
          <a:lstStyle/>
          <a:p>
            <a:pPr rtl="1" algn="r" indent="0" marL="0">
              <a:lnSpc>
                <a:spcPct val="100000"/>
              </a:lnSpc>
              <a:buNone/>
            </a:pPr>
            <a:r>
              <a:rPr lang="ar-SA" altLang="en-US" sz="2400" b="1" dirty="0">
                <a:solidFill>
                  <a:srgbClr val="4DB449"/>
                </a:solidFill>
                <a:latin typeface="Cairo" pitchFamily="34" charset="0"/>
                <a:ea typeface="Cairo" pitchFamily="34" charset="-122"/>
                <a:cs typeface="Cairo" pitchFamily="34" charset="-120"/>
              </a:rPr>
              <a:t>08</a:t>
            </a:r>
            <a:endParaRPr lang="ar-SA" sz="2400" dirty="0"/>
          </a:p>
        </p:txBody>
      </p:sp>
      <p:sp>
        <p:nvSpPr>
          <p:cNvPr id="37" name="Text 34"/>
          <p:cNvSpPr txBox="1"/>
          <p:nvPr/>
        </p:nvSpPr>
        <p:spPr>
          <a:xfrm>
            <a:off x="5224150" y="4251960"/>
            <a:ext cx="1706819" cy="292608"/>
          </a:xfrm>
          <a:prstGeom prst="rect">
            <a:avLst/>
          </a:prstGeom>
          <a:noFill/>
          <a:ln/>
        </p:spPr>
        <p:txBody>
          <a:bodyPr wrap="square" lIns="0" tIns="0" rIns="0" bIns="0" rtlCol="0" anchor="t"/>
          <a:lstStyle/>
          <a:p>
            <a:pPr rtl="1" algn="r" indent="0" marL="0">
              <a:lnSpc>
                <a:spcPct val="100000"/>
              </a:lnSpc>
              <a:buNone/>
            </a:pPr>
            <a:r>
              <a:rPr lang="ar-SA" altLang="en-US" sz="1100" b="1" dirty="0">
                <a:solidFill>
                  <a:srgbClr val="727274"/>
                </a:solidFill>
                <a:latin typeface="IBM Plex Sans Arabic" pitchFamily="34" charset="0"/>
                <a:ea typeface="IBM Plex Sans Arabic" pitchFamily="34" charset="-122"/>
                <a:cs typeface="IBM Plex Sans Arabic" pitchFamily="34" charset="-120"/>
              </a:rPr>
              <a:t>M8 · المونتاج والتحريك</a:t>
            </a:r>
            <a:endParaRPr lang="ar-SA" sz="1100" dirty="0"/>
          </a:p>
        </p:txBody>
      </p:sp>
      <p:sp>
        <p:nvSpPr>
          <p:cNvPr id="38" name="Text 35"/>
          <p:cNvSpPr txBox="1"/>
          <p:nvPr/>
        </p:nvSpPr>
        <p:spPr>
          <a:xfrm>
            <a:off x="5224150" y="4553712"/>
            <a:ext cx="1706819" cy="731520"/>
          </a:xfrm>
          <a:prstGeom prst="rect">
            <a:avLst/>
          </a:prstGeom>
          <a:noFill/>
          <a:ln/>
        </p:spPr>
        <p:txBody>
          <a:bodyPr wrap="square" lIns="0" tIns="0" rIns="0" bIns="0" rtlCol="0" anchor="t"/>
          <a:lstStyle/>
          <a:p>
            <a:pPr rtl="1" algn="r" indent="0" marL="0">
              <a:lnSpc>
                <a:spcPct val="95000"/>
              </a:lnSpc>
              <a:buNone/>
            </a:pPr>
            <a:r>
              <a:rPr lang="ar-SA" altLang="en-US" sz="1500" b="1" dirty="0">
                <a:solidFill>
                  <a:srgbClr val="1A1A1A"/>
                </a:solidFill>
                <a:latin typeface="Cairo" pitchFamily="34" charset="0"/>
                <a:ea typeface="Cairo" pitchFamily="34" charset="-122"/>
                <a:cs typeface="Cairo" pitchFamily="34" charset="-120"/>
              </a:rPr>
              <a:t>فيديو بعد المونتاج ومقاطع حركة</a:t>
            </a:r>
            <a:endParaRPr lang="ar-SA" sz="1500" dirty="0"/>
          </a:p>
        </p:txBody>
      </p:sp>
      <p:sp>
        <p:nvSpPr>
          <p:cNvPr id="39" name="Shape 36"/>
          <p:cNvSpPr/>
          <p:nvPr/>
        </p:nvSpPr>
        <p:spPr>
          <a:xfrm>
            <a:off x="2804099" y="3657600"/>
            <a:ext cx="2072579" cy="1691640"/>
          </a:xfrm>
          <a:prstGeom prst="roundRect">
            <a:avLst>
              <a:gd name="adj" fmla="val 5405"/>
            </a:avLst>
          </a:prstGeom>
          <a:solidFill>
            <a:srgbClr val="EAF5E8"/>
          </a:solidFill>
          <a:ln w="12700">
            <a:solidFill>
              <a:srgbClr val="EAF5E8"/>
            </a:solidFill>
            <a:prstDash val="solid"/>
          </a:ln>
        </p:spPr>
      </p:sp>
      <p:sp>
        <p:nvSpPr>
          <p:cNvPr id="40" name="Text 37"/>
          <p:cNvSpPr txBox="1"/>
          <p:nvPr/>
        </p:nvSpPr>
        <p:spPr>
          <a:xfrm>
            <a:off x="3852550" y="3794760"/>
            <a:ext cx="822960" cy="457200"/>
          </a:xfrm>
          <a:prstGeom prst="rect">
            <a:avLst/>
          </a:prstGeom>
          <a:noFill/>
          <a:ln/>
        </p:spPr>
        <p:txBody>
          <a:bodyPr wrap="square" lIns="0" tIns="0" rIns="0" bIns="0" rtlCol="0" anchor="t"/>
          <a:lstStyle/>
          <a:p>
            <a:pPr rtl="1" algn="r" indent="0" marL="0">
              <a:lnSpc>
                <a:spcPct val="100000"/>
              </a:lnSpc>
              <a:buNone/>
            </a:pPr>
            <a:r>
              <a:rPr lang="ar-SA" altLang="en-US" sz="2400" b="1" dirty="0">
                <a:solidFill>
                  <a:srgbClr val="4DB449"/>
                </a:solidFill>
                <a:latin typeface="Cairo" pitchFamily="34" charset="0"/>
                <a:ea typeface="Cairo" pitchFamily="34" charset="-122"/>
                <a:cs typeface="Cairo" pitchFamily="34" charset="-120"/>
              </a:rPr>
              <a:t>09</a:t>
            </a:r>
            <a:endParaRPr lang="ar-SA" sz="2400" dirty="0"/>
          </a:p>
        </p:txBody>
      </p:sp>
      <p:sp>
        <p:nvSpPr>
          <p:cNvPr id="41" name="Text 38"/>
          <p:cNvSpPr txBox="1"/>
          <p:nvPr/>
        </p:nvSpPr>
        <p:spPr>
          <a:xfrm>
            <a:off x="2968691" y="4251960"/>
            <a:ext cx="1706819" cy="292608"/>
          </a:xfrm>
          <a:prstGeom prst="rect">
            <a:avLst/>
          </a:prstGeom>
          <a:noFill/>
          <a:ln/>
        </p:spPr>
        <p:txBody>
          <a:bodyPr wrap="square" lIns="0" tIns="0" rIns="0" bIns="0" rtlCol="0" anchor="t"/>
          <a:lstStyle/>
          <a:p>
            <a:pPr rtl="1" algn="r" indent="0" marL="0">
              <a:lnSpc>
                <a:spcPct val="100000"/>
              </a:lnSpc>
              <a:buNone/>
            </a:pPr>
            <a:r>
              <a:rPr lang="ar-SA" altLang="en-US" sz="1100" b="1" dirty="0">
                <a:solidFill>
                  <a:srgbClr val="727274"/>
                </a:solidFill>
                <a:latin typeface="IBM Plex Sans Arabic" pitchFamily="34" charset="0"/>
                <a:ea typeface="IBM Plex Sans Arabic" pitchFamily="34" charset="-122"/>
                <a:cs typeface="IBM Plex Sans Arabic" pitchFamily="34" charset="-120"/>
              </a:rPr>
              <a:t>M9 · التعليق الصوتي والصوت</a:t>
            </a:r>
            <a:endParaRPr lang="ar-SA" sz="1100" dirty="0"/>
          </a:p>
        </p:txBody>
      </p:sp>
      <p:sp>
        <p:nvSpPr>
          <p:cNvPr id="42" name="Text 39"/>
          <p:cNvSpPr txBox="1"/>
          <p:nvPr/>
        </p:nvSpPr>
        <p:spPr>
          <a:xfrm>
            <a:off x="2968691" y="4553712"/>
            <a:ext cx="1706819" cy="731520"/>
          </a:xfrm>
          <a:prstGeom prst="rect">
            <a:avLst/>
          </a:prstGeom>
          <a:noFill/>
          <a:ln/>
        </p:spPr>
        <p:txBody>
          <a:bodyPr wrap="square" lIns="0" tIns="0" rIns="0" bIns="0" rtlCol="0" anchor="t"/>
          <a:lstStyle/>
          <a:p>
            <a:pPr rtl="1" algn="r" indent="0" marL="0">
              <a:lnSpc>
                <a:spcPct val="95000"/>
              </a:lnSpc>
              <a:buNone/>
            </a:pPr>
            <a:r>
              <a:rPr lang="ar-SA" altLang="en-US" sz="1500" b="1" dirty="0">
                <a:solidFill>
                  <a:srgbClr val="1A1A1A"/>
                </a:solidFill>
                <a:latin typeface="Cairo" pitchFamily="34" charset="0"/>
                <a:ea typeface="Cairo" pitchFamily="34" charset="-122"/>
                <a:cs typeface="Cairo" pitchFamily="34" charset="-120"/>
              </a:rPr>
              <a:t>فيديو بصوت ومزج كامل</a:t>
            </a:r>
            <a:endParaRPr lang="ar-SA" sz="1500" dirty="0"/>
          </a:p>
        </p:txBody>
      </p:sp>
      <p:sp>
        <p:nvSpPr>
          <p:cNvPr id="43" name="Shape 40"/>
          <p:cNvSpPr/>
          <p:nvPr/>
        </p:nvSpPr>
        <p:spPr>
          <a:xfrm>
            <a:off x="548640" y="3657600"/>
            <a:ext cx="2072579" cy="1691640"/>
          </a:xfrm>
          <a:prstGeom prst="roundRect">
            <a:avLst>
              <a:gd name="adj" fmla="val 5405"/>
            </a:avLst>
          </a:prstGeom>
          <a:solidFill>
            <a:srgbClr val="F2F4F1"/>
          </a:solidFill>
          <a:ln w="12700">
            <a:solidFill>
              <a:srgbClr val="F2F4F1"/>
            </a:solidFill>
            <a:prstDash val="solid"/>
          </a:ln>
        </p:spPr>
      </p:sp>
      <p:sp>
        <p:nvSpPr>
          <p:cNvPr id="44" name="Text 41"/>
          <p:cNvSpPr txBox="1"/>
          <p:nvPr/>
        </p:nvSpPr>
        <p:spPr>
          <a:xfrm>
            <a:off x="1597091" y="3794760"/>
            <a:ext cx="822960" cy="457200"/>
          </a:xfrm>
          <a:prstGeom prst="rect">
            <a:avLst/>
          </a:prstGeom>
          <a:noFill/>
          <a:ln/>
        </p:spPr>
        <p:txBody>
          <a:bodyPr wrap="square" lIns="0" tIns="0" rIns="0" bIns="0" rtlCol="0" anchor="t"/>
          <a:lstStyle/>
          <a:p>
            <a:pPr rtl="1" algn="r" indent="0" marL="0">
              <a:lnSpc>
                <a:spcPct val="100000"/>
              </a:lnSpc>
              <a:buNone/>
            </a:pPr>
            <a:r>
              <a:rPr lang="ar-SA" altLang="en-US" sz="2400" b="1" dirty="0">
                <a:solidFill>
                  <a:srgbClr val="4DB449"/>
                </a:solidFill>
                <a:latin typeface="Cairo" pitchFamily="34" charset="0"/>
                <a:ea typeface="Cairo" pitchFamily="34" charset="-122"/>
                <a:cs typeface="Cairo" pitchFamily="34" charset="-120"/>
              </a:rPr>
              <a:t>10</a:t>
            </a:r>
            <a:endParaRPr lang="ar-SA" sz="2400" dirty="0"/>
          </a:p>
        </p:txBody>
      </p:sp>
      <p:sp>
        <p:nvSpPr>
          <p:cNvPr id="45" name="Text 42"/>
          <p:cNvSpPr txBox="1"/>
          <p:nvPr/>
        </p:nvSpPr>
        <p:spPr>
          <a:xfrm>
            <a:off x="713232" y="4251960"/>
            <a:ext cx="1706819" cy="292608"/>
          </a:xfrm>
          <a:prstGeom prst="rect">
            <a:avLst/>
          </a:prstGeom>
          <a:noFill/>
          <a:ln/>
        </p:spPr>
        <p:txBody>
          <a:bodyPr wrap="square" lIns="0" tIns="0" rIns="0" bIns="0" rtlCol="0" anchor="t"/>
          <a:lstStyle/>
          <a:p>
            <a:pPr rtl="1" algn="r" indent="0" marL="0">
              <a:lnSpc>
                <a:spcPct val="100000"/>
              </a:lnSpc>
              <a:buNone/>
            </a:pPr>
            <a:r>
              <a:rPr lang="ar-SA" altLang="en-US" sz="1100" b="1" dirty="0">
                <a:solidFill>
                  <a:srgbClr val="727274"/>
                </a:solidFill>
                <a:latin typeface="IBM Plex Sans Arabic" pitchFamily="34" charset="0"/>
                <a:ea typeface="IBM Plex Sans Arabic" pitchFamily="34" charset="-122"/>
                <a:cs typeface="IBM Plex Sans Arabic" pitchFamily="34" charset="-120"/>
              </a:rPr>
              <a:t>M10 · أتمتة n8n</a:t>
            </a:r>
            <a:endParaRPr lang="ar-SA" sz="1100" dirty="0"/>
          </a:p>
        </p:txBody>
      </p:sp>
      <p:sp>
        <p:nvSpPr>
          <p:cNvPr id="46" name="Text 43"/>
          <p:cNvSpPr txBox="1"/>
          <p:nvPr/>
        </p:nvSpPr>
        <p:spPr>
          <a:xfrm>
            <a:off x="713232" y="4553712"/>
            <a:ext cx="1706819" cy="731520"/>
          </a:xfrm>
          <a:prstGeom prst="rect">
            <a:avLst/>
          </a:prstGeom>
          <a:noFill/>
          <a:ln/>
        </p:spPr>
        <p:txBody>
          <a:bodyPr wrap="square" lIns="0" tIns="0" rIns="0" bIns="0" rtlCol="0" anchor="t"/>
          <a:lstStyle/>
          <a:p>
            <a:pPr rtl="1" algn="r" indent="0" marL="0">
              <a:lnSpc>
                <a:spcPct val="95000"/>
              </a:lnSpc>
              <a:buNone/>
            </a:pPr>
            <a:r>
              <a:rPr lang="ar-SA" altLang="en-US" sz="1500" b="1" dirty="0">
                <a:solidFill>
                  <a:srgbClr val="1A1A1A"/>
                </a:solidFill>
                <a:latin typeface="Cairo" pitchFamily="34" charset="0"/>
                <a:ea typeface="Cairo" pitchFamily="34" charset="-122"/>
                <a:cs typeface="Cairo" pitchFamily="34" charset="-120"/>
              </a:rPr>
              <a:t>سير عمل لأتمتة المحتوى</a:t>
            </a:r>
            <a:endParaRPr lang="ar-SA" sz="1500" dirty="0"/>
          </a:p>
        </p:txBody>
      </p:sp>
      <p:sp>
        <p:nvSpPr>
          <p:cNvPr id="47" name="Shape 44"/>
          <p:cNvSpPr/>
          <p:nvPr/>
        </p:nvSpPr>
        <p:spPr>
          <a:xfrm>
            <a:off x="548640" y="5532120"/>
            <a:ext cx="11094415" cy="685800"/>
          </a:xfrm>
          <a:prstGeom prst="roundRect">
            <a:avLst>
              <a:gd name="adj" fmla="val 13333"/>
            </a:avLst>
          </a:prstGeom>
          <a:solidFill>
            <a:srgbClr val="000000"/>
          </a:solidFill>
          <a:ln w="12700">
            <a:solidFill>
              <a:srgbClr val="000000"/>
            </a:solidFill>
            <a:prstDash val="solid"/>
          </a:ln>
        </p:spPr>
      </p:sp>
      <p:pic>
        <p:nvPicPr>
          <p:cNvPr id="48" name="Image 1" descr="preencoded.png">    </p:cNvPr>
          <p:cNvPicPr>
            <a:picLocks noChangeAspect="1"/>
          </p:cNvPicPr>
          <p:nvPr/>
        </p:nvPicPr>
        <p:blipFill>
          <a:blip r:embed="rId2"/>
          <a:stretch>
            <a:fillRect/>
          </a:stretch>
        </p:blipFill>
        <p:spPr>
          <a:xfrm>
            <a:off x="11021263" y="5705856"/>
            <a:ext cx="347472" cy="347472"/>
          </a:xfrm>
          <a:prstGeom prst="rect">
            <a:avLst/>
          </a:prstGeom>
        </p:spPr>
      </p:pic>
      <p:sp>
        <p:nvSpPr>
          <p:cNvPr id="49" name="Text 45"/>
          <p:cNvSpPr txBox="1"/>
          <p:nvPr/>
        </p:nvSpPr>
        <p:spPr>
          <a:xfrm>
            <a:off x="8122615" y="5532120"/>
            <a:ext cx="2743200" cy="685800"/>
          </a:xfrm>
          <a:prstGeom prst="rect">
            <a:avLst/>
          </a:prstGeom>
          <a:noFill/>
          <a:ln/>
        </p:spPr>
        <p:txBody>
          <a:bodyPr wrap="square" lIns="0" tIns="0" rIns="0" bIns="0" rtlCol="0" anchor="ctr"/>
          <a:lstStyle/>
          <a:p>
            <a:pPr rtl="1" algn="r" indent="0" marL="0">
              <a:lnSpc>
                <a:spcPct val="100000"/>
              </a:lnSpc>
              <a:buNone/>
            </a:pPr>
            <a:r>
              <a:rPr lang="ar-SA" altLang="en-US" sz="1700" b="1" dirty="0">
                <a:solidFill>
                  <a:srgbClr val="A6D04B"/>
                </a:solidFill>
                <a:latin typeface="Cairo" pitchFamily="34" charset="0"/>
                <a:ea typeface="Cairo" pitchFamily="34" charset="-122"/>
                <a:cs typeface="Cairo" pitchFamily="34" charset="-120"/>
              </a:rPr>
              <a:t>المشروع النهائي</a:t>
            </a:r>
            <a:endParaRPr lang="ar-SA" sz="1700" dirty="0"/>
          </a:p>
        </p:txBody>
      </p:sp>
      <p:sp>
        <p:nvSpPr>
          <p:cNvPr id="50" name="Text 46"/>
          <p:cNvSpPr txBox="1"/>
          <p:nvPr/>
        </p:nvSpPr>
        <p:spPr>
          <a:xfrm>
            <a:off x="822960" y="5532120"/>
            <a:ext cx="7528255" cy="685800"/>
          </a:xfrm>
          <a:prstGeom prst="rect">
            <a:avLst/>
          </a:prstGeom>
          <a:noFill/>
          <a:ln/>
        </p:spPr>
        <p:txBody>
          <a:bodyPr wrap="square" lIns="0" tIns="0" rIns="0" bIns="0" rtlCol="0" anchor="ctr"/>
          <a:lstStyle/>
          <a:p>
            <a:pPr rtl="1" algn="r" indent="0" marL="0">
              <a:lnSpc>
                <a:spcPct val="100000"/>
              </a:lnSpc>
              <a:buNone/>
            </a:pPr>
            <a:r>
              <a:rPr lang="ar-SA" altLang="en-US" sz="1400" dirty="0">
                <a:solidFill>
                  <a:srgbClr val="FFFFFF"/>
                </a:solidFill>
                <a:latin typeface="IBM Plex Sans Arabic" pitchFamily="34" charset="0"/>
                <a:ea typeface="IBM Plex Sans Arabic" pitchFamily="34" charset="-122"/>
                <a:cs typeface="IBM Plex Sans Arabic" pitchFamily="34" charset="-120"/>
              </a:rPr>
              <a:t>المهارات العشر مجتمعة في حزمة محتوى متكاملة</a:t>
            </a:r>
            <a:endParaRPr lang="ar-SA"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Green Circle logo">    </p:cNvPr>
          <p:cNvPicPr>
            <a:picLocks noChangeAspect="1"/>
          </p:cNvPicPr>
          <p:nvPr/>
        </p:nvPicPr>
        <p:blipFill>
          <a:blip r:embed="rId1"/>
          <a:stretch>
            <a:fillRect/>
          </a:stretch>
        </p:blipFill>
        <p:spPr>
          <a:xfrm>
            <a:off x="548640" y="384048"/>
            <a:ext cx="1286501" cy="457200"/>
          </a:xfrm>
          <a:prstGeom prst="rect">
            <a:avLst/>
          </a:prstGeom>
        </p:spPr>
      </p:pic>
      <p:sp>
        <p:nvSpPr>
          <p:cNvPr id="3" name="Text 0"/>
          <p:cNvSpPr txBox="1"/>
          <p:nvPr/>
        </p:nvSpPr>
        <p:spPr>
          <a:xfrm>
            <a:off x="5242255" y="6446520"/>
            <a:ext cx="6400800" cy="228600"/>
          </a:xfrm>
          <a:prstGeom prst="rect">
            <a:avLst/>
          </a:prstGeom>
          <a:noFill/>
          <a:ln/>
        </p:spPr>
        <p:txBody>
          <a:bodyPr wrap="square" lIns="0" tIns="0" rIns="0" bIns="0" rtlCol="0" anchor="t"/>
          <a:lstStyle/>
          <a:p>
            <a:pPr rtl="1" algn="r" indent="0" marL="0">
              <a:lnSpc>
                <a:spcPct val="100000"/>
              </a:lnSpc>
              <a:buNone/>
            </a:pPr>
            <a:r>
              <a:rPr lang="ar-SA" altLang="en-US" sz="900" dirty="0">
                <a:solidFill>
                  <a:srgbClr val="727274"/>
                </a:solidFill>
                <a:latin typeface="IBM Plex Sans Arabic" pitchFamily="34" charset="0"/>
                <a:ea typeface="IBM Plex Sans Arabic" pitchFamily="34" charset="-122"/>
                <a:cs typeface="IBM Plex Sans Arabic" pitchFamily="34" charset="-120"/>
              </a:rPr>
              <a:t>برنامج صُنّاع المحتوى بالذكاء الاصطناعي · مذكرة مفاهيمية</a:t>
            </a:r>
            <a:endParaRPr lang="ar-SA" sz="900" dirty="0"/>
          </a:p>
        </p:txBody>
      </p:sp>
      <p:sp>
        <p:nvSpPr>
          <p:cNvPr id="4" name="Text 1"/>
          <p:cNvSpPr txBox="1"/>
          <p:nvPr/>
        </p:nvSpPr>
        <p:spPr>
          <a:xfrm>
            <a:off x="548640" y="6446520"/>
            <a:ext cx="548640" cy="228600"/>
          </a:xfrm>
          <a:prstGeom prst="rect">
            <a:avLst/>
          </a:prstGeom>
          <a:noFill/>
          <a:ln/>
        </p:spPr>
        <p:txBody>
          <a:bodyPr wrap="square" lIns="0" tIns="0" rIns="0" bIns="0" rtlCol="0" anchor="t"/>
          <a:lstStyle/>
          <a:p>
            <a:pPr rtl="1" algn="l" indent="0" marL="0">
              <a:lnSpc>
                <a:spcPct val="100000"/>
              </a:lnSpc>
              <a:buNone/>
            </a:pPr>
            <a:r>
              <a:rPr lang="ar-SA" altLang="en-US" sz="900" dirty="0">
                <a:solidFill>
                  <a:srgbClr val="727274"/>
                </a:solidFill>
                <a:latin typeface="IBM Plex Sans Arabic" pitchFamily="34" charset="0"/>
                <a:ea typeface="IBM Plex Sans Arabic" pitchFamily="34" charset="-122"/>
                <a:cs typeface="IBM Plex Sans Arabic" pitchFamily="34" charset="-120"/>
              </a:rPr>
              <a:t>16</a:t>
            </a:r>
            <a:endParaRPr lang="ar-SA" sz="900" dirty="0"/>
          </a:p>
        </p:txBody>
      </p:sp>
      <p:sp>
        <p:nvSpPr>
          <p:cNvPr id="5" name="Text 2"/>
          <p:cNvSpPr txBox="1"/>
          <p:nvPr/>
        </p:nvSpPr>
        <p:spPr>
          <a:xfrm>
            <a:off x="2681935" y="384048"/>
            <a:ext cx="8961120" cy="274320"/>
          </a:xfrm>
          <a:prstGeom prst="rect">
            <a:avLst/>
          </a:prstGeom>
          <a:noFill/>
          <a:ln/>
        </p:spPr>
        <p:txBody>
          <a:bodyPr wrap="square" lIns="0" tIns="0" rIns="0" bIns="0" rtlCol="0" anchor="t"/>
          <a:lstStyle/>
          <a:p>
            <a:pPr rtl="1" algn="r" indent="0" marL="0">
              <a:lnSpc>
                <a:spcPct val="100000"/>
              </a:lnSpc>
              <a:buNone/>
            </a:pPr>
            <a:r>
              <a:rPr lang="ar-SA" altLang="en-US" sz="1100" b="1" dirty="0">
                <a:solidFill>
                  <a:srgbClr val="727274"/>
                </a:solidFill>
                <a:latin typeface="IBM Plex Sans Arabic" pitchFamily="34" charset="0"/>
                <a:ea typeface="IBM Plex Sans Arabic" pitchFamily="34" charset="-122"/>
                <a:cs typeface="IBM Plex Sans Arabic" pitchFamily="34" charset="-120"/>
              </a:rPr>
              <a:t>15 · المشروع النهائي</a:t>
            </a:r>
            <a:endParaRPr lang="ar-SA" sz="1100" dirty="0"/>
          </a:p>
        </p:txBody>
      </p:sp>
      <p:sp>
        <p:nvSpPr>
          <p:cNvPr id="6" name="Text 3"/>
          <p:cNvSpPr txBox="1"/>
          <p:nvPr/>
        </p:nvSpPr>
        <p:spPr>
          <a:xfrm>
            <a:off x="2224735" y="676656"/>
            <a:ext cx="9418320" cy="914400"/>
          </a:xfrm>
          <a:prstGeom prst="rect">
            <a:avLst/>
          </a:prstGeom>
          <a:noFill/>
          <a:ln/>
        </p:spPr>
        <p:txBody>
          <a:bodyPr wrap="square" lIns="0" tIns="0" rIns="0" bIns="0" rtlCol="0" anchor="t"/>
          <a:lstStyle/>
          <a:p>
            <a:pPr rtl="1" algn="r" indent="0" marL="0">
              <a:lnSpc>
                <a:spcPct val="95000"/>
              </a:lnSpc>
              <a:buNone/>
            </a:pPr>
            <a:r>
              <a:rPr lang="ar-SA" altLang="en-US" sz="2600" b="1" dirty="0">
                <a:solidFill>
                  <a:srgbClr val="1A1A1A"/>
                </a:solidFill>
                <a:latin typeface="Cairo" pitchFamily="34" charset="0"/>
                <a:ea typeface="Cairo" pitchFamily="34" charset="-122"/>
                <a:cs typeface="Cairo" pitchFamily="34" charset="-120"/>
              </a:rPr>
              <a:t>من الفكرة إلى محتوى متكامل</a:t>
            </a:r>
            <a:endParaRPr lang="ar-SA" sz="2600" dirty="0"/>
          </a:p>
        </p:txBody>
      </p:sp>
      <p:sp>
        <p:nvSpPr>
          <p:cNvPr id="7" name="Shape 4"/>
          <p:cNvSpPr/>
          <p:nvPr/>
        </p:nvSpPr>
        <p:spPr>
          <a:xfrm>
            <a:off x="7985455" y="1783080"/>
            <a:ext cx="3657600" cy="4434840"/>
          </a:xfrm>
          <a:prstGeom prst="roundRect">
            <a:avLst>
              <a:gd name="adj" fmla="val 3000"/>
            </a:avLst>
          </a:prstGeom>
          <a:solidFill>
            <a:srgbClr val="000000"/>
          </a:solidFill>
          <a:ln w="12700">
            <a:solidFill>
              <a:srgbClr val="000000"/>
            </a:solidFill>
            <a:prstDash val="solid"/>
          </a:ln>
        </p:spPr>
      </p:sp>
      <p:pic>
        <p:nvPicPr>
          <p:cNvPr id="8" name="Image 1" descr="preencoded.png">    </p:cNvPr>
          <p:cNvPicPr>
            <a:picLocks noChangeAspect="1"/>
          </p:cNvPicPr>
          <p:nvPr/>
        </p:nvPicPr>
        <p:blipFill>
          <a:blip r:embed="rId2"/>
          <a:stretch>
            <a:fillRect/>
          </a:stretch>
        </p:blipFill>
        <p:spPr>
          <a:xfrm>
            <a:off x="10774375" y="2057400"/>
            <a:ext cx="548640" cy="548640"/>
          </a:xfrm>
          <a:prstGeom prst="rect">
            <a:avLst/>
          </a:prstGeom>
        </p:spPr>
      </p:pic>
      <p:sp>
        <p:nvSpPr>
          <p:cNvPr id="9" name="Text 5"/>
          <p:cNvSpPr txBox="1"/>
          <p:nvPr/>
        </p:nvSpPr>
        <p:spPr>
          <a:xfrm>
            <a:off x="8305495" y="2788920"/>
            <a:ext cx="3017520" cy="1828800"/>
          </a:xfrm>
          <a:prstGeom prst="rect">
            <a:avLst/>
          </a:prstGeom>
          <a:noFill/>
          <a:ln/>
        </p:spPr>
        <p:txBody>
          <a:bodyPr wrap="square" lIns="0" tIns="0" rIns="0" bIns="0" rtlCol="0" anchor="t"/>
          <a:lstStyle/>
          <a:p>
            <a:pPr rtl="1" algn="r" indent="0" marL="0">
              <a:lnSpc>
                <a:spcPct val="105000"/>
              </a:lnSpc>
              <a:buNone/>
            </a:pPr>
            <a:r>
              <a:rPr lang="ar-SA" altLang="en-US" sz="1600" dirty="0">
                <a:solidFill>
                  <a:srgbClr val="FFFFFF"/>
                </a:solidFill>
                <a:latin typeface="IBM Plex Sans Arabic" pitchFamily="34" charset="0"/>
                <a:ea typeface="IBM Plex Sans Arabic" pitchFamily="34" charset="-122"/>
                <a:cs typeface="IBM Plex Sans Arabic" pitchFamily="34" charset="-120"/>
              </a:rPr>
              <a:t>تختار الفرق منظمة حقيقية أو قضية، وتستخدم عدة أدوات ذكاء اصطناعي معاً لإنتاج حزمة محتوى متكاملة.</a:t>
            </a:r>
            <a:endParaRPr lang="ar-SA" sz="1600" dirty="0"/>
          </a:p>
        </p:txBody>
      </p:sp>
      <p:sp>
        <p:nvSpPr>
          <p:cNvPr id="10" name="Text 6"/>
          <p:cNvSpPr txBox="1"/>
          <p:nvPr/>
        </p:nvSpPr>
        <p:spPr>
          <a:xfrm>
            <a:off x="8259775" y="4617720"/>
            <a:ext cx="2651760" cy="365760"/>
          </a:xfrm>
          <a:prstGeom prst="rect">
            <a:avLst/>
          </a:prstGeom>
          <a:noFill/>
          <a:ln/>
        </p:spPr>
        <p:txBody>
          <a:bodyPr wrap="square" lIns="0" tIns="0" rIns="0" bIns="0" rtlCol="0" anchor="ctr"/>
          <a:lstStyle/>
          <a:p>
            <a:pPr rtl="1" algn="r" indent="0" marL="0">
              <a:lnSpc>
                <a:spcPct val="100000"/>
              </a:lnSpc>
              <a:buNone/>
            </a:pPr>
            <a:r>
              <a:rPr lang="ar-SA" altLang="en-US" sz="1400" b="1" dirty="0">
                <a:solidFill>
                  <a:srgbClr val="FFFFFF"/>
                </a:solidFill>
                <a:latin typeface="IBM Plex Sans Arabic" pitchFamily="34" charset="0"/>
                <a:ea typeface="IBM Plex Sans Arabic" pitchFamily="34" charset="-122"/>
                <a:cs typeface="IBM Plex Sans Arabic" pitchFamily="34" charset="-120"/>
              </a:rPr>
              <a:t>فرق من 3 إلى 4 مشاركين</a:t>
            </a:r>
            <a:endParaRPr lang="ar-SA" sz="1400" dirty="0"/>
          </a:p>
        </p:txBody>
      </p:sp>
      <p:sp>
        <p:nvSpPr>
          <p:cNvPr id="11" name="Text 7"/>
          <p:cNvSpPr txBox="1"/>
          <p:nvPr/>
        </p:nvSpPr>
        <p:spPr>
          <a:xfrm>
            <a:off x="8259775" y="5074920"/>
            <a:ext cx="2651760" cy="365760"/>
          </a:xfrm>
          <a:prstGeom prst="rect">
            <a:avLst/>
          </a:prstGeom>
          <a:noFill/>
          <a:ln/>
        </p:spPr>
        <p:txBody>
          <a:bodyPr wrap="square" lIns="0" tIns="0" rIns="0" bIns="0" rtlCol="0" anchor="ctr"/>
          <a:lstStyle/>
          <a:p>
            <a:pPr rtl="1" algn="r" indent="0" marL="0">
              <a:lnSpc>
                <a:spcPct val="100000"/>
              </a:lnSpc>
              <a:buNone/>
            </a:pPr>
            <a:r>
              <a:rPr lang="ar-SA" altLang="en-US" sz="1400" b="1" dirty="0">
                <a:solidFill>
                  <a:srgbClr val="FFFFFF"/>
                </a:solidFill>
                <a:latin typeface="IBM Plex Sans Arabic" pitchFamily="34" charset="0"/>
                <a:ea typeface="IBM Plex Sans Arabic" pitchFamily="34" charset="-122"/>
                <a:cs typeface="IBM Plex Sans Arabic" pitchFamily="34" charset="-120"/>
              </a:rPr>
              <a:t>4 جلسات · 12 ساعة</a:t>
            </a:r>
            <a:endParaRPr lang="ar-SA" sz="1400" dirty="0"/>
          </a:p>
        </p:txBody>
      </p:sp>
      <p:sp>
        <p:nvSpPr>
          <p:cNvPr id="12" name="Text 8"/>
          <p:cNvSpPr txBox="1"/>
          <p:nvPr/>
        </p:nvSpPr>
        <p:spPr>
          <a:xfrm>
            <a:off x="8259775" y="5532120"/>
            <a:ext cx="2651760" cy="365760"/>
          </a:xfrm>
          <a:prstGeom prst="rect">
            <a:avLst/>
          </a:prstGeom>
          <a:noFill/>
          <a:ln/>
        </p:spPr>
        <p:txBody>
          <a:bodyPr wrap="square" lIns="0" tIns="0" rIns="0" bIns="0" rtlCol="0" anchor="ctr"/>
          <a:lstStyle/>
          <a:p>
            <a:pPr rtl="1" algn="r" indent="0" marL="0">
              <a:lnSpc>
                <a:spcPct val="100000"/>
              </a:lnSpc>
              <a:buNone/>
            </a:pPr>
            <a:r>
              <a:rPr lang="ar-SA" altLang="en-US" sz="1400" b="1" dirty="0">
                <a:solidFill>
                  <a:srgbClr val="FFFFFF"/>
                </a:solidFill>
                <a:latin typeface="IBM Plex Sans Arabic" pitchFamily="34" charset="0"/>
                <a:ea typeface="IBM Plex Sans Arabic" pitchFamily="34" charset="-122"/>
                <a:cs typeface="IBM Plex Sans Arabic" pitchFamily="34" charset="-120"/>
              </a:rPr>
              <a:t>يُعرض في يوم العرض</a:t>
            </a:r>
            <a:endParaRPr lang="ar-SA" sz="1400" dirty="0"/>
          </a:p>
        </p:txBody>
      </p:sp>
      <p:sp>
        <p:nvSpPr>
          <p:cNvPr id="13" name="Shape 9"/>
          <p:cNvSpPr/>
          <p:nvPr/>
        </p:nvSpPr>
        <p:spPr>
          <a:xfrm>
            <a:off x="4221328" y="1783080"/>
            <a:ext cx="3444088" cy="777240"/>
          </a:xfrm>
          <a:prstGeom prst="roundRect">
            <a:avLst>
              <a:gd name="adj" fmla="val 11765"/>
            </a:avLst>
          </a:prstGeom>
          <a:solidFill>
            <a:srgbClr val="F2F4F1"/>
          </a:solidFill>
          <a:ln w="12700">
            <a:solidFill>
              <a:srgbClr val="F2F4F1"/>
            </a:solidFill>
            <a:prstDash val="solid"/>
          </a:ln>
        </p:spPr>
      </p:sp>
      <p:sp>
        <p:nvSpPr>
          <p:cNvPr id="14" name="Shape 10"/>
          <p:cNvSpPr/>
          <p:nvPr/>
        </p:nvSpPr>
        <p:spPr>
          <a:xfrm>
            <a:off x="6997903" y="1920240"/>
            <a:ext cx="502920" cy="502920"/>
          </a:xfrm>
          <a:prstGeom prst="ellipse">
            <a:avLst/>
          </a:prstGeom>
          <a:solidFill>
            <a:srgbClr val="4DB449"/>
          </a:solidFill>
          <a:ln w="6350">
            <a:solidFill>
              <a:srgbClr val="4DB449"/>
            </a:solidFill>
            <a:prstDash val="solid"/>
          </a:ln>
        </p:spPr>
      </p:sp>
      <p:sp>
        <p:nvSpPr>
          <p:cNvPr id="15" name="Text 11"/>
          <p:cNvSpPr txBox="1"/>
          <p:nvPr/>
        </p:nvSpPr>
        <p:spPr>
          <a:xfrm>
            <a:off x="4358488" y="1783080"/>
            <a:ext cx="2438248" cy="777240"/>
          </a:xfrm>
          <a:prstGeom prst="rect">
            <a:avLst/>
          </a:prstGeom>
          <a:noFill/>
          <a:ln/>
        </p:spPr>
        <p:txBody>
          <a:bodyPr wrap="square" lIns="0" tIns="0" rIns="0" bIns="0" rtlCol="0" anchor="ctr"/>
          <a:lstStyle/>
          <a:p>
            <a:pPr rtl="1" algn="r" indent="0" marL="0">
              <a:lnSpc>
                <a:spcPct val="100000"/>
              </a:lnSpc>
              <a:buNone/>
            </a:pPr>
            <a:r>
              <a:rPr lang="ar-SA" altLang="en-US" sz="1500" b="1" dirty="0">
                <a:solidFill>
                  <a:srgbClr val="1A1A1A"/>
                </a:solidFill>
                <a:latin typeface="Cairo" pitchFamily="34" charset="0"/>
                <a:ea typeface="Cairo" pitchFamily="34" charset="-122"/>
                <a:cs typeface="Cairo" pitchFamily="34" charset="-120"/>
              </a:rPr>
              <a:t>موجز بحثي</a:t>
            </a:r>
            <a:endParaRPr lang="ar-SA" sz="1500" dirty="0"/>
          </a:p>
        </p:txBody>
      </p:sp>
      <p:sp>
        <p:nvSpPr>
          <p:cNvPr id="16" name="Shape 12"/>
          <p:cNvSpPr/>
          <p:nvPr/>
        </p:nvSpPr>
        <p:spPr>
          <a:xfrm>
            <a:off x="4221328" y="2688336"/>
            <a:ext cx="3444088" cy="777240"/>
          </a:xfrm>
          <a:prstGeom prst="roundRect">
            <a:avLst>
              <a:gd name="adj" fmla="val 11765"/>
            </a:avLst>
          </a:prstGeom>
          <a:solidFill>
            <a:srgbClr val="F2F4F1"/>
          </a:solidFill>
          <a:ln w="12700">
            <a:solidFill>
              <a:srgbClr val="F2F4F1"/>
            </a:solidFill>
            <a:prstDash val="solid"/>
          </a:ln>
        </p:spPr>
      </p:sp>
      <p:sp>
        <p:nvSpPr>
          <p:cNvPr id="17" name="Shape 13"/>
          <p:cNvSpPr/>
          <p:nvPr/>
        </p:nvSpPr>
        <p:spPr>
          <a:xfrm>
            <a:off x="6997903" y="2825496"/>
            <a:ext cx="502920" cy="502920"/>
          </a:xfrm>
          <a:prstGeom prst="ellipse">
            <a:avLst/>
          </a:prstGeom>
          <a:solidFill>
            <a:srgbClr val="A6D04B"/>
          </a:solidFill>
          <a:ln w="6350">
            <a:solidFill>
              <a:srgbClr val="A6D04B"/>
            </a:solidFill>
            <a:prstDash val="solid"/>
          </a:ln>
        </p:spPr>
      </p:sp>
      <p:sp>
        <p:nvSpPr>
          <p:cNvPr id="18" name="Text 14"/>
          <p:cNvSpPr txBox="1"/>
          <p:nvPr/>
        </p:nvSpPr>
        <p:spPr>
          <a:xfrm>
            <a:off x="4358488" y="2688336"/>
            <a:ext cx="2438248" cy="777240"/>
          </a:xfrm>
          <a:prstGeom prst="rect">
            <a:avLst/>
          </a:prstGeom>
          <a:noFill/>
          <a:ln/>
        </p:spPr>
        <p:txBody>
          <a:bodyPr wrap="square" lIns="0" tIns="0" rIns="0" bIns="0" rtlCol="0" anchor="ctr"/>
          <a:lstStyle/>
          <a:p>
            <a:pPr rtl="1" algn="r" indent="0" marL="0">
              <a:lnSpc>
                <a:spcPct val="100000"/>
              </a:lnSpc>
              <a:buNone/>
            </a:pPr>
            <a:r>
              <a:rPr lang="ar-SA" altLang="en-US" sz="1500" b="1" dirty="0">
                <a:solidFill>
                  <a:srgbClr val="1A1A1A"/>
                </a:solidFill>
                <a:latin typeface="Cairo" pitchFamily="34" charset="0"/>
                <a:ea typeface="Cairo" pitchFamily="34" charset="-122"/>
                <a:cs typeface="Cairo" pitchFamily="34" charset="-120"/>
              </a:rPr>
              <a:t>حزمة محتوى وتقويم</a:t>
            </a:r>
            <a:endParaRPr lang="ar-SA" sz="1500" dirty="0"/>
          </a:p>
        </p:txBody>
      </p:sp>
      <p:sp>
        <p:nvSpPr>
          <p:cNvPr id="19" name="Shape 15"/>
          <p:cNvSpPr/>
          <p:nvPr/>
        </p:nvSpPr>
        <p:spPr>
          <a:xfrm>
            <a:off x="4221328" y="3593592"/>
            <a:ext cx="3444088" cy="777240"/>
          </a:xfrm>
          <a:prstGeom prst="roundRect">
            <a:avLst>
              <a:gd name="adj" fmla="val 11765"/>
            </a:avLst>
          </a:prstGeom>
          <a:solidFill>
            <a:srgbClr val="F2F4F1"/>
          </a:solidFill>
          <a:ln w="12700">
            <a:solidFill>
              <a:srgbClr val="F2F4F1"/>
            </a:solidFill>
            <a:prstDash val="solid"/>
          </a:ln>
        </p:spPr>
      </p:sp>
      <p:sp>
        <p:nvSpPr>
          <p:cNvPr id="20" name="Shape 16"/>
          <p:cNvSpPr/>
          <p:nvPr/>
        </p:nvSpPr>
        <p:spPr>
          <a:xfrm>
            <a:off x="6997903" y="3730752"/>
            <a:ext cx="502920" cy="502920"/>
          </a:xfrm>
          <a:prstGeom prst="ellipse">
            <a:avLst/>
          </a:prstGeom>
          <a:solidFill>
            <a:srgbClr val="4DB449"/>
          </a:solidFill>
          <a:ln w="6350">
            <a:solidFill>
              <a:srgbClr val="4DB449"/>
            </a:solidFill>
            <a:prstDash val="solid"/>
          </a:ln>
        </p:spPr>
      </p:sp>
      <p:sp>
        <p:nvSpPr>
          <p:cNvPr id="21" name="Text 17"/>
          <p:cNvSpPr txBox="1"/>
          <p:nvPr/>
        </p:nvSpPr>
        <p:spPr>
          <a:xfrm>
            <a:off x="4358488" y="3593592"/>
            <a:ext cx="2438248" cy="777240"/>
          </a:xfrm>
          <a:prstGeom prst="rect">
            <a:avLst/>
          </a:prstGeom>
          <a:noFill/>
          <a:ln/>
        </p:spPr>
        <p:txBody>
          <a:bodyPr wrap="square" lIns="0" tIns="0" rIns="0" bIns="0" rtlCol="0" anchor="ctr"/>
          <a:lstStyle/>
          <a:p>
            <a:pPr rtl="1" algn="r" indent="0" marL="0">
              <a:lnSpc>
                <a:spcPct val="100000"/>
              </a:lnSpc>
              <a:buNone/>
            </a:pPr>
            <a:r>
              <a:rPr lang="ar-SA" altLang="en-US" sz="1500" b="1" dirty="0">
                <a:solidFill>
                  <a:srgbClr val="1A1A1A"/>
                </a:solidFill>
                <a:latin typeface="Cairo" pitchFamily="34" charset="0"/>
                <a:ea typeface="Cairo" pitchFamily="34" charset="-122"/>
                <a:cs typeface="Cairo" pitchFamily="34" charset="-120"/>
              </a:rPr>
              <a:t>حزمة بصرية للعلامة</a:t>
            </a:r>
            <a:endParaRPr lang="ar-SA" sz="1500" dirty="0"/>
          </a:p>
        </p:txBody>
      </p:sp>
      <p:sp>
        <p:nvSpPr>
          <p:cNvPr id="22" name="Shape 18"/>
          <p:cNvSpPr/>
          <p:nvPr/>
        </p:nvSpPr>
        <p:spPr>
          <a:xfrm>
            <a:off x="4221328" y="4498848"/>
            <a:ext cx="3444088" cy="777240"/>
          </a:xfrm>
          <a:prstGeom prst="roundRect">
            <a:avLst>
              <a:gd name="adj" fmla="val 11765"/>
            </a:avLst>
          </a:prstGeom>
          <a:solidFill>
            <a:srgbClr val="F2F4F1"/>
          </a:solidFill>
          <a:ln w="12700">
            <a:solidFill>
              <a:srgbClr val="F2F4F1"/>
            </a:solidFill>
            <a:prstDash val="solid"/>
          </a:ln>
        </p:spPr>
      </p:sp>
      <p:sp>
        <p:nvSpPr>
          <p:cNvPr id="23" name="Shape 19"/>
          <p:cNvSpPr/>
          <p:nvPr/>
        </p:nvSpPr>
        <p:spPr>
          <a:xfrm>
            <a:off x="6997903" y="4636008"/>
            <a:ext cx="502920" cy="502920"/>
          </a:xfrm>
          <a:prstGeom prst="ellipse">
            <a:avLst/>
          </a:prstGeom>
          <a:solidFill>
            <a:srgbClr val="A6D04B"/>
          </a:solidFill>
          <a:ln w="6350">
            <a:solidFill>
              <a:srgbClr val="A6D04B"/>
            </a:solidFill>
            <a:prstDash val="solid"/>
          </a:ln>
        </p:spPr>
      </p:sp>
      <p:sp>
        <p:nvSpPr>
          <p:cNvPr id="24" name="Text 20"/>
          <p:cNvSpPr txBox="1"/>
          <p:nvPr/>
        </p:nvSpPr>
        <p:spPr>
          <a:xfrm>
            <a:off x="4358488" y="4498848"/>
            <a:ext cx="2438248" cy="777240"/>
          </a:xfrm>
          <a:prstGeom prst="rect">
            <a:avLst/>
          </a:prstGeom>
          <a:noFill/>
          <a:ln/>
        </p:spPr>
        <p:txBody>
          <a:bodyPr wrap="square" lIns="0" tIns="0" rIns="0" bIns="0" rtlCol="0" anchor="ctr"/>
          <a:lstStyle/>
          <a:p>
            <a:pPr rtl="1" algn="r" indent="0" marL="0">
              <a:lnSpc>
                <a:spcPct val="100000"/>
              </a:lnSpc>
              <a:buNone/>
            </a:pPr>
            <a:r>
              <a:rPr lang="ar-SA" altLang="en-US" sz="1500" b="1" dirty="0">
                <a:solidFill>
                  <a:srgbClr val="1A1A1A"/>
                </a:solidFill>
                <a:latin typeface="Cairo" pitchFamily="34" charset="0"/>
                <a:ea typeface="Cairo" pitchFamily="34" charset="-122"/>
                <a:cs typeface="Cairo" pitchFamily="34" charset="-120"/>
              </a:rPr>
              <a:t>فيديو بعد المونتاج والتعليق</a:t>
            </a:r>
            <a:endParaRPr lang="ar-SA" sz="1500" dirty="0"/>
          </a:p>
        </p:txBody>
      </p:sp>
      <p:sp>
        <p:nvSpPr>
          <p:cNvPr id="25" name="Shape 21"/>
          <p:cNvSpPr/>
          <p:nvPr/>
        </p:nvSpPr>
        <p:spPr>
          <a:xfrm>
            <a:off x="4221328" y="5404104"/>
            <a:ext cx="3444088" cy="777240"/>
          </a:xfrm>
          <a:prstGeom prst="roundRect">
            <a:avLst>
              <a:gd name="adj" fmla="val 11765"/>
            </a:avLst>
          </a:prstGeom>
          <a:solidFill>
            <a:srgbClr val="F2F4F1"/>
          </a:solidFill>
          <a:ln w="12700">
            <a:solidFill>
              <a:srgbClr val="F2F4F1"/>
            </a:solidFill>
            <a:prstDash val="solid"/>
          </a:ln>
        </p:spPr>
      </p:sp>
      <p:sp>
        <p:nvSpPr>
          <p:cNvPr id="26" name="Shape 22"/>
          <p:cNvSpPr/>
          <p:nvPr/>
        </p:nvSpPr>
        <p:spPr>
          <a:xfrm>
            <a:off x="6997903" y="5541264"/>
            <a:ext cx="502920" cy="502920"/>
          </a:xfrm>
          <a:prstGeom prst="ellipse">
            <a:avLst/>
          </a:prstGeom>
          <a:solidFill>
            <a:srgbClr val="4DB449"/>
          </a:solidFill>
          <a:ln w="6350">
            <a:solidFill>
              <a:srgbClr val="4DB449"/>
            </a:solidFill>
            <a:prstDash val="solid"/>
          </a:ln>
        </p:spPr>
      </p:sp>
      <p:sp>
        <p:nvSpPr>
          <p:cNvPr id="27" name="Text 23"/>
          <p:cNvSpPr txBox="1"/>
          <p:nvPr/>
        </p:nvSpPr>
        <p:spPr>
          <a:xfrm>
            <a:off x="4358488" y="5404104"/>
            <a:ext cx="2438248" cy="777240"/>
          </a:xfrm>
          <a:prstGeom prst="rect">
            <a:avLst/>
          </a:prstGeom>
          <a:noFill/>
          <a:ln/>
        </p:spPr>
        <p:txBody>
          <a:bodyPr wrap="square" lIns="0" tIns="0" rIns="0" bIns="0" rtlCol="0" anchor="ctr"/>
          <a:lstStyle/>
          <a:p>
            <a:pPr rtl="1" algn="r" indent="0" marL="0">
              <a:lnSpc>
                <a:spcPct val="100000"/>
              </a:lnSpc>
              <a:buNone/>
            </a:pPr>
            <a:r>
              <a:rPr lang="ar-SA" altLang="en-US" sz="1500" b="1" dirty="0">
                <a:solidFill>
                  <a:srgbClr val="1A1A1A"/>
                </a:solidFill>
                <a:latin typeface="Cairo" pitchFamily="34" charset="0"/>
                <a:ea typeface="Cairo" pitchFamily="34" charset="-122"/>
                <a:cs typeface="Cairo" pitchFamily="34" charset="-120"/>
              </a:rPr>
              <a:t>مقطع موشن جرافيك</a:t>
            </a:r>
            <a:endParaRPr lang="ar-SA" sz="1500" dirty="0"/>
          </a:p>
        </p:txBody>
      </p:sp>
      <p:sp>
        <p:nvSpPr>
          <p:cNvPr id="28" name="Shape 24"/>
          <p:cNvSpPr/>
          <p:nvPr/>
        </p:nvSpPr>
        <p:spPr>
          <a:xfrm>
            <a:off x="548640" y="1783080"/>
            <a:ext cx="3444088" cy="777240"/>
          </a:xfrm>
          <a:prstGeom prst="roundRect">
            <a:avLst>
              <a:gd name="adj" fmla="val 11765"/>
            </a:avLst>
          </a:prstGeom>
          <a:solidFill>
            <a:srgbClr val="F2F4F1"/>
          </a:solidFill>
          <a:ln w="12700">
            <a:solidFill>
              <a:srgbClr val="F2F4F1"/>
            </a:solidFill>
            <a:prstDash val="solid"/>
          </a:ln>
        </p:spPr>
      </p:sp>
      <p:sp>
        <p:nvSpPr>
          <p:cNvPr id="29" name="Shape 25"/>
          <p:cNvSpPr/>
          <p:nvPr/>
        </p:nvSpPr>
        <p:spPr>
          <a:xfrm>
            <a:off x="3325216" y="1920240"/>
            <a:ext cx="502920" cy="502920"/>
          </a:xfrm>
          <a:prstGeom prst="ellipse">
            <a:avLst/>
          </a:prstGeom>
          <a:solidFill>
            <a:srgbClr val="A6D04B"/>
          </a:solidFill>
          <a:ln w="6350">
            <a:solidFill>
              <a:srgbClr val="A6D04B"/>
            </a:solidFill>
            <a:prstDash val="solid"/>
          </a:ln>
        </p:spPr>
      </p:sp>
      <p:sp>
        <p:nvSpPr>
          <p:cNvPr id="30" name="Text 26"/>
          <p:cNvSpPr txBox="1"/>
          <p:nvPr/>
        </p:nvSpPr>
        <p:spPr>
          <a:xfrm>
            <a:off x="685800" y="1783080"/>
            <a:ext cx="2438248" cy="777240"/>
          </a:xfrm>
          <a:prstGeom prst="rect">
            <a:avLst/>
          </a:prstGeom>
          <a:noFill/>
          <a:ln/>
        </p:spPr>
        <p:txBody>
          <a:bodyPr wrap="square" lIns="0" tIns="0" rIns="0" bIns="0" rtlCol="0" anchor="ctr"/>
          <a:lstStyle/>
          <a:p>
            <a:pPr rtl="1" algn="r" indent="0" marL="0">
              <a:lnSpc>
                <a:spcPct val="100000"/>
              </a:lnSpc>
              <a:buNone/>
            </a:pPr>
            <a:r>
              <a:rPr lang="ar-SA" altLang="en-US" sz="1500" b="1" dirty="0">
                <a:solidFill>
                  <a:srgbClr val="1A1A1A"/>
                </a:solidFill>
                <a:latin typeface="Cairo" pitchFamily="34" charset="0"/>
                <a:ea typeface="Cairo" pitchFamily="34" charset="-122"/>
                <a:cs typeface="Cairo" pitchFamily="34" charset="-120"/>
              </a:rPr>
              <a:t>صفحة هبوط مبنية بـ Claude Code</a:t>
            </a:r>
            <a:endParaRPr lang="ar-SA" sz="1500" dirty="0"/>
          </a:p>
        </p:txBody>
      </p:sp>
      <p:sp>
        <p:nvSpPr>
          <p:cNvPr id="31" name="Shape 27"/>
          <p:cNvSpPr/>
          <p:nvPr/>
        </p:nvSpPr>
        <p:spPr>
          <a:xfrm>
            <a:off x="548640" y="2688336"/>
            <a:ext cx="3444088" cy="777240"/>
          </a:xfrm>
          <a:prstGeom prst="roundRect">
            <a:avLst>
              <a:gd name="adj" fmla="val 11765"/>
            </a:avLst>
          </a:prstGeom>
          <a:solidFill>
            <a:srgbClr val="F2F4F1"/>
          </a:solidFill>
          <a:ln w="12700">
            <a:solidFill>
              <a:srgbClr val="F2F4F1"/>
            </a:solidFill>
            <a:prstDash val="solid"/>
          </a:ln>
        </p:spPr>
      </p:sp>
      <p:sp>
        <p:nvSpPr>
          <p:cNvPr id="32" name="Shape 28"/>
          <p:cNvSpPr/>
          <p:nvPr/>
        </p:nvSpPr>
        <p:spPr>
          <a:xfrm>
            <a:off x="3325216" y="2825496"/>
            <a:ext cx="502920" cy="502920"/>
          </a:xfrm>
          <a:prstGeom prst="ellipse">
            <a:avLst/>
          </a:prstGeom>
          <a:solidFill>
            <a:srgbClr val="4DB449"/>
          </a:solidFill>
          <a:ln w="6350">
            <a:solidFill>
              <a:srgbClr val="4DB449"/>
            </a:solidFill>
            <a:prstDash val="solid"/>
          </a:ln>
        </p:spPr>
      </p:sp>
      <p:sp>
        <p:nvSpPr>
          <p:cNvPr id="33" name="Text 29"/>
          <p:cNvSpPr txBox="1"/>
          <p:nvPr/>
        </p:nvSpPr>
        <p:spPr>
          <a:xfrm>
            <a:off x="685800" y="2688336"/>
            <a:ext cx="2438248" cy="777240"/>
          </a:xfrm>
          <a:prstGeom prst="rect">
            <a:avLst/>
          </a:prstGeom>
          <a:noFill/>
          <a:ln/>
        </p:spPr>
        <p:txBody>
          <a:bodyPr wrap="square" lIns="0" tIns="0" rIns="0" bIns="0" rtlCol="0" anchor="ctr"/>
          <a:lstStyle/>
          <a:p>
            <a:pPr rtl="1" algn="r" indent="0" marL="0">
              <a:lnSpc>
                <a:spcPct val="100000"/>
              </a:lnSpc>
              <a:buNone/>
            </a:pPr>
            <a:r>
              <a:rPr lang="ar-SA" altLang="en-US" sz="1500" b="1" dirty="0">
                <a:solidFill>
                  <a:srgbClr val="1A1A1A"/>
                </a:solidFill>
                <a:latin typeface="Cairo" pitchFamily="34" charset="0"/>
                <a:ea typeface="Cairo" pitchFamily="34" charset="-122"/>
                <a:cs typeface="Cairo" pitchFamily="34" charset="-120"/>
              </a:rPr>
              <a:t>مهارة مخصّصة في Claude Code</a:t>
            </a:r>
            <a:endParaRPr lang="ar-SA" sz="1500" dirty="0"/>
          </a:p>
        </p:txBody>
      </p:sp>
      <p:sp>
        <p:nvSpPr>
          <p:cNvPr id="34" name="Shape 30"/>
          <p:cNvSpPr/>
          <p:nvPr/>
        </p:nvSpPr>
        <p:spPr>
          <a:xfrm>
            <a:off x="548640" y="3593592"/>
            <a:ext cx="3444088" cy="777240"/>
          </a:xfrm>
          <a:prstGeom prst="roundRect">
            <a:avLst>
              <a:gd name="adj" fmla="val 11765"/>
            </a:avLst>
          </a:prstGeom>
          <a:solidFill>
            <a:srgbClr val="F2F4F1"/>
          </a:solidFill>
          <a:ln w="12700">
            <a:solidFill>
              <a:srgbClr val="F2F4F1"/>
            </a:solidFill>
            <a:prstDash val="solid"/>
          </a:ln>
        </p:spPr>
      </p:sp>
      <p:sp>
        <p:nvSpPr>
          <p:cNvPr id="35" name="Shape 31"/>
          <p:cNvSpPr/>
          <p:nvPr/>
        </p:nvSpPr>
        <p:spPr>
          <a:xfrm>
            <a:off x="3325216" y="3730752"/>
            <a:ext cx="502920" cy="502920"/>
          </a:xfrm>
          <a:prstGeom prst="ellipse">
            <a:avLst/>
          </a:prstGeom>
          <a:solidFill>
            <a:srgbClr val="A6D04B"/>
          </a:solidFill>
          <a:ln w="6350">
            <a:solidFill>
              <a:srgbClr val="A6D04B"/>
            </a:solidFill>
            <a:prstDash val="solid"/>
          </a:ln>
        </p:spPr>
      </p:sp>
      <p:sp>
        <p:nvSpPr>
          <p:cNvPr id="36" name="Text 32"/>
          <p:cNvSpPr txBox="1"/>
          <p:nvPr/>
        </p:nvSpPr>
        <p:spPr>
          <a:xfrm>
            <a:off x="685800" y="3593592"/>
            <a:ext cx="2438248" cy="777240"/>
          </a:xfrm>
          <a:prstGeom prst="rect">
            <a:avLst/>
          </a:prstGeom>
          <a:noFill/>
          <a:ln/>
        </p:spPr>
        <p:txBody>
          <a:bodyPr wrap="square" lIns="0" tIns="0" rIns="0" bIns="0" rtlCol="0" anchor="ctr"/>
          <a:lstStyle/>
          <a:p>
            <a:pPr rtl="1" algn="r" indent="0" marL="0">
              <a:lnSpc>
                <a:spcPct val="100000"/>
              </a:lnSpc>
              <a:buNone/>
            </a:pPr>
            <a:r>
              <a:rPr lang="ar-SA" altLang="en-US" sz="1500" b="1" dirty="0">
                <a:solidFill>
                  <a:srgbClr val="1A1A1A"/>
                </a:solidFill>
                <a:latin typeface="Cairo" pitchFamily="34" charset="0"/>
                <a:ea typeface="Cairo" pitchFamily="34" charset="-122"/>
                <a:cs typeface="Cairo" pitchFamily="34" charset="-120"/>
              </a:rPr>
              <a:t>سير عمل محتوى في n8n</a:t>
            </a:r>
            <a:endParaRPr lang="ar-SA" sz="1500" dirty="0"/>
          </a:p>
        </p:txBody>
      </p:sp>
      <p:sp>
        <p:nvSpPr>
          <p:cNvPr id="37" name="Shape 33"/>
          <p:cNvSpPr/>
          <p:nvPr/>
        </p:nvSpPr>
        <p:spPr>
          <a:xfrm>
            <a:off x="548640" y="4498848"/>
            <a:ext cx="3444088" cy="777240"/>
          </a:xfrm>
          <a:prstGeom prst="roundRect">
            <a:avLst>
              <a:gd name="adj" fmla="val 11765"/>
            </a:avLst>
          </a:prstGeom>
          <a:solidFill>
            <a:srgbClr val="F2F4F1"/>
          </a:solidFill>
          <a:ln w="12700">
            <a:solidFill>
              <a:srgbClr val="F2F4F1"/>
            </a:solidFill>
            <a:prstDash val="solid"/>
          </a:ln>
        </p:spPr>
      </p:sp>
      <p:sp>
        <p:nvSpPr>
          <p:cNvPr id="38" name="Shape 34"/>
          <p:cNvSpPr/>
          <p:nvPr/>
        </p:nvSpPr>
        <p:spPr>
          <a:xfrm>
            <a:off x="3325216" y="4636008"/>
            <a:ext cx="502920" cy="502920"/>
          </a:xfrm>
          <a:prstGeom prst="ellipse">
            <a:avLst/>
          </a:prstGeom>
          <a:solidFill>
            <a:srgbClr val="4DB449"/>
          </a:solidFill>
          <a:ln w="6350">
            <a:solidFill>
              <a:srgbClr val="4DB449"/>
            </a:solidFill>
            <a:prstDash val="solid"/>
          </a:ln>
        </p:spPr>
      </p:sp>
      <p:sp>
        <p:nvSpPr>
          <p:cNvPr id="39" name="Text 35"/>
          <p:cNvSpPr txBox="1"/>
          <p:nvPr/>
        </p:nvSpPr>
        <p:spPr>
          <a:xfrm>
            <a:off x="685800" y="4498848"/>
            <a:ext cx="2438248" cy="777240"/>
          </a:xfrm>
          <a:prstGeom prst="rect">
            <a:avLst/>
          </a:prstGeom>
          <a:noFill/>
          <a:ln/>
        </p:spPr>
        <p:txBody>
          <a:bodyPr wrap="square" lIns="0" tIns="0" rIns="0" bIns="0" rtlCol="0" anchor="ctr"/>
          <a:lstStyle/>
          <a:p>
            <a:pPr rtl="1" algn="r" indent="0" marL="0">
              <a:lnSpc>
                <a:spcPct val="100000"/>
              </a:lnSpc>
              <a:buNone/>
            </a:pPr>
            <a:r>
              <a:rPr lang="ar-SA" altLang="en-US" sz="1500" b="1" dirty="0">
                <a:solidFill>
                  <a:srgbClr val="1A1A1A"/>
                </a:solidFill>
                <a:latin typeface="Cairo" pitchFamily="34" charset="0"/>
                <a:ea typeface="Cairo" pitchFamily="34" charset="-122"/>
                <a:cs typeface="Cairo" pitchFamily="34" charset="-120"/>
              </a:rPr>
              <a:t>دراسة حالة للملف المهني</a:t>
            </a:r>
            <a:endParaRPr lang="ar-SA" sz="1500" dirty="0"/>
          </a:p>
        </p:txBody>
      </p:sp>
      <p:sp>
        <p:nvSpPr>
          <p:cNvPr id="40" name="Shape 36"/>
          <p:cNvSpPr/>
          <p:nvPr/>
        </p:nvSpPr>
        <p:spPr>
          <a:xfrm>
            <a:off x="548640" y="5404104"/>
            <a:ext cx="3444088" cy="777240"/>
          </a:xfrm>
          <a:prstGeom prst="roundRect">
            <a:avLst>
              <a:gd name="adj" fmla="val 11765"/>
            </a:avLst>
          </a:prstGeom>
          <a:solidFill>
            <a:srgbClr val="F2F4F1"/>
          </a:solidFill>
          <a:ln w="12700">
            <a:solidFill>
              <a:srgbClr val="F2F4F1"/>
            </a:solidFill>
            <a:prstDash val="solid"/>
          </a:ln>
        </p:spPr>
      </p:sp>
      <p:sp>
        <p:nvSpPr>
          <p:cNvPr id="41" name="Shape 37"/>
          <p:cNvSpPr/>
          <p:nvPr/>
        </p:nvSpPr>
        <p:spPr>
          <a:xfrm>
            <a:off x="3325216" y="5541264"/>
            <a:ext cx="502920" cy="502920"/>
          </a:xfrm>
          <a:prstGeom prst="ellipse">
            <a:avLst/>
          </a:prstGeom>
          <a:solidFill>
            <a:srgbClr val="A6D04B"/>
          </a:solidFill>
          <a:ln w="6350">
            <a:solidFill>
              <a:srgbClr val="A6D04B"/>
            </a:solidFill>
            <a:prstDash val="solid"/>
          </a:ln>
        </p:spPr>
      </p:sp>
      <p:sp>
        <p:nvSpPr>
          <p:cNvPr id="42" name="Text 38"/>
          <p:cNvSpPr txBox="1"/>
          <p:nvPr/>
        </p:nvSpPr>
        <p:spPr>
          <a:xfrm>
            <a:off x="685800" y="5404104"/>
            <a:ext cx="2438248" cy="777240"/>
          </a:xfrm>
          <a:prstGeom prst="rect">
            <a:avLst/>
          </a:prstGeom>
          <a:noFill/>
          <a:ln/>
        </p:spPr>
        <p:txBody>
          <a:bodyPr wrap="square" lIns="0" tIns="0" rIns="0" bIns="0" rtlCol="0" anchor="ctr"/>
          <a:lstStyle/>
          <a:p>
            <a:pPr rtl="1" algn="r" indent="0" marL="0">
              <a:lnSpc>
                <a:spcPct val="100000"/>
              </a:lnSpc>
              <a:buNone/>
            </a:pPr>
            <a:r>
              <a:rPr lang="ar-SA" altLang="en-US" sz="1500" b="1" dirty="0">
                <a:solidFill>
                  <a:srgbClr val="1A1A1A"/>
                </a:solidFill>
                <a:latin typeface="Cairo" pitchFamily="34" charset="0"/>
                <a:ea typeface="Cairo" pitchFamily="34" charset="-122"/>
                <a:cs typeface="Cairo" pitchFamily="34" charset="-120"/>
              </a:rPr>
              <a:t>العرض في يوم العرض</a:t>
            </a:r>
            <a:endParaRPr lang="ar-SA" sz="1500" dirty="0"/>
          </a:p>
        </p:txBody>
      </p:sp>
      <p:pic>
        <p:nvPicPr>
          <p:cNvPr id="44" name="Image 2" descr="preencoded.png">    </p:cNvPr>
          <p:cNvPicPr>
            <a:picLocks noChangeAspect="1"/>
          </p:cNvPicPr>
          <p:nvPr/>
        </p:nvPicPr>
        <p:blipFill>
          <a:blip r:embed="rId3"/>
          <a:stretch>
            <a:fillRect/>
          </a:stretch>
        </p:blipFill>
        <p:spPr>
          <a:xfrm>
            <a:off x="7116775" y="2039112"/>
            <a:ext cx="265176" cy="265176"/>
          </a:xfrm>
          <a:prstGeom prst="rect">
            <a:avLst/>
          </a:prstGeom>
        </p:spPr>
      </p:pic>
      <p:pic>
        <p:nvPicPr>
          <p:cNvPr id="45" name="Image 3" descr="preencoded.png">    </p:cNvPr>
          <p:cNvPicPr>
            <a:picLocks noChangeAspect="1"/>
          </p:cNvPicPr>
          <p:nvPr/>
        </p:nvPicPr>
        <p:blipFill>
          <a:blip r:embed="rId4"/>
          <a:stretch>
            <a:fillRect/>
          </a:stretch>
        </p:blipFill>
        <p:spPr>
          <a:xfrm>
            <a:off x="7116775" y="2944368"/>
            <a:ext cx="265176" cy="265176"/>
          </a:xfrm>
          <a:prstGeom prst="rect">
            <a:avLst/>
          </a:prstGeom>
        </p:spPr>
      </p:pic>
      <p:pic>
        <p:nvPicPr>
          <p:cNvPr id="46" name="Image 4" descr="preencoded.png">    </p:cNvPr>
          <p:cNvPicPr>
            <a:picLocks noChangeAspect="1"/>
          </p:cNvPicPr>
          <p:nvPr/>
        </p:nvPicPr>
        <p:blipFill>
          <a:blip r:embed="rId5"/>
          <a:stretch>
            <a:fillRect/>
          </a:stretch>
        </p:blipFill>
        <p:spPr>
          <a:xfrm>
            <a:off x="7116775" y="3849624"/>
            <a:ext cx="265176" cy="265176"/>
          </a:xfrm>
          <a:prstGeom prst="rect">
            <a:avLst/>
          </a:prstGeom>
        </p:spPr>
      </p:pic>
      <p:pic>
        <p:nvPicPr>
          <p:cNvPr id="47" name="Image 5" descr="preencoded.png">    </p:cNvPr>
          <p:cNvPicPr>
            <a:picLocks noChangeAspect="1"/>
          </p:cNvPicPr>
          <p:nvPr/>
        </p:nvPicPr>
        <p:blipFill>
          <a:blip r:embed="rId6"/>
          <a:stretch>
            <a:fillRect/>
          </a:stretch>
        </p:blipFill>
        <p:spPr>
          <a:xfrm>
            <a:off x="7116775" y="5660136"/>
            <a:ext cx="265176" cy="265176"/>
          </a:xfrm>
          <a:prstGeom prst="rect">
            <a:avLst/>
          </a:prstGeom>
        </p:spPr>
      </p:pic>
      <p:pic>
        <p:nvPicPr>
          <p:cNvPr id="48" name="Image 6" descr="preencoded.png">    </p:cNvPr>
          <p:cNvPicPr>
            <a:picLocks noChangeAspect="1"/>
          </p:cNvPicPr>
          <p:nvPr/>
        </p:nvPicPr>
        <p:blipFill>
          <a:blip r:embed="rId7"/>
          <a:stretch>
            <a:fillRect/>
          </a:stretch>
        </p:blipFill>
        <p:spPr>
          <a:xfrm>
            <a:off x="3444088" y="2944368"/>
            <a:ext cx="265176" cy="265176"/>
          </a:xfrm>
          <a:prstGeom prst="rect">
            <a:avLst/>
          </a:prstGeom>
        </p:spPr>
      </p:pic>
      <p:pic>
        <p:nvPicPr>
          <p:cNvPr id="49" name="Image 7" descr="preencoded.png">    </p:cNvPr>
          <p:cNvPicPr>
            <a:picLocks noChangeAspect="1"/>
          </p:cNvPicPr>
          <p:nvPr/>
        </p:nvPicPr>
        <p:blipFill>
          <a:blip r:embed="rId8"/>
          <a:stretch>
            <a:fillRect/>
          </a:stretch>
        </p:blipFill>
        <p:spPr>
          <a:xfrm>
            <a:off x="3444088" y="3849624"/>
            <a:ext cx="265176" cy="265176"/>
          </a:xfrm>
          <a:prstGeom prst="rect">
            <a:avLst/>
          </a:prstGeom>
        </p:spPr>
      </p:pic>
      <p:pic>
        <p:nvPicPr>
          <p:cNvPr id="50" name="Image 8" descr="preencoded.png">    </p:cNvPr>
          <p:cNvPicPr>
            <a:picLocks noChangeAspect="1"/>
          </p:cNvPicPr>
          <p:nvPr/>
        </p:nvPicPr>
        <p:blipFill>
          <a:blip r:embed="rId9"/>
          <a:stretch>
            <a:fillRect/>
          </a:stretch>
        </p:blipFill>
        <p:spPr>
          <a:xfrm>
            <a:off x="11066983" y="4672584"/>
            <a:ext cx="256032" cy="256032"/>
          </a:xfrm>
          <a:prstGeom prst="rect">
            <a:avLst/>
          </a:prstGeom>
        </p:spPr>
      </p:pic>
      <p:pic>
        <p:nvPicPr>
          <p:cNvPr id="51" name="Image 9" descr="preencoded.png">    </p:cNvPr>
          <p:cNvPicPr>
            <a:picLocks noChangeAspect="1"/>
          </p:cNvPicPr>
          <p:nvPr/>
        </p:nvPicPr>
        <p:blipFill>
          <a:blip r:embed="rId10"/>
          <a:stretch>
            <a:fillRect/>
          </a:stretch>
        </p:blipFill>
        <p:spPr>
          <a:xfrm>
            <a:off x="11066983" y="5586984"/>
            <a:ext cx="256032" cy="256032"/>
          </a:xfrm>
          <a:prstGeom prst="rect">
            <a:avLst/>
          </a:prstGeom>
        </p:spPr>
      </p:pic>
      <p:pic>
        <p:nvPicPr>
          <p:cNvPr id="52" name="Image 10" descr="preencoded.png">    </p:cNvPr>
          <p:cNvPicPr>
            <a:picLocks noChangeAspect="1"/>
          </p:cNvPicPr>
          <p:nvPr/>
        </p:nvPicPr>
        <p:blipFill>
          <a:blip r:embed="rId11"/>
          <a:stretch>
            <a:fillRect/>
          </a:stretch>
        </p:blipFill>
        <p:spPr>
          <a:xfrm>
            <a:off x="11066983" y="5129784"/>
            <a:ext cx="256032" cy="256032"/>
          </a:xfrm>
          <a:prstGeom prst="rect">
            <a:avLst/>
          </a:prstGeom>
        </p:spPr>
      </p:pic>
      <p:pic>
        <p:nvPicPr>
          <p:cNvPr id="53" name="Image 11" descr="preencoded.png">    </p:cNvPr>
          <p:cNvPicPr>
            <a:picLocks noChangeAspect="1"/>
          </p:cNvPicPr>
          <p:nvPr/>
        </p:nvPicPr>
        <p:blipFill>
          <a:blip r:embed="rId12"/>
          <a:stretch>
            <a:fillRect/>
          </a:stretch>
        </p:blipFill>
        <p:spPr>
          <a:xfrm>
            <a:off x="7116775" y="4754880"/>
            <a:ext cx="265176" cy="265176"/>
          </a:xfrm>
          <a:prstGeom prst="rect">
            <a:avLst/>
          </a:prstGeom>
        </p:spPr>
      </p:pic>
      <p:pic>
        <p:nvPicPr>
          <p:cNvPr id="54" name="Image 12" descr="preencoded.png">    </p:cNvPr>
          <p:cNvPicPr>
            <a:picLocks noChangeAspect="1"/>
          </p:cNvPicPr>
          <p:nvPr/>
        </p:nvPicPr>
        <p:blipFill>
          <a:blip r:embed="rId13"/>
          <a:stretch>
            <a:fillRect/>
          </a:stretch>
        </p:blipFill>
        <p:spPr>
          <a:xfrm>
            <a:off x="3444088" y="2039112"/>
            <a:ext cx="265176" cy="265176"/>
          </a:xfrm>
          <a:prstGeom prst="rect">
            <a:avLst/>
          </a:prstGeom>
        </p:spPr>
      </p:pic>
      <p:pic>
        <p:nvPicPr>
          <p:cNvPr id="55" name="Image 13" descr="preencoded.png">    </p:cNvPr>
          <p:cNvPicPr>
            <a:picLocks noChangeAspect="1"/>
          </p:cNvPicPr>
          <p:nvPr/>
        </p:nvPicPr>
        <p:blipFill>
          <a:blip r:embed="rId14"/>
          <a:stretch>
            <a:fillRect/>
          </a:stretch>
        </p:blipFill>
        <p:spPr>
          <a:xfrm>
            <a:off x="3444088" y="5660136"/>
            <a:ext cx="265176" cy="265176"/>
          </a:xfrm>
          <a:prstGeom prst="rect">
            <a:avLst/>
          </a:prstGeom>
        </p:spPr>
      </p:pic>
      <p:pic>
        <p:nvPicPr>
          <p:cNvPr id="56" name="Image 14" descr="preencoded.png">    </p:cNvPr>
          <p:cNvPicPr>
            <a:picLocks noChangeAspect="1"/>
          </p:cNvPicPr>
          <p:nvPr/>
        </p:nvPicPr>
        <p:blipFill>
          <a:blip r:embed="rId15"/>
          <a:stretch>
            <a:fillRect/>
          </a:stretch>
        </p:blipFill>
        <p:spPr>
          <a:xfrm>
            <a:off x="3444088" y="4754880"/>
            <a:ext cx="265176" cy="26517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Green Circle logo">    </p:cNvPr>
          <p:cNvPicPr>
            <a:picLocks noChangeAspect="1"/>
          </p:cNvPicPr>
          <p:nvPr/>
        </p:nvPicPr>
        <p:blipFill>
          <a:blip r:embed="rId1"/>
          <a:stretch>
            <a:fillRect/>
          </a:stretch>
        </p:blipFill>
        <p:spPr>
          <a:xfrm>
            <a:off x="548640" y="384048"/>
            <a:ext cx="1286501" cy="457200"/>
          </a:xfrm>
          <a:prstGeom prst="rect">
            <a:avLst/>
          </a:prstGeom>
        </p:spPr>
      </p:pic>
      <p:sp>
        <p:nvSpPr>
          <p:cNvPr id="3" name="Text 0"/>
          <p:cNvSpPr txBox="1"/>
          <p:nvPr/>
        </p:nvSpPr>
        <p:spPr>
          <a:xfrm>
            <a:off x="5242255" y="6446520"/>
            <a:ext cx="6400800" cy="228600"/>
          </a:xfrm>
          <a:prstGeom prst="rect">
            <a:avLst/>
          </a:prstGeom>
          <a:noFill/>
          <a:ln/>
        </p:spPr>
        <p:txBody>
          <a:bodyPr wrap="square" lIns="0" tIns="0" rIns="0" bIns="0" rtlCol="0" anchor="t"/>
          <a:lstStyle/>
          <a:p>
            <a:pPr rtl="1" algn="r" indent="0" marL="0">
              <a:lnSpc>
                <a:spcPct val="100000"/>
              </a:lnSpc>
              <a:buNone/>
            </a:pPr>
            <a:r>
              <a:rPr lang="ar-SA" altLang="en-US" sz="900" dirty="0">
                <a:solidFill>
                  <a:srgbClr val="727274"/>
                </a:solidFill>
                <a:latin typeface="IBM Plex Sans Arabic" pitchFamily="34" charset="0"/>
                <a:ea typeface="IBM Plex Sans Arabic" pitchFamily="34" charset="-122"/>
                <a:cs typeface="IBM Plex Sans Arabic" pitchFamily="34" charset="-120"/>
              </a:rPr>
              <a:t>برنامج صُنّاع المحتوى بالذكاء الاصطناعي · مذكرة مفاهيمية</a:t>
            </a:r>
            <a:endParaRPr lang="ar-SA" sz="900" dirty="0"/>
          </a:p>
        </p:txBody>
      </p:sp>
      <p:sp>
        <p:nvSpPr>
          <p:cNvPr id="4" name="Text 1"/>
          <p:cNvSpPr txBox="1"/>
          <p:nvPr/>
        </p:nvSpPr>
        <p:spPr>
          <a:xfrm>
            <a:off x="548640" y="6446520"/>
            <a:ext cx="548640" cy="228600"/>
          </a:xfrm>
          <a:prstGeom prst="rect">
            <a:avLst/>
          </a:prstGeom>
          <a:noFill/>
          <a:ln/>
        </p:spPr>
        <p:txBody>
          <a:bodyPr wrap="square" lIns="0" tIns="0" rIns="0" bIns="0" rtlCol="0" anchor="t"/>
          <a:lstStyle/>
          <a:p>
            <a:pPr rtl="1" algn="l" indent="0" marL="0">
              <a:lnSpc>
                <a:spcPct val="100000"/>
              </a:lnSpc>
              <a:buNone/>
            </a:pPr>
            <a:r>
              <a:rPr lang="ar-SA" altLang="en-US" sz="900" dirty="0">
                <a:solidFill>
                  <a:srgbClr val="727274"/>
                </a:solidFill>
                <a:latin typeface="IBM Plex Sans Arabic" pitchFamily="34" charset="0"/>
                <a:ea typeface="IBM Plex Sans Arabic" pitchFamily="34" charset="-122"/>
                <a:cs typeface="IBM Plex Sans Arabic" pitchFamily="34" charset="-120"/>
              </a:rPr>
              <a:t>17</a:t>
            </a:r>
            <a:endParaRPr lang="ar-SA" sz="900" dirty="0"/>
          </a:p>
        </p:txBody>
      </p:sp>
      <p:sp>
        <p:nvSpPr>
          <p:cNvPr id="5" name="Text 2"/>
          <p:cNvSpPr txBox="1"/>
          <p:nvPr/>
        </p:nvSpPr>
        <p:spPr>
          <a:xfrm>
            <a:off x="2681935" y="384048"/>
            <a:ext cx="8961120" cy="274320"/>
          </a:xfrm>
          <a:prstGeom prst="rect">
            <a:avLst/>
          </a:prstGeom>
          <a:noFill/>
          <a:ln/>
        </p:spPr>
        <p:txBody>
          <a:bodyPr wrap="square" lIns="0" tIns="0" rIns="0" bIns="0" rtlCol="0" anchor="t"/>
          <a:lstStyle/>
          <a:p>
            <a:pPr rtl="1" algn="r" indent="0" marL="0">
              <a:lnSpc>
                <a:spcPct val="100000"/>
              </a:lnSpc>
              <a:buNone/>
            </a:pPr>
            <a:r>
              <a:rPr lang="ar-SA" altLang="en-US" sz="1100" b="1" dirty="0">
                <a:solidFill>
                  <a:srgbClr val="727274"/>
                </a:solidFill>
                <a:latin typeface="IBM Plex Sans Arabic" pitchFamily="34" charset="0"/>
                <a:ea typeface="IBM Plex Sans Arabic" pitchFamily="34" charset="-122"/>
                <a:cs typeface="IBM Plex Sans Arabic" pitchFamily="34" charset="-120"/>
              </a:rPr>
              <a:t>16 · صيغة البرنامج والنتائج المتوقعة</a:t>
            </a:r>
            <a:endParaRPr lang="ar-SA" sz="1100" dirty="0"/>
          </a:p>
        </p:txBody>
      </p:sp>
      <p:sp>
        <p:nvSpPr>
          <p:cNvPr id="6" name="Text 3"/>
          <p:cNvSpPr txBox="1"/>
          <p:nvPr/>
        </p:nvSpPr>
        <p:spPr>
          <a:xfrm>
            <a:off x="2224735" y="676656"/>
            <a:ext cx="9418320" cy="914400"/>
          </a:xfrm>
          <a:prstGeom prst="rect">
            <a:avLst/>
          </a:prstGeom>
          <a:noFill/>
          <a:ln/>
        </p:spPr>
        <p:txBody>
          <a:bodyPr wrap="square" lIns="0" tIns="0" rIns="0" bIns="0" rtlCol="0" anchor="t"/>
          <a:lstStyle/>
          <a:p>
            <a:pPr rtl="1" algn="r" indent="0" marL="0">
              <a:lnSpc>
                <a:spcPct val="95000"/>
              </a:lnSpc>
              <a:buNone/>
            </a:pPr>
            <a:r>
              <a:rPr lang="ar-SA" altLang="en-US" sz="2600" b="1" dirty="0">
                <a:solidFill>
                  <a:srgbClr val="1A1A1A"/>
                </a:solidFill>
                <a:latin typeface="Cairo" pitchFamily="34" charset="0"/>
                <a:ea typeface="Cairo" pitchFamily="34" charset="-122"/>
                <a:cs typeface="Cairo" pitchFamily="34" charset="-120"/>
              </a:rPr>
              <a:t>اثنا عشر أسبوعاً من التدريب العملي</a:t>
            </a:r>
            <a:endParaRPr lang="ar-SA" sz="2600" dirty="0"/>
          </a:p>
        </p:txBody>
      </p:sp>
      <p:sp>
        <p:nvSpPr>
          <p:cNvPr id="7" name="Shape 4"/>
          <p:cNvSpPr/>
          <p:nvPr/>
        </p:nvSpPr>
        <p:spPr>
          <a:xfrm>
            <a:off x="11167567" y="1828800"/>
            <a:ext cx="475488" cy="475488"/>
          </a:xfrm>
          <a:prstGeom prst="ellipse">
            <a:avLst/>
          </a:prstGeom>
          <a:solidFill>
            <a:srgbClr val="4DB449"/>
          </a:solidFill>
          <a:ln w="6350">
            <a:solidFill>
              <a:srgbClr val="4DB449"/>
            </a:solidFill>
            <a:prstDash val="solid"/>
          </a:ln>
        </p:spPr>
      </p:sp>
      <p:sp>
        <p:nvSpPr>
          <p:cNvPr id="8" name="Text 5"/>
          <p:cNvSpPr txBox="1"/>
          <p:nvPr/>
        </p:nvSpPr>
        <p:spPr>
          <a:xfrm>
            <a:off x="6796735" y="1792224"/>
            <a:ext cx="4206240" cy="274320"/>
          </a:xfrm>
          <a:prstGeom prst="rect">
            <a:avLst/>
          </a:prstGeom>
          <a:noFill/>
          <a:ln/>
        </p:spPr>
        <p:txBody>
          <a:bodyPr wrap="square" lIns="0" tIns="0" rIns="0" bIns="0" rtlCol="0" anchor="t"/>
          <a:lstStyle/>
          <a:p>
            <a:pPr rtl="1" algn="r" indent="0" marL="0">
              <a:lnSpc>
                <a:spcPct val="100000"/>
              </a:lnSpc>
              <a:buNone/>
            </a:pPr>
            <a:r>
              <a:rPr lang="ar-SA" altLang="en-US" sz="1300" b="1" dirty="0">
                <a:solidFill>
                  <a:srgbClr val="727274"/>
                </a:solidFill>
                <a:latin typeface="IBM Plex Sans Arabic" pitchFamily="34" charset="0"/>
                <a:ea typeface="IBM Plex Sans Arabic" pitchFamily="34" charset="-122"/>
                <a:cs typeface="IBM Plex Sans Arabic" pitchFamily="34" charset="-120"/>
              </a:rPr>
              <a:t>المدة</a:t>
            </a:r>
            <a:endParaRPr lang="ar-SA" sz="1300" dirty="0"/>
          </a:p>
        </p:txBody>
      </p:sp>
      <p:sp>
        <p:nvSpPr>
          <p:cNvPr id="9" name="Text 6"/>
          <p:cNvSpPr txBox="1"/>
          <p:nvPr/>
        </p:nvSpPr>
        <p:spPr>
          <a:xfrm>
            <a:off x="6613855" y="2057400"/>
            <a:ext cx="4389120" cy="320040"/>
          </a:xfrm>
          <a:prstGeom prst="rect">
            <a:avLst/>
          </a:prstGeom>
          <a:noFill/>
          <a:ln/>
        </p:spPr>
        <p:txBody>
          <a:bodyPr wrap="square" lIns="0" tIns="0" rIns="0" bIns="0" rtlCol="0" anchor="t"/>
          <a:lstStyle/>
          <a:p>
            <a:pPr rtl="1" algn="r" indent="0" marL="0">
              <a:lnSpc>
                <a:spcPct val="100000"/>
              </a:lnSpc>
              <a:buNone/>
            </a:pPr>
            <a:r>
              <a:rPr lang="ar-SA" altLang="en-US" sz="1500" b="1" dirty="0">
                <a:solidFill>
                  <a:srgbClr val="1A1A1A"/>
                </a:solidFill>
                <a:latin typeface="Cairo" pitchFamily="34" charset="0"/>
                <a:ea typeface="Cairo" pitchFamily="34" charset="-122"/>
                <a:cs typeface="Cairo" pitchFamily="34" charset="-120"/>
              </a:rPr>
              <a:t>12 أسبوعاً · 32 جلسة</a:t>
            </a:r>
            <a:endParaRPr lang="ar-SA" sz="1500" dirty="0"/>
          </a:p>
        </p:txBody>
      </p:sp>
      <p:sp>
        <p:nvSpPr>
          <p:cNvPr id="10" name="Shape 7"/>
          <p:cNvSpPr/>
          <p:nvPr/>
        </p:nvSpPr>
        <p:spPr>
          <a:xfrm>
            <a:off x="11167567" y="2542032"/>
            <a:ext cx="475488" cy="475488"/>
          </a:xfrm>
          <a:prstGeom prst="ellipse">
            <a:avLst/>
          </a:prstGeom>
          <a:solidFill>
            <a:srgbClr val="4DB449"/>
          </a:solidFill>
          <a:ln w="6350">
            <a:solidFill>
              <a:srgbClr val="4DB449"/>
            </a:solidFill>
            <a:prstDash val="solid"/>
          </a:ln>
        </p:spPr>
      </p:sp>
      <p:sp>
        <p:nvSpPr>
          <p:cNvPr id="11" name="Text 8"/>
          <p:cNvSpPr txBox="1"/>
          <p:nvPr/>
        </p:nvSpPr>
        <p:spPr>
          <a:xfrm>
            <a:off x="6796735" y="2505456"/>
            <a:ext cx="4206240" cy="274320"/>
          </a:xfrm>
          <a:prstGeom prst="rect">
            <a:avLst/>
          </a:prstGeom>
          <a:noFill/>
          <a:ln/>
        </p:spPr>
        <p:txBody>
          <a:bodyPr wrap="square" lIns="0" tIns="0" rIns="0" bIns="0" rtlCol="0" anchor="t"/>
          <a:lstStyle/>
          <a:p>
            <a:pPr rtl="1" algn="r" indent="0" marL="0">
              <a:lnSpc>
                <a:spcPct val="100000"/>
              </a:lnSpc>
              <a:buNone/>
            </a:pPr>
            <a:r>
              <a:rPr lang="ar-SA" altLang="en-US" sz="1300" b="1" dirty="0">
                <a:solidFill>
                  <a:srgbClr val="727274"/>
                </a:solidFill>
                <a:latin typeface="IBM Plex Sans Arabic" pitchFamily="34" charset="0"/>
                <a:ea typeface="IBM Plex Sans Arabic" pitchFamily="34" charset="-122"/>
                <a:cs typeface="IBM Plex Sans Arabic" pitchFamily="34" charset="-120"/>
              </a:rPr>
              <a:t>الإيقاع</a:t>
            </a:r>
            <a:endParaRPr lang="ar-SA" sz="1300" dirty="0"/>
          </a:p>
        </p:txBody>
      </p:sp>
      <p:sp>
        <p:nvSpPr>
          <p:cNvPr id="12" name="Text 9"/>
          <p:cNvSpPr txBox="1"/>
          <p:nvPr/>
        </p:nvSpPr>
        <p:spPr>
          <a:xfrm>
            <a:off x="6613855" y="2770632"/>
            <a:ext cx="4389120" cy="320040"/>
          </a:xfrm>
          <a:prstGeom prst="rect">
            <a:avLst/>
          </a:prstGeom>
          <a:noFill/>
          <a:ln/>
        </p:spPr>
        <p:txBody>
          <a:bodyPr wrap="square" lIns="0" tIns="0" rIns="0" bIns="0" rtlCol="0" anchor="t"/>
          <a:lstStyle/>
          <a:p>
            <a:pPr rtl="1" algn="r" indent="0" marL="0">
              <a:lnSpc>
                <a:spcPct val="100000"/>
              </a:lnSpc>
              <a:buNone/>
            </a:pPr>
            <a:r>
              <a:rPr lang="ar-SA" altLang="en-US" sz="1500" b="1" dirty="0">
                <a:solidFill>
                  <a:srgbClr val="1A1A1A"/>
                </a:solidFill>
                <a:latin typeface="Cairo" pitchFamily="34" charset="0"/>
                <a:ea typeface="Cairo" pitchFamily="34" charset="-122"/>
                <a:cs typeface="Cairo" pitchFamily="34" charset="-120"/>
              </a:rPr>
              <a:t>3 جلسات × 3 ساعات أسبوعياً (مقترح)</a:t>
            </a:r>
            <a:endParaRPr lang="ar-SA" sz="1500" dirty="0"/>
          </a:p>
        </p:txBody>
      </p:sp>
      <p:sp>
        <p:nvSpPr>
          <p:cNvPr id="13" name="Shape 10"/>
          <p:cNvSpPr/>
          <p:nvPr/>
        </p:nvSpPr>
        <p:spPr>
          <a:xfrm>
            <a:off x="11167567" y="3255264"/>
            <a:ext cx="475488" cy="475488"/>
          </a:xfrm>
          <a:prstGeom prst="ellipse">
            <a:avLst/>
          </a:prstGeom>
          <a:solidFill>
            <a:srgbClr val="4DB449"/>
          </a:solidFill>
          <a:ln w="6350">
            <a:solidFill>
              <a:srgbClr val="4DB449"/>
            </a:solidFill>
            <a:prstDash val="solid"/>
          </a:ln>
        </p:spPr>
      </p:sp>
      <p:sp>
        <p:nvSpPr>
          <p:cNvPr id="14" name="Text 11"/>
          <p:cNvSpPr txBox="1"/>
          <p:nvPr/>
        </p:nvSpPr>
        <p:spPr>
          <a:xfrm>
            <a:off x="6796735" y="3218688"/>
            <a:ext cx="4206240" cy="274320"/>
          </a:xfrm>
          <a:prstGeom prst="rect">
            <a:avLst/>
          </a:prstGeom>
          <a:noFill/>
          <a:ln/>
        </p:spPr>
        <p:txBody>
          <a:bodyPr wrap="square" lIns="0" tIns="0" rIns="0" bIns="0" rtlCol="0" anchor="t"/>
          <a:lstStyle/>
          <a:p>
            <a:pPr rtl="1" algn="r" indent="0" marL="0">
              <a:lnSpc>
                <a:spcPct val="100000"/>
              </a:lnSpc>
              <a:buNone/>
            </a:pPr>
            <a:r>
              <a:rPr lang="ar-SA" altLang="en-US" sz="1300" b="1" dirty="0">
                <a:solidFill>
                  <a:srgbClr val="727274"/>
                </a:solidFill>
                <a:latin typeface="IBM Plex Sans Arabic" pitchFamily="34" charset="0"/>
                <a:ea typeface="IBM Plex Sans Arabic" pitchFamily="34" charset="-122"/>
                <a:cs typeface="IBM Plex Sans Arabic" pitchFamily="34" charset="-120"/>
              </a:rPr>
              <a:t>المجموعة</a:t>
            </a:r>
            <a:endParaRPr lang="ar-SA" sz="1300" dirty="0"/>
          </a:p>
        </p:txBody>
      </p:sp>
      <p:sp>
        <p:nvSpPr>
          <p:cNvPr id="15" name="Text 12"/>
          <p:cNvSpPr txBox="1"/>
          <p:nvPr/>
        </p:nvSpPr>
        <p:spPr>
          <a:xfrm>
            <a:off x="6613855" y="3483864"/>
            <a:ext cx="4389120" cy="320040"/>
          </a:xfrm>
          <a:prstGeom prst="rect">
            <a:avLst/>
          </a:prstGeom>
          <a:noFill/>
          <a:ln/>
        </p:spPr>
        <p:txBody>
          <a:bodyPr wrap="square" lIns="0" tIns="0" rIns="0" bIns="0" rtlCol="0" anchor="t"/>
          <a:lstStyle/>
          <a:p>
            <a:pPr rtl="1" algn="r" indent="0" marL="0">
              <a:lnSpc>
                <a:spcPct val="100000"/>
              </a:lnSpc>
              <a:buNone/>
            </a:pPr>
            <a:r>
              <a:rPr lang="ar-SA" altLang="en-US" sz="1500" b="1" dirty="0">
                <a:solidFill>
                  <a:srgbClr val="1A1A1A"/>
                </a:solidFill>
                <a:latin typeface="Cairo" pitchFamily="34" charset="0"/>
                <a:ea typeface="Cairo" pitchFamily="34" charset="-122"/>
                <a:cs typeface="Cairo" pitchFamily="34" charset="-120"/>
              </a:rPr>
              <a:t>20 مشاركاً (مقترح)</a:t>
            </a:r>
            <a:endParaRPr lang="ar-SA" sz="1500" dirty="0"/>
          </a:p>
        </p:txBody>
      </p:sp>
      <p:sp>
        <p:nvSpPr>
          <p:cNvPr id="16" name="Shape 13"/>
          <p:cNvSpPr/>
          <p:nvPr/>
        </p:nvSpPr>
        <p:spPr>
          <a:xfrm>
            <a:off x="11167567" y="3968496"/>
            <a:ext cx="475488" cy="475488"/>
          </a:xfrm>
          <a:prstGeom prst="ellipse">
            <a:avLst/>
          </a:prstGeom>
          <a:solidFill>
            <a:srgbClr val="4DB449"/>
          </a:solidFill>
          <a:ln w="6350">
            <a:solidFill>
              <a:srgbClr val="4DB449"/>
            </a:solidFill>
            <a:prstDash val="solid"/>
          </a:ln>
        </p:spPr>
      </p:sp>
      <p:sp>
        <p:nvSpPr>
          <p:cNvPr id="17" name="Text 14"/>
          <p:cNvSpPr txBox="1"/>
          <p:nvPr/>
        </p:nvSpPr>
        <p:spPr>
          <a:xfrm>
            <a:off x="6796735" y="3931920"/>
            <a:ext cx="4206240" cy="274320"/>
          </a:xfrm>
          <a:prstGeom prst="rect">
            <a:avLst/>
          </a:prstGeom>
          <a:noFill/>
          <a:ln/>
        </p:spPr>
        <p:txBody>
          <a:bodyPr wrap="square" lIns="0" tIns="0" rIns="0" bIns="0" rtlCol="0" anchor="t"/>
          <a:lstStyle/>
          <a:p>
            <a:pPr rtl="1" algn="r" indent="0" marL="0">
              <a:lnSpc>
                <a:spcPct val="100000"/>
              </a:lnSpc>
              <a:buNone/>
            </a:pPr>
            <a:r>
              <a:rPr lang="ar-SA" altLang="en-US" sz="1300" b="1" dirty="0">
                <a:solidFill>
                  <a:srgbClr val="727274"/>
                </a:solidFill>
                <a:latin typeface="IBM Plex Sans Arabic" pitchFamily="34" charset="0"/>
                <a:ea typeface="IBM Plex Sans Arabic" pitchFamily="34" charset="-122"/>
                <a:cs typeface="IBM Plex Sans Arabic" pitchFamily="34" charset="-120"/>
              </a:rPr>
              <a:t>الصيغة</a:t>
            </a:r>
            <a:endParaRPr lang="ar-SA" sz="1300" dirty="0"/>
          </a:p>
        </p:txBody>
      </p:sp>
      <p:sp>
        <p:nvSpPr>
          <p:cNvPr id="18" name="Text 15"/>
          <p:cNvSpPr txBox="1"/>
          <p:nvPr/>
        </p:nvSpPr>
        <p:spPr>
          <a:xfrm>
            <a:off x="6613855" y="4197096"/>
            <a:ext cx="4389120" cy="320040"/>
          </a:xfrm>
          <a:prstGeom prst="rect">
            <a:avLst/>
          </a:prstGeom>
          <a:noFill/>
          <a:ln/>
        </p:spPr>
        <p:txBody>
          <a:bodyPr wrap="square" lIns="0" tIns="0" rIns="0" bIns="0" rtlCol="0" anchor="t"/>
          <a:lstStyle/>
          <a:p>
            <a:pPr rtl="1" algn="r" indent="0" marL="0">
              <a:lnSpc>
                <a:spcPct val="100000"/>
              </a:lnSpc>
              <a:buNone/>
            </a:pPr>
            <a:r>
              <a:rPr lang="ar-SA" altLang="en-US" sz="1500" b="1" dirty="0">
                <a:solidFill>
                  <a:srgbClr val="1A1A1A"/>
                </a:solidFill>
                <a:latin typeface="Cairo" pitchFamily="34" charset="0"/>
                <a:ea typeface="Cairo" pitchFamily="34" charset="-122"/>
                <a:cs typeface="Cairo" pitchFamily="34" charset="-120"/>
              </a:rPr>
              <a:t>حضوري في مختبر حاسوب</a:t>
            </a:r>
            <a:endParaRPr lang="ar-SA" sz="1500" dirty="0"/>
          </a:p>
        </p:txBody>
      </p:sp>
      <p:sp>
        <p:nvSpPr>
          <p:cNvPr id="19" name="Shape 16"/>
          <p:cNvSpPr/>
          <p:nvPr/>
        </p:nvSpPr>
        <p:spPr>
          <a:xfrm>
            <a:off x="11167567" y="4681728"/>
            <a:ext cx="475488" cy="475488"/>
          </a:xfrm>
          <a:prstGeom prst="ellipse">
            <a:avLst/>
          </a:prstGeom>
          <a:solidFill>
            <a:srgbClr val="4DB449"/>
          </a:solidFill>
          <a:ln w="6350">
            <a:solidFill>
              <a:srgbClr val="4DB449"/>
            </a:solidFill>
            <a:prstDash val="solid"/>
          </a:ln>
        </p:spPr>
      </p:sp>
      <p:sp>
        <p:nvSpPr>
          <p:cNvPr id="20" name="Text 17"/>
          <p:cNvSpPr txBox="1"/>
          <p:nvPr/>
        </p:nvSpPr>
        <p:spPr>
          <a:xfrm>
            <a:off x="6796735" y="4645152"/>
            <a:ext cx="4206240" cy="274320"/>
          </a:xfrm>
          <a:prstGeom prst="rect">
            <a:avLst/>
          </a:prstGeom>
          <a:noFill/>
          <a:ln/>
        </p:spPr>
        <p:txBody>
          <a:bodyPr wrap="square" lIns="0" tIns="0" rIns="0" bIns="0" rtlCol="0" anchor="t"/>
          <a:lstStyle/>
          <a:p>
            <a:pPr rtl="1" algn="r" indent="0" marL="0">
              <a:lnSpc>
                <a:spcPct val="100000"/>
              </a:lnSpc>
              <a:buNone/>
            </a:pPr>
            <a:r>
              <a:rPr lang="ar-SA" altLang="en-US" sz="1300" b="1" dirty="0">
                <a:solidFill>
                  <a:srgbClr val="727274"/>
                </a:solidFill>
                <a:latin typeface="IBM Plex Sans Arabic" pitchFamily="34" charset="0"/>
                <a:ea typeface="IBM Plex Sans Arabic" pitchFamily="34" charset="-122"/>
                <a:cs typeface="IBM Plex Sans Arabic" pitchFamily="34" charset="-120"/>
              </a:rPr>
              <a:t>الفريق</a:t>
            </a:r>
            <a:endParaRPr lang="ar-SA" sz="1300" dirty="0"/>
          </a:p>
        </p:txBody>
      </p:sp>
      <p:sp>
        <p:nvSpPr>
          <p:cNvPr id="21" name="Text 18"/>
          <p:cNvSpPr txBox="1"/>
          <p:nvPr/>
        </p:nvSpPr>
        <p:spPr>
          <a:xfrm>
            <a:off x="6613855" y="4910328"/>
            <a:ext cx="4389120" cy="320040"/>
          </a:xfrm>
          <a:prstGeom prst="rect">
            <a:avLst/>
          </a:prstGeom>
          <a:noFill/>
          <a:ln/>
        </p:spPr>
        <p:txBody>
          <a:bodyPr wrap="square" lIns="0" tIns="0" rIns="0" bIns="0" rtlCol="0" anchor="t"/>
          <a:lstStyle/>
          <a:p>
            <a:pPr rtl="1" algn="r" indent="0" marL="0">
              <a:lnSpc>
                <a:spcPct val="100000"/>
              </a:lnSpc>
              <a:buNone/>
            </a:pPr>
            <a:r>
              <a:rPr lang="ar-SA" altLang="en-US" sz="1500" b="1" dirty="0">
                <a:solidFill>
                  <a:srgbClr val="1A1A1A"/>
                </a:solidFill>
                <a:latin typeface="Cairo" pitchFamily="34" charset="0"/>
                <a:ea typeface="Cairo" pitchFamily="34" charset="-122"/>
                <a:cs typeface="Cairo" pitchFamily="34" charset="-120"/>
              </a:rPr>
              <a:t>مدرب رئيسي ومدرب مساعد</a:t>
            </a:r>
            <a:endParaRPr lang="ar-SA" sz="1500" dirty="0"/>
          </a:p>
        </p:txBody>
      </p:sp>
      <p:sp>
        <p:nvSpPr>
          <p:cNvPr id="22" name="Shape 19"/>
          <p:cNvSpPr/>
          <p:nvPr/>
        </p:nvSpPr>
        <p:spPr>
          <a:xfrm>
            <a:off x="11167567" y="5394960"/>
            <a:ext cx="475488" cy="475488"/>
          </a:xfrm>
          <a:prstGeom prst="ellipse">
            <a:avLst/>
          </a:prstGeom>
          <a:solidFill>
            <a:srgbClr val="4DB449"/>
          </a:solidFill>
          <a:ln w="6350">
            <a:solidFill>
              <a:srgbClr val="4DB449"/>
            </a:solidFill>
            <a:prstDash val="solid"/>
          </a:ln>
        </p:spPr>
      </p:sp>
      <p:sp>
        <p:nvSpPr>
          <p:cNvPr id="23" name="Text 20"/>
          <p:cNvSpPr txBox="1"/>
          <p:nvPr/>
        </p:nvSpPr>
        <p:spPr>
          <a:xfrm>
            <a:off x="6796735" y="5358384"/>
            <a:ext cx="4206240" cy="274320"/>
          </a:xfrm>
          <a:prstGeom prst="rect">
            <a:avLst/>
          </a:prstGeom>
          <a:noFill/>
          <a:ln/>
        </p:spPr>
        <p:txBody>
          <a:bodyPr wrap="square" lIns="0" tIns="0" rIns="0" bIns="0" rtlCol="0" anchor="t"/>
          <a:lstStyle/>
          <a:p>
            <a:pPr rtl="1" algn="r" indent="0" marL="0">
              <a:lnSpc>
                <a:spcPct val="100000"/>
              </a:lnSpc>
              <a:buNone/>
            </a:pPr>
            <a:r>
              <a:rPr lang="ar-SA" altLang="en-US" sz="1300" b="1" dirty="0">
                <a:solidFill>
                  <a:srgbClr val="727274"/>
                </a:solidFill>
                <a:latin typeface="IBM Plex Sans Arabic" pitchFamily="34" charset="0"/>
                <a:ea typeface="IBM Plex Sans Arabic" pitchFamily="34" charset="-122"/>
                <a:cs typeface="IBM Plex Sans Arabic" pitchFamily="34" charset="-120"/>
              </a:rPr>
              <a:t>الشهادة</a:t>
            </a:r>
            <a:endParaRPr lang="ar-SA" sz="1300" dirty="0"/>
          </a:p>
        </p:txBody>
      </p:sp>
      <p:sp>
        <p:nvSpPr>
          <p:cNvPr id="24" name="Text 21"/>
          <p:cNvSpPr txBox="1"/>
          <p:nvPr/>
        </p:nvSpPr>
        <p:spPr>
          <a:xfrm>
            <a:off x="6613855" y="5623560"/>
            <a:ext cx="4389120" cy="320040"/>
          </a:xfrm>
          <a:prstGeom prst="rect">
            <a:avLst/>
          </a:prstGeom>
          <a:noFill/>
          <a:ln/>
        </p:spPr>
        <p:txBody>
          <a:bodyPr wrap="square" lIns="0" tIns="0" rIns="0" bIns="0" rtlCol="0" anchor="t"/>
          <a:lstStyle/>
          <a:p>
            <a:pPr rtl="1" algn="r" indent="0" marL="0">
              <a:lnSpc>
                <a:spcPct val="100000"/>
              </a:lnSpc>
              <a:buNone/>
            </a:pPr>
            <a:r>
              <a:rPr lang="ar-SA" altLang="en-US" sz="1500" b="1" dirty="0">
                <a:solidFill>
                  <a:srgbClr val="1A1A1A"/>
                </a:solidFill>
                <a:latin typeface="Cairo" pitchFamily="34" charset="0"/>
                <a:ea typeface="Cairo" pitchFamily="34" charset="-122"/>
                <a:cs typeface="Cairo" pitchFamily="34" charset="-120"/>
              </a:rPr>
              <a:t>شهادة إتمام (مقترح)</a:t>
            </a:r>
            <a:endParaRPr lang="ar-SA" sz="1500" dirty="0"/>
          </a:p>
        </p:txBody>
      </p:sp>
      <p:sp>
        <p:nvSpPr>
          <p:cNvPr id="25" name="Text 22"/>
          <p:cNvSpPr txBox="1"/>
          <p:nvPr/>
        </p:nvSpPr>
        <p:spPr>
          <a:xfrm>
            <a:off x="548640" y="1783080"/>
            <a:ext cx="5608015" cy="365760"/>
          </a:xfrm>
          <a:prstGeom prst="rect">
            <a:avLst/>
          </a:prstGeom>
          <a:noFill/>
          <a:ln/>
        </p:spPr>
        <p:txBody>
          <a:bodyPr wrap="square" lIns="0" tIns="0" rIns="0" bIns="0" rtlCol="0" anchor="t"/>
          <a:lstStyle/>
          <a:p>
            <a:pPr rtl="1" algn="r" indent="0" marL="0">
              <a:lnSpc>
                <a:spcPct val="100000"/>
              </a:lnSpc>
              <a:buNone/>
            </a:pPr>
            <a:r>
              <a:rPr lang="ar-SA" altLang="en-US" sz="1600" b="1" dirty="0">
                <a:solidFill>
                  <a:srgbClr val="1A1A1A"/>
                </a:solidFill>
                <a:latin typeface="Cairo" pitchFamily="34" charset="0"/>
                <a:ea typeface="Cairo" pitchFamily="34" charset="-122"/>
                <a:cs typeface="Cairo" pitchFamily="34" charset="-120"/>
              </a:rPr>
              <a:t>النتائج المتوقعة (مستهدفات مقترحة)</a:t>
            </a:r>
            <a:endParaRPr lang="ar-SA" sz="1600" dirty="0"/>
          </a:p>
        </p:txBody>
      </p:sp>
      <p:sp>
        <p:nvSpPr>
          <p:cNvPr id="26" name="Shape 23"/>
          <p:cNvSpPr/>
          <p:nvPr/>
        </p:nvSpPr>
        <p:spPr>
          <a:xfrm>
            <a:off x="3466948" y="2286000"/>
            <a:ext cx="2689708" cy="1828800"/>
          </a:xfrm>
          <a:prstGeom prst="roundRect">
            <a:avLst>
              <a:gd name="adj" fmla="val 6000"/>
            </a:avLst>
          </a:prstGeom>
          <a:solidFill>
            <a:srgbClr val="EAF5E8"/>
          </a:solidFill>
          <a:ln w="12700">
            <a:solidFill>
              <a:srgbClr val="EAF5E8"/>
            </a:solidFill>
            <a:prstDash val="solid"/>
          </a:ln>
        </p:spPr>
      </p:sp>
      <p:sp>
        <p:nvSpPr>
          <p:cNvPr id="27" name="Text 24"/>
          <p:cNvSpPr txBox="1"/>
          <p:nvPr/>
        </p:nvSpPr>
        <p:spPr>
          <a:xfrm>
            <a:off x="3741268" y="2468880"/>
            <a:ext cx="2141068" cy="868680"/>
          </a:xfrm>
          <a:prstGeom prst="rect">
            <a:avLst/>
          </a:prstGeom>
          <a:noFill/>
          <a:ln/>
        </p:spPr>
        <p:txBody>
          <a:bodyPr wrap="square" lIns="0" tIns="0" rIns="0" bIns="0" rtlCol="0" anchor="b"/>
          <a:lstStyle/>
          <a:p>
            <a:pPr algn="r" indent="0" marL="0">
              <a:lnSpc>
                <a:spcPct val="100000"/>
              </a:lnSpc>
              <a:buNone/>
            </a:pPr>
            <a:r>
              <a:rPr lang="ar-SA" altLang="en-US" sz="4600" b="1" dirty="0">
                <a:solidFill>
                  <a:srgbClr val="000000"/>
                </a:solidFill>
                <a:latin typeface="Cairo" pitchFamily="34" charset="0"/>
                <a:ea typeface="Cairo" pitchFamily="34" charset="-122"/>
                <a:cs typeface="Cairo" pitchFamily="34" charset="-120"/>
              </a:rPr>
              <a:t>85%</a:t>
            </a:r>
            <a:endParaRPr lang="ar-SA" sz="4600" dirty="0"/>
          </a:p>
        </p:txBody>
      </p:sp>
      <p:sp>
        <p:nvSpPr>
          <p:cNvPr id="28" name="Text 25"/>
          <p:cNvSpPr txBox="1"/>
          <p:nvPr/>
        </p:nvSpPr>
        <p:spPr>
          <a:xfrm>
            <a:off x="3741268" y="3383280"/>
            <a:ext cx="2141068" cy="640080"/>
          </a:xfrm>
          <a:prstGeom prst="rect">
            <a:avLst/>
          </a:prstGeom>
          <a:noFill/>
          <a:ln/>
        </p:spPr>
        <p:txBody>
          <a:bodyPr wrap="square" lIns="0" tIns="0" rIns="0" bIns="0" rtlCol="0" anchor="t"/>
          <a:lstStyle/>
          <a:p>
            <a:pPr rtl="1" algn="r" indent="0" marL="0">
              <a:lnSpc>
                <a:spcPct val="100000"/>
              </a:lnSpc>
              <a:buNone/>
            </a:pPr>
            <a:r>
              <a:rPr lang="ar-SA" altLang="en-US" sz="1400" dirty="0">
                <a:solidFill>
                  <a:srgbClr val="3C3E3B"/>
                </a:solidFill>
                <a:latin typeface="IBM Plex Sans Arabic" pitchFamily="34" charset="0"/>
                <a:ea typeface="IBM Plex Sans Arabic" pitchFamily="34" charset="-122"/>
                <a:cs typeface="IBM Plex Sans Arabic" pitchFamily="34" charset="-120"/>
              </a:rPr>
              <a:t>يُتمّون البرنامج</a:t>
            </a:r>
            <a:endParaRPr lang="ar-SA" sz="1400" dirty="0"/>
          </a:p>
        </p:txBody>
      </p:sp>
      <p:sp>
        <p:nvSpPr>
          <p:cNvPr id="29" name="Shape 26"/>
          <p:cNvSpPr/>
          <p:nvPr/>
        </p:nvSpPr>
        <p:spPr>
          <a:xfrm>
            <a:off x="548640" y="2286000"/>
            <a:ext cx="2689708" cy="1828800"/>
          </a:xfrm>
          <a:prstGeom prst="roundRect">
            <a:avLst>
              <a:gd name="adj" fmla="val 6000"/>
            </a:avLst>
          </a:prstGeom>
          <a:solidFill>
            <a:srgbClr val="EAF5E8"/>
          </a:solidFill>
          <a:ln w="12700">
            <a:solidFill>
              <a:srgbClr val="EAF5E8"/>
            </a:solidFill>
            <a:prstDash val="solid"/>
          </a:ln>
        </p:spPr>
      </p:sp>
      <p:sp>
        <p:nvSpPr>
          <p:cNvPr id="30" name="Text 27"/>
          <p:cNvSpPr txBox="1"/>
          <p:nvPr/>
        </p:nvSpPr>
        <p:spPr>
          <a:xfrm>
            <a:off x="822960" y="2468880"/>
            <a:ext cx="2141068" cy="868680"/>
          </a:xfrm>
          <a:prstGeom prst="rect">
            <a:avLst/>
          </a:prstGeom>
          <a:noFill/>
          <a:ln/>
        </p:spPr>
        <p:txBody>
          <a:bodyPr wrap="square" lIns="0" tIns="0" rIns="0" bIns="0" rtlCol="0" anchor="b"/>
          <a:lstStyle/>
          <a:p>
            <a:pPr algn="r" indent="0" marL="0">
              <a:lnSpc>
                <a:spcPct val="100000"/>
              </a:lnSpc>
              <a:buNone/>
            </a:pPr>
            <a:r>
              <a:rPr lang="ar-SA" altLang="en-US" sz="4600" b="1" dirty="0">
                <a:solidFill>
                  <a:srgbClr val="000000"/>
                </a:solidFill>
                <a:latin typeface="Cairo" pitchFamily="34" charset="0"/>
                <a:ea typeface="Cairo" pitchFamily="34" charset="-122"/>
                <a:cs typeface="Cairo" pitchFamily="34" charset="-120"/>
              </a:rPr>
              <a:t>90%</a:t>
            </a:r>
            <a:endParaRPr lang="ar-SA" sz="4600" dirty="0"/>
          </a:p>
        </p:txBody>
      </p:sp>
      <p:sp>
        <p:nvSpPr>
          <p:cNvPr id="31" name="Text 28"/>
          <p:cNvSpPr txBox="1"/>
          <p:nvPr/>
        </p:nvSpPr>
        <p:spPr>
          <a:xfrm>
            <a:off x="822960" y="3383280"/>
            <a:ext cx="2141068" cy="640080"/>
          </a:xfrm>
          <a:prstGeom prst="rect">
            <a:avLst/>
          </a:prstGeom>
          <a:noFill/>
          <a:ln/>
        </p:spPr>
        <p:txBody>
          <a:bodyPr wrap="square" lIns="0" tIns="0" rIns="0" bIns="0" rtlCol="0" anchor="t"/>
          <a:lstStyle/>
          <a:p>
            <a:pPr rtl="1" algn="r" indent="0" marL="0">
              <a:lnSpc>
                <a:spcPct val="100000"/>
              </a:lnSpc>
              <a:buNone/>
            </a:pPr>
            <a:r>
              <a:rPr lang="ar-SA" altLang="en-US" sz="1400" dirty="0">
                <a:solidFill>
                  <a:srgbClr val="3C3E3B"/>
                </a:solidFill>
                <a:latin typeface="IBM Plex Sans Arabic" pitchFamily="34" charset="0"/>
                <a:ea typeface="IBM Plex Sans Arabic" pitchFamily="34" charset="-122"/>
                <a:cs typeface="IBM Plex Sans Arabic" pitchFamily="34" charset="-120"/>
              </a:rPr>
              <a:t>يسلّمون 8 مشاريع مصغّرة على الأقل من 10</a:t>
            </a:r>
            <a:endParaRPr lang="ar-SA" sz="1400" dirty="0"/>
          </a:p>
        </p:txBody>
      </p:sp>
      <p:sp>
        <p:nvSpPr>
          <p:cNvPr id="32" name="Shape 29"/>
          <p:cNvSpPr/>
          <p:nvPr/>
        </p:nvSpPr>
        <p:spPr>
          <a:xfrm>
            <a:off x="3466948" y="4343400"/>
            <a:ext cx="2689708" cy="1828800"/>
          </a:xfrm>
          <a:prstGeom prst="roundRect">
            <a:avLst>
              <a:gd name="adj" fmla="val 6000"/>
            </a:avLst>
          </a:prstGeom>
          <a:solidFill>
            <a:srgbClr val="000000"/>
          </a:solidFill>
          <a:ln w="12700">
            <a:solidFill>
              <a:srgbClr val="000000"/>
            </a:solidFill>
            <a:prstDash val="solid"/>
          </a:ln>
        </p:spPr>
      </p:sp>
      <p:sp>
        <p:nvSpPr>
          <p:cNvPr id="33" name="Text 30"/>
          <p:cNvSpPr txBox="1"/>
          <p:nvPr/>
        </p:nvSpPr>
        <p:spPr>
          <a:xfrm>
            <a:off x="3741268" y="4526280"/>
            <a:ext cx="2141068" cy="868680"/>
          </a:xfrm>
          <a:prstGeom prst="rect">
            <a:avLst/>
          </a:prstGeom>
          <a:noFill/>
          <a:ln/>
        </p:spPr>
        <p:txBody>
          <a:bodyPr wrap="square" lIns="0" tIns="0" rIns="0" bIns="0" rtlCol="0" anchor="b"/>
          <a:lstStyle/>
          <a:p>
            <a:pPr algn="r" indent="0" marL="0">
              <a:lnSpc>
                <a:spcPct val="100000"/>
              </a:lnSpc>
              <a:buNone/>
            </a:pPr>
            <a:r>
              <a:rPr lang="ar-SA" altLang="en-US" sz="4600" b="1" dirty="0">
                <a:solidFill>
                  <a:srgbClr val="A6D04B"/>
                </a:solidFill>
                <a:latin typeface="Cairo" pitchFamily="34" charset="0"/>
                <a:ea typeface="Cairo" pitchFamily="34" charset="-122"/>
                <a:cs typeface="Cairo" pitchFamily="34" charset="-120"/>
              </a:rPr>
              <a:t>100%</a:t>
            </a:r>
            <a:endParaRPr lang="ar-SA" sz="4600" dirty="0"/>
          </a:p>
        </p:txBody>
      </p:sp>
      <p:sp>
        <p:nvSpPr>
          <p:cNvPr id="34" name="Text 31"/>
          <p:cNvSpPr txBox="1"/>
          <p:nvPr/>
        </p:nvSpPr>
        <p:spPr>
          <a:xfrm>
            <a:off x="3741268" y="5440680"/>
            <a:ext cx="2141068" cy="640080"/>
          </a:xfrm>
          <a:prstGeom prst="rect">
            <a:avLst/>
          </a:prstGeom>
          <a:noFill/>
          <a:ln/>
        </p:spPr>
        <p:txBody>
          <a:bodyPr wrap="square" lIns="0" tIns="0" rIns="0" bIns="0" rtlCol="0" anchor="t"/>
          <a:lstStyle/>
          <a:p>
            <a:pPr rtl="1" algn="r" indent="0" marL="0">
              <a:lnSpc>
                <a:spcPct val="100000"/>
              </a:lnSpc>
              <a:buNone/>
            </a:pPr>
            <a:r>
              <a:rPr lang="ar-SA" altLang="en-US" sz="1400" dirty="0">
                <a:solidFill>
                  <a:srgbClr val="FFFFFF"/>
                </a:solidFill>
                <a:latin typeface="IBM Plex Sans Arabic" pitchFamily="34" charset="0"/>
                <a:ea typeface="IBM Plex Sans Arabic" pitchFamily="34" charset="-122"/>
                <a:cs typeface="IBM Plex Sans Arabic" pitchFamily="34" charset="-120"/>
              </a:rPr>
              <a:t>من الفرق تعرض مشروعاً نهائياً</a:t>
            </a:r>
            <a:endParaRPr lang="ar-SA" sz="1400" dirty="0"/>
          </a:p>
        </p:txBody>
      </p:sp>
      <p:sp>
        <p:nvSpPr>
          <p:cNvPr id="35" name="Shape 32"/>
          <p:cNvSpPr/>
          <p:nvPr/>
        </p:nvSpPr>
        <p:spPr>
          <a:xfrm>
            <a:off x="548640" y="4343400"/>
            <a:ext cx="2689708" cy="1828800"/>
          </a:xfrm>
          <a:prstGeom prst="roundRect">
            <a:avLst>
              <a:gd name="adj" fmla="val 6000"/>
            </a:avLst>
          </a:prstGeom>
          <a:solidFill>
            <a:srgbClr val="EAF5E8"/>
          </a:solidFill>
          <a:ln w="12700">
            <a:solidFill>
              <a:srgbClr val="EAF5E8"/>
            </a:solidFill>
            <a:prstDash val="solid"/>
          </a:ln>
        </p:spPr>
      </p:sp>
      <p:sp>
        <p:nvSpPr>
          <p:cNvPr id="36" name="Text 33"/>
          <p:cNvSpPr txBox="1"/>
          <p:nvPr/>
        </p:nvSpPr>
        <p:spPr>
          <a:xfrm>
            <a:off x="822960" y="4526280"/>
            <a:ext cx="2141068" cy="868680"/>
          </a:xfrm>
          <a:prstGeom prst="rect">
            <a:avLst/>
          </a:prstGeom>
          <a:noFill/>
          <a:ln/>
        </p:spPr>
        <p:txBody>
          <a:bodyPr wrap="square" lIns="0" tIns="0" rIns="0" bIns="0" rtlCol="0" anchor="b"/>
          <a:lstStyle/>
          <a:p>
            <a:pPr algn="r" indent="0" marL="0">
              <a:lnSpc>
                <a:spcPct val="100000"/>
              </a:lnSpc>
              <a:buNone/>
            </a:pPr>
            <a:r>
              <a:rPr lang="ar-SA" altLang="en-US" sz="4600" b="1" dirty="0">
                <a:solidFill>
                  <a:srgbClr val="000000"/>
                </a:solidFill>
                <a:latin typeface="Cairo" pitchFamily="34" charset="0"/>
                <a:ea typeface="Cairo" pitchFamily="34" charset="-122"/>
                <a:cs typeface="Cairo" pitchFamily="34" charset="-120"/>
              </a:rPr>
              <a:t>+25</a:t>
            </a:r>
            <a:endParaRPr lang="ar-SA" sz="4600" dirty="0"/>
          </a:p>
        </p:txBody>
      </p:sp>
      <p:sp>
        <p:nvSpPr>
          <p:cNvPr id="37" name="Text 34"/>
          <p:cNvSpPr txBox="1"/>
          <p:nvPr/>
        </p:nvSpPr>
        <p:spPr>
          <a:xfrm>
            <a:off x="822960" y="5440680"/>
            <a:ext cx="2141068" cy="640080"/>
          </a:xfrm>
          <a:prstGeom prst="rect">
            <a:avLst/>
          </a:prstGeom>
          <a:noFill/>
          <a:ln/>
        </p:spPr>
        <p:txBody>
          <a:bodyPr wrap="square" lIns="0" tIns="0" rIns="0" bIns="0" rtlCol="0" anchor="t"/>
          <a:lstStyle/>
          <a:p>
            <a:pPr rtl="1" algn="r" indent="0" marL="0">
              <a:lnSpc>
                <a:spcPct val="100000"/>
              </a:lnSpc>
              <a:buNone/>
            </a:pPr>
            <a:r>
              <a:rPr lang="ar-SA" altLang="en-US" sz="1400" dirty="0">
                <a:solidFill>
                  <a:srgbClr val="3C3E3B"/>
                </a:solidFill>
                <a:latin typeface="IBM Plex Sans Arabic" pitchFamily="34" charset="0"/>
                <a:ea typeface="IBM Plex Sans Arabic" pitchFamily="34" charset="-122"/>
                <a:cs typeface="IBM Plex Sans Arabic" pitchFamily="34" charset="-120"/>
              </a:rPr>
              <a:t>نقطة متوسط التحسّن في تقييم المهارات</a:t>
            </a:r>
            <a:endParaRPr lang="ar-SA" sz="1400" dirty="0"/>
          </a:p>
        </p:txBody>
      </p:sp>
      <p:pic>
        <p:nvPicPr>
          <p:cNvPr id="39" name="Image 1" descr="preencoded.png">    </p:cNvPr>
          <p:cNvPicPr>
            <a:picLocks noChangeAspect="1"/>
          </p:cNvPicPr>
          <p:nvPr/>
        </p:nvPicPr>
        <p:blipFill>
          <a:blip r:embed="rId2"/>
          <a:stretch>
            <a:fillRect/>
          </a:stretch>
        </p:blipFill>
        <p:spPr>
          <a:xfrm>
            <a:off x="11286439" y="1947672"/>
            <a:ext cx="237744" cy="237744"/>
          </a:xfrm>
          <a:prstGeom prst="rect">
            <a:avLst/>
          </a:prstGeom>
        </p:spPr>
      </p:pic>
      <p:pic>
        <p:nvPicPr>
          <p:cNvPr id="40" name="Image 2" descr="preencoded.png">    </p:cNvPr>
          <p:cNvPicPr>
            <a:picLocks noChangeAspect="1"/>
          </p:cNvPicPr>
          <p:nvPr/>
        </p:nvPicPr>
        <p:blipFill>
          <a:blip r:embed="rId3"/>
          <a:stretch>
            <a:fillRect/>
          </a:stretch>
        </p:blipFill>
        <p:spPr>
          <a:xfrm>
            <a:off x="11286439" y="2660904"/>
            <a:ext cx="237744" cy="237744"/>
          </a:xfrm>
          <a:prstGeom prst="rect">
            <a:avLst/>
          </a:prstGeom>
        </p:spPr>
      </p:pic>
      <p:pic>
        <p:nvPicPr>
          <p:cNvPr id="41" name="Image 3" descr="preencoded.png">    </p:cNvPr>
          <p:cNvPicPr>
            <a:picLocks noChangeAspect="1"/>
          </p:cNvPicPr>
          <p:nvPr/>
        </p:nvPicPr>
        <p:blipFill>
          <a:blip r:embed="rId4"/>
          <a:stretch>
            <a:fillRect/>
          </a:stretch>
        </p:blipFill>
        <p:spPr>
          <a:xfrm>
            <a:off x="11286439" y="3374136"/>
            <a:ext cx="237744" cy="237744"/>
          </a:xfrm>
          <a:prstGeom prst="rect">
            <a:avLst/>
          </a:prstGeom>
        </p:spPr>
      </p:pic>
      <p:pic>
        <p:nvPicPr>
          <p:cNvPr id="42" name="Image 4" descr="preencoded.png">    </p:cNvPr>
          <p:cNvPicPr>
            <a:picLocks noChangeAspect="1"/>
          </p:cNvPicPr>
          <p:nvPr/>
        </p:nvPicPr>
        <p:blipFill>
          <a:blip r:embed="rId5"/>
          <a:stretch>
            <a:fillRect/>
          </a:stretch>
        </p:blipFill>
        <p:spPr>
          <a:xfrm>
            <a:off x="11286439" y="4087368"/>
            <a:ext cx="237744" cy="237744"/>
          </a:xfrm>
          <a:prstGeom prst="rect">
            <a:avLst/>
          </a:prstGeom>
        </p:spPr>
      </p:pic>
      <p:pic>
        <p:nvPicPr>
          <p:cNvPr id="43" name="Image 5" descr="preencoded.png">    </p:cNvPr>
          <p:cNvPicPr>
            <a:picLocks noChangeAspect="1"/>
          </p:cNvPicPr>
          <p:nvPr/>
        </p:nvPicPr>
        <p:blipFill>
          <a:blip r:embed="rId6"/>
          <a:stretch>
            <a:fillRect/>
          </a:stretch>
        </p:blipFill>
        <p:spPr>
          <a:xfrm>
            <a:off x="11286439" y="4800600"/>
            <a:ext cx="237744" cy="237744"/>
          </a:xfrm>
          <a:prstGeom prst="rect">
            <a:avLst/>
          </a:prstGeom>
        </p:spPr>
      </p:pic>
      <p:pic>
        <p:nvPicPr>
          <p:cNvPr id="44" name="Image 6" descr="preencoded.png">    </p:cNvPr>
          <p:cNvPicPr>
            <a:picLocks noChangeAspect="1"/>
          </p:cNvPicPr>
          <p:nvPr/>
        </p:nvPicPr>
        <p:blipFill>
          <a:blip r:embed="rId7"/>
          <a:stretch>
            <a:fillRect/>
          </a:stretch>
        </p:blipFill>
        <p:spPr>
          <a:xfrm>
            <a:off x="11286439" y="5513832"/>
            <a:ext cx="237744" cy="23774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242255" y="6446520"/>
            <a:ext cx="6400800" cy="228600"/>
          </a:xfrm>
          <a:prstGeom prst="rect">
            <a:avLst/>
          </a:prstGeom>
          <a:noFill/>
          <a:ln/>
        </p:spPr>
        <p:txBody>
          <a:bodyPr wrap="square" lIns="0" tIns="0" rIns="0" bIns="0" rtlCol="0" anchor="t"/>
          <a:lstStyle/>
          <a:p>
            <a:pPr rtl="1" algn="r" indent="0" marL="0">
              <a:lnSpc>
                <a:spcPct val="100000"/>
              </a:lnSpc>
              <a:buNone/>
            </a:pPr>
            <a:r>
              <a:rPr lang="ar-SA" altLang="en-US" sz="900" dirty="0">
                <a:solidFill>
                  <a:srgbClr val="8A8C88"/>
                </a:solidFill>
                <a:latin typeface="IBM Plex Sans Arabic" pitchFamily="34" charset="0"/>
                <a:ea typeface="IBM Plex Sans Arabic" pitchFamily="34" charset="-122"/>
                <a:cs typeface="IBM Plex Sans Arabic" pitchFamily="34" charset="-120"/>
              </a:rPr>
              <a:t>برنامج صُنّاع المحتوى بالذكاء الاصطناعي · مذكرة مفاهيمية</a:t>
            </a:r>
            <a:endParaRPr lang="ar-SA" sz="900" dirty="0"/>
          </a:p>
        </p:txBody>
      </p:sp>
      <p:sp>
        <p:nvSpPr>
          <p:cNvPr id="3" name="Text 1"/>
          <p:cNvSpPr txBox="1"/>
          <p:nvPr/>
        </p:nvSpPr>
        <p:spPr>
          <a:xfrm>
            <a:off x="548640" y="6446520"/>
            <a:ext cx="548640" cy="228600"/>
          </a:xfrm>
          <a:prstGeom prst="rect">
            <a:avLst/>
          </a:prstGeom>
          <a:noFill/>
          <a:ln/>
        </p:spPr>
        <p:txBody>
          <a:bodyPr wrap="square" lIns="0" tIns="0" rIns="0" bIns="0" rtlCol="0" anchor="t"/>
          <a:lstStyle/>
          <a:p>
            <a:pPr rtl="1" algn="l" indent="0" marL="0">
              <a:lnSpc>
                <a:spcPct val="100000"/>
              </a:lnSpc>
              <a:buNone/>
            </a:pPr>
            <a:r>
              <a:rPr lang="ar-SA" altLang="en-US" sz="900" dirty="0">
                <a:solidFill>
                  <a:srgbClr val="8A8C88"/>
                </a:solidFill>
                <a:latin typeface="IBM Plex Sans Arabic" pitchFamily="34" charset="0"/>
                <a:ea typeface="IBM Plex Sans Arabic" pitchFamily="34" charset="-122"/>
                <a:cs typeface="IBM Plex Sans Arabic" pitchFamily="34" charset="-120"/>
              </a:rPr>
              <a:t>18</a:t>
            </a:r>
            <a:endParaRPr lang="ar-SA" sz="900" dirty="0"/>
          </a:p>
        </p:txBody>
      </p:sp>
      <p:pic>
        <p:nvPicPr>
          <p:cNvPr id="4" name="Image 0" descr="Green Circle logo">    </p:cNvPr>
          <p:cNvPicPr>
            <a:picLocks noChangeAspect="1"/>
          </p:cNvPicPr>
          <p:nvPr/>
        </p:nvPicPr>
        <p:blipFill>
          <a:blip r:embed="rId1"/>
          <a:stretch>
            <a:fillRect/>
          </a:stretch>
        </p:blipFill>
        <p:spPr>
          <a:xfrm>
            <a:off x="8899855" y="457200"/>
            <a:ext cx="2743200" cy="974886"/>
          </a:xfrm>
          <a:prstGeom prst="rect">
            <a:avLst/>
          </a:prstGeom>
        </p:spPr>
      </p:pic>
      <p:sp>
        <p:nvSpPr>
          <p:cNvPr id="5" name="Text 2"/>
          <p:cNvSpPr txBox="1"/>
          <p:nvPr/>
        </p:nvSpPr>
        <p:spPr>
          <a:xfrm>
            <a:off x="3413455" y="1737360"/>
            <a:ext cx="8229600" cy="274320"/>
          </a:xfrm>
          <a:prstGeom prst="rect">
            <a:avLst/>
          </a:prstGeom>
          <a:noFill/>
          <a:ln/>
        </p:spPr>
        <p:txBody>
          <a:bodyPr wrap="square" lIns="0" tIns="0" rIns="0" bIns="0" rtlCol="0" anchor="t"/>
          <a:lstStyle/>
          <a:p>
            <a:pPr rtl="1" algn="r" indent="0" marL="0">
              <a:lnSpc>
                <a:spcPct val="100000"/>
              </a:lnSpc>
              <a:buNone/>
            </a:pPr>
            <a:r>
              <a:rPr lang="ar-SA" altLang="en-US" sz="1200" b="1" dirty="0">
                <a:solidFill>
                  <a:srgbClr val="A6D04B"/>
                </a:solidFill>
                <a:latin typeface="IBM Plex Sans Arabic" pitchFamily="34" charset="0"/>
                <a:ea typeface="IBM Plex Sans Arabic" pitchFamily="34" charset="-122"/>
                <a:cs typeface="IBM Plex Sans Arabic" pitchFamily="34" charset="-120"/>
              </a:rPr>
              <a:t>ما يأخذه المشاركون معهم</a:t>
            </a:r>
            <a:endParaRPr lang="ar-SA" sz="1200" dirty="0"/>
          </a:p>
        </p:txBody>
      </p:sp>
      <p:sp>
        <p:nvSpPr>
          <p:cNvPr id="6" name="Text 3"/>
          <p:cNvSpPr txBox="1"/>
          <p:nvPr/>
        </p:nvSpPr>
        <p:spPr>
          <a:xfrm>
            <a:off x="2499055" y="2057400"/>
            <a:ext cx="9144000" cy="731520"/>
          </a:xfrm>
          <a:prstGeom prst="rect">
            <a:avLst/>
          </a:prstGeom>
          <a:noFill/>
          <a:ln/>
        </p:spPr>
        <p:txBody>
          <a:bodyPr wrap="square" lIns="0" tIns="0" rIns="0" bIns="0" rtlCol="0" anchor="t"/>
          <a:lstStyle/>
          <a:p>
            <a:pPr rtl="1" algn="r" indent="0" marL="0">
              <a:lnSpc>
                <a:spcPct val="100000"/>
              </a:lnSpc>
              <a:buNone/>
            </a:pPr>
            <a:r>
              <a:rPr lang="ar-SA" altLang="en-US" sz="3200" b="1" dirty="0">
                <a:solidFill>
                  <a:srgbClr val="FFFFFF"/>
                </a:solidFill>
                <a:latin typeface="Cairo" pitchFamily="34" charset="0"/>
                <a:ea typeface="Cairo" pitchFamily="34" charset="-122"/>
                <a:cs typeface="Cairo" pitchFamily="34" charset="-120"/>
              </a:rPr>
              <a:t>مهارات يستخدمونها في اليوم التالي</a:t>
            </a:r>
            <a:endParaRPr lang="ar-SA" sz="3200" dirty="0"/>
          </a:p>
        </p:txBody>
      </p:sp>
      <p:sp>
        <p:nvSpPr>
          <p:cNvPr id="7" name="Shape 4"/>
          <p:cNvSpPr/>
          <p:nvPr/>
        </p:nvSpPr>
        <p:spPr>
          <a:xfrm>
            <a:off x="8158277" y="3200400"/>
            <a:ext cx="3484778" cy="2514600"/>
          </a:xfrm>
          <a:prstGeom prst="roundRect">
            <a:avLst>
              <a:gd name="adj" fmla="val 4364"/>
            </a:avLst>
          </a:prstGeom>
          <a:solidFill>
            <a:srgbClr val="161816"/>
          </a:solidFill>
          <a:ln w="9525">
            <a:solidFill>
              <a:srgbClr val="3A3D39"/>
            </a:solidFill>
            <a:prstDash val="solid"/>
          </a:ln>
        </p:spPr>
      </p:sp>
      <p:pic>
        <p:nvPicPr>
          <p:cNvPr id="8" name="Image 1" descr="preencoded.png">    </p:cNvPr>
          <p:cNvPicPr>
            <a:picLocks noChangeAspect="1"/>
          </p:cNvPicPr>
          <p:nvPr/>
        </p:nvPicPr>
        <p:blipFill>
          <a:blip r:embed="rId2"/>
          <a:stretch>
            <a:fillRect/>
          </a:stretch>
        </p:blipFill>
        <p:spPr>
          <a:xfrm>
            <a:off x="10820095" y="3520440"/>
            <a:ext cx="502920" cy="502920"/>
          </a:xfrm>
          <a:prstGeom prst="rect">
            <a:avLst/>
          </a:prstGeom>
        </p:spPr>
      </p:pic>
      <p:sp>
        <p:nvSpPr>
          <p:cNvPr id="9" name="Text 5"/>
          <p:cNvSpPr txBox="1"/>
          <p:nvPr/>
        </p:nvSpPr>
        <p:spPr>
          <a:xfrm>
            <a:off x="8478317" y="4160520"/>
            <a:ext cx="2844698" cy="457200"/>
          </a:xfrm>
          <a:prstGeom prst="rect">
            <a:avLst/>
          </a:prstGeom>
          <a:noFill/>
          <a:ln/>
        </p:spPr>
        <p:txBody>
          <a:bodyPr wrap="square" lIns="0" tIns="0" rIns="0" bIns="0" rtlCol="0" anchor="t"/>
          <a:lstStyle/>
          <a:p>
            <a:pPr rtl="1" algn="r" indent="0" marL="0">
              <a:lnSpc>
                <a:spcPct val="100000"/>
              </a:lnSpc>
              <a:buNone/>
            </a:pPr>
            <a:r>
              <a:rPr lang="ar-SA" altLang="en-US" sz="2200" b="1" dirty="0">
                <a:solidFill>
                  <a:srgbClr val="A6D04B"/>
                </a:solidFill>
                <a:latin typeface="Cairo" pitchFamily="34" charset="0"/>
                <a:ea typeface="Cairo" pitchFamily="34" charset="-122"/>
                <a:cs typeface="Cairo" pitchFamily="34" charset="-120"/>
              </a:rPr>
              <a:t>ملف أعمال</a:t>
            </a:r>
            <a:endParaRPr lang="ar-SA" sz="2200" dirty="0"/>
          </a:p>
        </p:txBody>
      </p:sp>
      <p:sp>
        <p:nvSpPr>
          <p:cNvPr id="10" name="Text 6"/>
          <p:cNvSpPr txBox="1"/>
          <p:nvPr/>
        </p:nvSpPr>
        <p:spPr>
          <a:xfrm>
            <a:off x="8478317" y="4663440"/>
            <a:ext cx="2844698" cy="914400"/>
          </a:xfrm>
          <a:prstGeom prst="rect">
            <a:avLst/>
          </a:prstGeom>
          <a:noFill/>
          <a:ln/>
        </p:spPr>
        <p:txBody>
          <a:bodyPr wrap="square" lIns="0" tIns="0" rIns="0" bIns="0" rtlCol="0" anchor="t"/>
          <a:lstStyle/>
          <a:p>
            <a:pPr rtl="1" algn="r" indent="0" marL="0">
              <a:lnSpc>
                <a:spcPct val="105000"/>
              </a:lnSpc>
              <a:buNone/>
            </a:pPr>
            <a:r>
              <a:rPr lang="ar-SA" altLang="en-US" sz="1500" dirty="0">
                <a:solidFill>
                  <a:srgbClr val="D6D8D4"/>
                </a:solidFill>
                <a:latin typeface="IBM Plex Sans Arabic" pitchFamily="34" charset="0"/>
                <a:ea typeface="IBM Plex Sans Arabic" pitchFamily="34" charset="-122"/>
                <a:cs typeface="IBM Plex Sans Arabic" pitchFamily="34" charset="-120"/>
              </a:rPr>
              <a:t>عشرة مشاريع مصغّرة ومشروع نهائي يمكن عرضها</a:t>
            </a:r>
            <a:endParaRPr lang="ar-SA" sz="1500" dirty="0"/>
          </a:p>
        </p:txBody>
      </p:sp>
      <p:sp>
        <p:nvSpPr>
          <p:cNvPr id="11" name="Shape 7"/>
          <p:cNvSpPr/>
          <p:nvPr/>
        </p:nvSpPr>
        <p:spPr>
          <a:xfrm>
            <a:off x="4353458" y="3200400"/>
            <a:ext cx="3484778" cy="2514600"/>
          </a:xfrm>
          <a:prstGeom prst="roundRect">
            <a:avLst>
              <a:gd name="adj" fmla="val 4364"/>
            </a:avLst>
          </a:prstGeom>
          <a:solidFill>
            <a:srgbClr val="161816"/>
          </a:solidFill>
          <a:ln w="9525">
            <a:solidFill>
              <a:srgbClr val="3A3D39"/>
            </a:solidFill>
            <a:prstDash val="solid"/>
          </a:ln>
        </p:spPr>
      </p:sp>
      <p:pic>
        <p:nvPicPr>
          <p:cNvPr id="12" name="Image 2" descr="preencoded.png">    </p:cNvPr>
          <p:cNvPicPr>
            <a:picLocks noChangeAspect="1"/>
          </p:cNvPicPr>
          <p:nvPr/>
        </p:nvPicPr>
        <p:blipFill>
          <a:blip r:embed="rId3"/>
          <a:stretch>
            <a:fillRect/>
          </a:stretch>
        </p:blipFill>
        <p:spPr>
          <a:xfrm>
            <a:off x="7015277" y="3520440"/>
            <a:ext cx="502920" cy="502920"/>
          </a:xfrm>
          <a:prstGeom prst="rect">
            <a:avLst/>
          </a:prstGeom>
        </p:spPr>
      </p:pic>
      <p:sp>
        <p:nvSpPr>
          <p:cNvPr id="13" name="Text 8"/>
          <p:cNvSpPr txBox="1"/>
          <p:nvPr/>
        </p:nvSpPr>
        <p:spPr>
          <a:xfrm>
            <a:off x="4673498" y="4160520"/>
            <a:ext cx="2844698" cy="457200"/>
          </a:xfrm>
          <a:prstGeom prst="rect">
            <a:avLst/>
          </a:prstGeom>
          <a:noFill/>
          <a:ln/>
        </p:spPr>
        <p:txBody>
          <a:bodyPr wrap="square" lIns="0" tIns="0" rIns="0" bIns="0" rtlCol="0" anchor="t"/>
          <a:lstStyle/>
          <a:p>
            <a:pPr rtl="1" algn="r" indent="0" marL="0">
              <a:lnSpc>
                <a:spcPct val="100000"/>
              </a:lnSpc>
              <a:buNone/>
            </a:pPr>
            <a:r>
              <a:rPr lang="ar-SA" altLang="en-US" sz="2200" b="1" dirty="0">
                <a:solidFill>
                  <a:srgbClr val="4DB449"/>
                </a:solidFill>
                <a:latin typeface="Cairo" pitchFamily="34" charset="0"/>
                <a:ea typeface="Cairo" pitchFamily="34" charset="-122"/>
                <a:cs typeface="Cairo" pitchFamily="34" charset="-120"/>
              </a:rPr>
              <a:t>صندوق أدوات عملي</a:t>
            </a:r>
            <a:endParaRPr lang="ar-SA" sz="2200" dirty="0"/>
          </a:p>
        </p:txBody>
      </p:sp>
      <p:sp>
        <p:nvSpPr>
          <p:cNvPr id="14" name="Text 9"/>
          <p:cNvSpPr txBox="1"/>
          <p:nvPr/>
        </p:nvSpPr>
        <p:spPr>
          <a:xfrm>
            <a:off x="4673498" y="4663440"/>
            <a:ext cx="2844698" cy="914400"/>
          </a:xfrm>
          <a:prstGeom prst="rect">
            <a:avLst/>
          </a:prstGeom>
          <a:noFill/>
          <a:ln/>
        </p:spPr>
        <p:txBody>
          <a:bodyPr wrap="square" lIns="0" tIns="0" rIns="0" bIns="0" rtlCol="0" anchor="t"/>
          <a:lstStyle/>
          <a:p>
            <a:pPr rtl="1" algn="r" indent="0" marL="0">
              <a:lnSpc>
                <a:spcPct val="105000"/>
              </a:lnSpc>
              <a:buNone/>
            </a:pPr>
            <a:r>
              <a:rPr lang="ar-SA" altLang="en-US" sz="1500" dirty="0">
                <a:solidFill>
                  <a:srgbClr val="D6D8D4"/>
                </a:solidFill>
                <a:latin typeface="IBM Plex Sans Arabic" pitchFamily="34" charset="0"/>
                <a:ea typeface="IBM Plex Sans Arabic" pitchFamily="34" charset="-122"/>
                <a:cs typeface="IBM Plex Sans Arabic" pitchFamily="34" charset="-120"/>
              </a:rPr>
              <a:t>الأداة المناسبة لكل مهمة، والأوامر التي تشغّلها</a:t>
            </a:r>
            <a:endParaRPr lang="ar-SA" sz="1500" dirty="0"/>
          </a:p>
        </p:txBody>
      </p:sp>
      <p:sp>
        <p:nvSpPr>
          <p:cNvPr id="15" name="Shape 10"/>
          <p:cNvSpPr/>
          <p:nvPr/>
        </p:nvSpPr>
        <p:spPr>
          <a:xfrm>
            <a:off x="548640" y="3200400"/>
            <a:ext cx="3484778" cy="2514600"/>
          </a:xfrm>
          <a:prstGeom prst="roundRect">
            <a:avLst>
              <a:gd name="adj" fmla="val 4364"/>
            </a:avLst>
          </a:prstGeom>
          <a:solidFill>
            <a:srgbClr val="161816"/>
          </a:solidFill>
          <a:ln w="9525">
            <a:solidFill>
              <a:srgbClr val="3A3D39"/>
            </a:solidFill>
            <a:prstDash val="solid"/>
          </a:ln>
        </p:spPr>
      </p:sp>
      <p:pic>
        <p:nvPicPr>
          <p:cNvPr id="16" name="Image 3" descr="preencoded.png">    </p:cNvPr>
          <p:cNvPicPr>
            <a:picLocks noChangeAspect="1"/>
          </p:cNvPicPr>
          <p:nvPr/>
        </p:nvPicPr>
        <p:blipFill>
          <a:blip r:embed="rId4"/>
          <a:stretch>
            <a:fillRect/>
          </a:stretch>
        </p:blipFill>
        <p:spPr>
          <a:xfrm>
            <a:off x="3210458" y="3520440"/>
            <a:ext cx="502920" cy="502920"/>
          </a:xfrm>
          <a:prstGeom prst="rect">
            <a:avLst/>
          </a:prstGeom>
        </p:spPr>
      </p:pic>
      <p:sp>
        <p:nvSpPr>
          <p:cNvPr id="17" name="Text 11"/>
          <p:cNvSpPr txBox="1"/>
          <p:nvPr/>
        </p:nvSpPr>
        <p:spPr>
          <a:xfrm>
            <a:off x="868680" y="4160520"/>
            <a:ext cx="2844698" cy="457200"/>
          </a:xfrm>
          <a:prstGeom prst="rect">
            <a:avLst/>
          </a:prstGeom>
          <a:noFill/>
          <a:ln/>
        </p:spPr>
        <p:txBody>
          <a:bodyPr wrap="square" lIns="0" tIns="0" rIns="0" bIns="0" rtlCol="0" anchor="t"/>
          <a:lstStyle/>
          <a:p>
            <a:pPr rtl="1" algn="r" indent="0" marL="0">
              <a:lnSpc>
                <a:spcPct val="100000"/>
              </a:lnSpc>
              <a:buNone/>
            </a:pPr>
            <a:r>
              <a:rPr lang="ar-SA" altLang="en-US" sz="2200" b="1" dirty="0">
                <a:solidFill>
                  <a:srgbClr val="A6D04B"/>
                </a:solidFill>
                <a:latin typeface="Cairo" pitchFamily="34" charset="0"/>
                <a:ea typeface="Cairo" pitchFamily="34" charset="-122"/>
                <a:cs typeface="Cairo" pitchFamily="34" charset="-120"/>
              </a:rPr>
              <a:t>عادات آمنة</a:t>
            </a:r>
            <a:endParaRPr lang="ar-SA" sz="2200" dirty="0"/>
          </a:p>
        </p:txBody>
      </p:sp>
      <p:sp>
        <p:nvSpPr>
          <p:cNvPr id="18" name="Text 12"/>
          <p:cNvSpPr txBox="1"/>
          <p:nvPr/>
        </p:nvSpPr>
        <p:spPr>
          <a:xfrm>
            <a:off x="868680" y="4663440"/>
            <a:ext cx="2844698" cy="914400"/>
          </a:xfrm>
          <a:prstGeom prst="rect">
            <a:avLst/>
          </a:prstGeom>
          <a:noFill/>
          <a:ln/>
        </p:spPr>
        <p:txBody>
          <a:bodyPr wrap="square" lIns="0" tIns="0" rIns="0" bIns="0" rtlCol="0" anchor="t"/>
          <a:lstStyle/>
          <a:p>
            <a:pPr rtl="1" algn="r" indent="0" marL="0">
              <a:lnSpc>
                <a:spcPct val="105000"/>
              </a:lnSpc>
              <a:buNone/>
            </a:pPr>
            <a:r>
              <a:rPr lang="ar-SA" altLang="en-US" sz="1500" dirty="0">
                <a:solidFill>
                  <a:srgbClr val="D6D8D4"/>
                </a:solidFill>
                <a:latin typeface="IBM Plex Sans Arabic" pitchFamily="34" charset="0"/>
                <a:ea typeface="IBM Plex Sans Arabic" pitchFamily="34" charset="-122"/>
                <a:cs typeface="IBM Plex Sans Arabic" pitchFamily="34" charset="-120"/>
              </a:rPr>
              <a:t>الخصوصية وحماية الحسابات والإفصاح الصادق في كل وحدة، وفق مبدأ be aware..be secure</a:t>
            </a:r>
            <a:endParaRPr lang="ar-SA" sz="1500" dirty="0"/>
          </a:p>
        </p:txBody>
      </p:sp>
    </p:spTree>
  </p:cSld>
  <p:clrMapOvr>
    <a:masterClrMapping/>
  </p:clrMapOvr>
</p:sld>
</file>

<file path=ppt/theme/theme1.xml><?xml version="1.0" encoding="utf-8"?>
<a:theme xmlns:a="http://schemas.openxmlformats.org/drawingml/2006/main" name="Green Circle Training">
  <a:themeElements>
    <a:clrScheme name="Green Circle Training">
      <a:dk1>
        <a:srgbClr val="000000"/>
      </a:dk1>
      <a:lt1>
        <a:srgbClr val="FFFFFF"/>
      </a:lt1>
      <a:dk2>
        <a:srgbClr val="727274"/>
      </a:dk2>
      <a:lt2>
        <a:srgbClr val="EAF5E8"/>
      </a:lt2>
      <a:accent1>
        <a:srgbClr val="4DB449"/>
      </a:accent1>
      <a:accent2>
        <a:srgbClr val="A6D04B"/>
      </a:accent2>
      <a:accent3>
        <a:srgbClr val="727274"/>
      </a:accent3>
      <a:accent4>
        <a:srgbClr val="1A1A1A"/>
      </a:accent4>
      <a:accent5>
        <a:srgbClr val="4DB449"/>
      </a:accent5>
      <a:accent6>
        <a:srgbClr val="A6D04B"/>
      </a:accent6>
      <a:hlink>
        <a:srgbClr val="4DB449"/>
      </a:hlink>
      <a:folHlink>
        <a:srgbClr val="727274"/>
      </a:folHlink>
    </a:clrScheme>
    <a:fontScheme name="Green Circle Training">
      <a:majorFont>
        <a:latin typeface="Cair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rab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Green Circle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صناعة المحتوى والتسويق الرقمي والأتمتة والعمل الحر بالذكاء الاصطناعي</dc:title>
  <dc:subject>PptxGenJS Presentation</dc:subject>
  <dc:creator>Green Circle</dc:creator>
  <cp:lastModifiedBy>Green Circle</cp:lastModifiedBy>
  <cp:revision>1</cp:revision>
  <dcterms:created xsi:type="dcterms:W3CDTF">2026-10-20T12:27:23Z</dcterms:created>
  <dcterms:modified xsi:type="dcterms:W3CDTF">2026-10-20T12:27:23Z</dcterms:modified>
</cp:coreProperties>
</file>