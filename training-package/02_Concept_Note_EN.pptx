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Hours</c:v>
                </c:pt>
              </c:strCache>
            </c:strRef>
          </c:tx>
          <c:spPr>
            <a:solidFill>
              <a:schemeClr val="accent1"/>
            </a:solidFill>
            <a:ln w="9525" cap="flat">
              <a:solidFill>
                <a:srgbClr val="F9F9F9"/>
              </a:solidFill>
              <a:prstDash val="solid"/>
              <a:round/>
            </a:ln>
            <a:effectLst/>
          </c:spPr>
          <c:dPt>
            <c:idx val="0"/>
            <c:bubble3D val="0"/>
            <c:spPr>
              <a:solidFill>
                <a:srgbClr val="727274"/>
              </a:solidFill>
              <a:ln w="25400" cap="flat">
                <a:solidFill>
                  <a:srgbClr val="FFFFFF"/>
                </a:solidFill>
                <a:prstDash val="solid"/>
                <a:round/>
              </a:ln>
              <a:effectLst/>
            </c:spPr>
          </c:dPt>
          <c:dPt>
            <c:idx val="1"/>
            <c:bubble3D val="0"/>
            <c:spPr>
              <a:solidFill>
                <a:srgbClr val="4DB449"/>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Theory</c:v>
                </c:pt>
                <c:pt idx="1">
                  <c:v>Hands-on</c:v>
                </c:pt>
              </c:strCache>
            </c:strRef>
          </c:cat>
          <c:val>
            <c:numRef>
              <c:f>Sheet1!$B$2:$B$3</c:f>
              <c:numCache>
                <c:ptCount val="2"/>
                <c:pt idx="0">
                  <c:v>28.5</c:v>
                </c:pt>
                <c:pt idx="1">
                  <c:v>67.5</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one-sentence promise: in 96 hours, students go from a client's idea to a published, measured campaign. The ring shows the stages they will pass through; the capstone ties them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gap without statistics: the starting point is our working assumption and the pre-assessment will confirm it. The right-hand column is the program's promise, and every row maps to a module and a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curriculum for everyone. The difference between the two groups is tool access, set by each tool's own age rules, and how real-client practice is arranged.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96 hours = 32 sessions of 3 hours, three sessions a week for 11 weeks, plus one buffer week for make-ups and Demo Day logistics. Theory is 28.5 hours and practice 67.5 hours, roughly 30/70.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path left to right, then back. The first four grey steps are the foundation; everything after is production, marketing, automation and launch, ending in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is drawn to scale. Production (characters, voice, video) is the largest block because it is the most hands-on and tool-heavy part of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the core habit we teach: one well-briefed idea becomes several formats. Students edit every AI draft; nothing is published as generated.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Flow requires users to be 18+ with age verification, a supported region and an eligible Google AI plan (Flow Help Center). Video generation in the Gemini app is also 18+. Under-18s still complete every step; only the generation step is demonstrated by the trainer.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four planning steps students complete for their capstone client. Right: an illustrative calendar where each colour is a content pillar. The pattern is a sample, not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understanding Trigger, Process, AI, Action, not engineering. Each team builds the Content Idea Generator. Credentials live on the program's n8n instance; students learn what API keys, OAuth and tokens are and why they must stay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pricing is taught as a figure; students define scope and deliverables. Fiverr's minors policy is cited from its Help Center. Other platforms' rules should be checked before advising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Hours by module sum to 28.5 theory and 67.5 hands-on. In each session the trainer talks for under an hour; the rest is building, then showing work for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Nineteen deliverables in five phases. Each phase is started inside the matching module (brief in M3, video in M7, automation in M9), so the final studio sessions are for finishing and polishing, not starting from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pieces form each student's portfolio. Highlighted tiles (video and automation) are the two items stakeholders most often ask to see in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Income is deliberately not a headline KPI: many students are under 18 and cannot contract independently. Every target is a proposal to be agreed with the program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Bars are placed by session: three sessions per week, so modules start and end mid-week. Week 12 is held in reserve for make-up sessions, public holidays or exam clashes.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program to Green Circle's awareness focus. Each safeguard is an operating rule, not a slogan: it appears in the code of conduct, the consent form and the module checklists.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what remains after the 12 weeks, then turn to the decisions the team needs to make so delivery can be scheduled. Every item on the right is marked TBD in the detailed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0000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slideLayout" Target="../slideLayouts/slideLayout3.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slideLayout" Target="../slideLayouts/slideLayout3.xml"/><Relationship Id="rId1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image" Target="../media/image-12-6.png"/><Relationship Id="rId8" Type="http://schemas.openxmlformats.org/officeDocument/2006/relationships/slideLayout" Target="../slideLayouts/slideLayout2.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2.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2.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2.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438912" y="502920"/>
            <a:ext cx="3931920" cy="1397336"/>
          </a:xfrm>
          <a:prstGeom prst="rect">
            <a:avLst/>
          </a:prstGeom>
        </p:spPr>
      </p:pic>
      <p:sp>
        <p:nvSpPr>
          <p:cNvPr id="3" name="Text 0"/>
          <p:cNvSpPr txBox="1"/>
          <p:nvPr/>
        </p:nvSpPr>
        <p:spPr>
          <a:xfrm>
            <a:off x="548640" y="2240280"/>
            <a:ext cx="6309360" cy="274320"/>
          </a:xfrm>
          <a:prstGeom prst="rect">
            <a:avLst/>
          </a:prstGeom>
          <a:noFill/>
          <a:ln/>
        </p:spPr>
        <p:txBody>
          <a:bodyPr wrap="square" lIns="0" tIns="0" rIns="0" bIns="0" rtlCol="0" anchor="t"/>
          <a:lstStyle/>
          <a:p>
            <a:pPr algn="l" indent="0" marL="0">
              <a:lnSpc>
                <a:spcPct val="95000"/>
              </a:lnSpc>
              <a:buNone/>
            </a:pPr>
            <a:r>
              <a:rPr lang="en-US" altLang="en-US" sz="1200" b="1" spc="200" kern="0" dirty="0">
                <a:solidFill>
                  <a:srgbClr val="A6D04B"/>
                </a:solidFill>
                <a:latin typeface="Calibri" pitchFamily="34" charset="0"/>
                <a:ea typeface="Calibri" pitchFamily="34" charset="-122"/>
                <a:cs typeface="Calibri" pitchFamily="34" charset="-120"/>
              </a:rPr>
              <a:t>TRAINING CONCEPT NOTE · OCTOBER 2026</a:t>
            </a:r>
            <a:endParaRPr lang="en-US" sz="1200" dirty="0"/>
          </a:p>
        </p:txBody>
      </p:sp>
      <p:sp>
        <p:nvSpPr>
          <p:cNvPr id="4" name="Text 1"/>
          <p:cNvSpPr txBox="1"/>
          <p:nvPr/>
        </p:nvSpPr>
        <p:spPr>
          <a:xfrm>
            <a:off x="548640" y="2606040"/>
            <a:ext cx="6309360" cy="2011680"/>
          </a:xfrm>
          <a:prstGeom prst="rect">
            <a:avLst/>
          </a:prstGeom>
          <a:noFill/>
          <a:ln/>
        </p:spPr>
        <p:txBody>
          <a:bodyPr wrap="square" lIns="0" tIns="0" rIns="0" bIns="0" rtlCol="0" anchor="t"/>
          <a:lstStyle/>
          <a:p>
            <a:pPr algn="l" indent="0" marL="0">
              <a:lnSpc>
                <a:spcPct val="92000"/>
              </a:lnSpc>
              <a:buNone/>
            </a:pPr>
            <a:r>
              <a:rPr lang="en-US" altLang="en-US" sz="3400" b="1" dirty="0">
                <a:solidFill>
                  <a:srgbClr val="FFFFFF"/>
                </a:solidFill>
                <a:latin typeface="Cairo" pitchFamily="34" charset="0"/>
                <a:ea typeface="Cairo" pitchFamily="34" charset="-122"/>
                <a:cs typeface="Cairo" pitchFamily="34" charset="-120"/>
              </a:rPr>
              <a:t>AI-Powered Content Creation, Digital Marketing, Automation &amp; Freelancing</a:t>
            </a:r>
            <a:endParaRPr lang="en-US" sz="3400" dirty="0"/>
          </a:p>
        </p:txBody>
      </p:sp>
      <p:sp>
        <p:nvSpPr>
          <p:cNvPr id="5" name="Text 2"/>
          <p:cNvSpPr txBox="1"/>
          <p:nvPr/>
        </p:nvSpPr>
        <p:spPr>
          <a:xfrm>
            <a:off x="548640" y="4709160"/>
            <a:ext cx="6035040" cy="822960"/>
          </a:xfrm>
          <a:prstGeom prst="rect">
            <a:avLst/>
          </a:prstGeom>
          <a:noFill/>
          <a:ln/>
        </p:spPr>
        <p:txBody>
          <a:bodyPr wrap="square" lIns="0" tIns="0" rIns="0" bIns="0" rtlCol="0" anchor="t"/>
          <a:lstStyle/>
          <a:p>
            <a:pPr algn="l" indent="0" marL="0">
              <a:lnSpc>
                <a:spcPct val="105000"/>
              </a:lnSpc>
              <a:buNone/>
            </a:pPr>
            <a:r>
              <a:rPr lang="en-US" altLang="en-US" sz="1600" dirty="0">
                <a:solidFill>
                  <a:srgbClr val="D6D8D4"/>
                </a:solidFill>
                <a:latin typeface="Calibri" pitchFamily="34" charset="0"/>
                <a:ea typeface="Calibri" pitchFamily="34" charset="-122"/>
                <a:cs typeface="Calibri" pitchFamily="34" charset="-120"/>
              </a:rPr>
              <a:t>A 96-hour, hands-on program that takes young people aged 15–19 from a client's idea to a finished, published campaign.</a:t>
            </a:r>
            <a:endParaRPr lang="en-US" sz="1600" dirty="0"/>
          </a:p>
        </p:txBody>
      </p:sp>
      <p:sp>
        <p:nvSpPr>
          <p:cNvPr id="6" name="Text 3"/>
          <p:cNvSpPr txBox="1"/>
          <p:nvPr/>
        </p:nvSpPr>
        <p:spPr>
          <a:xfrm>
            <a:off x="548640" y="5989320"/>
            <a:ext cx="6035040" cy="274320"/>
          </a:xfrm>
          <a:prstGeom prst="rect">
            <a:avLst/>
          </a:prstGeom>
          <a:noFill/>
          <a:ln/>
        </p:spPr>
        <p:txBody>
          <a:bodyPr wrap="square" lIns="0" tIns="0" rIns="0" bIns="0" rtlCol="0" anchor="t"/>
          <a:lstStyle/>
          <a:p>
            <a:pPr algn="l" indent="0" marL="0">
              <a:lnSpc>
                <a:spcPct val="95000"/>
              </a:lnSpc>
              <a:buNone/>
            </a:pPr>
            <a:r>
              <a:rPr lang="en-US" altLang="en-US" sz="1100" i="1" dirty="0">
                <a:solidFill>
                  <a:srgbClr val="8A8C88"/>
                </a:solidFill>
                <a:latin typeface="Calibri" pitchFamily="34" charset="0"/>
                <a:ea typeface="Calibri" pitchFamily="34" charset="-122"/>
                <a:cs typeface="Calibri" pitchFamily="34" charset="-120"/>
              </a:rPr>
              <a:t>Working title: AI Creators Program</a:t>
            </a:r>
            <a:endParaRPr lang="en-US" sz="1100" dirty="0"/>
          </a:p>
        </p:txBody>
      </p:sp>
      <p:sp>
        <p:nvSpPr>
          <p:cNvPr id="7" name="Shape 4"/>
          <p:cNvSpPr/>
          <p:nvPr/>
        </p:nvSpPr>
        <p:spPr>
          <a:xfrm>
            <a:off x="7253935" y="1691640"/>
            <a:ext cx="3931920" cy="3931920"/>
          </a:xfrm>
          <a:prstGeom prst="ellipse">
            <a:avLst/>
          </a:prstGeom>
          <a:solidFill>
            <a:srgbClr val="000000">
              <a:alpha val="0"/>
            </a:srgbClr>
          </a:solidFill>
          <a:ln w="15875">
            <a:solidFill>
              <a:srgbClr val="2F332E"/>
            </a:solidFill>
            <a:prstDash val="dash"/>
          </a:ln>
        </p:spPr>
      </p:sp>
      <p:sp>
        <p:nvSpPr>
          <p:cNvPr id="8" name="Shape 5"/>
          <p:cNvSpPr/>
          <p:nvPr/>
        </p:nvSpPr>
        <p:spPr>
          <a:xfrm>
            <a:off x="9064447" y="1536192"/>
            <a:ext cx="310896" cy="310896"/>
          </a:xfrm>
          <a:prstGeom prst="ellipse">
            <a:avLst/>
          </a:prstGeom>
          <a:solidFill>
            <a:srgbClr val="4DB449"/>
          </a:solidFill>
          <a:ln w="6350">
            <a:solidFill>
              <a:srgbClr val="4DB449"/>
            </a:solidFill>
            <a:prstDash val="solid"/>
          </a:ln>
        </p:spPr>
      </p:sp>
      <p:sp>
        <p:nvSpPr>
          <p:cNvPr id="9" name="Text 6"/>
          <p:cNvSpPr txBox="1"/>
          <p:nvPr/>
        </p:nvSpPr>
        <p:spPr>
          <a:xfrm>
            <a:off x="8488375" y="1124712"/>
            <a:ext cx="1463040" cy="329184"/>
          </a:xfrm>
          <a:prstGeom prst="rect">
            <a:avLst/>
          </a:prstGeom>
          <a:noFill/>
          <a:ln/>
        </p:spPr>
        <p:txBody>
          <a:bodyPr wrap="square" lIns="0" tIns="0" rIns="0" bIns="0" rtlCol="0" anchor="ctr"/>
          <a:lstStyle/>
          <a:p>
            <a:pPr algn="ctr" indent="0" marL="0">
              <a:buNone/>
            </a:pPr>
            <a:r>
              <a:rPr lang="en-US" altLang="en-US" sz="1300" dirty="0">
                <a:solidFill>
                  <a:srgbClr val="FFFFFF"/>
                </a:solidFill>
                <a:latin typeface="Calibri" pitchFamily="34" charset="0"/>
                <a:ea typeface="Calibri" pitchFamily="34" charset="-122"/>
                <a:cs typeface="Calibri" pitchFamily="34" charset="-120"/>
              </a:rPr>
              <a:t>Idea</a:t>
            </a:r>
            <a:endParaRPr lang="en-US" sz="1300" dirty="0"/>
          </a:p>
        </p:txBody>
      </p:sp>
      <p:sp>
        <p:nvSpPr>
          <p:cNvPr id="10" name="Shape 7"/>
          <p:cNvSpPr/>
          <p:nvPr/>
        </p:nvSpPr>
        <p:spPr>
          <a:xfrm>
            <a:off x="10454591" y="2112008"/>
            <a:ext cx="310896" cy="310896"/>
          </a:xfrm>
          <a:prstGeom prst="ellipse">
            <a:avLst/>
          </a:prstGeom>
          <a:solidFill>
            <a:srgbClr val="A6D04B"/>
          </a:solidFill>
          <a:ln w="6350">
            <a:solidFill>
              <a:srgbClr val="A6D04B"/>
            </a:solidFill>
            <a:prstDash val="solid"/>
          </a:ln>
        </p:spPr>
      </p:sp>
      <p:sp>
        <p:nvSpPr>
          <p:cNvPr id="11" name="Text 8"/>
          <p:cNvSpPr txBox="1"/>
          <p:nvPr/>
        </p:nvSpPr>
        <p:spPr>
          <a:xfrm>
            <a:off x="10866071" y="2102864"/>
            <a:ext cx="1463040" cy="329184"/>
          </a:xfrm>
          <a:prstGeom prst="rect">
            <a:avLst/>
          </a:prstGeom>
          <a:noFill/>
          <a:ln/>
        </p:spPr>
        <p:txBody>
          <a:bodyPr wrap="square" lIns="0" tIns="0" rIns="0" bIns="0" rtlCol="0" anchor="ctr"/>
          <a:lstStyle/>
          <a:p>
            <a:pPr algn="l" indent="0" marL="0">
              <a:buNone/>
            </a:pPr>
            <a:r>
              <a:rPr lang="en-US" altLang="en-US" sz="1300" dirty="0">
                <a:solidFill>
                  <a:srgbClr val="FFFFFF"/>
                </a:solidFill>
                <a:latin typeface="Calibri" pitchFamily="34" charset="0"/>
                <a:ea typeface="Calibri" pitchFamily="34" charset="-122"/>
                <a:cs typeface="Calibri" pitchFamily="34" charset="-120"/>
              </a:rPr>
              <a:t>Research</a:t>
            </a:r>
            <a:endParaRPr lang="en-US" sz="1300" dirty="0"/>
          </a:p>
        </p:txBody>
      </p:sp>
      <p:sp>
        <p:nvSpPr>
          <p:cNvPr id="12" name="Shape 9"/>
          <p:cNvSpPr/>
          <p:nvPr/>
        </p:nvSpPr>
        <p:spPr>
          <a:xfrm>
            <a:off x="11030407" y="3502152"/>
            <a:ext cx="310896" cy="310896"/>
          </a:xfrm>
          <a:prstGeom prst="ellipse">
            <a:avLst/>
          </a:prstGeom>
          <a:solidFill>
            <a:srgbClr val="4DB449"/>
          </a:solidFill>
          <a:ln w="6350">
            <a:solidFill>
              <a:srgbClr val="4DB449"/>
            </a:solidFill>
            <a:prstDash val="solid"/>
          </a:ln>
        </p:spPr>
      </p:sp>
      <p:sp>
        <p:nvSpPr>
          <p:cNvPr id="13" name="Text 10"/>
          <p:cNvSpPr txBox="1"/>
          <p:nvPr/>
        </p:nvSpPr>
        <p:spPr>
          <a:xfrm>
            <a:off x="11441887" y="3493008"/>
            <a:ext cx="1463040" cy="329184"/>
          </a:xfrm>
          <a:prstGeom prst="rect">
            <a:avLst/>
          </a:prstGeom>
          <a:noFill/>
          <a:ln/>
        </p:spPr>
        <p:txBody>
          <a:bodyPr wrap="square" lIns="0" tIns="0" rIns="0" bIns="0" rtlCol="0" anchor="ctr"/>
          <a:lstStyle/>
          <a:p>
            <a:pPr algn="l" indent="0" marL="0">
              <a:buNone/>
            </a:pPr>
            <a:r>
              <a:rPr lang="en-US" altLang="en-US" sz="1300" dirty="0">
                <a:solidFill>
                  <a:srgbClr val="FFFFFF"/>
                </a:solidFill>
                <a:latin typeface="Calibri" pitchFamily="34" charset="0"/>
                <a:ea typeface="Calibri" pitchFamily="34" charset="-122"/>
                <a:cs typeface="Calibri" pitchFamily="34" charset="-120"/>
              </a:rPr>
              <a:t>Content</a:t>
            </a:r>
            <a:endParaRPr lang="en-US" sz="1300" dirty="0"/>
          </a:p>
        </p:txBody>
      </p:sp>
      <p:sp>
        <p:nvSpPr>
          <p:cNvPr id="14" name="Shape 11"/>
          <p:cNvSpPr/>
          <p:nvPr/>
        </p:nvSpPr>
        <p:spPr>
          <a:xfrm>
            <a:off x="10454591" y="4892296"/>
            <a:ext cx="310896" cy="310896"/>
          </a:xfrm>
          <a:prstGeom prst="ellipse">
            <a:avLst/>
          </a:prstGeom>
          <a:solidFill>
            <a:srgbClr val="A6D04B"/>
          </a:solidFill>
          <a:ln w="6350">
            <a:solidFill>
              <a:srgbClr val="A6D04B"/>
            </a:solidFill>
            <a:prstDash val="solid"/>
          </a:ln>
        </p:spPr>
      </p:sp>
      <p:sp>
        <p:nvSpPr>
          <p:cNvPr id="15" name="Text 12"/>
          <p:cNvSpPr txBox="1"/>
          <p:nvPr/>
        </p:nvSpPr>
        <p:spPr>
          <a:xfrm>
            <a:off x="10866071" y="4883152"/>
            <a:ext cx="1463040" cy="329184"/>
          </a:xfrm>
          <a:prstGeom prst="rect">
            <a:avLst/>
          </a:prstGeom>
          <a:noFill/>
          <a:ln/>
        </p:spPr>
        <p:txBody>
          <a:bodyPr wrap="square" lIns="0" tIns="0" rIns="0" bIns="0" rtlCol="0" anchor="ctr"/>
          <a:lstStyle/>
          <a:p>
            <a:pPr algn="l" indent="0" marL="0">
              <a:buNone/>
            </a:pPr>
            <a:r>
              <a:rPr lang="en-US" altLang="en-US" sz="1300" dirty="0">
                <a:solidFill>
                  <a:srgbClr val="FFFFFF"/>
                </a:solidFill>
                <a:latin typeface="Calibri" pitchFamily="34" charset="0"/>
                <a:ea typeface="Calibri" pitchFamily="34" charset="-122"/>
                <a:cs typeface="Calibri" pitchFamily="34" charset="-120"/>
              </a:rPr>
              <a:t>Character</a:t>
            </a:r>
            <a:endParaRPr lang="en-US" sz="1300" dirty="0"/>
          </a:p>
        </p:txBody>
      </p:sp>
      <p:sp>
        <p:nvSpPr>
          <p:cNvPr id="16" name="Shape 13"/>
          <p:cNvSpPr/>
          <p:nvPr/>
        </p:nvSpPr>
        <p:spPr>
          <a:xfrm>
            <a:off x="9064447" y="5468112"/>
            <a:ext cx="310896" cy="310896"/>
          </a:xfrm>
          <a:prstGeom prst="ellipse">
            <a:avLst/>
          </a:prstGeom>
          <a:solidFill>
            <a:srgbClr val="4DB449"/>
          </a:solidFill>
          <a:ln w="6350">
            <a:solidFill>
              <a:srgbClr val="4DB449"/>
            </a:solidFill>
            <a:prstDash val="solid"/>
          </a:ln>
        </p:spPr>
      </p:sp>
      <p:sp>
        <p:nvSpPr>
          <p:cNvPr id="17" name="Text 14"/>
          <p:cNvSpPr txBox="1"/>
          <p:nvPr/>
        </p:nvSpPr>
        <p:spPr>
          <a:xfrm>
            <a:off x="8488375" y="5861304"/>
            <a:ext cx="1463040" cy="329184"/>
          </a:xfrm>
          <a:prstGeom prst="rect">
            <a:avLst/>
          </a:prstGeom>
          <a:noFill/>
          <a:ln/>
        </p:spPr>
        <p:txBody>
          <a:bodyPr wrap="square" lIns="0" tIns="0" rIns="0" bIns="0" rtlCol="0" anchor="ctr"/>
          <a:lstStyle/>
          <a:p>
            <a:pPr algn="ctr" indent="0" marL="0">
              <a:buNone/>
            </a:pPr>
            <a:r>
              <a:rPr lang="en-US" altLang="en-US" sz="1300" dirty="0">
                <a:solidFill>
                  <a:srgbClr val="FFFFFF"/>
                </a:solidFill>
                <a:latin typeface="Calibri" pitchFamily="34" charset="0"/>
                <a:ea typeface="Calibri" pitchFamily="34" charset="-122"/>
                <a:cs typeface="Calibri" pitchFamily="34" charset="-120"/>
              </a:rPr>
              <a:t>Video</a:t>
            </a:r>
            <a:endParaRPr lang="en-US" sz="1300" dirty="0"/>
          </a:p>
        </p:txBody>
      </p:sp>
      <p:sp>
        <p:nvSpPr>
          <p:cNvPr id="18" name="Shape 15"/>
          <p:cNvSpPr/>
          <p:nvPr/>
        </p:nvSpPr>
        <p:spPr>
          <a:xfrm>
            <a:off x="7674304" y="4892296"/>
            <a:ext cx="310896" cy="310896"/>
          </a:xfrm>
          <a:prstGeom prst="ellipse">
            <a:avLst/>
          </a:prstGeom>
          <a:solidFill>
            <a:srgbClr val="A6D04B"/>
          </a:solidFill>
          <a:ln w="6350">
            <a:solidFill>
              <a:srgbClr val="A6D04B"/>
            </a:solidFill>
            <a:prstDash val="solid"/>
          </a:ln>
        </p:spPr>
      </p:sp>
      <p:sp>
        <p:nvSpPr>
          <p:cNvPr id="19" name="Text 16"/>
          <p:cNvSpPr txBox="1"/>
          <p:nvPr/>
        </p:nvSpPr>
        <p:spPr>
          <a:xfrm>
            <a:off x="6110680" y="4883152"/>
            <a:ext cx="1463040" cy="329184"/>
          </a:xfrm>
          <a:prstGeom prst="rect">
            <a:avLst/>
          </a:prstGeom>
          <a:noFill/>
          <a:ln/>
        </p:spPr>
        <p:txBody>
          <a:bodyPr wrap="square" lIns="0" tIns="0" rIns="0" bIns="0" rtlCol="0" anchor="ctr"/>
          <a:lstStyle/>
          <a:p>
            <a:pPr algn="r" indent="0" marL="0">
              <a:buNone/>
            </a:pPr>
            <a:r>
              <a:rPr lang="en-US" altLang="en-US" sz="1300" dirty="0">
                <a:solidFill>
                  <a:srgbClr val="FFFFFF"/>
                </a:solidFill>
                <a:latin typeface="Calibri" pitchFamily="34" charset="0"/>
                <a:ea typeface="Calibri" pitchFamily="34" charset="-122"/>
                <a:cs typeface="Calibri" pitchFamily="34" charset="-120"/>
              </a:rPr>
              <a:t>Marketing</a:t>
            </a:r>
            <a:endParaRPr lang="en-US" sz="1300" dirty="0"/>
          </a:p>
        </p:txBody>
      </p:sp>
      <p:sp>
        <p:nvSpPr>
          <p:cNvPr id="20" name="Shape 17"/>
          <p:cNvSpPr/>
          <p:nvPr/>
        </p:nvSpPr>
        <p:spPr>
          <a:xfrm>
            <a:off x="7098487" y="3502152"/>
            <a:ext cx="310896" cy="310896"/>
          </a:xfrm>
          <a:prstGeom prst="ellipse">
            <a:avLst/>
          </a:prstGeom>
          <a:solidFill>
            <a:srgbClr val="4DB449"/>
          </a:solidFill>
          <a:ln w="6350">
            <a:solidFill>
              <a:srgbClr val="4DB449"/>
            </a:solidFill>
            <a:prstDash val="solid"/>
          </a:ln>
        </p:spPr>
      </p:sp>
      <p:sp>
        <p:nvSpPr>
          <p:cNvPr id="21" name="Text 18"/>
          <p:cNvSpPr txBox="1"/>
          <p:nvPr/>
        </p:nvSpPr>
        <p:spPr>
          <a:xfrm>
            <a:off x="5534863" y="3493008"/>
            <a:ext cx="1463040" cy="329184"/>
          </a:xfrm>
          <a:prstGeom prst="rect">
            <a:avLst/>
          </a:prstGeom>
          <a:noFill/>
          <a:ln/>
        </p:spPr>
        <p:txBody>
          <a:bodyPr wrap="square" lIns="0" tIns="0" rIns="0" bIns="0" rtlCol="0" anchor="ctr"/>
          <a:lstStyle/>
          <a:p>
            <a:pPr algn="r" indent="0" marL="0">
              <a:buNone/>
            </a:pPr>
            <a:r>
              <a:rPr lang="en-US" altLang="en-US" sz="1300" dirty="0">
                <a:solidFill>
                  <a:srgbClr val="FFFFFF"/>
                </a:solidFill>
                <a:latin typeface="Calibri" pitchFamily="34" charset="0"/>
                <a:ea typeface="Calibri" pitchFamily="34" charset="-122"/>
                <a:cs typeface="Calibri" pitchFamily="34" charset="-120"/>
              </a:rPr>
              <a:t>Automation</a:t>
            </a:r>
            <a:endParaRPr lang="en-US" sz="1300" dirty="0"/>
          </a:p>
        </p:txBody>
      </p:sp>
      <p:sp>
        <p:nvSpPr>
          <p:cNvPr id="22" name="Shape 19"/>
          <p:cNvSpPr/>
          <p:nvPr/>
        </p:nvSpPr>
        <p:spPr>
          <a:xfrm>
            <a:off x="7674304" y="2112008"/>
            <a:ext cx="310896" cy="310896"/>
          </a:xfrm>
          <a:prstGeom prst="ellipse">
            <a:avLst/>
          </a:prstGeom>
          <a:solidFill>
            <a:srgbClr val="A6D04B"/>
          </a:solidFill>
          <a:ln w="6350">
            <a:solidFill>
              <a:srgbClr val="A6D04B"/>
            </a:solidFill>
            <a:prstDash val="solid"/>
          </a:ln>
        </p:spPr>
      </p:sp>
      <p:sp>
        <p:nvSpPr>
          <p:cNvPr id="23" name="Text 20"/>
          <p:cNvSpPr txBox="1"/>
          <p:nvPr/>
        </p:nvSpPr>
        <p:spPr>
          <a:xfrm>
            <a:off x="6110680" y="2102864"/>
            <a:ext cx="1463040" cy="329184"/>
          </a:xfrm>
          <a:prstGeom prst="rect">
            <a:avLst/>
          </a:prstGeom>
          <a:noFill/>
          <a:ln/>
        </p:spPr>
        <p:txBody>
          <a:bodyPr wrap="square" lIns="0" tIns="0" rIns="0" bIns="0" rtlCol="0" anchor="ctr"/>
          <a:lstStyle/>
          <a:p>
            <a:pPr algn="r" indent="0" marL="0">
              <a:buNone/>
            </a:pPr>
            <a:r>
              <a:rPr lang="en-US" altLang="en-US" sz="1300" dirty="0">
                <a:solidFill>
                  <a:srgbClr val="FFFFFF"/>
                </a:solidFill>
                <a:latin typeface="Calibri" pitchFamily="34" charset="0"/>
                <a:ea typeface="Calibri" pitchFamily="34" charset="-122"/>
                <a:cs typeface="Calibri" pitchFamily="34" charset="-120"/>
              </a:rPr>
              <a:t>Portfolio</a:t>
            </a:r>
            <a:endParaRPr lang="en-US" sz="1300" dirty="0"/>
          </a:p>
        </p:txBody>
      </p:sp>
      <p:sp>
        <p:nvSpPr>
          <p:cNvPr id="24" name="Shape 21"/>
          <p:cNvSpPr/>
          <p:nvPr/>
        </p:nvSpPr>
        <p:spPr>
          <a:xfrm>
            <a:off x="8351215" y="2788920"/>
            <a:ext cx="1737360" cy="1737360"/>
          </a:xfrm>
          <a:prstGeom prst="ellipse">
            <a:avLst/>
          </a:prstGeom>
          <a:solidFill>
            <a:srgbClr val="4DB449"/>
          </a:solidFill>
          <a:ln w="12700">
            <a:solidFill>
              <a:srgbClr val="4DB449"/>
            </a:solidFill>
            <a:prstDash val="solid"/>
          </a:ln>
        </p:spPr>
      </p:sp>
      <p:sp>
        <p:nvSpPr>
          <p:cNvPr id="25" name="Text 22"/>
          <p:cNvSpPr txBox="1"/>
          <p:nvPr/>
        </p:nvSpPr>
        <p:spPr>
          <a:xfrm>
            <a:off x="8396935" y="3200400"/>
            <a:ext cx="1645920" cy="914400"/>
          </a:xfrm>
          <a:prstGeom prst="rect">
            <a:avLst/>
          </a:prstGeom>
          <a:noFill/>
          <a:ln/>
        </p:spPr>
        <p:txBody>
          <a:bodyPr wrap="square" lIns="0" tIns="0" rIns="0" bIns="0" rtlCol="0" anchor="ctr"/>
          <a:lstStyle/>
          <a:p>
            <a:pPr algn="ctr" indent="0" marL="0">
              <a:buNone/>
            </a:pPr>
            <a:r>
              <a:rPr lang="en-US" altLang="en-US" sz="1600" b="1" dirty="0">
                <a:solidFill>
                  <a:srgbClr val="000000"/>
                </a:solidFill>
                <a:latin typeface="Cairo" pitchFamily="34" charset="0"/>
                <a:ea typeface="Cairo" pitchFamily="34" charset="-122"/>
                <a:cs typeface="Cairo" pitchFamily="34" charset="-120"/>
              </a:rPr>
              <a:t>Capstone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10356554" y="384048"/>
            <a:ext cx="1286501" cy="457200"/>
          </a:xfrm>
          <a:prstGeom prst="rect">
            <a:avLst/>
          </a:prstGeom>
        </p:spPr>
      </p:pic>
      <p:sp>
        <p:nvSpPr>
          <p:cNvPr id="3" name="Text 0"/>
          <p:cNvSpPr txBox="1"/>
          <p:nvPr/>
        </p:nvSpPr>
        <p:spPr>
          <a:xfrm>
            <a:off x="548640" y="6446520"/>
            <a:ext cx="6400800" cy="228600"/>
          </a:xfrm>
          <a:prstGeom prst="rect">
            <a:avLst/>
          </a:prstGeom>
          <a:noFill/>
          <a:ln/>
        </p:spPr>
        <p:txBody>
          <a:bodyPr wrap="square" lIns="0" tIns="0" rIns="0" bIns="0" rtlCol="0" anchor="t"/>
          <a:lstStyle/>
          <a:p>
            <a:pPr algn="l"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AI Creators Program · Training Concept Note</a:t>
            </a:r>
            <a:endParaRPr lang="en-US" sz="900" dirty="0"/>
          </a:p>
        </p:txBody>
      </p:sp>
      <p:sp>
        <p:nvSpPr>
          <p:cNvPr id="4" name="Text 1"/>
          <p:cNvSpPr txBox="1"/>
          <p:nvPr/>
        </p:nvSpPr>
        <p:spPr>
          <a:xfrm>
            <a:off x="11094415" y="6446520"/>
            <a:ext cx="548640" cy="228600"/>
          </a:xfrm>
          <a:prstGeom prst="rect">
            <a:avLst/>
          </a:prstGeom>
          <a:noFill/>
          <a:ln/>
        </p:spPr>
        <p:txBody>
          <a:bodyPr wrap="square" lIns="0" tIns="0" rIns="0" bIns="0" rtlCol="0" anchor="t"/>
          <a:lstStyle/>
          <a:p>
            <a:pPr algn="r"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2</a:t>
            </a:r>
            <a:endParaRPr lang="en-US" sz="900" dirty="0"/>
          </a:p>
        </p:txBody>
      </p:sp>
      <p:sp>
        <p:nvSpPr>
          <p:cNvPr id="5" name="Text 2"/>
          <p:cNvSpPr txBox="1"/>
          <p:nvPr/>
        </p:nvSpPr>
        <p:spPr>
          <a:xfrm>
            <a:off x="548640" y="384048"/>
            <a:ext cx="8961120" cy="274320"/>
          </a:xfrm>
          <a:prstGeom prst="rect">
            <a:avLst/>
          </a:prstGeom>
          <a:noFill/>
          <a:ln/>
        </p:spPr>
        <p:txBody>
          <a:bodyPr wrap="square" lIns="0" tIns="0" rIns="0" bIns="0" rtlCol="0" anchor="t"/>
          <a:lstStyle/>
          <a:p>
            <a:pPr algn="l" indent="0" marL="0">
              <a:lnSpc>
                <a:spcPct val="95000"/>
              </a:lnSpc>
              <a:buNone/>
            </a:pPr>
            <a:r>
              <a:rPr lang="en-US" altLang="en-US" sz="1100" b="1" spc="200" kern="0" dirty="0">
                <a:solidFill>
                  <a:srgbClr val="727274"/>
                </a:solidFill>
                <a:latin typeface="Calibri" pitchFamily="34" charset="0"/>
                <a:ea typeface="Calibri" pitchFamily="34" charset="-122"/>
                <a:cs typeface="Calibri" pitchFamily="34" charset="-120"/>
              </a:rPr>
              <a:t>01 · WHY THIS PROGRAM</a:t>
            </a:r>
            <a:endParaRPr lang="en-US" sz="1100" dirty="0"/>
          </a:p>
        </p:txBody>
      </p:sp>
      <p:sp>
        <p:nvSpPr>
          <p:cNvPr id="6" name="Text 3"/>
          <p:cNvSpPr txBox="1"/>
          <p:nvPr/>
        </p:nvSpPr>
        <p:spPr>
          <a:xfrm>
            <a:off x="548640" y="676656"/>
            <a:ext cx="9418320" cy="914400"/>
          </a:xfrm>
          <a:prstGeom prst="rect">
            <a:avLst/>
          </a:prstGeom>
          <a:noFill/>
          <a:ln/>
        </p:spPr>
        <p:txBody>
          <a:bodyPr wrap="square" lIns="0" tIns="0" rIns="0" bIns="0" rtlCol="0" anchor="t"/>
          <a:lstStyle/>
          <a:p>
            <a:pPr algn="l" indent="0" marL="0">
              <a:lnSpc>
                <a:spcPct val="90000"/>
              </a:lnSpc>
              <a:buNone/>
            </a:pPr>
            <a:r>
              <a:rPr lang="en-US" altLang="en-US" sz="2800" b="1" dirty="0">
                <a:solidFill>
                  <a:srgbClr val="1A1A1A"/>
                </a:solidFill>
                <a:latin typeface="Cairo" pitchFamily="34" charset="0"/>
                <a:ea typeface="Cairo" pitchFamily="34" charset="-122"/>
                <a:cs typeface="Cairo" pitchFamily="34" charset="-120"/>
              </a:rPr>
              <a:t>Young people already use AI. Few learn to use it for real work</a:t>
            </a:r>
            <a:endParaRPr lang="en-US" sz="2800" dirty="0"/>
          </a:p>
        </p:txBody>
      </p:sp>
      <p:sp>
        <p:nvSpPr>
          <p:cNvPr id="7" name="Text 4"/>
          <p:cNvSpPr txBox="1"/>
          <p:nvPr/>
        </p:nvSpPr>
        <p:spPr>
          <a:xfrm>
            <a:off x="548640" y="1874520"/>
            <a:ext cx="4983480" cy="365760"/>
          </a:xfrm>
          <a:prstGeom prst="rect">
            <a:avLst/>
          </a:prstGeom>
          <a:noFill/>
          <a:ln/>
        </p:spPr>
        <p:txBody>
          <a:bodyPr wrap="square" lIns="0" tIns="0" rIns="0" bIns="0" rtlCol="0" anchor="t"/>
          <a:lstStyle/>
          <a:p>
            <a:pPr algn="l" indent="0" marL="0">
              <a:lnSpc>
                <a:spcPct val="95000"/>
              </a:lnSpc>
              <a:buNone/>
            </a:pPr>
            <a:r>
              <a:rPr lang="en-US" altLang="en-US" sz="1500" b="1" dirty="0">
                <a:solidFill>
                  <a:srgbClr val="727274"/>
                </a:solidFill>
                <a:latin typeface="Cairo" pitchFamily="34" charset="0"/>
                <a:ea typeface="Cairo" pitchFamily="34" charset="-122"/>
                <a:cs typeface="Cairo" pitchFamily="34" charset="-120"/>
              </a:rPr>
              <a:t>Typical starting point</a:t>
            </a:r>
            <a:endParaRPr lang="en-US" sz="1500" dirty="0"/>
          </a:p>
        </p:txBody>
      </p:sp>
      <p:sp>
        <p:nvSpPr>
          <p:cNvPr id="8" name="Text 5"/>
          <p:cNvSpPr txBox="1"/>
          <p:nvPr/>
        </p:nvSpPr>
        <p:spPr>
          <a:xfrm>
            <a:off x="6291072" y="1874520"/>
            <a:ext cx="5349240" cy="365760"/>
          </a:xfrm>
          <a:prstGeom prst="rect">
            <a:avLst/>
          </a:prstGeom>
          <a:noFill/>
          <a:ln/>
        </p:spPr>
        <p:txBody>
          <a:bodyPr wrap="square" lIns="0" tIns="0" rIns="0" bIns="0" rtlCol="0" anchor="t"/>
          <a:lstStyle/>
          <a:p>
            <a:pPr algn="l" indent="0" marL="0">
              <a:lnSpc>
                <a:spcPct val="95000"/>
              </a:lnSpc>
              <a:buNone/>
            </a:pPr>
            <a:r>
              <a:rPr lang="en-US" altLang="en-US" sz="1500" b="1" dirty="0">
                <a:solidFill>
                  <a:srgbClr val="1A1A1A"/>
                </a:solidFill>
                <a:latin typeface="Cairo" pitchFamily="34" charset="0"/>
                <a:ea typeface="Cairo" pitchFamily="34" charset="-122"/>
                <a:cs typeface="Cairo" pitchFamily="34" charset="-120"/>
              </a:rPr>
              <a:t>What the program builds</a:t>
            </a:r>
            <a:endParaRPr lang="en-US" sz="1500" dirty="0"/>
          </a:p>
        </p:txBody>
      </p:sp>
      <p:sp>
        <p:nvSpPr>
          <p:cNvPr id="9" name="Shape 6"/>
          <p:cNvSpPr/>
          <p:nvPr/>
        </p:nvSpPr>
        <p:spPr>
          <a:xfrm>
            <a:off x="548640" y="2359152"/>
            <a:ext cx="4983480" cy="731520"/>
          </a:xfrm>
          <a:prstGeom prst="roundRect">
            <a:avLst>
              <a:gd name="adj" fmla="val 10000"/>
            </a:avLst>
          </a:prstGeom>
          <a:solidFill>
            <a:srgbClr val="F2F4F1"/>
          </a:solidFill>
          <a:ln w="12700">
            <a:solidFill>
              <a:srgbClr val="F2F4F1"/>
            </a:solidFill>
            <a:prstDash val="solid"/>
          </a:ln>
        </p:spPr>
      </p:sp>
      <p:sp>
        <p:nvSpPr>
          <p:cNvPr id="10" name="Text 7"/>
          <p:cNvSpPr txBox="1"/>
          <p:nvPr/>
        </p:nvSpPr>
        <p:spPr>
          <a:xfrm>
            <a:off x="777240" y="2359152"/>
            <a:ext cx="4526280" cy="731520"/>
          </a:xfrm>
          <a:prstGeom prst="rect">
            <a:avLst/>
          </a:prstGeom>
          <a:noFill/>
          <a:ln/>
        </p:spPr>
        <p:txBody>
          <a:bodyPr wrap="square" lIns="0" tIns="0" rIns="0" bIns="0" rtlCol="0" anchor="ctr"/>
          <a:lstStyle/>
          <a:p>
            <a:pPr algn="l" indent="0" marL="0">
              <a:lnSpc>
                <a:spcPct val="95000"/>
              </a:lnSpc>
              <a:buNone/>
            </a:pPr>
            <a:r>
              <a:rPr lang="en-US" altLang="en-US" sz="1500" dirty="0">
                <a:solidFill>
                  <a:srgbClr val="4A4C49"/>
                </a:solidFill>
                <a:latin typeface="Calibri" pitchFamily="34" charset="0"/>
                <a:ea typeface="Calibri" pitchFamily="34" charset="-122"/>
                <a:cs typeface="Calibri" pitchFamily="34" charset="-120"/>
              </a:rPr>
              <a:t>Using AI to get quick answers</a:t>
            </a:r>
            <a:endParaRPr lang="en-US" sz="1500" dirty="0"/>
          </a:p>
        </p:txBody>
      </p:sp>
      <p:pic>
        <p:nvPicPr>
          <p:cNvPr id="11" name="Image 1" descr="preencoded.png">    </p:cNvPr>
          <p:cNvPicPr>
            <a:picLocks noChangeAspect="1"/>
          </p:cNvPicPr>
          <p:nvPr/>
        </p:nvPicPr>
        <p:blipFill>
          <a:blip r:embed="rId2"/>
          <a:stretch>
            <a:fillRect/>
          </a:stretch>
        </p:blipFill>
        <p:spPr>
          <a:xfrm>
            <a:off x="5650992" y="2542032"/>
            <a:ext cx="384048" cy="384048"/>
          </a:xfrm>
          <a:prstGeom prst="rect">
            <a:avLst/>
          </a:prstGeom>
        </p:spPr>
      </p:pic>
      <p:sp>
        <p:nvSpPr>
          <p:cNvPr id="12" name="Shape 8"/>
          <p:cNvSpPr/>
          <p:nvPr/>
        </p:nvSpPr>
        <p:spPr>
          <a:xfrm>
            <a:off x="6291072" y="2359152"/>
            <a:ext cx="5349240" cy="731520"/>
          </a:xfrm>
          <a:prstGeom prst="roundRect">
            <a:avLst>
              <a:gd name="adj" fmla="val 10000"/>
            </a:avLst>
          </a:prstGeom>
          <a:solidFill>
            <a:srgbClr val="000000"/>
          </a:solidFill>
          <a:ln w="12700">
            <a:solidFill>
              <a:srgbClr val="000000"/>
            </a:solidFill>
            <a:prstDash val="solid"/>
          </a:ln>
        </p:spPr>
      </p:sp>
      <p:sp>
        <p:nvSpPr>
          <p:cNvPr id="13" name="Shape 9"/>
          <p:cNvSpPr/>
          <p:nvPr/>
        </p:nvSpPr>
        <p:spPr>
          <a:xfrm>
            <a:off x="6519672" y="2642616"/>
            <a:ext cx="164592" cy="164592"/>
          </a:xfrm>
          <a:prstGeom prst="ellipse">
            <a:avLst/>
          </a:prstGeom>
          <a:solidFill>
            <a:srgbClr val="A6D04B"/>
          </a:solidFill>
          <a:ln w="6350">
            <a:solidFill>
              <a:srgbClr val="A6D04B"/>
            </a:solidFill>
            <a:prstDash val="solid"/>
          </a:ln>
        </p:spPr>
      </p:sp>
      <p:sp>
        <p:nvSpPr>
          <p:cNvPr id="14" name="Text 10"/>
          <p:cNvSpPr txBox="1"/>
          <p:nvPr/>
        </p:nvSpPr>
        <p:spPr>
          <a:xfrm>
            <a:off x="6839712" y="2359152"/>
            <a:ext cx="4572000" cy="731520"/>
          </a:xfrm>
          <a:prstGeom prst="rect">
            <a:avLst/>
          </a:prstGeom>
          <a:noFill/>
          <a:ln/>
        </p:spPr>
        <p:txBody>
          <a:bodyPr wrap="square" lIns="0" tIns="0" rIns="0" bIns="0" rtlCol="0" anchor="ctr"/>
          <a:lstStyle/>
          <a:p>
            <a:pPr algn="l" indent="0" marL="0">
              <a:lnSpc>
                <a:spcPct val="95000"/>
              </a:lnSpc>
              <a:buNone/>
            </a:pPr>
            <a:r>
              <a:rPr lang="en-US" altLang="en-US" sz="1500" b="1" dirty="0">
                <a:solidFill>
                  <a:srgbClr val="FFFFFF"/>
                </a:solidFill>
                <a:latin typeface="Calibri" pitchFamily="34" charset="0"/>
                <a:ea typeface="Calibri" pitchFamily="34" charset="-122"/>
                <a:cs typeface="Calibri" pitchFamily="34" charset="-120"/>
              </a:rPr>
              <a:t>Using AI to produce work a client can use</a:t>
            </a:r>
            <a:endParaRPr lang="en-US" sz="1500" dirty="0"/>
          </a:p>
        </p:txBody>
      </p:sp>
      <p:sp>
        <p:nvSpPr>
          <p:cNvPr id="15" name="Shape 11"/>
          <p:cNvSpPr/>
          <p:nvPr/>
        </p:nvSpPr>
        <p:spPr>
          <a:xfrm>
            <a:off x="548640" y="3227832"/>
            <a:ext cx="4983480" cy="731520"/>
          </a:xfrm>
          <a:prstGeom prst="roundRect">
            <a:avLst>
              <a:gd name="adj" fmla="val 10000"/>
            </a:avLst>
          </a:prstGeom>
          <a:solidFill>
            <a:srgbClr val="F2F4F1"/>
          </a:solidFill>
          <a:ln w="12700">
            <a:solidFill>
              <a:srgbClr val="F2F4F1"/>
            </a:solidFill>
            <a:prstDash val="solid"/>
          </a:ln>
        </p:spPr>
      </p:sp>
      <p:sp>
        <p:nvSpPr>
          <p:cNvPr id="16" name="Text 12"/>
          <p:cNvSpPr txBox="1"/>
          <p:nvPr/>
        </p:nvSpPr>
        <p:spPr>
          <a:xfrm>
            <a:off x="777240" y="3227832"/>
            <a:ext cx="4526280" cy="731520"/>
          </a:xfrm>
          <a:prstGeom prst="rect">
            <a:avLst/>
          </a:prstGeom>
          <a:noFill/>
          <a:ln/>
        </p:spPr>
        <p:txBody>
          <a:bodyPr wrap="square" lIns="0" tIns="0" rIns="0" bIns="0" rtlCol="0" anchor="ctr"/>
          <a:lstStyle/>
          <a:p>
            <a:pPr algn="l" indent="0" marL="0">
              <a:lnSpc>
                <a:spcPct val="95000"/>
              </a:lnSpc>
              <a:buNone/>
            </a:pPr>
            <a:r>
              <a:rPr lang="en-US" altLang="en-US" sz="1500" dirty="0">
                <a:solidFill>
                  <a:srgbClr val="4A4C49"/>
                </a:solidFill>
                <a:latin typeface="Calibri" pitchFamily="34" charset="0"/>
                <a:ea typeface="Calibri" pitchFamily="34" charset="-122"/>
                <a:cs typeface="Calibri" pitchFamily="34" charset="-120"/>
              </a:rPr>
              <a:t>Tool tips picked up from social media</a:t>
            </a:r>
            <a:endParaRPr lang="en-US" sz="1500" dirty="0"/>
          </a:p>
        </p:txBody>
      </p:sp>
      <p:pic>
        <p:nvPicPr>
          <p:cNvPr id="17" name="Image 2" descr="preencoded.png">    </p:cNvPr>
          <p:cNvPicPr>
            <a:picLocks noChangeAspect="1"/>
          </p:cNvPicPr>
          <p:nvPr/>
        </p:nvPicPr>
        <p:blipFill>
          <a:blip r:embed="rId3"/>
          <a:stretch>
            <a:fillRect/>
          </a:stretch>
        </p:blipFill>
        <p:spPr>
          <a:xfrm>
            <a:off x="5650992" y="3410712"/>
            <a:ext cx="384048" cy="384048"/>
          </a:xfrm>
          <a:prstGeom prst="rect">
            <a:avLst/>
          </a:prstGeom>
        </p:spPr>
      </p:pic>
      <p:sp>
        <p:nvSpPr>
          <p:cNvPr id="18" name="Shape 13"/>
          <p:cNvSpPr/>
          <p:nvPr/>
        </p:nvSpPr>
        <p:spPr>
          <a:xfrm>
            <a:off x="6291072" y="3227832"/>
            <a:ext cx="5349240" cy="731520"/>
          </a:xfrm>
          <a:prstGeom prst="roundRect">
            <a:avLst>
              <a:gd name="adj" fmla="val 10000"/>
            </a:avLst>
          </a:prstGeom>
          <a:solidFill>
            <a:srgbClr val="000000"/>
          </a:solidFill>
          <a:ln w="12700">
            <a:solidFill>
              <a:srgbClr val="000000"/>
            </a:solidFill>
            <a:prstDash val="solid"/>
          </a:ln>
        </p:spPr>
      </p:sp>
      <p:sp>
        <p:nvSpPr>
          <p:cNvPr id="19" name="Shape 14"/>
          <p:cNvSpPr/>
          <p:nvPr/>
        </p:nvSpPr>
        <p:spPr>
          <a:xfrm>
            <a:off x="6519672" y="3511296"/>
            <a:ext cx="164592" cy="164592"/>
          </a:xfrm>
          <a:prstGeom prst="ellipse">
            <a:avLst/>
          </a:prstGeom>
          <a:solidFill>
            <a:srgbClr val="A6D04B"/>
          </a:solidFill>
          <a:ln w="6350">
            <a:solidFill>
              <a:srgbClr val="A6D04B"/>
            </a:solidFill>
            <a:prstDash val="solid"/>
          </a:ln>
        </p:spPr>
      </p:sp>
      <p:sp>
        <p:nvSpPr>
          <p:cNvPr id="20" name="Text 15"/>
          <p:cNvSpPr txBox="1"/>
          <p:nvPr/>
        </p:nvSpPr>
        <p:spPr>
          <a:xfrm>
            <a:off x="6839712" y="3227832"/>
            <a:ext cx="4572000" cy="731520"/>
          </a:xfrm>
          <a:prstGeom prst="rect">
            <a:avLst/>
          </a:prstGeom>
          <a:noFill/>
          <a:ln/>
        </p:spPr>
        <p:txBody>
          <a:bodyPr wrap="square" lIns="0" tIns="0" rIns="0" bIns="0" rtlCol="0" anchor="ctr"/>
          <a:lstStyle/>
          <a:p>
            <a:pPr algn="l" indent="0" marL="0">
              <a:lnSpc>
                <a:spcPct val="95000"/>
              </a:lnSpc>
              <a:buNone/>
            </a:pPr>
            <a:r>
              <a:rPr lang="en-US" altLang="en-US" sz="1500" b="1" dirty="0">
                <a:solidFill>
                  <a:srgbClr val="FFFFFF"/>
                </a:solidFill>
                <a:latin typeface="Calibri" pitchFamily="34" charset="0"/>
                <a:ea typeface="Calibri" pitchFamily="34" charset="-122"/>
                <a:cs typeface="Calibri" pitchFamily="34" charset="-120"/>
              </a:rPr>
              <a:t>A structured path from idea to published campaign</a:t>
            </a:r>
            <a:endParaRPr lang="en-US" sz="1500" dirty="0"/>
          </a:p>
        </p:txBody>
      </p:sp>
      <p:sp>
        <p:nvSpPr>
          <p:cNvPr id="21" name="Shape 16"/>
          <p:cNvSpPr/>
          <p:nvPr/>
        </p:nvSpPr>
        <p:spPr>
          <a:xfrm>
            <a:off x="548640" y="4096512"/>
            <a:ext cx="4983480" cy="731520"/>
          </a:xfrm>
          <a:prstGeom prst="roundRect">
            <a:avLst>
              <a:gd name="adj" fmla="val 10000"/>
            </a:avLst>
          </a:prstGeom>
          <a:solidFill>
            <a:srgbClr val="F2F4F1"/>
          </a:solidFill>
          <a:ln w="12700">
            <a:solidFill>
              <a:srgbClr val="F2F4F1"/>
            </a:solidFill>
            <a:prstDash val="solid"/>
          </a:ln>
        </p:spPr>
      </p:sp>
      <p:sp>
        <p:nvSpPr>
          <p:cNvPr id="22" name="Text 17"/>
          <p:cNvSpPr txBox="1"/>
          <p:nvPr/>
        </p:nvSpPr>
        <p:spPr>
          <a:xfrm>
            <a:off x="777240" y="4096512"/>
            <a:ext cx="4526280" cy="731520"/>
          </a:xfrm>
          <a:prstGeom prst="rect">
            <a:avLst/>
          </a:prstGeom>
          <a:noFill/>
          <a:ln/>
        </p:spPr>
        <p:txBody>
          <a:bodyPr wrap="square" lIns="0" tIns="0" rIns="0" bIns="0" rtlCol="0" anchor="ctr"/>
          <a:lstStyle/>
          <a:p>
            <a:pPr algn="l" indent="0" marL="0">
              <a:lnSpc>
                <a:spcPct val="95000"/>
              </a:lnSpc>
              <a:buNone/>
            </a:pPr>
            <a:r>
              <a:rPr lang="en-US" altLang="en-US" sz="1500" dirty="0">
                <a:solidFill>
                  <a:srgbClr val="4A4C49"/>
                </a:solidFill>
                <a:latin typeface="Calibri" pitchFamily="34" charset="0"/>
                <a:ea typeface="Calibri" pitchFamily="34" charset="-122"/>
                <a:cs typeface="Calibri" pitchFamily="34" charset="-120"/>
              </a:rPr>
              <a:t>Accepting whatever the tool returns</a:t>
            </a:r>
            <a:endParaRPr lang="en-US" sz="1500" dirty="0"/>
          </a:p>
        </p:txBody>
      </p:sp>
      <p:pic>
        <p:nvPicPr>
          <p:cNvPr id="23" name="Image 3" descr="preencoded.png">    </p:cNvPr>
          <p:cNvPicPr>
            <a:picLocks noChangeAspect="1"/>
          </p:cNvPicPr>
          <p:nvPr/>
        </p:nvPicPr>
        <p:blipFill>
          <a:blip r:embed="rId4"/>
          <a:stretch>
            <a:fillRect/>
          </a:stretch>
        </p:blipFill>
        <p:spPr>
          <a:xfrm>
            <a:off x="5650992" y="4279392"/>
            <a:ext cx="384048" cy="384048"/>
          </a:xfrm>
          <a:prstGeom prst="rect">
            <a:avLst/>
          </a:prstGeom>
        </p:spPr>
      </p:pic>
      <p:sp>
        <p:nvSpPr>
          <p:cNvPr id="24" name="Shape 18"/>
          <p:cNvSpPr/>
          <p:nvPr/>
        </p:nvSpPr>
        <p:spPr>
          <a:xfrm>
            <a:off x="6291072" y="4096512"/>
            <a:ext cx="5349240" cy="731520"/>
          </a:xfrm>
          <a:prstGeom prst="roundRect">
            <a:avLst>
              <a:gd name="adj" fmla="val 10000"/>
            </a:avLst>
          </a:prstGeom>
          <a:solidFill>
            <a:srgbClr val="000000"/>
          </a:solidFill>
          <a:ln w="12700">
            <a:solidFill>
              <a:srgbClr val="000000"/>
            </a:solidFill>
            <a:prstDash val="solid"/>
          </a:ln>
        </p:spPr>
      </p:sp>
      <p:sp>
        <p:nvSpPr>
          <p:cNvPr id="25" name="Shape 19"/>
          <p:cNvSpPr/>
          <p:nvPr/>
        </p:nvSpPr>
        <p:spPr>
          <a:xfrm>
            <a:off x="6519672" y="4379976"/>
            <a:ext cx="164592" cy="164592"/>
          </a:xfrm>
          <a:prstGeom prst="ellipse">
            <a:avLst/>
          </a:prstGeom>
          <a:solidFill>
            <a:srgbClr val="A6D04B"/>
          </a:solidFill>
          <a:ln w="6350">
            <a:solidFill>
              <a:srgbClr val="A6D04B"/>
            </a:solidFill>
            <a:prstDash val="solid"/>
          </a:ln>
        </p:spPr>
      </p:sp>
      <p:sp>
        <p:nvSpPr>
          <p:cNvPr id="26" name="Text 20"/>
          <p:cNvSpPr txBox="1"/>
          <p:nvPr/>
        </p:nvSpPr>
        <p:spPr>
          <a:xfrm>
            <a:off x="6839712" y="4096512"/>
            <a:ext cx="4572000" cy="731520"/>
          </a:xfrm>
          <a:prstGeom prst="rect">
            <a:avLst/>
          </a:prstGeom>
          <a:noFill/>
          <a:ln/>
        </p:spPr>
        <p:txBody>
          <a:bodyPr wrap="square" lIns="0" tIns="0" rIns="0" bIns="0" rtlCol="0" anchor="ctr"/>
          <a:lstStyle/>
          <a:p>
            <a:pPr algn="l" indent="0" marL="0">
              <a:lnSpc>
                <a:spcPct val="95000"/>
              </a:lnSpc>
              <a:buNone/>
            </a:pPr>
            <a:r>
              <a:rPr lang="en-US" altLang="en-US" sz="1500" b="1" dirty="0">
                <a:solidFill>
                  <a:srgbClr val="FFFFFF"/>
                </a:solidFill>
                <a:latin typeface="Calibri" pitchFamily="34" charset="0"/>
                <a:ea typeface="Calibri" pitchFamily="34" charset="-122"/>
                <a:cs typeface="Calibri" pitchFamily="34" charset="-120"/>
              </a:rPr>
              <a:t>Checking facts, editing drafts and labelling AI content</a:t>
            </a:r>
            <a:endParaRPr lang="en-US" sz="1500" dirty="0"/>
          </a:p>
        </p:txBody>
      </p:sp>
      <p:sp>
        <p:nvSpPr>
          <p:cNvPr id="27" name="Shape 21"/>
          <p:cNvSpPr/>
          <p:nvPr/>
        </p:nvSpPr>
        <p:spPr>
          <a:xfrm>
            <a:off x="548640" y="4965192"/>
            <a:ext cx="4983480" cy="731520"/>
          </a:xfrm>
          <a:prstGeom prst="roundRect">
            <a:avLst>
              <a:gd name="adj" fmla="val 10000"/>
            </a:avLst>
          </a:prstGeom>
          <a:solidFill>
            <a:srgbClr val="F2F4F1"/>
          </a:solidFill>
          <a:ln w="12700">
            <a:solidFill>
              <a:srgbClr val="F2F4F1"/>
            </a:solidFill>
            <a:prstDash val="solid"/>
          </a:ln>
        </p:spPr>
      </p:sp>
      <p:sp>
        <p:nvSpPr>
          <p:cNvPr id="28" name="Text 22"/>
          <p:cNvSpPr txBox="1"/>
          <p:nvPr/>
        </p:nvSpPr>
        <p:spPr>
          <a:xfrm>
            <a:off x="777240" y="4965192"/>
            <a:ext cx="4526280" cy="731520"/>
          </a:xfrm>
          <a:prstGeom prst="rect">
            <a:avLst/>
          </a:prstGeom>
          <a:noFill/>
          <a:ln/>
        </p:spPr>
        <p:txBody>
          <a:bodyPr wrap="square" lIns="0" tIns="0" rIns="0" bIns="0" rtlCol="0" anchor="ctr"/>
          <a:lstStyle/>
          <a:p>
            <a:pPr algn="l" indent="0" marL="0">
              <a:lnSpc>
                <a:spcPct val="95000"/>
              </a:lnSpc>
              <a:buNone/>
            </a:pPr>
            <a:r>
              <a:rPr lang="en-US" altLang="en-US" sz="1500" dirty="0">
                <a:solidFill>
                  <a:srgbClr val="4A4C49"/>
                </a:solidFill>
                <a:latin typeface="Calibri" pitchFamily="34" charset="0"/>
                <a:ea typeface="Calibri" pitchFamily="34" charset="-122"/>
                <a:cs typeface="Calibri" pitchFamily="34" charset="-120"/>
              </a:rPr>
              <a:t>No proof of what they can do</a:t>
            </a:r>
            <a:endParaRPr lang="en-US" sz="1500" dirty="0"/>
          </a:p>
        </p:txBody>
      </p:sp>
      <p:pic>
        <p:nvPicPr>
          <p:cNvPr id="29" name="Image 4" descr="preencoded.png">    </p:cNvPr>
          <p:cNvPicPr>
            <a:picLocks noChangeAspect="1"/>
          </p:cNvPicPr>
          <p:nvPr/>
        </p:nvPicPr>
        <p:blipFill>
          <a:blip r:embed="rId5"/>
          <a:stretch>
            <a:fillRect/>
          </a:stretch>
        </p:blipFill>
        <p:spPr>
          <a:xfrm>
            <a:off x="5650992" y="5148072"/>
            <a:ext cx="384048" cy="384048"/>
          </a:xfrm>
          <a:prstGeom prst="rect">
            <a:avLst/>
          </a:prstGeom>
        </p:spPr>
      </p:pic>
      <p:sp>
        <p:nvSpPr>
          <p:cNvPr id="30" name="Shape 23"/>
          <p:cNvSpPr/>
          <p:nvPr/>
        </p:nvSpPr>
        <p:spPr>
          <a:xfrm>
            <a:off x="6291072" y="4965192"/>
            <a:ext cx="5349240" cy="731520"/>
          </a:xfrm>
          <a:prstGeom prst="roundRect">
            <a:avLst>
              <a:gd name="adj" fmla="val 10000"/>
            </a:avLst>
          </a:prstGeom>
          <a:solidFill>
            <a:srgbClr val="000000"/>
          </a:solidFill>
          <a:ln w="12700">
            <a:solidFill>
              <a:srgbClr val="000000"/>
            </a:solidFill>
            <a:prstDash val="solid"/>
          </a:ln>
        </p:spPr>
      </p:sp>
      <p:sp>
        <p:nvSpPr>
          <p:cNvPr id="31" name="Shape 24"/>
          <p:cNvSpPr/>
          <p:nvPr/>
        </p:nvSpPr>
        <p:spPr>
          <a:xfrm>
            <a:off x="6519672" y="5248656"/>
            <a:ext cx="164592" cy="164592"/>
          </a:xfrm>
          <a:prstGeom prst="ellipse">
            <a:avLst/>
          </a:prstGeom>
          <a:solidFill>
            <a:srgbClr val="A6D04B"/>
          </a:solidFill>
          <a:ln w="6350">
            <a:solidFill>
              <a:srgbClr val="A6D04B"/>
            </a:solidFill>
            <a:prstDash val="solid"/>
          </a:ln>
        </p:spPr>
      </p:sp>
      <p:sp>
        <p:nvSpPr>
          <p:cNvPr id="32" name="Text 25"/>
          <p:cNvSpPr txBox="1"/>
          <p:nvPr/>
        </p:nvSpPr>
        <p:spPr>
          <a:xfrm>
            <a:off x="6839712" y="4965192"/>
            <a:ext cx="4572000" cy="731520"/>
          </a:xfrm>
          <a:prstGeom prst="rect">
            <a:avLst/>
          </a:prstGeom>
          <a:noFill/>
          <a:ln/>
        </p:spPr>
        <p:txBody>
          <a:bodyPr wrap="square" lIns="0" tIns="0" rIns="0" bIns="0" rtlCol="0" anchor="ctr"/>
          <a:lstStyle/>
          <a:p>
            <a:pPr algn="l" indent="0" marL="0">
              <a:lnSpc>
                <a:spcPct val="95000"/>
              </a:lnSpc>
              <a:buNone/>
            </a:pPr>
            <a:r>
              <a:rPr lang="en-US" altLang="en-US" sz="1500" b="1" dirty="0">
                <a:solidFill>
                  <a:srgbClr val="FFFFFF"/>
                </a:solidFill>
                <a:latin typeface="Calibri" pitchFamily="34" charset="0"/>
                <a:ea typeface="Calibri" pitchFamily="34" charset="-122"/>
                <a:cs typeface="Calibri" pitchFamily="34" charset="-120"/>
              </a:rPr>
              <a:t>A portfolio, a capstone project and a live presentation</a:t>
            </a:r>
            <a:endParaRPr lang="en-US" sz="1500" dirty="0"/>
          </a:p>
        </p:txBody>
      </p:sp>
      <p:sp>
        <p:nvSpPr>
          <p:cNvPr id="33" name="Text 26"/>
          <p:cNvSpPr txBox="1"/>
          <p:nvPr/>
        </p:nvSpPr>
        <p:spPr>
          <a:xfrm>
            <a:off x="548640" y="5925312"/>
            <a:ext cx="11064240" cy="320040"/>
          </a:xfrm>
          <a:prstGeom prst="rect">
            <a:avLst/>
          </a:prstGeom>
          <a:noFill/>
          <a:ln/>
        </p:spPr>
        <p:txBody>
          <a:bodyPr wrap="square" lIns="0" tIns="0" rIns="0" bIns="0" rtlCol="0" anchor="t"/>
          <a:lstStyle/>
          <a:p>
            <a:pPr algn="l" indent="0" marL="0">
              <a:lnSpc>
                <a:spcPct val="95000"/>
              </a:lnSpc>
              <a:buNone/>
            </a:pPr>
            <a:r>
              <a:rPr lang="en-US" altLang="en-US" sz="1100" i="1" dirty="0">
                <a:solidFill>
                  <a:srgbClr val="727274"/>
                </a:solidFill>
                <a:latin typeface="Calibri" pitchFamily="34" charset="0"/>
                <a:ea typeface="Calibri" pitchFamily="34" charset="-122"/>
                <a:cs typeface="Calibri" pitchFamily="34" charset="-120"/>
              </a:rPr>
              <a:t>The starting point above is an assumption; the pre-assessment in session 1 will confirm it for each cohort.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10356554" y="384048"/>
            <a:ext cx="1286501" cy="457200"/>
          </a:xfrm>
          <a:prstGeom prst="rect">
            <a:avLst/>
          </a:prstGeom>
        </p:spPr>
      </p:pic>
      <p:sp>
        <p:nvSpPr>
          <p:cNvPr id="3" name="Text 0"/>
          <p:cNvSpPr txBox="1"/>
          <p:nvPr/>
        </p:nvSpPr>
        <p:spPr>
          <a:xfrm>
            <a:off x="548640" y="6446520"/>
            <a:ext cx="6400800" cy="228600"/>
          </a:xfrm>
          <a:prstGeom prst="rect">
            <a:avLst/>
          </a:prstGeom>
          <a:noFill/>
          <a:ln/>
        </p:spPr>
        <p:txBody>
          <a:bodyPr wrap="square" lIns="0" tIns="0" rIns="0" bIns="0" rtlCol="0" anchor="t"/>
          <a:lstStyle/>
          <a:p>
            <a:pPr algn="l"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AI Creators Program · Training Concept Note</a:t>
            </a:r>
            <a:endParaRPr lang="en-US" sz="900" dirty="0"/>
          </a:p>
        </p:txBody>
      </p:sp>
      <p:sp>
        <p:nvSpPr>
          <p:cNvPr id="4" name="Text 1"/>
          <p:cNvSpPr txBox="1"/>
          <p:nvPr/>
        </p:nvSpPr>
        <p:spPr>
          <a:xfrm>
            <a:off x="11094415" y="6446520"/>
            <a:ext cx="548640" cy="228600"/>
          </a:xfrm>
          <a:prstGeom prst="rect">
            <a:avLst/>
          </a:prstGeom>
          <a:noFill/>
          <a:ln/>
        </p:spPr>
        <p:txBody>
          <a:bodyPr wrap="square" lIns="0" tIns="0" rIns="0" bIns="0" rtlCol="0" anchor="t"/>
          <a:lstStyle/>
          <a:p>
            <a:pPr algn="r"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3</a:t>
            </a:r>
            <a:endParaRPr lang="en-US" sz="900" dirty="0"/>
          </a:p>
        </p:txBody>
      </p:sp>
      <p:sp>
        <p:nvSpPr>
          <p:cNvPr id="5" name="Text 2"/>
          <p:cNvSpPr txBox="1"/>
          <p:nvPr/>
        </p:nvSpPr>
        <p:spPr>
          <a:xfrm>
            <a:off x="548640" y="384048"/>
            <a:ext cx="8961120" cy="274320"/>
          </a:xfrm>
          <a:prstGeom prst="rect">
            <a:avLst/>
          </a:prstGeom>
          <a:noFill/>
          <a:ln/>
        </p:spPr>
        <p:txBody>
          <a:bodyPr wrap="square" lIns="0" tIns="0" rIns="0" bIns="0" rtlCol="0" anchor="t"/>
          <a:lstStyle/>
          <a:p>
            <a:pPr algn="l" indent="0" marL="0">
              <a:lnSpc>
                <a:spcPct val="95000"/>
              </a:lnSpc>
              <a:buNone/>
            </a:pPr>
            <a:r>
              <a:rPr lang="en-US" altLang="en-US" sz="1100" b="1" spc="200" kern="0" dirty="0">
                <a:solidFill>
                  <a:srgbClr val="727274"/>
                </a:solidFill>
                <a:latin typeface="Calibri" pitchFamily="34" charset="0"/>
                <a:ea typeface="Calibri" pitchFamily="34" charset="-122"/>
                <a:cs typeface="Calibri" pitchFamily="34" charset="-120"/>
              </a:rPr>
              <a:t>02 · WHO IT IS FOR</a:t>
            </a:r>
            <a:endParaRPr lang="en-US" sz="1100" dirty="0"/>
          </a:p>
        </p:txBody>
      </p:sp>
      <p:sp>
        <p:nvSpPr>
          <p:cNvPr id="6" name="Text 3"/>
          <p:cNvSpPr txBox="1"/>
          <p:nvPr/>
        </p:nvSpPr>
        <p:spPr>
          <a:xfrm>
            <a:off x="548640" y="676656"/>
            <a:ext cx="9418320" cy="914400"/>
          </a:xfrm>
          <a:prstGeom prst="rect">
            <a:avLst/>
          </a:prstGeom>
          <a:noFill/>
          <a:ln/>
        </p:spPr>
        <p:txBody>
          <a:bodyPr wrap="square" lIns="0" tIns="0" rIns="0" bIns="0" rtlCol="0" anchor="t"/>
          <a:lstStyle/>
          <a:p>
            <a:pPr algn="l" indent="0" marL="0">
              <a:lnSpc>
                <a:spcPct val="90000"/>
              </a:lnSpc>
              <a:buNone/>
            </a:pPr>
            <a:r>
              <a:rPr lang="en-US" altLang="en-US" sz="2800" b="1" dirty="0">
                <a:solidFill>
                  <a:srgbClr val="1A1A1A"/>
                </a:solidFill>
                <a:latin typeface="Cairo" pitchFamily="34" charset="0"/>
                <a:ea typeface="Cairo" pitchFamily="34" charset="-122"/>
                <a:cs typeface="Cairo" pitchFamily="34" charset="-120"/>
              </a:rPr>
              <a:t>Built for ages 15 to 19, with no technical background required</a:t>
            </a:r>
            <a:endParaRPr lang="en-US" sz="2800" dirty="0"/>
          </a:p>
        </p:txBody>
      </p:sp>
      <p:sp>
        <p:nvSpPr>
          <p:cNvPr id="7" name="Shape 4"/>
          <p:cNvSpPr/>
          <p:nvPr/>
        </p:nvSpPr>
        <p:spPr>
          <a:xfrm>
            <a:off x="548640" y="1874520"/>
            <a:ext cx="3703320" cy="4343400"/>
          </a:xfrm>
          <a:prstGeom prst="roundRect">
            <a:avLst>
              <a:gd name="adj" fmla="val 2963"/>
            </a:avLst>
          </a:prstGeom>
          <a:solidFill>
            <a:srgbClr val="000000"/>
          </a:solidFill>
          <a:ln w="12700">
            <a:solidFill>
              <a:srgbClr val="000000"/>
            </a:solidFill>
            <a:prstDash val="solid"/>
          </a:ln>
        </p:spPr>
      </p:sp>
      <p:sp>
        <p:nvSpPr>
          <p:cNvPr id="8" name="Text 5"/>
          <p:cNvSpPr txBox="1"/>
          <p:nvPr/>
        </p:nvSpPr>
        <p:spPr>
          <a:xfrm>
            <a:off x="868680" y="2148840"/>
            <a:ext cx="3108960" cy="822960"/>
          </a:xfrm>
          <a:prstGeom prst="rect">
            <a:avLst/>
          </a:prstGeom>
          <a:noFill/>
          <a:ln/>
        </p:spPr>
        <p:txBody>
          <a:bodyPr wrap="square" lIns="0" tIns="0" rIns="0" bIns="0" rtlCol="0" anchor="t"/>
          <a:lstStyle/>
          <a:p>
            <a:pPr algn="l" indent="0" marL="0">
              <a:lnSpc>
                <a:spcPct val="95000"/>
              </a:lnSpc>
              <a:buNone/>
            </a:pPr>
            <a:r>
              <a:rPr lang="en-US" altLang="en-US" sz="4600" b="1" dirty="0">
                <a:solidFill>
                  <a:srgbClr val="A6D04B"/>
                </a:solidFill>
                <a:latin typeface="Cairo" pitchFamily="34" charset="0"/>
                <a:ea typeface="Cairo" pitchFamily="34" charset="-122"/>
                <a:cs typeface="Cairo" pitchFamily="34" charset="-120"/>
              </a:rPr>
              <a:t>15–17</a:t>
            </a:r>
            <a:endParaRPr lang="en-US" sz="4600" dirty="0"/>
          </a:p>
        </p:txBody>
      </p:sp>
      <p:sp>
        <p:nvSpPr>
          <p:cNvPr id="9" name="Text 6"/>
          <p:cNvSpPr txBox="1"/>
          <p:nvPr/>
        </p:nvSpPr>
        <p:spPr>
          <a:xfrm>
            <a:off x="868680" y="2971800"/>
            <a:ext cx="3108960" cy="365760"/>
          </a:xfrm>
          <a:prstGeom prst="rect">
            <a:avLst/>
          </a:prstGeom>
          <a:noFill/>
          <a:ln/>
        </p:spPr>
        <p:txBody>
          <a:bodyPr wrap="square" lIns="0" tIns="0" rIns="0" bIns="0" rtlCol="0" anchor="t"/>
          <a:lstStyle/>
          <a:p>
            <a:pPr algn="l" indent="0" marL="0">
              <a:lnSpc>
                <a:spcPct val="95000"/>
              </a:lnSpc>
              <a:buNone/>
            </a:pPr>
            <a:r>
              <a:rPr lang="en-US" altLang="en-US" sz="1500" b="1" dirty="0">
                <a:solidFill>
                  <a:srgbClr val="FFFFFF"/>
                </a:solidFill>
                <a:latin typeface="Calibri" pitchFamily="34" charset="0"/>
                <a:ea typeface="Calibri" pitchFamily="34" charset="-122"/>
                <a:cs typeface="Calibri" pitchFamily="34" charset="-120"/>
              </a:rPr>
              <a:t>Core track</a:t>
            </a:r>
            <a:endParaRPr lang="en-US" sz="1500" dirty="0"/>
          </a:p>
        </p:txBody>
      </p:sp>
      <p:sp>
        <p:nvSpPr>
          <p:cNvPr id="10" name="Text 7"/>
          <p:cNvSpPr txBox="1"/>
          <p:nvPr/>
        </p:nvSpPr>
        <p:spPr>
          <a:xfrm>
            <a:off x="868680" y="3520440"/>
            <a:ext cx="3108960" cy="2560320"/>
          </a:xfrm>
          <a:prstGeom prst="rect">
            <a:avLst/>
          </a:prstGeom>
          <a:noFill/>
          <a:ln/>
        </p:spPr>
        <p:txBody>
          <a:bodyPr wrap="square" lIns="0" tIns="0" rIns="0" bIns="0" rtlCol="0" anchor="t"/>
          <a:lstStyle/>
          <a:p>
            <a:pPr algn="l" marL="177800" indent="-177800">
              <a:lnSpc>
                <a:spcPct val="100000"/>
              </a:lnSpc>
              <a:spcAft>
                <a:spcPts val="800"/>
              </a:spcAft>
              <a:buSzPct val="100000"/>
              <a:buChar char="•"/>
            </a:pPr>
            <a:r>
              <a:rPr lang="en-US" altLang="en-US" sz="1400" dirty="0">
                <a:solidFill>
                  <a:srgbClr val="E4E6E2"/>
                </a:solidFill>
                <a:latin typeface="Calibri" pitchFamily="34" charset="0"/>
                <a:ea typeface="Calibri" pitchFamily="34" charset="-122"/>
                <a:cs typeface="Calibri" pitchFamily="34" charset="-120"/>
              </a:rPr>
              <a:t>Signed guardian consent before tools are used</a:t>
            </a:r>
            <a:endParaRPr lang="en-US" sz="1400" dirty="0"/>
          </a:p>
          <a:p>
            <a:pPr algn="l" marL="177800" indent="-177800">
              <a:lnSpc>
                <a:spcPct val="100000"/>
              </a:lnSpc>
              <a:spcAft>
                <a:spcPts val="800"/>
              </a:spcAft>
              <a:buSzPct val="100000"/>
              <a:buChar char="•"/>
            </a:pPr>
            <a:r>
              <a:rPr lang="en-US" altLang="en-US" sz="1400" dirty="0">
                <a:solidFill>
                  <a:srgbClr val="E4E6E2"/>
                </a:solidFill>
                <a:latin typeface="Calibri" pitchFamily="34" charset="0"/>
                <a:ea typeface="Calibri" pitchFamily="34" charset="-122"/>
                <a:cs typeface="Calibri" pitchFamily="34" charset="-120"/>
              </a:rPr>
              <a:t>Hands-on with tools that allow their age group</a:t>
            </a:r>
            <a:endParaRPr lang="en-US" sz="1400" dirty="0"/>
          </a:p>
          <a:p>
            <a:pPr algn="l" marL="177800" indent="-177800">
              <a:lnSpc>
                <a:spcPct val="100000"/>
              </a:lnSpc>
              <a:spcAft>
                <a:spcPts val="800"/>
              </a:spcAft>
              <a:buSzPct val="100000"/>
              <a:buChar char="•"/>
            </a:pPr>
            <a:r>
              <a:rPr lang="en-US" altLang="en-US" sz="1400" dirty="0">
                <a:solidFill>
                  <a:srgbClr val="E4E6E2"/>
                </a:solidFill>
                <a:latin typeface="Calibri" pitchFamily="34" charset="0"/>
                <a:ea typeface="Calibri" pitchFamily="34" charset="-122"/>
                <a:cs typeface="Calibri" pitchFamily="34" charset="-120"/>
              </a:rPr>
              <a:t>Trainer-led demos for 18+ tools (AI video, AI voice)</a:t>
            </a:r>
            <a:endParaRPr lang="en-US" sz="1400" dirty="0"/>
          </a:p>
          <a:p>
            <a:pPr algn="l" marL="177800" indent="-177800">
              <a:lnSpc>
                <a:spcPct val="100000"/>
              </a:lnSpc>
              <a:spcAft>
                <a:spcPts val="800"/>
              </a:spcAft>
              <a:buSzPct val="100000"/>
              <a:buChar char="•"/>
            </a:pPr>
            <a:r>
              <a:rPr lang="en-US" altLang="en-US" sz="1400" dirty="0">
                <a:solidFill>
                  <a:srgbClr val="E4E6E2"/>
                </a:solidFill>
                <a:latin typeface="Calibri" pitchFamily="34" charset="0"/>
                <a:ea typeface="Calibri" pitchFamily="34" charset="-122"/>
                <a:cs typeface="Calibri" pitchFamily="34" charset="-120"/>
              </a:rPr>
              <a:t>Real-client practice through program-arranged community partners</a:t>
            </a:r>
            <a:endParaRPr lang="en-US" sz="1400" dirty="0"/>
          </a:p>
        </p:txBody>
      </p:sp>
      <p:sp>
        <p:nvSpPr>
          <p:cNvPr id="11" name="Shape 8"/>
          <p:cNvSpPr/>
          <p:nvPr/>
        </p:nvSpPr>
        <p:spPr>
          <a:xfrm>
            <a:off x="4480560" y="1874520"/>
            <a:ext cx="3703320" cy="4343400"/>
          </a:xfrm>
          <a:prstGeom prst="roundRect">
            <a:avLst>
              <a:gd name="adj" fmla="val 2963"/>
            </a:avLst>
          </a:prstGeom>
          <a:solidFill>
            <a:srgbClr val="EAF5E8"/>
          </a:solidFill>
          <a:ln w="12700">
            <a:solidFill>
              <a:srgbClr val="EAF5E8"/>
            </a:solidFill>
            <a:prstDash val="solid"/>
          </a:ln>
        </p:spPr>
      </p:sp>
      <p:sp>
        <p:nvSpPr>
          <p:cNvPr id="12" name="Text 9"/>
          <p:cNvSpPr txBox="1"/>
          <p:nvPr/>
        </p:nvSpPr>
        <p:spPr>
          <a:xfrm>
            <a:off x="4800600" y="2148840"/>
            <a:ext cx="3108960" cy="822960"/>
          </a:xfrm>
          <a:prstGeom prst="rect">
            <a:avLst/>
          </a:prstGeom>
          <a:noFill/>
          <a:ln/>
        </p:spPr>
        <p:txBody>
          <a:bodyPr wrap="square" lIns="0" tIns="0" rIns="0" bIns="0" rtlCol="0" anchor="t"/>
          <a:lstStyle/>
          <a:p>
            <a:pPr algn="l" indent="0" marL="0">
              <a:lnSpc>
                <a:spcPct val="95000"/>
              </a:lnSpc>
              <a:buNone/>
            </a:pPr>
            <a:r>
              <a:rPr lang="en-US" altLang="en-US" sz="4600" b="1" dirty="0">
                <a:solidFill>
                  <a:srgbClr val="1A1A1A"/>
                </a:solidFill>
                <a:latin typeface="Cairo" pitchFamily="34" charset="0"/>
                <a:ea typeface="Cairo" pitchFamily="34" charset="-122"/>
                <a:cs typeface="Cairo" pitchFamily="34" charset="-120"/>
              </a:rPr>
              <a:t>18–19</a:t>
            </a:r>
            <a:endParaRPr lang="en-US" sz="4600" dirty="0"/>
          </a:p>
        </p:txBody>
      </p:sp>
      <p:sp>
        <p:nvSpPr>
          <p:cNvPr id="13" name="Text 10"/>
          <p:cNvSpPr txBox="1"/>
          <p:nvPr/>
        </p:nvSpPr>
        <p:spPr>
          <a:xfrm>
            <a:off x="4800600" y="2971800"/>
            <a:ext cx="3108960" cy="365760"/>
          </a:xfrm>
          <a:prstGeom prst="rect">
            <a:avLst/>
          </a:prstGeom>
          <a:noFill/>
          <a:ln/>
        </p:spPr>
        <p:txBody>
          <a:bodyPr wrap="square" lIns="0" tIns="0" rIns="0" bIns="0" rtlCol="0" anchor="t"/>
          <a:lstStyle/>
          <a:p>
            <a:pPr algn="l" indent="0" marL="0">
              <a:lnSpc>
                <a:spcPct val="95000"/>
              </a:lnSpc>
              <a:buNone/>
            </a:pPr>
            <a:r>
              <a:rPr lang="en-US" altLang="en-US" sz="1500" b="1" dirty="0">
                <a:solidFill>
                  <a:srgbClr val="3C3E3B"/>
                </a:solidFill>
                <a:latin typeface="Calibri" pitchFamily="34" charset="0"/>
                <a:ea typeface="Calibri" pitchFamily="34" charset="-122"/>
                <a:cs typeface="Calibri" pitchFamily="34" charset="-120"/>
              </a:rPr>
              <a:t>Core + 18+ track</a:t>
            </a:r>
            <a:endParaRPr lang="en-US" sz="1500" dirty="0"/>
          </a:p>
        </p:txBody>
      </p:sp>
      <p:sp>
        <p:nvSpPr>
          <p:cNvPr id="14" name="Text 11"/>
          <p:cNvSpPr txBox="1"/>
          <p:nvPr/>
        </p:nvSpPr>
        <p:spPr>
          <a:xfrm>
            <a:off x="4800600" y="3520440"/>
            <a:ext cx="3108960" cy="2560320"/>
          </a:xfrm>
          <a:prstGeom prst="rect">
            <a:avLst/>
          </a:prstGeom>
          <a:noFill/>
          <a:ln/>
        </p:spPr>
        <p:txBody>
          <a:bodyPr wrap="square" lIns="0" tIns="0" rIns="0" bIns="0" rtlCol="0" anchor="t"/>
          <a:lstStyle/>
          <a:p>
            <a:pPr algn="l" marL="177800" indent="-177800">
              <a:lnSpc>
                <a:spcPct val="100000"/>
              </a:lnSpc>
              <a:spcAft>
                <a:spcPts val="800"/>
              </a:spcAft>
              <a:buSzPct val="100000"/>
              <a:buChar char="•"/>
            </a:pPr>
            <a:r>
              <a:rPr lang="en-US" altLang="en-US" sz="1400" dirty="0">
                <a:solidFill>
                  <a:srgbClr val="1A1A1A"/>
                </a:solidFill>
                <a:latin typeface="Calibri" pitchFamily="34" charset="0"/>
                <a:ea typeface="Calibri" pitchFamily="34" charset="-122"/>
                <a:cs typeface="Calibri" pitchFamily="34" charset="-120"/>
              </a:rPr>
              <a:t>Same curriculum, same hours</a:t>
            </a:r>
            <a:endParaRPr lang="en-US" sz="1400" dirty="0"/>
          </a:p>
          <a:p>
            <a:pPr algn="l" marL="177800" indent="-177800">
              <a:lnSpc>
                <a:spcPct val="100000"/>
              </a:lnSpc>
              <a:spcAft>
                <a:spcPts val="800"/>
              </a:spcAft>
              <a:buSzPct val="100000"/>
              <a:buChar char="•"/>
            </a:pPr>
            <a:r>
              <a:rPr lang="en-US" altLang="en-US" sz="1400" dirty="0">
                <a:solidFill>
                  <a:srgbClr val="1A1A1A"/>
                </a:solidFill>
                <a:latin typeface="Calibri" pitchFamily="34" charset="0"/>
                <a:ea typeface="Calibri" pitchFamily="34" charset="-122"/>
                <a:cs typeface="Calibri" pitchFamily="34" charset="-120"/>
              </a:rPr>
              <a:t>Hands-on with 18+ tools where the program provides access</a:t>
            </a:r>
            <a:endParaRPr lang="en-US" sz="1400" dirty="0"/>
          </a:p>
          <a:p>
            <a:pPr algn="l" marL="177800" indent="-177800">
              <a:lnSpc>
                <a:spcPct val="100000"/>
              </a:lnSpc>
              <a:spcAft>
                <a:spcPts val="800"/>
              </a:spcAft>
              <a:buSzPct val="100000"/>
              <a:buChar char="•"/>
            </a:pPr>
            <a:r>
              <a:rPr lang="en-US" altLang="en-US" sz="1400" dirty="0">
                <a:solidFill>
                  <a:srgbClr val="1A1A1A"/>
                </a:solidFill>
                <a:latin typeface="Calibri" pitchFamily="34" charset="0"/>
                <a:ea typeface="Calibri" pitchFamily="34" charset="-122"/>
                <a:cs typeface="Calibri" pitchFamily="34" charset="-120"/>
              </a:rPr>
              <a:t>Optional deeper practice with AI video and voice</a:t>
            </a:r>
            <a:endParaRPr lang="en-US" sz="1400" dirty="0"/>
          </a:p>
          <a:p>
            <a:pPr algn="l" marL="177800" indent="-177800">
              <a:lnSpc>
                <a:spcPct val="100000"/>
              </a:lnSpc>
              <a:spcAft>
                <a:spcPts val="800"/>
              </a:spcAft>
              <a:buSzPct val="100000"/>
              <a:buChar char="•"/>
            </a:pPr>
            <a:r>
              <a:rPr lang="en-US" altLang="en-US" sz="1400" dirty="0">
                <a:solidFill>
                  <a:srgbClr val="1A1A1A"/>
                </a:solidFill>
                <a:latin typeface="Calibri" pitchFamily="34" charset="0"/>
                <a:ea typeface="Calibri" pitchFamily="34" charset="-122"/>
                <a:cs typeface="Calibri" pitchFamily="34" charset="-120"/>
              </a:rPr>
              <a:t>Guidance on opening their own freelance profiles</a:t>
            </a:r>
            <a:endParaRPr lang="en-US" sz="1400" dirty="0"/>
          </a:p>
        </p:txBody>
      </p:sp>
      <p:sp>
        <p:nvSpPr>
          <p:cNvPr id="15" name="Shape 12"/>
          <p:cNvSpPr/>
          <p:nvPr/>
        </p:nvSpPr>
        <p:spPr>
          <a:xfrm>
            <a:off x="8503920" y="1965960"/>
            <a:ext cx="566928" cy="566928"/>
          </a:xfrm>
          <a:prstGeom prst="ellipse">
            <a:avLst/>
          </a:prstGeom>
          <a:solidFill>
            <a:srgbClr val="4DB449"/>
          </a:solidFill>
          <a:ln w="6350">
            <a:solidFill>
              <a:srgbClr val="4DB449"/>
            </a:solidFill>
            <a:prstDash val="solid"/>
          </a:ln>
        </p:spPr>
      </p:sp>
      <p:pic>
        <p:nvPicPr>
          <p:cNvPr id="16" name="Image 1" descr="preencoded.png">    </p:cNvPr>
          <p:cNvPicPr>
            <a:picLocks noChangeAspect="1"/>
          </p:cNvPicPr>
          <p:nvPr/>
        </p:nvPicPr>
        <p:blipFill>
          <a:blip r:embed="rId2"/>
          <a:stretch>
            <a:fillRect/>
          </a:stretch>
        </p:blipFill>
        <p:spPr>
          <a:xfrm>
            <a:off x="8631936" y="2093976"/>
            <a:ext cx="310896" cy="310896"/>
          </a:xfrm>
          <a:prstGeom prst="rect">
            <a:avLst/>
          </a:prstGeom>
        </p:spPr>
      </p:pic>
      <p:sp>
        <p:nvSpPr>
          <p:cNvPr id="17" name="Text 13"/>
          <p:cNvSpPr txBox="1"/>
          <p:nvPr/>
        </p:nvSpPr>
        <p:spPr>
          <a:xfrm>
            <a:off x="9235440" y="1947672"/>
            <a:ext cx="2404872" cy="320040"/>
          </a:xfrm>
          <a:prstGeom prst="rect">
            <a:avLst/>
          </a:prstGeom>
          <a:noFill/>
          <a:ln/>
        </p:spPr>
        <p:txBody>
          <a:bodyPr wrap="square" lIns="0" tIns="0" rIns="0" bIns="0" rtlCol="0" anchor="t"/>
          <a:lstStyle/>
          <a:p>
            <a:pPr algn="l" indent="0" marL="0">
              <a:lnSpc>
                <a:spcPct val="95000"/>
              </a:lnSpc>
              <a:buNone/>
            </a:pPr>
            <a:r>
              <a:rPr lang="en-US" altLang="en-US" sz="1500" b="1" dirty="0">
                <a:solidFill>
                  <a:srgbClr val="1A1A1A"/>
                </a:solidFill>
                <a:latin typeface="Cairo" pitchFamily="34" charset="0"/>
                <a:ea typeface="Cairo" pitchFamily="34" charset="-122"/>
                <a:cs typeface="Cairo" pitchFamily="34" charset="-120"/>
              </a:rPr>
              <a:t>Prior experience</a:t>
            </a:r>
            <a:endParaRPr lang="en-US" sz="1500" dirty="0"/>
          </a:p>
        </p:txBody>
      </p:sp>
      <p:sp>
        <p:nvSpPr>
          <p:cNvPr id="18" name="Text 14"/>
          <p:cNvSpPr txBox="1"/>
          <p:nvPr/>
        </p:nvSpPr>
        <p:spPr>
          <a:xfrm>
            <a:off x="9235440" y="2295144"/>
            <a:ext cx="2404872" cy="914400"/>
          </a:xfrm>
          <a:prstGeom prst="rect">
            <a:avLst/>
          </a:prstGeom>
          <a:noFill/>
          <a:ln/>
        </p:spPr>
        <p:txBody>
          <a:bodyPr wrap="square" lIns="0" tIns="0" rIns="0" bIns="0" rtlCol="0" anchor="t"/>
          <a:lstStyle/>
          <a:p>
            <a:pPr algn="l" indent="0" marL="0">
              <a:lnSpc>
                <a:spcPct val="95000"/>
              </a:lnSpc>
              <a:buNone/>
            </a:pPr>
            <a:r>
              <a:rPr lang="en-US" altLang="en-US" sz="1400" dirty="0">
                <a:solidFill>
                  <a:srgbClr val="3C3E3B"/>
                </a:solidFill>
                <a:latin typeface="Calibri" pitchFamily="34" charset="0"/>
                <a:ea typeface="Calibri" pitchFamily="34" charset="-122"/>
                <a:cs typeface="Calibri" pitchFamily="34" charset="-120"/>
              </a:rPr>
              <a:t>None. A laptop, curiosity and the willingness to try</a:t>
            </a:r>
            <a:endParaRPr lang="en-US" sz="1400" dirty="0"/>
          </a:p>
        </p:txBody>
      </p:sp>
      <p:sp>
        <p:nvSpPr>
          <p:cNvPr id="19" name="Shape 15"/>
          <p:cNvSpPr/>
          <p:nvPr/>
        </p:nvSpPr>
        <p:spPr>
          <a:xfrm>
            <a:off x="8503920" y="3429000"/>
            <a:ext cx="566928" cy="566928"/>
          </a:xfrm>
          <a:prstGeom prst="ellipse">
            <a:avLst/>
          </a:prstGeom>
          <a:solidFill>
            <a:srgbClr val="4DB449"/>
          </a:solidFill>
          <a:ln w="6350">
            <a:solidFill>
              <a:srgbClr val="4DB449"/>
            </a:solidFill>
            <a:prstDash val="solid"/>
          </a:ln>
        </p:spPr>
      </p:sp>
      <p:pic>
        <p:nvPicPr>
          <p:cNvPr id="20" name="Image 2" descr="preencoded.png">    </p:cNvPr>
          <p:cNvPicPr>
            <a:picLocks noChangeAspect="1"/>
          </p:cNvPicPr>
          <p:nvPr/>
        </p:nvPicPr>
        <p:blipFill>
          <a:blip r:embed="rId3"/>
          <a:stretch>
            <a:fillRect/>
          </a:stretch>
        </p:blipFill>
        <p:spPr>
          <a:xfrm>
            <a:off x="8631936" y="3557016"/>
            <a:ext cx="310896" cy="310896"/>
          </a:xfrm>
          <a:prstGeom prst="rect">
            <a:avLst/>
          </a:prstGeom>
        </p:spPr>
      </p:pic>
      <p:sp>
        <p:nvSpPr>
          <p:cNvPr id="21" name="Text 16"/>
          <p:cNvSpPr txBox="1"/>
          <p:nvPr/>
        </p:nvSpPr>
        <p:spPr>
          <a:xfrm>
            <a:off x="9235440" y="3410712"/>
            <a:ext cx="2404872" cy="320040"/>
          </a:xfrm>
          <a:prstGeom prst="rect">
            <a:avLst/>
          </a:prstGeom>
          <a:noFill/>
          <a:ln/>
        </p:spPr>
        <p:txBody>
          <a:bodyPr wrap="square" lIns="0" tIns="0" rIns="0" bIns="0" rtlCol="0" anchor="t"/>
          <a:lstStyle/>
          <a:p>
            <a:pPr algn="l" indent="0" marL="0">
              <a:lnSpc>
                <a:spcPct val="95000"/>
              </a:lnSpc>
              <a:buNone/>
            </a:pPr>
            <a:r>
              <a:rPr lang="en-US" altLang="en-US" sz="1500" b="1" dirty="0">
                <a:solidFill>
                  <a:srgbClr val="1A1A1A"/>
                </a:solidFill>
                <a:latin typeface="Cairo" pitchFamily="34" charset="0"/>
                <a:ea typeface="Cairo" pitchFamily="34" charset="-122"/>
                <a:cs typeface="Cairo" pitchFamily="34" charset="-120"/>
              </a:rPr>
              <a:t>Cohort size</a:t>
            </a:r>
            <a:endParaRPr lang="en-US" sz="1500" dirty="0"/>
          </a:p>
        </p:txBody>
      </p:sp>
      <p:sp>
        <p:nvSpPr>
          <p:cNvPr id="22" name="Text 17"/>
          <p:cNvSpPr txBox="1"/>
          <p:nvPr/>
        </p:nvSpPr>
        <p:spPr>
          <a:xfrm>
            <a:off x="9235440" y="3758184"/>
            <a:ext cx="2404872" cy="914400"/>
          </a:xfrm>
          <a:prstGeom prst="rect">
            <a:avLst/>
          </a:prstGeom>
          <a:noFill/>
          <a:ln/>
        </p:spPr>
        <p:txBody>
          <a:bodyPr wrap="square" lIns="0" tIns="0" rIns="0" bIns="0" rtlCol="0" anchor="t"/>
          <a:lstStyle/>
          <a:p>
            <a:pPr algn="l" indent="0" marL="0">
              <a:lnSpc>
                <a:spcPct val="95000"/>
              </a:lnSpc>
              <a:buNone/>
            </a:pPr>
            <a:r>
              <a:rPr lang="en-US" altLang="en-US" sz="1400" dirty="0">
                <a:solidFill>
                  <a:srgbClr val="3C3E3B"/>
                </a:solidFill>
                <a:latin typeface="Calibri" pitchFamily="34" charset="0"/>
                <a:ea typeface="Calibri" pitchFamily="34" charset="-122"/>
                <a:cs typeface="Calibri" pitchFamily="34" charset="-120"/>
              </a:rPr>
              <a:t>20 students (Proposed)</a:t>
            </a:r>
            <a:endParaRPr lang="en-US" sz="1400" dirty="0"/>
          </a:p>
        </p:txBody>
      </p:sp>
      <p:sp>
        <p:nvSpPr>
          <p:cNvPr id="23" name="Shape 18"/>
          <p:cNvSpPr/>
          <p:nvPr/>
        </p:nvSpPr>
        <p:spPr>
          <a:xfrm>
            <a:off x="8503920" y="4892040"/>
            <a:ext cx="566928" cy="566928"/>
          </a:xfrm>
          <a:prstGeom prst="ellipse">
            <a:avLst/>
          </a:prstGeom>
          <a:solidFill>
            <a:srgbClr val="4DB449"/>
          </a:solidFill>
          <a:ln w="6350">
            <a:solidFill>
              <a:srgbClr val="4DB449"/>
            </a:solidFill>
            <a:prstDash val="solid"/>
          </a:ln>
        </p:spPr>
      </p:sp>
      <p:pic>
        <p:nvPicPr>
          <p:cNvPr id="24" name="Image 3" descr="preencoded.png">    </p:cNvPr>
          <p:cNvPicPr>
            <a:picLocks noChangeAspect="1"/>
          </p:cNvPicPr>
          <p:nvPr/>
        </p:nvPicPr>
        <p:blipFill>
          <a:blip r:embed="rId4"/>
          <a:stretch>
            <a:fillRect/>
          </a:stretch>
        </p:blipFill>
        <p:spPr>
          <a:xfrm>
            <a:off x="8631936" y="5020056"/>
            <a:ext cx="310896" cy="310896"/>
          </a:xfrm>
          <a:prstGeom prst="rect">
            <a:avLst/>
          </a:prstGeom>
        </p:spPr>
      </p:pic>
      <p:sp>
        <p:nvSpPr>
          <p:cNvPr id="25" name="Text 19"/>
          <p:cNvSpPr txBox="1"/>
          <p:nvPr/>
        </p:nvSpPr>
        <p:spPr>
          <a:xfrm>
            <a:off x="9235440" y="4873752"/>
            <a:ext cx="2404872" cy="320040"/>
          </a:xfrm>
          <a:prstGeom prst="rect">
            <a:avLst/>
          </a:prstGeom>
          <a:noFill/>
          <a:ln/>
        </p:spPr>
        <p:txBody>
          <a:bodyPr wrap="square" lIns="0" tIns="0" rIns="0" bIns="0" rtlCol="0" anchor="t"/>
          <a:lstStyle/>
          <a:p>
            <a:pPr algn="l" indent="0" marL="0">
              <a:lnSpc>
                <a:spcPct val="95000"/>
              </a:lnSpc>
              <a:buNone/>
            </a:pPr>
            <a:r>
              <a:rPr lang="en-US" altLang="en-US" sz="1500" b="1" dirty="0">
                <a:solidFill>
                  <a:srgbClr val="1A1A1A"/>
                </a:solidFill>
                <a:latin typeface="Cairo" pitchFamily="34" charset="0"/>
                <a:ea typeface="Cairo" pitchFamily="34" charset="-122"/>
                <a:cs typeface="Cairo" pitchFamily="34" charset="-120"/>
              </a:rPr>
              <a:t>Language</a:t>
            </a:r>
            <a:endParaRPr lang="en-US" sz="1500" dirty="0"/>
          </a:p>
        </p:txBody>
      </p:sp>
      <p:sp>
        <p:nvSpPr>
          <p:cNvPr id="26" name="Text 20"/>
          <p:cNvSpPr txBox="1"/>
          <p:nvPr/>
        </p:nvSpPr>
        <p:spPr>
          <a:xfrm>
            <a:off x="9235440" y="5221224"/>
            <a:ext cx="2404872" cy="914400"/>
          </a:xfrm>
          <a:prstGeom prst="rect">
            <a:avLst/>
          </a:prstGeom>
          <a:noFill/>
          <a:ln/>
        </p:spPr>
        <p:txBody>
          <a:bodyPr wrap="square" lIns="0" tIns="0" rIns="0" bIns="0" rtlCol="0" anchor="t"/>
          <a:lstStyle/>
          <a:p>
            <a:pPr algn="l" indent="0" marL="0">
              <a:lnSpc>
                <a:spcPct val="95000"/>
              </a:lnSpc>
              <a:buNone/>
            </a:pPr>
            <a:r>
              <a:rPr lang="en-US" altLang="en-US" sz="1400" dirty="0">
                <a:solidFill>
                  <a:srgbClr val="3C3E3B"/>
                </a:solidFill>
                <a:latin typeface="Calibri" pitchFamily="34" charset="0"/>
                <a:ea typeface="Calibri" pitchFamily="34" charset="-122"/>
                <a:cs typeface="Calibri" pitchFamily="34" charset="-120"/>
              </a:rPr>
              <a:t>Arabic delivery (Proposed); most tool interfaces are in English</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6446520"/>
            <a:ext cx="6400800" cy="228600"/>
          </a:xfrm>
          <a:prstGeom prst="rect">
            <a:avLst/>
          </a:prstGeom>
          <a:noFill/>
          <a:ln/>
        </p:spPr>
        <p:txBody>
          <a:bodyPr wrap="square" lIns="0" tIns="0" rIns="0" bIns="0" rtlCol="0" anchor="t"/>
          <a:lstStyle/>
          <a:p>
            <a:pPr algn="l" indent="0" marL="0">
              <a:lnSpc>
                <a:spcPct val="95000"/>
              </a:lnSpc>
              <a:buNone/>
            </a:pPr>
            <a:r>
              <a:rPr lang="en-US" altLang="en-US" sz="900" dirty="0">
                <a:solidFill>
                  <a:srgbClr val="8A8C88"/>
                </a:solidFill>
                <a:latin typeface="Calibri" pitchFamily="34" charset="0"/>
                <a:ea typeface="Calibri" pitchFamily="34" charset="-122"/>
                <a:cs typeface="Calibri" pitchFamily="34" charset="-120"/>
              </a:rPr>
              <a:t>AI Creators Program · Training Concept Note</a:t>
            </a:r>
            <a:endParaRPr lang="en-US" sz="900" dirty="0"/>
          </a:p>
        </p:txBody>
      </p:sp>
      <p:sp>
        <p:nvSpPr>
          <p:cNvPr id="3" name="Text 1"/>
          <p:cNvSpPr txBox="1"/>
          <p:nvPr/>
        </p:nvSpPr>
        <p:spPr>
          <a:xfrm>
            <a:off x="11094415" y="6446520"/>
            <a:ext cx="548640" cy="228600"/>
          </a:xfrm>
          <a:prstGeom prst="rect">
            <a:avLst/>
          </a:prstGeom>
          <a:noFill/>
          <a:ln/>
        </p:spPr>
        <p:txBody>
          <a:bodyPr wrap="square" lIns="0" tIns="0" rIns="0" bIns="0" rtlCol="0" anchor="t"/>
          <a:lstStyle/>
          <a:p>
            <a:pPr algn="r" indent="0" marL="0">
              <a:lnSpc>
                <a:spcPct val="95000"/>
              </a:lnSpc>
              <a:buNone/>
            </a:pPr>
            <a:r>
              <a:rPr lang="en-US" altLang="en-US" sz="900" dirty="0">
                <a:solidFill>
                  <a:srgbClr val="8A8C88"/>
                </a:solidFill>
                <a:latin typeface="Calibri" pitchFamily="34" charset="0"/>
                <a:ea typeface="Calibri" pitchFamily="34" charset="-122"/>
                <a:cs typeface="Calibri" pitchFamily="34" charset="-120"/>
              </a:rPr>
              <a:t>4</a:t>
            </a:r>
            <a:endParaRPr lang="en-US" sz="900" dirty="0"/>
          </a:p>
        </p:txBody>
      </p:sp>
      <p:pic>
        <p:nvPicPr>
          <p:cNvPr id="4" name="Image 0" descr="/tmp/claude-0/-home-user-Ahmadhj4/8033014c-23ac-596c-be21-c24cf3e8b75e/scratchpad/build/assets/green-circle-logo.png">    </p:cNvPr>
          <p:cNvPicPr>
            <a:picLocks noChangeAspect="1"/>
          </p:cNvPicPr>
          <p:nvPr/>
        </p:nvPicPr>
        <p:blipFill>
          <a:blip r:embed="rId1"/>
          <a:stretch>
            <a:fillRect/>
          </a:stretch>
        </p:blipFill>
        <p:spPr>
          <a:xfrm>
            <a:off x="10225735" y="384048"/>
            <a:ext cx="1417320" cy="503691"/>
          </a:xfrm>
          <a:prstGeom prst="rect">
            <a:avLst/>
          </a:prstGeom>
        </p:spPr>
      </p:pic>
      <p:sp>
        <p:nvSpPr>
          <p:cNvPr id="5" name="Text 2"/>
          <p:cNvSpPr txBox="1"/>
          <p:nvPr/>
        </p:nvSpPr>
        <p:spPr>
          <a:xfrm>
            <a:off x="548640" y="384048"/>
            <a:ext cx="8961120" cy="274320"/>
          </a:xfrm>
          <a:prstGeom prst="rect">
            <a:avLst/>
          </a:prstGeom>
          <a:noFill/>
          <a:ln/>
        </p:spPr>
        <p:txBody>
          <a:bodyPr wrap="square" lIns="0" tIns="0" rIns="0" bIns="0" rtlCol="0" anchor="t"/>
          <a:lstStyle/>
          <a:p>
            <a:pPr algn="l" indent="0" marL="0">
              <a:lnSpc>
                <a:spcPct val="95000"/>
              </a:lnSpc>
              <a:buNone/>
            </a:pPr>
            <a:r>
              <a:rPr lang="en-US" altLang="en-US" sz="1100" b="1" spc="200" kern="0" dirty="0">
                <a:solidFill>
                  <a:srgbClr val="A6D04B"/>
                </a:solidFill>
                <a:latin typeface="Calibri" pitchFamily="34" charset="0"/>
                <a:ea typeface="Calibri" pitchFamily="34" charset="-122"/>
                <a:cs typeface="Calibri" pitchFamily="34" charset="-120"/>
              </a:rPr>
              <a:t>03 · PROGRAM AT A GLANCE</a:t>
            </a:r>
            <a:endParaRPr lang="en-US" sz="1100" dirty="0"/>
          </a:p>
        </p:txBody>
      </p:sp>
      <p:sp>
        <p:nvSpPr>
          <p:cNvPr id="6" name="Text 3"/>
          <p:cNvSpPr txBox="1"/>
          <p:nvPr/>
        </p:nvSpPr>
        <p:spPr>
          <a:xfrm>
            <a:off x="548640" y="676656"/>
            <a:ext cx="9418320" cy="914400"/>
          </a:xfrm>
          <a:prstGeom prst="rect">
            <a:avLst/>
          </a:prstGeom>
          <a:noFill/>
          <a:ln/>
        </p:spPr>
        <p:txBody>
          <a:bodyPr wrap="square" lIns="0" tIns="0" rIns="0" bIns="0" rtlCol="0" anchor="t"/>
          <a:lstStyle/>
          <a:p>
            <a:pPr algn="l" indent="0" marL="0">
              <a:lnSpc>
                <a:spcPct val="90000"/>
              </a:lnSpc>
              <a:buNone/>
            </a:pPr>
            <a:r>
              <a:rPr lang="en-US" altLang="en-US" sz="2800" b="1" dirty="0">
                <a:solidFill>
                  <a:srgbClr val="FFFFFF"/>
                </a:solidFill>
                <a:latin typeface="Cairo" pitchFamily="34" charset="0"/>
                <a:ea typeface="Cairo" pitchFamily="34" charset="-122"/>
                <a:cs typeface="Cairo" pitchFamily="34" charset="-120"/>
              </a:rPr>
              <a:t>Short enough to finish in a term. Long enough to build real skills</a:t>
            </a:r>
            <a:endParaRPr lang="en-US" sz="2800" dirty="0"/>
          </a:p>
        </p:txBody>
      </p:sp>
      <p:sp>
        <p:nvSpPr>
          <p:cNvPr id="7" name="Text 4"/>
          <p:cNvSpPr txBox="1"/>
          <p:nvPr/>
        </p:nvSpPr>
        <p:spPr>
          <a:xfrm>
            <a:off x="548640" y="2011680"/>
            <a:ext cx="3474720" cy="1051560"/>
          </a:xfrm>
          <a:prstGeom prst="rect">
            <a:avLst/>
          </a:prstGeom>
          <a:noFill/>
          <a:ln/>
        </p:spPr>
        <p:txBody>
          <a:bodyPr wrap="square" lIns="0" tIns="0" rIns="0" bIns="0" rtlCol="0" anchor="b"/>
          <a:lstStyle/>
          <a:p>
            <a:pPr algn="l" indent="0" marL="0">
              <a:lnSpc>
                <a:spcPct val="95000"/>
              </a:lnSpc>
              <a:buNone/>
            </a:pPr>
            <a:r>
              <a:rPr lang="en-US" altLang="en-US" sz="6400" b="1" dirty="0">
                <a:solidFill>
                  <a:srgbClr val="A6D04B"/>
                </a:solidFill>
                <a:latin typeface="Cairo" pitchFamily="34" charset="0"/>
                <a:ea typeface="Cairo" pitchFamily="34" charset="-122"/>
                <a:cs typeface="Cairo" pitchFamily="34" charset="-120"/>
              </a:rPr>
              <a:t>96</a:t>
            </a:r>
            <a:endParaRPr lang="en-US" sz="6400" dirty="0"/>
          </a:p>
        </p:txBody>
      </p:sp>
      <p:sp>
        <p:nvSpPr>
          <p:cNvPr id="8" name="Text 5"/>
          <p:cNvSpPr txBox="1"/>
          <p:nvPr/>
        </p:nvSpPr>
        <p:spPr>
          <a:xfrm>
            <a:off x="548640" y="3108960"/>
            <a:ext cx="3474720" cy="411480"/>
          </a:xfrm>
          <a:prstGeom prst="rect">
            <a:avLst/>
          </a:prstGeom>
          <a:noFill/>
          <a:ln/>
        </p:spPr>
        <p:txBody>
          <a:bodyPr wrap="square" lIns="0" tIns="0" rIns="0" bIns="0" rtlCol="0" anchor="t"/>
          <a:lstStyle/>
          <a:p>
            <a:pPr algn="l" indent="0" marL="0">
              <a:lnSpc>
                <a:spcPct val="95000"/>
              </a:lnSpc>
              <a:buNone/>
            </a:pPr>
            <a:r>
              <a:rPr lang="en-US" altLang="en-US" sz="1700" dirty="0">
                <a:solidFill>
                  <a:srgbClr val="FFFFFF"/>
                </a:solidFill>
                <a:latin typeface="Calibri" pitchFamily="34" charset="0"/>
                <a:ea typeface="Calibri" pitchFamily="34" charset="-122"/>
                <a:cs typeface="Calibri" pitchFamily="34" charset="-120"/>
              </a:rPr>
              <a:t>training hours</a:t>
            </a:r>
            <a:endParaRPr lang="en-US" sz="1700" dirty="0"/>
          </a:p>
        </p:txBody>
      </p:sp>
      <p:sp>
        <p:nvSpPr>
          <p:cNvPr id="9" name="Text 6"/>
          <p:cNvSpPr txBox="1"/>
          <p:nvPr/>
        </p:nvSpPr>
        <p:spPr>
          <a:xfrm>
            <a:off x="4297680" y="2011680"/>
            <a:ext cx="3474720" cy="1051560"/>
          </a:xfrm>
          <a:prstGeom prst="rect">
            <a:avLst/>
          </a:prstGeom>
          <a:noFill/>
          <a:ln/>
        </p:spPr>
        <p:txBody>
          <a:bodyPr wrap="square" lIns="0" tIns="0" rIns="0" bIns="0" rtlCol="0" anchor="b"/>
          <a:lstStyle/>
          <a:p>
            <a:pPr algn="l" indent="0" marL="0">
              <a:lnSpc>
                <a:spcPct val="95000"/>
              </a:lnSpc>
              <a:buNone/>
            </a:pPr>
            <a:r>
              <a:rPr lang="en-US" altLang="en-US" sz="6400" b="1" dirty="0">
                <a:solidFill>
                  <a:srgbClr val="4DB449"/>
                </a:solidFill>
                <a:latin typeface="Cairo" pitchFamily="34" charset="0"/>
                <a:ea typeface="Cairo" pitchFamily="34" charset="-122"/>
                <a:cs typeface="Cairo" pitchFamily="34" charset="-120"/>
              </a:rPr>
              <a:t>32</a:t>
            </a:r>
            <a:endParaRPr lang="en-US" sz="6400" dirty="0"/>
          </a:p>
        </p:txBody>
      </p:sp>
      <p:sp>
        <p:nvSpPr>
          <p:cNvPr id="10" name="Text 7"/>
          <p:cNvSpPr txBox="1"/>
          <p:nvPr/>
        </p:nvSpPr>
        <p:spPr>
          <a:xfrm>
            <a:off x="4297680" y="3108960"/>
            <a:ext cx="3474720" cy="411480"/>
          </a:xfrm>
          <a:prstGeom prst="rect">
            <a:avLst/>
          </a:prstGeom>
          <a:noFill/>
          <a:ln/>
        </p:spPr>
        <p:txBody>
          <a:bodyPr wrap="square" lIns="0" tIns="0" rIns="0" bIns="0" rtlCol="0" anchor="t"/>
          <a:lstStyle/>
          <a:p>
            <a:pPr algn="l" indent="0" marL="0">
              <a:lnSpc>
                <a:spcPct val="95000"/>
              </a:lnSpc>
              <a:buNone/>
            </a:pPr>
            <a:r>
              <a:rPr lang="en-US" altLang="en-US" sz="1700" dirty="0">
                <a:solidFill>
                  <a:srgbClr val="FFFFFF"/>
                </a:solidFill>
                <a:latin typeface="Calibri" pitchFamily="34" charset="0"/>
                <a:ea typeface="Calibri" pitchFamily="34" charset="-122"/>
                <a:cs typeface="Calibri" pitchFamily="34" charset="-120"/>
              </a:rPr>
              <a:t>sessions of 3 hours</a:t>
            </a:r>
            <a:endParaRPr lang="en-US" sz="1700" dirty="0"/>
          </a:p>
        </p:txBody>
      </p:sp>
      <p:sp>
        <p:nvSpPr>
          <p:cNvPr id="11" name="Text 8"/>
          <p:cNvSpPr txBox="1"/>
          <p:nvPr/>
        </p:nvSpPr>
        <p:spPr>
          <a:xfrm>
            <a:off x="8046720" y="2011680"/>
            <a:ext cx="3474720" cy="1051560"/>
          </a:xfrm>
          <a:prstGeom prst="rect">
            <a:avLst/>
          </a:prstGeom>
          <a:noFill/>
          <a:ln/>
        </p:spPr>
        <p:txBody>
          <a:bodyPr wrap="square" lIns="0" tIns="0" rIns="0" bIns="0" rtlCol="0" anchor="b"/>
          <a:lstStyle/>
          <a:p>
            <a:pPr algn="l" indent="0" marL="0">
              <a:lnSpc>
                <a:spcPct val="95000"/>
              </a:lnSpc>
              <a:buNone/>
            </a:pPr>
            <a:r>
              <a:rPr lang="en-US" altLang="en-US" sz="6400" b="1" dirty="0">
                <a:solidFill>
                  <a:srgbClr val="A6D04B"/>
                </a:solidFill>
                <a:latin typeface="Cairo" pitchFamily="34" charset="0"/>
                <a:ea typeface="Cairo" pitchFamily="34" charset="-122"/>
                <a:cs typeface="Cairo" pitchFamily="34" charset="-120"/>
              </a:rPr>
              <a:t>11</a:t>
            </a:r>
            <a:endParaRPr lang="en-US" sz="6400" dirty="0"/>
          </a:p>
        </p:txBody>
      </p:sp>
      <p:sp>
        <p:nvSpPr>
          <p:cNvPr id="12" name="Text 9"/>
          <p:cNvSpPr txBox="1"/>
          <p:nvPr/>
        </p:nvSpPr>
        <p:spPr>
          <a:xfrm>
            <a:off x="8046720" y="3108960"/>
            <a:ext cx="3474720" cy="411480"/>
          </a:xfrm>
          <a:prstGeom prst="rect">
            <a:avLst/>
          </a:prstGeom>
          <a:noFill/>
          <a:ln/>
        </p:spPr>
        <p:txBody>
          <a:bodyPr wrap="square" lIns="0" tIns="0" rIns="0" bIns="0" rtlCol="0" anchor="t"/>
          <a:lstStyle/>
          <a:p>
            <a:pPr algn="l" indent="0" marL="0">
              <a:lnSpc>
                <a:spcPct val="95000"/>
              </a:lnSpc>
              <a:buNone/>
            </a:pPr>
            <a:r>
              <a:rPr lang="en-US" altLang="en-US" sz="1700" dirty="0">
                <a:solidFill>
                  <a:srgbClr val="FFFFFF"/>
                </a:solidFill>
                <a:latin typeface="Calibri" pitchFamily="34" charset="0"/>
                <a:ea typeface="Calibri" pitchFamily="34" charset="-122"/>
                <a:cs typeface="Calibri" pitchFamily="34" charset="-120"/>
              </a:rPr>
              <a:t>weeks + 1 buffer week</a:t>
            </a:r>
            <a:endParaRPr lang="en-US" sz="1700" dirty="0"/>
          </a:p>
        </p:txBody>
      </p:sp>
      <p:sp>
        <p:nvSpPr>
          <p:cNvPr id="13" name="Text 10"/>
          <p:cNvSpPr txBox="1"/>
          <p:nvPr/>
        </p:nvSpPr>
        <p:spPr>
          <a:xfrm>
            <a:off x="548640" y="3931920"/>
            <a:ext cx="3474720" cy="1051560"/>
          </a:xfrm>
          <a:prstGeom prst="rect">
            <a:avLst/>
          </a:prstGeom>
          <a:noFill/>
          <a:ln/>
        </p:spPr>
        <p:txBody>
          <a:bodyPr wrap="square" lIns="0" tIns="0" rIns="0" bIns="0" rtlCol="0" anchor="b"/>
          <a:lstStyle/>
          <a:p>
            <a:pPr algn="l" indent="0" marL="0">
              <a:lnSpc>
                <a:spcPct val="95000"/>
              </a:lnSpc>
              <a:buNone/>
            </a:pPr>
            <a:r>
              <a:rPr lang="en-US" altLang="en-US" sz="6400" b="1" dirty="0">
                <a:solidFill>
                  <a:srgbClr val="4DB449"/>
                </a:solidFill>
                <a:latin typeface="Cairo" pitchFamily="34" charset="0"/>
                <a:ea typeface="Cairo" pitchFamily="34" charset="-122"/>
                <a:cs typeface="Cairo" pitchFamily="34" charset="-120"/>
              </a:rPr>
              <a:t>70%</a:t>
            </a:r>
            <a:endParaRPr lang="en-US" sz="6400" dirty="0"/>
          </a:p>
        </p:txBody>
      </p:sp>
      <p:sp>
        <p:nvSpPr>
          <p:cNvPr id="14" name="Text 11"/>
          <p:cNvSpPr txBox="1"/>
          <p:nvPr/>
        </p:nvSpPr>
        <p:spPr>
          <a:xfrm>
            <a:off x="548640" y="5029200"/>
            <a:ext cx="3474720" cy="411480"/>
          </a:xfrm>
          <a:prstGeom prst="rect">
            <a:avLst/>
          </a:prstGeom>
          <a:noFill/>
          <a:ln/>
        </p:spPr>
        <p:txBody>
          <a:bodyPr wrap="square" lIns="0" tIns="0" rIns="0" bIns="0" rtlCol="0" anchor="t"/>
          <a:lstStyle/>
          <a:p>
            <a:pPr algn="l" indent="0" marL="0">
              <a:lnSpc>
                <a:spcPct val="95000"/>
              </a:lnSpc>
              <a:buNone/>
            </a:pPr>
            <a:r>
              <a:rPr lang="en-US" altLang="en-US" sz="1700" dirty="0">
                <a:solidFill>
                  <a:srgbClr val="FFFFFF"/>
                </a:solidFill>
                <a:latin typeface="Calibri" pitchFamily="34" charset="0"/>
                <a:ea typeface="Calibri" pitchFamily="34" charset="-122"/>
                <a:cs typeface="Calibri" pitchFamily="34" charset="-120"/>
              </a:rPr>
              <a:t>hands-on practice</a:t>
            </a:r>
            <a:endParaRPr lang="en-US" sz="1700" dirty="0"/>
          </a:p>
        </p:txBody>
      </p:sp>
      <p:sp>
        <p:nvSpPr>
          <p:cNvPr id="15" name="Text 12"/>
          <p:cNvSpPr txBox="1"/>
          <p:nvPr/>
        </p:nvSpPr>
        <p:spPr>
          <a:xfrm>
            <a:off x="4297680" y="3931920"/>
            <a:ext cx="3474720" cy="1051560"/>
          </a:xfrm>
          <a:prstGeom prst="rect">
            <a:avLst/>
          </a:prstGeom>
          <a:noFill/>
          <a:ln/>
        </p:spPr>
        <p:txBody>
          <a:bodyPr wrap="square" lIns="0" tIns="0" rIns="0" bIns="0" rtlCol="0" anchor="b"/>
          <a:lstStyle/>
          <a:p>
            <a:pPr algn="l" indent="0" marL="0">
              <a:lnSpc>
                <a:spcPct val="95000"/>
              </a:lnSpc>
              <a:buNone/>
            </a:pPr>
            <a:r>
              <a:rPr lang="en-US" altLang="en-US" sz="6400" b="1" dirty="0">
                <a:solidFill>
                  <a:srgbClr val="A6D04B"/>
                </a:solidFill>
                <a:latin typeface="Cairo" pitchFamily="34" charset="0"/>
                <a:ea typeface="Cairo" pitchFamily="34" charset="-122"/>
                <a:cs typeface="Cairo" pitchFamily="34" charset="-120"/>
              </a:rPr>
              <a:t>11</a:t>
            </a:r>
            <a:endParaRPr lang="en-US" sz="6400" dirty="0"/>
          </a:p>
        </p:txBody>
      </p:sp>
      <p:sp>
        <p:nvSpPr>
          <p:cNvPr id="16" name="Text 13"/>
          <p:cNvSpPr txBox="1"/>
          <p:nvPr/>
        </p:nvSpPr>
        <p:spPr>
          <a:xfrm>
            <a:off x="4297680" y="5029200"/>
            <a:ext cx="3474720" cy="411480"/>
          </a:xfrm>
          <a:prstGeom prst="rect">
            <a:avLst/>
          </a:prstGeom>
          <a:noFill/>
          <a:ln/>
        </p:spPr>
        <p:txBody>
          <a:bodyPr wrap="square" lIns="0" tIns="0" rIns="0" bIns="0" rtlCol="0" anchor="t"/>
          <a:lstStyle/>
          <a:p>
            <a:pPr algn="l" indent="0" marL="0">
              <a:lnSpc>
                <a:spcPct val="95000"/>
              </a:lnSpc>
              <a:buNone/>
            </a:pPr>
            <a:r>
              <a:rPr lang="en-US" altLang="en-US" sz="1700" dirty="0">
                <a:solidFill>
                  <a:srgbClr val="FFFFFF"/>
                </a:solidFill>
                <a:latin typeface="Calibri" pitchFamily="34" charset="0"/>
                <a:ea typeface="Calibri" pitchFamily="34" charset="-122"/>
                <a:cs typeface="Calibri" pitchFamily="34" charset="-120"/>
              </a:rPr>
              <a:t>modules</a:t>
            </a:r>
            <a:endParaRPr lang="en-US" sz="1700" dirty="0"/>
          </a:p>
        </p:txBody>
      </p:sp>
      <p:sp>
        <p:nvSpPr>
          <p:cNvPr id="17" name="Text 14"/>
          <p:cNvSpPr txBox="1"/>
          <p:nvPr/>
        </p:nvSpPr>
        <p:spPr>
          <a:xfrm>
            <a:off x="8046720" y="3931920"/>
            <a:ext cx="3474720" cy="1051560"/>
          </a:xfrm>
          <a:prstGeom prst="rect">
            <a:avLst/>
          </a:prstGeom>
          <a:noFill/>
          <a:ln/>
        </p:spPr>
        <p:txBody>
          <a:bodyPr wrap="square" lIns="0" tIns="0" rIns="0" bIns="0" rtlCol="0" anchor="b"/>
          <a:lstStyle/>
          <a:p>
            <a:pPr algn="l" indent="0" marL="0">
              <a:lnSpc>
                <a:spcPct val="95000"/>
              </a:lnSpc>
              <a:buNone/>
            </a:pPr>
            <a:r>
              <a:rPr lang="en-US" altLang="en-US" sz="6400" b="1" dirty="0">
                <a:solidFill>
                  <a:srgbClr val="4DB449"/>
                </a:solidFill>
                <a:latin typeface="Cairo" pitchFamily="34" charset="0"/>
                <a:ea typeface="Cairo" pitchFamily="34" charset="-122"/>
                <a:cs typeface="Cairo" pitchFamily="34" charset="-120"/>
              </a:rPr>
              <a:t>1</a:t>
            </a:r>
            <a:endParaRPr lang="en-US" sz="6400" dirty="0"/>
          </a:p>
        </p:txBody>
      </p:sp>
      <p:sp>
        <p:nvSpPr>
          <p:cNvPr id="18" name="Text 15"/>
          <p:cNvSpPr txBox="1"/>
          <p:nvPr/>
        </p:nvSpPr>
        <p:spPr>
          <a:xfrm>
            <a:off x="8046720" y="5029200"/>
            <a:ext cx="3474720" cy="411480"/>
          </a:xfrm>
          <a:prstGeom prst="rect">
            <a:avLst/>
          </a:prstGeom>
          <a:noFill/>
          <a:ln/>
        </p:spPr>
        <p:txBody>
          <a:bodyPr wrap="square" lIns="0" tIns="0" rIns="0" bIns="0" rtlCol="0" anchor="t"/>
          <a:lstStyle/>
          <a:p>
            <a:pPr algn="l" indent="0" marL="0">
              <a:lnSpc>
                <a:spcPct val="95000"/>
              </a:lnSpc>
              <a:buNone/>
            </a:pPr>
            <a:r>
              <a:rPr lang="en-US" altLang="en-US" sz="1700" dirty="0">
                <a:solidFill>
                  <a:srgbClr val="FFFFFF"/>
                </a:solidFill>
                <a:latin typeface="Calibri" pitchFamily="34" charset="0"/>
                <a:ea typeface="Calibri" pitchFamily="34" charset="-122"/>
                <a:cs typeface="Calibri" pitchFamily="34" charset="-120"/>
              </a:rPr>
              <a:t>team capstone project</a:t>
            </a:r>
            <a:endParaRPr lang="en-US" sz="1700" dirty="0"/>
          </a:p>
        </p:txBody>
      </p:sp>
      <p:sp>
        <p:nvSpPr>
          <p:cNvPr id="19" name="Text 16"/>
          <p:cNvSpPr txBox="1"/>
          <p:nvPr/>
        </p:nvSpPr>
        <p:spPr>
          <a:xfrm>
            <a:off x="548640" y="5989320"/>
            <a:ext cx="10972800" cy="274320"/>
          </a:xfrm>
          <a:prstGeom prst="rect">
            <a:avLst/>
          </a:prstGeom>
          <a:noFill/>
          <a:ln/>
        </p:spPr>
        <p:txBody>
          <a:bodyPr wrap="square" lIns="0" tIns="0" rIns="0" bIns="0" rtlCol="0" anchor="t"/>
          <a:lstStyle/>
          <a:p>
            <a:pPr algn="l" indent="0" marL="0">
              <a:lnSpc>
                <a:spcPct val="95000"/>
              </a:lnSpc>
              <a:buNone/>
            </a:pPr>
            <a:r>
              <a:rPr lang="en-US" altLang="en-US" sz="1100" i="1" dirty="0">
                <a:solidFill>
                  <a:srgbClr val="8A8C88"/>
                </a:solidFill>
                <a:latin typeface="Calibri" pitchFamily="34" charset="0"/>
                <a:ea typeface="Calibri" pitchFamily="34" charset="-122"/>
                <a:cs typeface="Calibri" pitchFamily="34" charset="-120"/>
              </a:rPr>
              <a:t>All figures are design parameters of this proposal, not results.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10356554" y="384048"/>
            <a:ext cx="1286501" cy="457200"/>
          </a:xfrm>
          <a:prstGeom prst="rect">
            <a:avLst/>
          </a:prstGeom>
        </p:spPr>
      </p:pic>
      <p:sp>
        <p:nvSpPr>
          <p:cNvPr id="3" name="Text 0"/>
          <p:cNvSpPr txBox="1"/>
          <p:nvPr/>
        </p:nvSpPr>
        <p:spPr>
          <a:xfrm>
            <a:off x="548640" y="6446520"/>
            <a:ext cx="6400800" cy="228600"/>
          </a:xfrm>
          <a:prstGeom prst="rect">
            <a:avLst/>
          </a:prstGeom>
          <a:noFill/>
          <a:ln/>
        </p:spPr>
        <p:txBody>
          <a:bodyPr wrap="square" lIns="0" tIns="0" rIns="0" bIns="0" rtlCol="0" anchor="t"/>
          <a:lstStyle/>
          <a:p>
            <a:pPr algn="l"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AI Creators Program · Training Concept Note</a:t>
            </a:r>
            <a:endParaRPr lang="en-US" sz="900" dirty="0"/>
          </a:p>
        </p:txBody>
      </p:sp>
      <p:sp>
        <p:nvSpPr>
          <p:cNvPr id="4" name="Text 1"/>
          <p:cNvSpPr txBox="1"/>
          <p:nvPr/>
        </p:nvSpPr>
        <p:spPr>
          <a:xfrm>
            <a:off x="11094415" y="6446520"/>
            <a:ext cx="548640" cy="228600"/>
          </a:xfrm>
          <a:prstGeom prst="rect">
            <a:avLst/>
          </a:prstGeom>
          <a:noFill/>
          <a:ln/>
        </p:spPr>
        <p:txBody>
          <a:bodyPr wrap="square" lIns="0" tIns="0" rIns="0" bIns="0" rtlCol="0" anchor="t"/>
          <a:lstStyle/>
          <a:p>
            <a:pPr algn="r"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5</a:t>
            </a:r>
            <a:endParaRPr lang="en-US" sz="900" dirty="0"/>
          </a:p>
        </p:txBody>
      </p:sp>
      <p:sp>
        <p:nvSpPr>
          <p:cNvPr id="5" name="Text 2"/>
          <p:cNvSpPr txBox="1"/>
          <p:nvPr/>
        </p:nvSpPr>
        <p:spPr>
          <a:xfrm>
            <a:off x="548640" y="384048"/>
            <a:ext cx="8961120" cy="274320"/>
          </a:xfrm>
          <a:prstGeom prst="rect">
            <a:avLst/>
          </a:prstGeom>
          <a:noFill/>
          <a:ln/>
        </p:spPr>
        <p:txBody>
          <a:bodyPr wrap="square" lIns="0" tIns="0" rIns="0" bIns="0" rtlCol="0" anchor="t"/>
          <a:lstStyle/>
          <a:p>
            <a:pPr algn="l" indent="0" marL="0">
              <a:lnSpc>
                <a:spcPct val="95000"/>
              </a:lnSpc>
              <a:buNone/>
            </a:pPr>
            <a:r>
              <a:rPr lang="en-US" altLang="en-US" sz="1100" b="1" spc="200" kern="0" dirty="0">
                <a:solidFill>
                  <a:srgbClr val="727274"/>
                </a:solidFill>
                <a:latin typeface="Calibri" pitchFamily="34" charset="0"/>
                <a:ea typeface="Calibri" pitchFamily="34" charset="-122"/>
                <a:cs typeface="Calibri" pitchFamily="34" charset="-120"/>
              </a:rPr>
              <a:t>04 · THE STUDENT JOURNEY</a:t>
            </a:r>
            <a:endParaRPr lang="en-US" sz="1100" dirty="0"/>
          </a:p>
        </p:txBody>
      </p:sp>
      <p:sp>
        <p:nvSpPr>
          <p:cNvPr id="6" name="Text 3"/>
          <p:cNvSpPr txBox="1"/>
          <p:nvPr/>
        </p:nvSpPr>
        <p:spPr>
          <a:xfrm>
            <a:off x="548640" y="676656"/>
            <a:ext cx="9418320" cy="914400"/>
          </a:xfrm>
          <a:prstGeom prst="rect">
            <a:avLst/>
          </a:prstGeom>
          <a:noFill/>
          <a:ln/>
        </p:spPr>
        <p:txBody>
          <a:bodyPr wrap="square" lIns="0" tIns="0" rIns="0" bIns="0" rtlCol="0" anchor="t"/>
          <a:lstStyle/>
          <a:p>
            <a:pPr algn="l" indent="0" marL="0">
              <a:lnSpc>
                <a:spcPct val="90000"/>
              </a:lnSpc>
              <a:buNone/>
            </a:pPr>
            <a:r>
              <a:rPr lang="en-US" altLang="en-US" sz="2800" b="1" dirty="0">
                <a:solidFill>
                  <a:srgbClr val="1A1A1A"/>
                </a:solidFill>
                <a:latin typeface="Cairo" pitchFamily="34" charset="0"/>
                <a:ea typeface="Cairo" pitchFamily="34" charset="-122"/>
                <a:cs typeface="Cairo" pitchFamily="34" charset="-120"/>
              </a:rPr>
              <a:t>Every skill builds on the one before it</a:t>
            </a:r>
            <a:endParaRPr lang="en-US" sz="2800" dirty="0"/>
          </a:p>
        </p:txBody>
      </p:sp>
      <p:sp>
        <p:nvSpPr>
          <p:cNvPr id="7" name="Text 4"/>
          <p:cNvSpPr txBox="1"/>
          <p:nvPr/>
        </p:nvSpPr>
        <p:spPr>
          <a:xfrm>
            <a:off x="548640" y="1417320"/>
            <a:ext cx="9144000" cy="365760"/>
          </a:xfrm>
          <a:prstGeom prst="rect">
            <a:avLst/>
          </a:prstGeom>
          <a:noFill/>
          <a:ln/>
        </p:spPr>
        <p:txBody>
          <a:bodyPr wrap="square" lIns="0" tIns="0" rIns="0" bIns="0" rtlCol="0" anchor="t"/>
          <a:lstStyle/>
          <a:p>
            <a:pPr algn="l" indent="0" marL="0">
              <a:lnSpc>
                <a:spcPct val="95000"/>
              </a:lnSpc>
              <a:buNone/>
            </a:pPr>
            <a:r>
              <a:rPr lang="en-US" altLang="en-US" sz="1500" dirty="0">
                <a:solidFill>
                  <a:srgbClr val="3C3E3B"/>
                </a:solidFill>
                <a:latin typeface="Calibri" pitchFamily="34" charset="0"/>
                <a:ea typeface="Calibri" pitchFamily="34" charset="-122"/>
                <a:cs typeface="Calibri" pitchFamily="34" charset="-120"/>
              </a:rPr>
              <a:t>Students follow the same path a small agency follows with a real client.</a:t>
            </a:r>
            <a:endParaRPr lang="en-US" sz="1500" dirty="0"/>
          </a:p>
        </p:txBody>
      </p:sp>
      <p:sp>
        <p:nvSpPr>
          <p:cNvPr id="8" name="Shape 5"/>
          <p:cNvSpPr/>
          <p:nvPr/>
        </p:nvSpPr>
        <p:spPr>
          <a:xfrm>
            <a:off x="1097280" y="2377440"/>
            <a:ext cx="1560515" cy="0"/>
          </a:xfrm>
          <a:prstGeom prst="line">
            <a:avLst/>
          </a:prstGeom>
          <a:noFill/>
          <a:ln w="25400">
            <a:solidFill>
              <a:srgbClr val="C9CCC8"/>
            </a:solidFill>
            <a:prstDash val="dash"/>
          </a:ln>
        </p:spPr>
      </p:sp>
      <p:sp>
        <p:nvSpPr>
          <p:cNvPr id="9" name="Shape 6"/>
          <p:cNvSpPr/>
          <p:nvPr/>
        </p:nvSpPr>
        <p:spPr>
          <a:xfrm>
            <a:off x="3206435" y="2377440"/>
            <a:ext cx="1560515" cy="0"/>
          </a:xfrm>
          <a:prstGeom prst="line">
            <a:avLst/>
          </a:prstGeom>
          <a:noFill/>
          <a:ln w="25400">
            <a:solidFill>
              <a:srgbClr val="C9CCC8"/>
            </a:solidFill>
            <a:prstDash val="dash"/>
          </a:ln>
        </p:spPr>
      </p:sp>
      <p:sp>
        <p:nvSpPr>
          <p:cNvPr id="10" name="Shape 7"/>
          <p:cNvSpPr/>
          <p:nvPr/>
        </p:nvSpPr>
        <p:spPr>
          <a:xfrm>
            <a:off x="5315590" y="2377440"/>
            <a:ext cx="1560515" cy="0"/>
          </a:xfrm>
          <a:prstGeom prst="line">
            <a:avLst/>
          </a:prstGeom>
          <a:noFill/>
          <a:ln w="25400">
            <a:solidFill>
              <a:srgbClr val="C9CCC8"/>
            </a:solidFill>
            <a:prstDash val="dash"/>
          </a:ln>
        </p:spPr>
      </p:sp>
      <p:sp>
        <p:nvSpPr>
          <p:cNvPr id="11" name="Shape 8"/>
          <p:cNvSpPr/>
          <p:nvPr/>
        </p:nvSpPr>
        <p:spPr>
          <a:xfrm>
            <a:off x="7424745" y="2377440"/>
            <a:ext cx="1560515" cy="0"/>
          </a:xfrm>
          <a:prstGeom prst="line">
            <a:avLst/>
          </a:prstGeom>
          <a:noFill/>
          <a:ln w="25400">
            <a:solidFill>
              <a:srgbClr val="C9CCC8"/>
            </a:solidFill>
            <a:prstDash val="dash"/>
          </a:ln>
        </p:spPr>
      </p:sp>
      <p:sp>
        <p:nvSpPr>
          <p:cNvPr id="12" name="Shape 9"/>
          <p:cNvSpPr/>
          <p:nvPr/>
        </p:nvSpPr>
        <p:spPr>
          <a:xfrm>
            <a:off x="9533900" y="2377440"/>
            <a:ext cx="1560515" cy="0"/>
          </a:xfrm>
          <a:prstGeom prst="line">
            <a:avLst/>
          </a:prstGeom>
          <a:noFill/>
          <a:ln w="25400">
            <a:solidFill>
              <a:srgbClr val="C9CCC8"/>
            </a:solidFill>
            <a:prstDash val="dash"/>
          </a:ln>
        </p:spPr>
      </p:sp>
      <p:sp>
        <p:nvSpPr>
          <p:cNvPr id="13" name="Shape 10"/>
          <p:cNvSpPr/>
          <p:nvPr/>
        </p:nvSpPr>
        <p:spPr>
          <a:xfrm>
            <a:off x="11368735" y="3108960"/>
            <a:ext cx="0" cy="457200"/>
          </a:xfrm>
          <a:prstGeom prst="line">
            <a:avLst/>
          </a:prstGeom>
          <a:noFill/>
          <a:ln w="25400">
            <a:solidFill>
              <a:srgbClr val="C9CCC8"/>
            </a:solidFill>
            <a:prstDash val="dash"/>
          </a:ln>
        </p:spPr>
      </p:sp>
      <p:sp>
        <p:nvSpPr>
          <p:cNvPr id="14" name="Shape 11"/>
          <p:cNvSpPr/>
          <p:nvPr/>
        </p:nvSpPr>
        <p:spPr>
          <a:xfrm>
            <a:off x="9533900" y="3886200"/>
            <a:ext cx="1560515" cy="0"/>
          </a:xfrm>
          <a:prstGeom prst="line">
            <a:avLst/>
          </a:prstGeom>
          <a:noFill/>
          <a:ln w="25400">
            <a:solidFill>
              <a:srgbClr val="C9CCC8"/>
            </a:solidFill>
            <a:prstDash val="dash"/>
          </a:ln>
        </p:spPr>
      </p:sp>
      <p:sp>
        <p:nvSpPr>
          <p:cNvPr id="15" name="Shape 12"/>
          <p:cNvSpPr/>
          <p:nvPr/>
        </p:nvSpPr>
        <p:spPr>
          <a:xfrm>
            <a:off x="7424745" y="3886200"/>
            <a:ext cx="1560515" cy="0"/>
          </a:xfrm>
          <a:prstGeom prst="line">
            <a:avLst/>
          </a:prstGeom>
          <a:noFill/>
          <a:ln w="25400">
            <a:solidFill>
              <a:srgbClr val="C9CCC8"/>
            </a:solidFill>
            <a:prstDash val="dash"/>
          </a:ln>
        </p:spPr>
      </p:sp>
      <p:sp>
        <p:nvSpPr>
          <p:cNvPr id="16" name="Shape 13"/>
          <p:cNvSpPr/>
          <p:nvPr/>
        </p:nvSpPr>
        <p:spPr>
          <a:xfrm>
            <a:off x="5315590" y="3886200"/>
            <a:ext cx="1560515" cy="0"/>
          </a:xfrm>
          <a:prstGeom prst="line">
            <a:avLst/>
          </a:prstGeom>
          <a:noFill/>
          <a:ln w="25400">
            <a:solidFill>
              <a:srgbClr val="C9CCC8"/>
            </a:solidFill>
            <a:prstDash val="dash"/>
          </a:ln>
        </p:spPr>
      </p:sp>
      <p:sp>
        <p:nvSpPr>
          <p:cNvPr id="17" name="Shape 14"/>
          <p:cNvSpPr/>
          <p:nvPr/>
        </p:nvSpPr>
        <p:spPr>
          <a:xfrm>
            <a:off x="3206435" y="3886200"/>
            <a:ext cx="1560515" cy="0"/>
          </a:xfrm>
          <a:prstGeom prst="line">
            <a:avLst/>
          </a:prstGeom>
          <a:noFill/>
          <a:ln w="25400">
            <a:solidFill>
              <a:srgbClr val="C9CCC8"/>
            </a:solidFill>
            <a:prstDash val="dash"/>
          </a:ln>
        </p:spPr>
      </p:sp>
      <p:sp>
        <p:nvSpPr>
          <p:cNvPr id="18" name="Shape 15"/>
          <p:cNvSpPr/>
          <p:nvPr/>
        </p:nvSpPr>
        <p:spPr>
          <a:xfrm>
            <a:off x="1097280" y="3886200"/>
            <a:ext cx="1560515" cy="0"/>
          </a:xfrm>
          <a:prstGeom prst="line">
            <a:avLst/>
          </a:prstGeom>
          <a:noFill/>
          <a:ln w="25400">
            <a:solidFill>
              <a:srgbClr val="C9CCC8"/>
            </a:solidFill>
            <a:prstDash val="dash"/>
          </a:ln>
        </p:spPr>
      </p:sp>
      <p:sp>
        <p:nvSpPr>
          <p:cNvPr id="19" name="Shape 16"/>
          <p:cNvSpPr/>
          <p:nvPr/>
        </p:nvSpPr>
        <p:spPr>
          <a:xfrm>
            <a:off x="822960" y="4617720"/>
            <a:ext cx="0" cy="457200"/>
          </a:xfrm>
          <a:prstGeom prst="line">
            <a:avLst/>
          </a:prstGeom>
          <a:noFill/>
          <a:ln w="25400">
            <a:solidFill>
              <a:srgbClr val="C9CCC8"/>
            </a:solidFill>
            <a:prstDash val="dash"/>
          </a:ln>
        </p:spPr>
      </p:sp>
      <p:sp>
        <p:nvSpPr>
          <p:cNvPr id="20" name="Shape 17"/>
          <p:cNvSpPr/>
          <p:nvPr/>
        </p:nvSpPr>
        <p:spPr>
          <a:xfrm>
            <a:off x="1097280" y="5394960"/>
            <a:ext cx="1560515" cy="0"/>
          </a:xfrm>
          <a:prstGeom prst="line">
            <a:avLst/>
          </a:prstGeom>
          <a:noFill/>
          <a:ln w="25400">
            <a:solidFill>
              <a:srgbClr val="C9CCC8"/>
            </a:solidFill>
            <a:prstDash val="dash"/>
          </a:ln>
        </p:spPr>
      </p:sp>
      <p:sp>
        <p:nvSpPr>
          <p:cNvPr id="21" name="Shape 18"/>
          <p:cNvSpPr/>
          <p:nvPr/>
        </p:nvSpPr>
        <p:spPr>
          <a:xfrm>
            <a:off x="3206435" y="5394960"/>
            <a:ext cx="1560515" cy="0"/>
          </a:xfrm>
          <a:prstGeom prst="line">
            <a:avLst/>
          </a:prstGeom>
          <a:noFill/>
          <a:ln w="25400">
            <a:solidFill>
              <a:srgbClr val="C9CCC8"/>
            </a:solidFill>
            <a:prstDash val="dash"/>
          </a:ln>
        </p:spPr>
      </p:sp>
      <p:sp>
        <p:nvSpPr>
          <p:cNvPr id="22" name="Shape 19"/>
          <p:cNvSpPr/>
          <p:nvPr/>
        </p:nvSpPr>
        <p:spPr>
          <a:xfrm>
            <a:off x="5315590" y="5394960"/>
            <a:ext cx="1560515" cy="0"/>
          </a:xfrm>
          <a:prstGeom prst="line">
            <a:avLst/>
          </a:prstGeom>
          <a:noFill/>
          <a:ln w="25400">
            <a:solidFill>
              <a:srgbClr val="C9CCC8"/>
            </a:solidFill>
            <a:prstDash val="dash"/>
          </a:ln>
        </p:spPr>
      </p:sp>
      <p:sp>
        <p:nvSpPr>
          <p:cNvPr id="23" name="Shape 20"/>
          <p:cNvSpPr/>
          <p:nvPr/>
        </p:nvSpPr>
        <p:spPr>
          <a:xfrm>
            <a:off x="7424745" y="5394960"/>
            <a:ext cx="1560515" cy="0"/>
          </a:xfrm>
          <a:prstGeom prst="line">
            <a:avLst/>
          </a:prstGeom>
          <a:noFill/>
          <a:ln w="25400">
            <a:solidFill>
              <a:srgbClr val="C9CCC8"/>
            </a:solidFill>
            <a:prstDash val="dash"/>
          </a:ln>
        </p:spPr>
      </p:sp>
      <p:sp>
        <p:nvSpPr>
          <p:cNvPr id="24" name="Shape 21"/>
          <p:cNvSpPr/>
          <p:nvPr/>
        </p:nvSpPr>
        <p:spPr>
          <a:xfrm>
            <a:off x="548640" y="2103120"/>
            <a:ext cx="548640" cy="548640"/>
          </a:xfrm>
          <a:prstGeom prst="ellipse">
            <a:avLst/>
          </a:prstGeom>
          <a:solidFill>
            <a:srgbClr val="727274"/>
          </a:solidFill>
          <a:ln w="6350">
            <a:solidFill>
              <a:srgbClr val="727274"/>
            </a:solidFill>
            <a:prstDash val="solid"/>
          </a:ln>
        </p:spPr>
      </p:sp>
      <p:sp>
        <p:nvSpPr>
          <p:cNvPr id="25" name="Text 22"/>
          <p:cNvSpPr txBox="1"/>
          <p:nvPr/>
        </p:nvSpPr>
        <p:spPr>
          <a:xfrm>
            <a:off x="548640" y="2103120"/>
            <a:ext cx="548640" cy="54864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FFFFFF"/>
                </a:solidFill>
                <a:latin typeface="Cairo" pitchFamily="34" charset="0"/>
                <a:ea typeface="Cairo" pitchFamily="34" charset="-122"/>
                <a:cs typeface="Cairo" pitchFamily="34" charset="-120"/>
              </a:rPr>
              <a:t>1</a:t>
            </a:r>
            <a:endParaRPr lang="en-US" sz="1500" dirty="0"/>
          </a:p>
        </p:txBody>
      </p:sp>
      <p:sp>
        <p:nvSpPr>
          <p:cNvPr id="26" name="Text 23"/>
          <p:cNvSpPr txBox="1"/>
          <p:nvPr/>
        </p:nvSpPr>
        <p:spPr>
          <a:xfrm>
            <a:off x="-137160" y="2724912"/>
            <a:ext cx="1920240" cy="347472"/>
          </a:xfrm>
          <a:prstGeom prst="rect">
            <a:avLst/>
          </a:prstGeom>
          <a:noFill/>
          <a:ln/>
        </p:spPr>
        <p:txBody>
          <a:bodyPr wrap="square" lIns="0" tIns="0" rIns="0" bIns="0" rtlCol="0" anchor="t"/>
          <a:lstStyle/>
          <a:p>
            <a:pPr algn="ctr" indent="0" marL="0">
              <a:lnSpc>
                <a:spcPct val="95000"/>
              </a:lnSpc>
              <a:buNone/>
            </a:pPr>
            <a:r>
              <a:rPr lang="en-US" altLang="en-US" sz="1400" dirty="0">
                <a:solidFill>
                  <a:srgbClr val="1A1A1A"/>
                </a:solidFill>
                <a:latin typeface="Calibri" pitchFamily="34" charset="0"/>
                <a:ea typeface="Calibri" pitchFamily="34" charset="-122"/>
                <a:cs typeface="Calibri" pitchFamily="34" charset="-120"/>
              </a:rPr>
              <a:t>Client request</a:t>
            </a:r>
            <a:endParaRPr lang="en-US" sz="1400" dirty="0"/>
          </a:p>
        </p:txBody>
      </p:sp>
      <p:sp>
        <p:nvSpPr>
          <p:cNvPr id="27" name="Shape 24"/>
          <p:cNvSpPr/>
          <p:nvPr/>
        </p:nvSpPr>
        <p:spPr>
          <a:xfrm>
            <a:off x="2657795" y="2103120"/>
            <a:ext cx="548640" cy="548640"/>
          </a:xfrm>
          <a:prstGeom prst="ellipse">
            <a:avLst/>
          </a:prstGeom>
          <a:solidFill>
            <a:srgbClr val="727274"/>
          </a:solidFill>
          <a:ln w="6350">
            <a:solidFill>
              <a:srgbClr val="727274"/>
            </a:solidFill>
            <a:prstDash val="solid"/>
          </a:ln>
        </p:spPr>
      </p:sp>
      <p:sp>
        <p:nvSpPr>
          <p:cNvPr id="28" name="Text 25"/>
          <p:cNvSpPr txBox="1"/>
          <p:nvPr/>
        </p:nvSpPr>
        <p:spPr>
          <a:xfrm>
            <a:off x="2657795" y="2103120"/>
            <a:ext cx="548640" cy="54864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FFFFFF"/>
                </a:solidFill>
                <a:latin typeface="Cairo" pitchFamily="34" charset="0"/>
                <a:ea typeface="Cairo" pitchFamily="34" charset="-122"/>
                <a:cs typeface="Cairo" pitchFamily="34" charset="-120"/>
              </a:rPr>
              <a:t>2</a:t>
            </a:r>
            <a:endParaRPr lang="en-US" sz="1500" dirty="0"/>
          </a:p>
        </p:txBody>
      </p:sp>
      <p:sp>
        <p:nvSpPr>
          <p:cNvPr id="29" name="Text 26"/>
          <p:cNvSpPr txBox="1"/>
          <p:nvPr/>
        </p:nvSpPr>
        <p:spPr>
          <a:xfrm>
            <a:off x="1971995" y="2724912"/>
            <a:ext cx="1920240" cy="347472"/>
          </a:xfrm>
          <a:prstGeom prst="rect">
            <a:avLst/>
          </a:prstGeom>
          <a:noFill/>
          <a:ln/>
        </p:spPr>
        <p:txBody>
          <a:bodyPr wrap="square" lIns="0" tIns="0" rIns="0" bIns="0" rtlCol="0" anchor="t"/>
          <a:lstStyle/>
          <a:p>
            <a:pPr algn="ctr" indent="0" marL="0">
              <a:lnSpc>
                <a:spcPct val="95000"/>
              </a:lnSpc>
              <a:buNone/>
            </a:pPr>
            <a:r>
              <a:rPr lang="en-US" altLang="en-US" sz="1400" dirty="0">
                <a:solidFill>
                  <a:srgbClr val="1A1A1A"/>
                </a:solidFill>
                <a:latin typeface="Calibri" pitchFamily="34" charset="0"/>
                <a:ea typeface="Calibri" pitchFamily="34" charset="-122"/>
                <a:cs typeface="Calibri" pitchFamily="34" charset="-120"/>
              </a:rPr>
              <a:t>Research</a:t>
            </a:r>
            <a:endParaRPr lang="en-US" sz="1400" dirty="0"/>
          </a:p>
        </p:txBody>
      </p:sp>
      <p:sp>
        <p:nvSpPr>
          <p:cNvPr id="30" name="Shape 27"/>
          <p:cNvSpPr/>
          <p:nvPr/>
        </p:nvSpPr>
        <p:spPr>
          <a:xfrm>
            <a:off x="4766950" y="2103120"/>
            <a:ext cx="548640" cy="548640"/>
          </a:xfrm>
          <a:prstGeom prst="ellipse">
            <a:avLst/>
          </a:prstGeom>
          <a:solidFill>
            <a:srgbClr val="727274"/>
          </a:solidFill>
          <a:ln w="6350">
            <a:solidFill>
              <a:srgbClr val="727274"/>
            </a:solidFill>
            <a:prstDash val="solid"/>
          </a:ln>
        </p:spPr>
      </p:sp>
      <p:sp>
        <p:nvSpPr>
          <p:cNvPr id="31" name="Text 28"/>
          <p:cNvSpPr txBox="1"/>
          <p:nvPr/>
        </p:nvSpPr>
        <p:spPr>
          <a:xfrm>
            <a:off x="4766950" y="2103120"/>
            <a:ext cx="548640" cy="54864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FFFFFF"/>
                </a:solidFill>
                <a:latin typeface="Cairo" pitchFamily="34" charset="0"/>
                <a:ea typeface="Cairo" pitchFamily="34" charset="-122"/>
                <a:cs typeface="Cairo" pitchFamily="34" charset="-120"/>
              </a:rPr>
              <a:t>3</a:t>
            </a:r>
            <a:endParaRPr lang="en-US" sz="1500" dirty="0"/>
          </a:p>
        </p:txBody>
      </p:sp>
      <p:sp>
        <p:nvSpPr>
          <p:cNvPr id="32" name="Text 29"/>
          <p:cNvSpPr txBox="1"/>
          <p:nvPr/>
        </p:nvSpPr>
        <p:spPr>
          <a:xfrm>
            <a:off x="4081150" y="2724912"/>
            <a:ext cx="1920240" cy="347472"/>
          </a:xfrm>
          <a:prstGeom prst="rect">
            <a:avLst/>
          </a:prstGeom>
          <a:noFill/>
          <a:ln/>
        </p:spPr>
        <p:txBody>
          <a:bodyPr wrap="square" lIns="0" tIns="0" rIns="0" bIns="0" rtlCol="0" anchor="t"/>
          <a:lstStyle/>
          <a:p>
            <a:pPr algn="ctr" indent="0" marL="0">
              <a:lnSpc>
                <a:spcPct val="95000"/>
              </a:lnSpc>
              <a:buNone/>
            </a:pPr>
            <a:r>
              <a:rPr lang="en-US" altLang="en-US" sz="1400" dirty="0">
                <a:solidFill>
                  <a:srgbClr val="1A1A1A"/>
                </a:solidFill>
                <a:latin typeface="Calibri" pitchFamily="34" charset="0"/>
                <a:ea typeface="Calibri" pitchFamily="34" charset="-122"/>
                <a:cs typeface="Calibri" pitchFamily="34" charset="-120"/>
              </a:rPr>
              <a:t>Requirements</a:t>
            </a:r>
            <a:endParaRPr lang="en-US" sz="1400" dirty="0"/>
          </a:p>
        </p:txBody>
      </p:sp>
      <p:sp>
        <p:nvSpPr>
          <p:cNvPr id="33" name="Shape 30"/>
          <p:cNvSpPr/>
          <p:nvPr/>
        </p:nvSpPr>
        <p:spPr>
          <a:xfrm>
            <a:off x="6876105" y="2103120"/>
            <a:ext cx="548640" cy="548640"/>
          </a:xfrm>
          <a:prstGeom prst="ellipse">
            <a:avLst/>
          </a:prstGeom>
          <a:solidFill>
            <a:srgbClr val="727274"/>
          </a:solidFill>
          <a:ln w="6350">
            <a:solidFill>
              <a:srgbClr val="727274"/>
            </a:solidFill>
            <a:prstDash val="solid"/>
          </a:ln>
        </p:spPr>
      </p:sp>
      <p:sp>
        <p:nvSpPr>
          <p:cNvPr id="34" name="Text 31"/>
          <p:cNvSpPr txBox="1"/>
          <p:nvPr/>
        </p:nvSpPr>
        <p:spPr>
          <a:xfrm>
            <a:off x="6876105" y="2103120"/>
            <a:ext cx="548640" cy="54864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FFFFFF"/>
                </a:solidFill>
                <a:latin typeface="Cairo" pitchFamily="34" charset="0"/>
                <a:ea typeface="Cairo" pitchFamily="34" charset="-122"/>
                <a:cs typeface="Cairo" pitchFamily="34" charset="-120"/>
              </a:rPr>
              <a:t>4</a:t>
            </a:r>
            <a:endParaRPr lang="en-US" sz="1500" dirty="0"/>
          </a:p>
        </p:txBody>
      </p:sp>
      <p:sp>
        <p:nvSpPr>
          <p:cNvPr id="35" name="Text 32"/>
          <p:cNvSpPr txBox="1"/>
          <p:nvPr/>
        </p:nvSpPr>
        <p:spPr>
          <a:xfrm>
            <a:off x="6190305" y="2724912"/>
            <a:ext cx="1920240" cy="347472"/>
          </a:xfrm>
          <a:prstGeom prst="rect">
            <a:avLst/>
          </a:prstGeom>
          <a:noFill/>
          <a:ln/>
        </p:spPr>
        <p:txBody>
          <a:bodyPr wrap="square" lIns="0" tIns="0" rIns="0" bIns="0" rtlCol="0" anchor="t"/>
          <a:lstStyle/>
          <a:p>
            <a:pPr algn="ctr" indent="0" marL="0">
              <a:lnSpc>
                <a:spcPct val="95000"/>
              </a:lnSpc>
              <a:buNone/>
            </a:pPr>
            <a:r>
              <a:rPr lang="en-US" altLang="en-US" sz="1400" dirty="0">
                <a:solidFill>
                  <a:srgbClr val="1A1A1A"/>
                </a:solidFill>
                <a:latin typeface="Calibri" pitchFamily="34" charset="0"/>
                <a:ea typeface="Calibri" pitchFamily="34" charset="-122"/>
                <a:cs typeface="Calibri" pitchFamily="34" charset="-120"/>
              </a:rPr>
              <a:t>Prompting</a:t>
            </a:r>
            <a:endParaRPr lang="en-US" sz="1400" dirty="0"/>
          </a:p>
        </p:txBody>
      </p:sp>
      <p:sp>
        <p:nvSpPr>
          <p:cNvPr id="36" name="Shape 33"/>
          <p:cNvSpPr/>
          <p:nvPr/>
        </p:nvSpPr>
        <p:spPr>
          <a:xfrm>
            <a:off x="8985260" y="2103120"/>
            <a:ext cx="548640" cy="548640"/>
          </a:xfrm>
          <a:prstGeom prst="ellipse">
            <a:avLst/>
          </a:prstGeom>
          <a:solidFill>
            <a:srgbClr val="4DB449"/>
          </a:solidFill>
          <a:ln w="6350">
            <a:solidFill>
              <a:srgbClr val="4DB449"/>
            </a:solidFill>
            <a:prstDash val="solid"/>
          </a:ln>
        </p:spPr>
      </p:sp>
      <p:sp>
        <p:nvSpPr>
          <p:cNvPr id="37" name="Text 34"/>
          <p:cNvSpPr txBox="1"/>
          <p:nvPr/>
        </p:nvSpPr>
        <p:spPr>
          <a:xfrm>
            <a:off x="8985260" y="2103120"/>
            <a:ext cx="548640" cy="54864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000000"/>
                </a:solidFill>
                <a:latin typeface="Cairo" pitchFamily="34" charset="0"/>
                <a:ea typeface="Cairo" pitchFamily="34" charset="-122"/>
                <a:cs typeface="Cairo" pitchFamily="34" charset="-120"/>
              </a:rPr>
              <a:t>5</a:t>
            </a:r>
            <a:endParaRPr lang="en-US" sz="1500" dirty="0"/>
          </a:p>
        </p:txBody>
      </p:sp>
      <p:sp>
        <p:nvSpPr>
          <p:cNvPr id="38" name="Text 35"/>
          <p:cNvSpPr txBox="1"/>
          <p:nvPr/>
        </p:nvSpPr>
        <p:spPr>
          <a:xfrm>
            <a:off x="8299460" y="2724912"/>
            <a:ext cx="1920240" cy="347472"/>
          </a:xfrm>
          <a:prstGeom prst="rect">
            <a:avLst/>
          </a:prstGeom>
          <a:noFill/>
          <a:ln/>
        </p:spPr>
        <p:txBody>
          <a:bodyPr wrap="square" lIns="0" tIns="0" rIns="0" bIns="0" rtlCol="0" anchor="t"/>
          <a:lstStyle/>
          <a:p>
            <a:pPr algn="ctr" indent="0" marL="0">
              <a:lnSpc>
                <a:spcPct val="95000"/>
              </a:lnSpc>
              <a:buNone/>
            </a:pPr>
            <a:r>
              <a:rPr lang="en-US" altLang="en-US" sz="1400" dirty="0">
                <a:solidFill>
                  <a:srgbClr val="1A1A1A"/>
                </a:solidFill>
                <a:latin typeface="Calibri" pitchFamily="34" charset="0"/>
                <a:ea typeface="Calibri" pitchFamily="34" charset="-122"/>
                <a:cs typeface="Calibri" pitchFamily="34" charset="-120"/>
              </a:rPr>
              <a:t>Content</a:t>
            </a:r>
            <a:endParaRPr lang="en-US" sz="1400" dirty="0"/>
          </a:p>
        </p:txBody>
      </p:sp>
      <p:sp>
        <p:nvSpPr>
          <p:cNvPr id="39" name="Shape 36"/>
          <p:cNvSpPr/>
          <p:nvPr/>
        </p:nvSpPr>
        <p:spPr>
          <a:xfrm>
            <a:off x="11094415" y="2103120"/>
            <a:ext cx="548640" cy="548640"/>
          </a:xfrm>
          <a:prstGeom prst="ellipse">
            <a:avLst/>
          </a:prstGeom>
          <a:solidFill>
            <a:srgbClr val="A6D04B"/>
          </a:solidFill>
          <a:ln w="6350">
            <a:solidFill>
              <a:srgbClr val="A6D04B"/>
            </a:solidFill>
            <a:prstDash val="solid"/>
          </a:ln>
        </p:spPr>
      </p:sp>
      <p:sp>
        <p:nvSpPr>
          <p:cNvPr id="40" name="Text 37"/>
          <p:cNvSpPr txBox="1"/>
          <p:nvPr/>
        </p:nvSpPr>
        <p:spPr>
          <a:xfrm>
            <a:off x="11094415" y="2103120"/>
            <a:ext cx="548640" cy="54864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000000"/>
                </a:solidFill>
                <a:latin typeface="Cairo" pitchFamily="34" charset="0"/>
                <a:ea typeface="Cairo" pitchFamily="34" charset="-122"/>
                <a:cs typeface="Cairo" pitchFamily="34" charset="-120"/>
              </a:rPr>
              <a:t>6</a:t>
            </a:r>
            <a:endParaRPr lang="en-US" sz="1500" dirty="0"/>
          </a:p>
        </p:txBody>
      </p:sp>
      <p:sp>
        <p:nvSpPr>
          <p:cNvPr id="41" name="Text 38"/>
          <p:cNvSpPr txBox="1"/>
          <p:nvPr/>
        </p:nvSpPr>
        <p:spPr>
          <a:xfrm>
            <a:off x="10408615" y="2724912"/>
            <a:ext cx="1920240" cy="347472"/>
          </a:xfrm>
          <a:prstGeom prst="rect">
            <a:avLst/>
          </a:prstGeom>
          <a:noFill/>
          <a:ln/>
        </p:spPr>
        <p:txBody>
          <a:bodyPr wrap="square" lIns="0" tIns="0" rIns="0" bIns="0" rtlCol="0" anchor="t"/>
          <a:lstStyle/>
          <a:p>
            <a:pPr algn="ctr" indent="0" marL="0">
              <a:lnSpc>
                <a:spcPct val="95000"/>
              </a:lnSpc>
              <a:buNone/>
            </a:pPr>
            <a:r>
              <a:rPr lang="en-US" altLang="en-US" sz="1400" dirty="0">
                <a:solidFill>
                  <a:srgbClr val="1A1A1A"/>
                </a:solidFill>
                <a:latin typeface="Calibri" pitchFamily="34" charset="0"/>
                <a:ea typeface="Calibri" pitchFamily="34" charset="-122"/>
                <a:cs typeface="Calibri" pitchFamily="34" charset="-120"/>
              </a:rPr>
              <a:t>Character</a:t>
            </a:r>
            <a:endParaRPr lang="en-US" sz="1400" dirty="0"/>
          </a:p>
        </p:txBody>
      </p:sp>
      <p:sp>
        <p:nvSpPr>
          <p:cNvPr id="42" name="Shape 39"/>
          <p:cNvSpPr/>
          <p:nvPr/>
        </p:nvSpPr>
        <p:spPr>
          <a:xfrm>
            <a:off x="11094415" y="3611880"/>
            <a:ext cx="548640" cy="548640"/>
          </a:xfrm>
          <a:prstGeom prst="ellipse">
            <a:avLst/>
          </a:prstGeom>
          <a:solidFill>
            <a:srgbClr val="4DB449"/>
          </a:solidFill>
          <a:ln w="6350">
            <a:solidFill>
              <a:srgbClr val="4DB449"/>
            </a:solidFill>
            <a:prstDash val="solid"/>
          </a:ln>
        </p:spPr>
      </p:sp>
      <p:sp>
        <p:nvSpPr>
          <p:cNvPr id="43" name="Text 40"/>
          <p:cNvSpPr txBox="1"/>
          <p:nvPr/>
        </p:nvSpPr>
        <p:spPr>
          <a:xfrm>
            <a:off x="11094415" y="3611880"/>
            <a:ext cx="548640" cy="54864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000000"/>
                </a:solidFill>
                <a:latin typeface="Cairo" pitchFamily="34" charset="0"/>
                <a:ea typeface="Cairo" pitchFamily="34" charset="-122"/>
                <a:cs typeface="Cairo" pitchFamily="34" charset="-120"/>
              </a:rPr>
              <a:t>7</a:t>
            </a:r>
            <a:endParaRPr lang="en-US" sz="1500" dirty="0"/>
          </a:p>
        </p:txBody>
      </p:sp>
      <p:sp>
        <p:nvSpPr>
          <p:cNvPr id="44" name="Text 41"/>
          <p:cNvSpPr txBox="1"/>
          <p:nvPr/>
        </p:nvSpPr>
        <p:spPr>
          <a:xfrm>
            <a:off x="10408615" y="4233672"/>
            <a:ext cx="1920240" cy="347472"/>
          </a:xfrm>
          <a:prstGeom prst="rect">
            <a:avLst/>
          </a:prstGeom>
          <a:noFill/>
          <a:ln/>
        </p:spPr>
        <p:txBody>
          <a:bodyPr wrap="square" lIns="0" tIns="0" rIns="0" bIns="0" rtlCol="0" anchor="t"/>
          <a:lstStyle/>
          <a:p>
            <a:pPr algn="ctr" indent="0" marL="0">
              <a:lnSpc>
                <a:spcPct val="95000"/>
              </a:lnSpc>
              <a:buNone/>
            </a:pPr>
            <a:r>
              <a:rPr lang="en-US" altLang="en-US" sz="1400" dirty="0">
                <a:solidFill>
                  <a:srgbClr val="1A1A1A"/>
                </a:solidFill>
                <a:latin typeface="Calibri" pitchFamily="34" charset="0"/>
                <a:ea typeface="Calibri" pitchFamily="34" charset="-122"/>
                <a:cs typeface="Calibri" pitchFamily="34" charset="-120"/>
              </a:rPr>
              <a:t>Voice</a:t>
            </a:r>
            <a:endParaRPr lang="en-US" sz="1400" dirty="0"/>
          </a:p>
        </p:txBody>
      </p:sp>
      <p:sp>
        <p:nvSpPr>
          <p:cNvPr id="45" name="Shape 42"/>
          <p:cNvSpPr/>
          <p:nvPr/>
        </p:nvSpPr>
        <p:spPr>
          <a:xfrm>
            <a:off x="8985260" y="3611880"/>
            <a:ext cx="548640" cy="548640"/>
          </a:xfrm>
          <a:prstGeom prst="ellipse">
            <a:avLst/>
          </a:prstGeom>
          <a:solidFill>
            <a:srgbClr val="A6D04B"/>
          </a:solidFill>
          <a:ln w="6350">
            <a:solidFill>
              <a:srgbClr val="A6D04B"/>
            </a:solidFill>
            <a:prstDash val="solid"/>
          </a:ln>
        </p:spPr>
      </p:sp>
      <p:sp>
        <p:nvSpPr>
          <p:cNvPr id="46" name="Text 43"/>
          <p:cNvSpPr txBox="1"/>
          <p:nvPr/>
        </p:nvSpPr>
        <p:spPr>
          <a:xfrm>
            <a:off x="8985260" y="3611880"/>
            <a:ext cx="548640" cy="54864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000000"/>
                </a:solidFill>
                <a:latin typeface="Cairo" pitchFamily="34" charset="0"/>
                <a:ea typeface="Cairo" pitchFamily="34" charset="-122"/>
                <a:cs typeface="Cairo" pitchFamily="34" charset="-120"/>
              </a:rPr>
              <a:t>8</a:t>
            </a:r>
            <a:endParaRPr lang="en-US" sz="1500" dirty="0"/>
          </a:p>
        </p:txBody>
      </p:sp>
      <p:sp>
        <p:nvSpPr>
          <p:cNvPr id="47" name="Text 44"/>
          <p:cNvSpPr txBox="1"/>
          <p:nvPr/>
        </p:nvSpPr>
        <p:spPr>
          <a:xfrm>
            <a:off x="8299460" y="4233672"/>
            <a:ext cx="1920240" cy="347472"/>
          </a:xfrm>
          <a:prstGeom prst="rect">
            <a:avLst/>
          </a:prstGeom>
          <a:noFill/>
          <a:ln/>
        </p:spPr>
        <p:txBody>
          <a:bodyPr wrap="square" lIns="0" tIns="0" rIns="0" bIns="0" rtlCol="0" anchor="t"/>
          <a:lstStyle/>
          <a:p>
            <a:pPr algn="ctr" indent="0" marL="0">
              <a:lnSpc>
                <a:spcPct val="95000"/>
              </a:lnSpc>
              <a:buNone/>
            </a:pPr>
            <a:r>
              <a:rPr lang="en-US" altLang="en-US" sz="1400" dirty="0">
                <a:solidFill>
                  <a:srgbClr val="1A1A1A"/>
                </a:solidFill>
                <a:latin typeface="Calibri" pitchFamily="34" charset="0"/>
                <a:ea typeface="Calibri" pitchFamily="34" charset="-122"/>
                <a:cs typeface="Calibri" pitchFamily="34" charset="-120"/>
              </a:rPr>
              <a:t>Visuals</a:t>
            </a:r>
            <a:endParaRPr lang="en-US" sz="1400" dirty="0"/>
          </a:p>
        </p:txBody>
      </p:sp>
      <p:sp>
        <p:nvSpPr>
          <p:cNvPr id="48" name="Shape 45"/>
          <p:cNvSpPr/>
          <p:nvPr/>
        </p:nvSpPr>
        <p:spPr>
          <a:xfrm>
            <a:off x="6876105" y="3611880"/>
            <a:ext cx="548640" cy="548640"/>
          </a:xfrm>
          <a:prstGeom prst="ellipse">
            <a:avLst/>
          </a:prstGeom>
          <a:solidFill>
            <a:srgbClr val="4DB449"/>
          </a:solidFill>
          <a:ln w="6350">
            <a:solidFill>
              <a:srgbClr val="4DB449"/>
            </a:solidFill>
            <a:prstDash val="solid"/>
          </a:ln>
        </p:spPr>
      </p:sp>
      <p:sp>
        <p:nvSpPr>
          <p:cNvPr id="49" name="Text 46"/>
          <p:cNvSpPr txBox="1"/>
          <p:nvPr/>
        </p:nvSpPr>
        <p:spPr>
          <a:xfrm>
            <a:off x="6876105" y="3611880"/>
            <a:ext cx="548640" cy="54864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000000"/>
                </a:solidFill>
                <a:latin typeface="Cairo" pitchFamily="34" charset="0"/>
                <a:ea typeface="Cairo" pitchFamily="34" charset="-122"/>
                <a:cs typeface="Cairo" pitchFamily="34" charset="-120"/>
              </a:rPr>
              <a:t>9</a:t>
            </a:r>
            <a:endParaRPr lang="en-US" sz="1500" dirty="0"/>
          </a:p>
        </p:txBody>
      </p:sp>
      <p:sp>
        <p:nvSpPr>
          <p:cNvPr id="50" name="Text 47"/>
          <p:cNvSpPr txBox="1"/>
          <p:nvPr/>
        </p:nvSpPr>
        <p:spPr>
          <a:xfrm>
            <a:off x="6190305" y="4233672"/>
            <a:ext cx="1920240" cy="347472"/>
          </a:xfrm>
          <a:prstGeom prst="rect">
            <a:avLst/>
          </a:prstGeom>
          <a:noFill/>
          <a:ln/>
        </p:spPr>
        <p:txBody>
          <a:bodyPr wrap="square" lIns="0" tIns="0" rIns="0" bIns="0" rtlCol="0" anchor="t"/>
          <a:lstStyle/>
          <a:p>
            <a:pPr algn="ctr" indent="0" marL="0">
              <a:lnSpc>
                <a:spcPct val="95000"/>
              </a:lnSpc>
              <a:buNone/>
            </a:pPr>
            <a:r>
              <a:rPr lang="en-US" altLang="en-US" sz="1400" dirty="0">
                <a:solidFill>
                  <a:srgbClr val="1A1A1A"/>
                </a:solidFill>
                <a:latin typeface="Calibri" pitchFamily="34" charset="0"/>
                <a:ea typeface="Calibri" pitchFamily="34" charset="-122"/>
                <a:cs typeface="Calibri" pitchFamily="34" charset="-120"/>
              </a:rPr>
              <a:t>Script</a:t>
            </a:r>
            <a:endParaRPr lang="en-US" sz="1400" dirty="0"/>
          </a:p>
        </p:txBody>
      </p:sp>
      <p:sp>
        <p:nvSpPr>
          <p:cNvPr id="51" name="Shape 48"/>
          <p:cNvSpPr/>
          <p:nvPr/>
        </p:nvSpPr>
        <p:spPr>
          <a:xfrm>
            <a:off x="4766950" y="3611880"/>
            <a:ext cx="548640" cy="548640"/>
          </a:xfrm>
          <a:prstGeom prst="ellipse">
            <a:avLst/>
          </a:prstGeom>
          <a:solidFill>
            <a:srgbClr val="A6D04B"/>
          </a:solidFill>
          <a:ln w="6350">
            <a:solidFill>
              <a:srgbClr val="A6D04B"/>
            </a:solidFill>
            <a:prstDash val="solid"/>
          </a:ln>
        </p:spPr>
      </p:sp>
      <p:sp>
        <p:nvSpPr>
          <p:cNvPr id="52" name="Text 49"/>
          <p:cNvSpPr txBox="1"/>
          <p:nvPr/>
        </p:nvSpPr>
        <p:spPr>
          <a:xfrm>
            <a:off x="4766950" y="3611880"/>
            <a:ext cx="548640" cy="54864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000000"/>
                </a:solidFill>
                <a:latin typeface="Cairo" pitchFamily="34" charset="0"/>
                <a:ea typeface="Cairo" pitchFamily="34" charset="-122"/>
                <a:cs typeface="Cairo" pitchFamily="34" charset="-120"/>
              </a:rPr>
              <a:t>10</a:t>
            </a:r>
            <a:endParaRPr lang="en-US" sz="1500" dirty="0"/>
          </a:p>
        </p:txBody>
      </p:sp>
      <p:sp>
        <p:nvSpPr>
          <p:cNvPr id="53" name="Text 50"/>
          <p:cNvSpPr txBox="1"/>
          <p:nvPr/>
        </p:nvSpPr>
        <p:spPr>
          <a:xfrm>
            <a:off x="4081150" y="4233672"/>
            <a:ext cx="1920240" cy="347472"/>
          </a:xfrm>
          <a:prstGeom prst="rect">
            <a:avLst/>
          </a:prstGeom>
          <a:noFill/>
          <a:ln/>
        </p:spPr>
        <p:txBody>
          <a:bodyPr wrap="square" lIns="0" tIns="0" rIns="0" bIns="0" rtlCol="0" anchor="t"/>
          <a:lstStyle/>
          <a:p>
            <a:pPr algn="ctr" indent="0" marL="0">
              <a:lnSpc>
                <a:spcPct val="95000"/>
              </a:lnSpc>
              <a:buNone/>
            </a:pPr>
            <a:r>
              <a:rPr lang="en-US" altLang="en-US" sz="1400" dirty="0">
                <a:solidFill>
                  <a:srgbClr val="1A1A1A"/>
                </a:solidFill>
                <a:latin typeface="Calibri" pitchFamily="34" charset="0"/>
                <a:ea typeface="Calibri" pitchFamily="34" charset="-122"/>
                <a:cs typeface="Calibri" pitchFamily="34" charset="-120"/>
              </a:rPr>
              <a:t>Storyboard</a:t>
            </a:r>
            <a:endParaRPr lang="en-US" sz="1400" dirty="0"/>
          </a:p>
        </p:txBody>
      </p:sp>
      <p:sp>
        <p:nvSpPr>
          <p:cNvPr id="54" name="Shape 51"/>
          <p:cNvSpPr/>
          <p:nvPr/>
        </p:nvSpPr>
        <p:spPr>
          <a:xfrm>
            <a:off x="2657795" y="3611880"/>
            <a:ext cx="548640" cy="548640"/>
          </a:xfrm>
          <a:prstGeom prst="ellipse">
            <a:avLst/>
          </a:prstGeom>
          <a:solidFill>
            <a:srgbClr val="4DB449"/>
          </a:solidFill>
          <a:ln w="6350">
            <a:solidFill>
              <a:srgbClr val="4DB449"/>
            </a:solidFill>
            <a:prstDash val="solid"/>
          </a:ln>
        </p:spPr>
      </p:sp>
      <p:sp>
        <p:nvSpPr>
          <p:cNvPr id="55" name="Text 52"/>
          <p:cNvSpPr txBox="1"/>
          <p:nvPr/>
        </p:nvSpPr>
        <p:spPr>
          <a:xfrm>
            <a:off x="2657795" y="3611880"/>
            <a:ext cx="548640" cy="54864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000000"/>
                </a:solidFill>
                <a:latin typeface="Cairo" pitchFamily="34" charset="0"/>
                <a:ea typeface="Cairo" pitchFamily="34" charset="-122"/>
                <a:cs typeface="Cairo" pitchFamily="34" charset="-120"/>
              </a:rPr>
              <a:t>11</a:t>
            </a:r>
            <a:endParaRPr lang="en-US" sz="1500" dirty="0"/>
          </a:p>
        </p:txBody>
      </p:sp>
      <p:sp>
        <p:nvSpPr>
          <p:cNvPr id="56" name="Text 53"/>
          <p:cNvSpPr txBox="1"/>
          <p:nvPr/>
        </p:nvSpPr>
        <p:spPr>
          <a:xfrm>
            <a:off x="1971995" y="4233672"/>
            <a:ext cx="1920240" cy="347472"/>
          </a:xfrm>
          <a:prstGeom prst="rect">
            <a:avLst/>
          </a:prstGeom>
          <a:noFill/>
          <a:ln/>
        </p:spPr>
        <p:txBody>
          <a:bodyPr wrap="square" lIns="0" tIns="0" rIns="0" bIns="0" rtlCol="0" anchor="t"/>
          <a:lstStyle/>
          <a:p>
            <a:pPr algn="ctr" indent="0" marL="0">
              <a:lnSpc>
                <a:spcPct val="95000"/>
              </a:lnSpc>
              <a:buNone/>
            </a:pPr>
            <a:r>
              <a:rPr lang="en-US" altLang="en-US" sz="1400" dirty="0">
                <a:solidFill>
                  <a:srgbClr val="1A1A1A"/>
                </a:solidFill>
                <a:latin typeface="Calibri" pitchFamily="34" charset="0"/>
                <a:ea typeface="Calibri" pitchFamily="34" charset="-122"/>
                <a:cs typeface="Calibri" pitchFamily="34" charset="-120"/>
              </a:rPr>
              <a:t>AI video</a:t>
            </a:r>
            <a:endParaRPr lang="en-US" sz="1400" dirty="0"/>
          </a:p>
        </p:txBody>
      </p:sp>
      <p:sp>
        <p:nvSpPr>
          <p:cNvPr id="57" name="Shape 54"/>
          <p:cNvSpPr/>
          <p:nvPr/>
        </p:nvSpPr>
        <p:spPr>
          <a:xfrm>
            <a:off x="548640" y="3611880"/>
            <a:ext cx="548640" cy="548640"/>
          </a:xfrm>
          <a:prstGeom prst="ellipse">
            <a:avLst/>
          </a:prstGeom>
          <a:solidFill>
            <a:srgbClr val="A6D04B"/>
          </a:solidFill>
          <a:ln w="6350">
            <a:solidFill>
              <a:srgbClr val="A6D04B"/>
            </a:solidFill>
            <a:prstDash val="solid"/>
          </a:ln>
        </p:spPr>
      </p:sp>
      <p:sp>
        <p:nvSpPr>
          <p:cNvPr id="58" name="Text 55"/>
          <p:cNvSpPr txBox="1"/>
          <p:nvPr/>
        </p:nvSpPr>
        <p:spPr>
          <a:xfrm>
            <a:off x="548640" y="3611880"/>
            <a:ext cx="548640" cy="54864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000000"/>
                </a:solidFill>
                <a:latin typeface="Cairo" pitchFamily="34" charset="0"/>
                <a:ea typeface="Cairo" pitchFamily="34" charset="-122"/>
                <a:cs typeface="Cairo" pitchFamily="34" charset="-120"/>
              </a:rPr>
              <a:t>12</a:t>
            </a:r>
            <a:endParaRPr lang="en-US" sz="1500" dirty="0"/>
          </a:p>
        </p:txBody>
      </p:sp>
      <p:sp>
        <p:nvSpPr>
          <p:cNvPr id="59" name="Text 56"/>
          <p:cNvSpPr txBox="1"/>
          <p:nvPr/>
        </p:nvSpPr>
        <p:spPr>
          <a:xfrm>
            <a:off x="-137160" y="4233672"/>
            <a:ext cx="1920240" cy="347472"/>
          </a:xfrm>
          <a:prstGeom prst="rect">
            <a:avLst/>
          </a:prstGeom>
          <a:noFill/>
          <a:ln/>
        </p:spPr>
        <p:txBody>
          <a:bodyPr wrap="square" lIns="0" tIns="0" rIns="0" bIns="0" rtlCol="0" anchor="t"/>
          <a:lstStyle/>
          <a:p>
            <a:pPr algn="ctr" indent="0" marL="0">
              <a:lnSpc>
                <a:spcPct val="95000"/>
              </a:lnSpc>
              <a:buNone/>
            </a:pPr>
            <a:r>
              <a:rPr lang="en-US" altLang="en-US" sz="1400" dirty="0">
                <a:solidFill>
                  <a:srgbClr val="1A1A1A"/>
                </a:solidFill>
                <a:latin typeface="Calibri" pitchFamily="34" charset="0"/>
                <a:ea typeface="Calibri" pitchFamily="34" charset="-122"/>
                <a:cs typeface="Calibri" pitchFamily="34" charset="-120"/>
              </a:rPr>
              <a:t>Editing</a:t>
            </a:r>
            <a:endParaRPr lang="en-US" sz="1400" dirty="0"/>
          </a:p>
        </p:txBody>
      </p:sp>
      <p:sp>
        <p:nvSpPr>
          <p:cNvPr id="60" name="Shape 57"/>
          <p:cNvSpPr/>
          <p:nvPr/>
        </p:nvSpPr>
        <p:spPr>
          <a:xfrm>
            <a:off x="548640" y="5120640"/>
            <a:ext cx="548640" cy="548640"/>
          </a:xfrm>
          <a:prstGeom prst="ellipse">
            <a:avLst/>
          </a:prstGeom>
          <a:solidFill>
            <a:srgbClr val="4DB449"/>
          </a:solidFill>
          <a:ln w="6350">
            <a:solidFill>
              <a:srgbClr val="4DB449"/>
            </a:solidFill>
            <a:prstDash val="solid"/>
          </a:ln>
        </p:spPr>
      </p:sp>
      <p:sp>
        <p:nvSpPr>
          <p:cNvPr id="61" name="Text 58"/>
          <p:cNvSpPr txBox="1"/>
          <p:nvPr/>
        </p:nvSpPr>
        <p:spPr>
          <a:xfrm>
            <a:off x="548640" y="5120640"/>
            <a:ext cx="548640" cy="54864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000000"/>
                </a:solidFill>
                <a:latin typeface="Cairo" pitchFamily="34" charset="0"/>
                <a:ea typeface="Cairo" pitchFamily="34" charset="-122"/>
                <a:cs typeface="Cairo" pitchFamily="34" charset="-120"/>
              </a:rPr>
              <a:t>13</a:t>
            </a:r>
            <a:endParaRPr lang="en-US" sz="1500" dirty="0"/>
          </a:p>
        </p:txBody>
      </p:sp>
      <p:sp>
        <p:nvSpPr>
          <p:cNvPr id="62" name="Text 59"/>
          <p:cNvSpPr txBox="1"/>
          <p:nvPr/>
        </p:nvSpPr>
        <p:spPr>
          <a:xfrm>
            <a:off x="-137160" y="5742432"/>
            <a:ext cx="1920240" cy="347472"/>
          </a:xfrm>
          <a:prstGeom prst="rect">
            <a:avLst/>
          </a:prstGeom>
          <a:noFill/>
          <a:ln/>
        </p:spPr>
        <p:txBody>
          <a:bodyPr wrap="square" lIns="0" tIns="0" rIns="0" bIns="0" rtlCol="0" anchor="t"/>
          <a:lstStyle/>
          <a:p>
            <a:pPr algn="ctr" indent="0" marL="0">
              <a:lnSpc>
                <a:spcPct val="95000"/>
              </a:lnSpc>
              <a:buNone/>
            </a:pPr>
            <a:r>
              <a:rPr lang="en-US" altLang="en-US" sz="1400" dirty="0">
                <a:solidFill>
                  <a:srgbClr val="1A1A1A"/>
                </a:solidFill>
                <a:latin typeface="Calibri" pitchFamily="34" charset="0"/>
                <a:ea typeface="Calibri" pitchFamily="34" charset="-122"/>
                <a:cs typeface="Calibri" pitchFamily="34" charset="-120"/>
              </a:rPr>
              <a:t>Marketing</a:t>
            </a:r>
            <a:endParaRPr lang="en-US" sz="1400" dirty="0"/>
          </a:p>
        </p:txBody>
      </p:sp>
      <p:sp>
        <p:nvSpPr>
          <p:cNvPr id="63" name="Shape 60"/>
          <p:cNvSpPr/>
          <p:nvPr/>
        </p:nvSpPr>
        <p:spPr>
          <a:xfrm>
            <a:off x="2657795" y="5120640"/>
            <a:ext cx="548640" cy="548640"/>
          </a:xfrm>
          <a:prstGeom prst="ellipse">
            <a:avLst/>
          </a:prstGeom>
          <a:solidFill>
            <a:srgbClr val="A6D04B"/>
          </a:solidFill>
          <a:ln w="6350">
            <a:solidFill>
              <a:srgbClr val="A6D04B"/>
            </a:solidFill>
            <a:prstDash val="solid"/>
          </a:ln>
        </p:spPr>
      </p:sp>
      <p:sp>
        <p:nvSpPr>
          <p:cNvPr id="64" name="Text 61"/>
          <p:cNvSpPr txBox="1"/>
          <p:nvPr/>
        </p:nvSpPr>
        <p:spPr>
          <a:xfrm>
            <a:off x="2657795" y="5120640"/>
            <a:ext cx="548640" cy="54864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000000"/>
                </a:solidFill>
                <a:latin typeface="Cairo" pitchFamily="34" charset="0"/>
                <a:ea typeface="Cairo" pitchFamily="34" charset="-122"/>
                <a:cs typeface="Cairo" pitchFamily="34" charset="-120"/>
              </a:rPr>
              <a:t>14</a:t>
            </a:r>
            <a:endParaRPr lang="en-US" sz="1500" dirty="0"/>
          </a:p>
        </p:txBody>
      </p:sp>
      <p:sp>
        <p:nvSpPr>
          <p:cNvPr id="65" name="Text 62"/>
          <p:cNvSpPr txBox="1"/>
          <p:nvPr/>
        </p:nvSpPr>
        <p:spPr>
          <a:xfrm>
            <a:off x="1971995" y="5742432"/>
            <a:ext cx="1920240" cy="347472"/>
          </a:xfrm>
          <a:prstGeom prst="rect">
            <a:avLst/>
          </a:prstGeom>
          <a:noFill/>
          <a:ln/>
        </p:spPr>
        <p:txBody>
          <a:bodyPr wrap="square" lIns="0" tIns="0" rIns="0" bIns="0" rtlCol="0" anchor="t"/>
          <a:lstStyle/>
          <a:p>
            <a:pPr algn="ctr" indent="0" marL="0">
              <a:lnSpc>
                <a:spcPct val="95000"/>
              </a:lnSpc>
              <a:buNone/>
            </a:pPr>
            <a:r>
              <a:rPr lang="en-US" altLang="en-US" sz="1400" dirty="0">
                <a:solidFill>
                  <a:srgbClr val="1A1A1A"/>
                </a:solidFill>
                <a:latin typeface="Calibri" pitchFamily="34" charset="0"/>
                <a:ea typeface="Calibri" pitchFamily="34" charset="-122"/>
                <a:cs typeface="Calibri" pitchFamily="34" charset="-120"/>
              </a:rPr>
              <a:t>n8n automation</a:t>
            </a:r>
            <a:endParaRPr lang="en-US" sz="1400" dirty="0"/>
          </a:p>
        </p:txBody>
      </p:sp>
      <p:sp>
        <p:nvSpPr>
          <p:cNvPr id="66" name="Shape 63"/>
          <p:cNvSpPr/>
          <p:nvPr/>
        </p:nvSpPr>
        <p:spPr>
          <a:xfrm>
            <a:off x="4766950" y="5120640"/>
            <a:ext cx="548640" cy="548640"/>
          </a:xfrm>
          <a:prstGeom prst="ellipse">
            <a:avLst/>
          </a:prstGeom>
          <a:solidFill>
            <a:srgbClr val="4DB449"/>
          </a:solidFill>
          <a:ln w="6350">
            <a:solidFill>
              <a:srgbClr val="4DB449"/>
            </a:solidFill>
            <a:prstDash val="solid"/>
          </a:ln>
        </p:spPr>
      </p:sp>
      <p:sp>
        <p:nvSpPr>
          <p:cNvPr id="67" name="Text 64"/>
          <p:cNvSpPr txBox="1"/>
          <p:nvPr/>
        </p:nvSpPr>
        <p:spPr>
          <a:xfrm>
            <a:off x="4766950" y="5120640"/>
            <a:ext cx="548640" cy="54864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000000"/>
                </a:solidFill>
                <a:latin typeface="Cairo" pitchFamily="34" charset="0"/>
                <a:ea typeface="Cairo" pitchFamily="34" charset="-122"/>
                <a:cs typeface="Cairo" pitchFamily="34" charset="-120"/>
              </a:rPr>
              <a:t>15</a:t>
            </a:r>
            <a:endParaRPr lang="en-US" sz="1500" dirty="0"/>
          </a:p>
        </p:txBody>
      </p:sp>
      <p:sp>
        <p:nvSpPr>
          <p:cNvPr id="68" name="Text 65"/>
          <p:cNvSpPr txBox="1"/>
          <p:nvPr/>
        </p:nvSpPr>
        <p:spPr>
          <a:xfrm>
            <a:off x="4081150" y="5742432"/>
            <a:ext cx="1920240" cy="347472"/>
          </a:xfrm>
          <a:prstGeom prst="rect">
            <a:avLst/>
          </a:prstGeom>
          <a:noFill/>
          <a:ln/>
        </p:spPr>
        <p:txBody>
          <a:bodyPr wrap="square" lIns="0" tIns="0" rIns="0" bIns="0" rtlCol="0" anchor="t"/>
          <a:lstStyle/>
          <a:p>
            <a:pPr algn="ctr" indent="0" marL="0">
              <a:lnSpc>
                <a:spcPct val="95000"/>
              </a:lnSpc>
              <a:buNone/>
            </a:pPr>
            <a:r>
              <a:rPr lang="en-US" altLang="en-US" sz="1400" dirty="0">
                <a:solidFill>
                  <a:srgbClr val="1A1A1A"/>
                </a:solidFill>
                <a:latin typeface="Calibri" pitchFamily="34" charset="0"/>
                <a:ea typeface="Calibri" pitchFamily="34" charset="-122"/>
                <a:cs typeface="Calibri" pitchFamily="34" charset="-120"/>
              </a:rPr>
              <a:t>Portfolio</a:t>
            </a:r>
            <a:endParaRPr lang="en-US" sz="1400" dirty="0"/>
          </a:p>
        </p:txBody>
      </p:sp>
      <p:sp>
        <p:nvSpPr>
          <p:cNvPr id="69" name="Shape 66"/>
          <p:cNvSpPr/>
          <p:nvPr/>
        </p:nvSpPr>
        <p:spPr>
          <a:xfrm>
            <a:off x="6876105" y="5120640"/>
            <a:ext cx="548640" cy="548640"/>
          </a:xfrm>
          <a:prstGeom prst="ellipse">
            <a:avLst/>
          </a:prstGeom>
          <a:solidFill>
            <a:srgbClr val="A6D04B"/>
          </a:solidFill>
          <a:ln w="6350">
            <a:solidFill>
              <a:srgbClr val="A6D04B"/>
            </a:solidFill>
            <a:prstDash val="solid"/>
          </a:ln>
        </p:spPr>
      </p:sp>
      <p:sp>
        <p:nvSpPr>
          <p:cNvPr id="70" name="Text 67"/>
          <p:cNvSpPr txBox="1"/>
          <p:nvPr/>
        </p:nvSpPr>
        <p:spPr>
          <a:xfrm>
            <a:off x="6876105" y="5120640"/>
            <a:ext cx="548640" cy="54864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000000"/>
                </a:solidFill>
                <a:latin typeface="Cairo" pitchFamily="34" charset="0"/>
                <a:ea typeface="Cairo" pitchFamily="34" charset="-122"/>
                <a:cs typeface="Cairo" pitchFamily="34" charset="-120"/>
              </a:rPr>
              <a:t>16</a:t>
            </a:r>
            <a:endParaRPr lang="en-US" sz="1500" dirty="0"/>
          </a:p>
        </p:txBody>
      </p:sp>
      <p:sp>
        <p:nvSpPr>
          <p:cNvPr id="71" name="Text 68"/>
          <p:cNvSpPr txBox="1"/>
          <p:nvPr/>
        </p:nvSpPr>
        <p:spPr>
          <a:xfrm>
            <a:off x="6190305" y="5742432"/>
            <a:ext cx="1920240" cy="347472"/>
          </a:xfrm>
          <a:prstGeom prst="rect">
            <a:avLst/>
          </a:prstGeom>
          <a:noFill/>
          <a:ln/>
        </p:spPr>
        <p:txBody>
          <a:bodyPr wrap="square" lIns="0" tIns="0" rIns="0" bIns="0" rtlCol="0" anchor="t"/>
          <a:lstStyle/>
          <a:p>
            <a:pPr algn="ctr" indent="0" marL="0">
              <a:lnSpc>
                <a:spcPct val="95000"/>
              </a:lnSpc>
              <a:buNone/>
            </a:pPr>
            <a:r>
              <a:rPr lang="en-US" altLang="en-US" sz="1400" dirty="0">
                <a:solidFill>
                  <a:srgbClr val="1A1A1A"/>
                </a:solidFill>
                <a:latin typeface="Calibri" pitchFamily="34" charset="0"/>
                <a:ea typeface="Calibri" pitchFamily="34" charset="-122"/>
                <a:cs typeface="Calibri" pitchFamily="34" charset="-120"/>
              </a:rPr>
              <a:t>Freelancing</a:t>
            </a:r>
            <a:endParaRPr lang="en-US" sz="1400" dirty="0"/>
          </a:p>
        </p:txBody>
      </p:sp>
      <p:sp>
        <p:nvSpPr>
          <p:cNvPr id="72" name="Shape 69"/>
          <p:cNvSpPr/>
          <p:nvPr/>
        </p:nvSpPr>
        <p:spPr>
          <a:xfrm>
            <a:off x="8921252" y="5056632"/>
            <a:ext cx="676656" cy="676656"/>
          </a:xfrm>
          <a:prstGeom prst="ellipse">
            <a:avLst/>
          </a:prstGeom>
          <a:solidFill>
            <a:srgbClr val="000000"/>
          </a:solidFill>
          <a:ln w="31750">
            <a:solidFill>
              <a:srgbClr val="A6D04B"/>
            </a:solidFill>
            <a:prstDash val="solid"/>
          </a:ln>
        </p:spPr>
      </p:sp>
      <p:sp>
        <p:nvSpPr>
          <p:cNvPr id="73" name="Text 70"/>
          <p:cNvSpPr txBox="1"/>
          <p:nvPr/>
        </p:nvSpPr>
        <p:spPr>
          <a:xfrm>
            <a:off x="8921252" y="5056632"/>
            <a:ext cx="676656" cy="676656"/>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FFFFFF"/>
                </a:solidFill>
                <a:latin typeface="Cairo" pitchFamily="34" charset="0"/>
                <a:ea typeface="Cairo" pitchFamily="34" charset="-122"/>
                <a:cs typeface="Cairo" pitchFamily="34" charset="-120"/>
              </a:rPr>
              <a:t>17</a:t>
            </a:r>
            <a:endParaRPr lang="en-US" sz="1500" dirty="0"/>
          </a:p>
        </p:txBody>
      </p:sp>
      <p:sp>
        <p:nvSpPr>
          <p:cNvPr id="74" name="Text 71"/>
          <p:cNvSpPr txBox="1"/>
          <p:nvPr/>
        </p:nvSpPr>
        <p:spPr>
          <a:xfrm>
            <a:off x="8299460" y="5742432"/>
            <a:ext cx="1920240" cy="347472"/>
          </a:xfrm>
          <a:prstGeom prst="rect">
            <a:avLst/>
          </a:prstGeom>
          <a:noFill/>
          <a:ln/>
        </p:spPr>
        <p:txBody>
          <a:bodyPr wrap="square" lIns="0" tIns="0" rIns="0" bIns="0" rtlCol="0" anchor="t"/>
          <a:lstStyle/>
          <a:p>
            <a:pPr algn="ctr" indent="0" marL="0">
              <a:lnSpc>
                <a:spcPct val="95000"/>
              </a:lnSpc>
              <a:buNone/>
            </a:pPr>
            <a:r>
              <a:rPr lang="en-US" altLang="en-US" sz="1400" b="1" dirty="0">
                <a:solidFill>
                  <a:srgbClr val="1A1A1A"/>
                </a:solidFill>
                <a:latin typeface="Calibri" pitchFamily="34" charset="0"/>
                <a:ea typeface="Calibri" pitchFamily="34" charset="-122"/>
                <a:cs typeface="Calibri" pitchFamily="34" charset="-120"/>
              </a:rPr>
              <a:t>Capstone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10356554" y="384048"/>
            <a:ext cx="1286501" cy="457200"/>
          </a:xfrm>
          <a:prstGeom prst="rect">
            <a:avLst/>
          </a:prstGeom>
        </p:spPr>
      </p:pic>
      <p:sp>
        <p:nvSpPr>
          <p:cNvPr id="3" name="Text 0"/>
          <p:cNvSpPr txBox="1"/>
          <p:nvPr/>
        </p:nvSpPr>
        <p:spPr>
          <a:xfrm>
            <a:off x="548640" y="6446520"/>
            <a:ext cx="6400800" cy="228600"/>
          </a:xfrm>
          <a:prstGeom prst="rect">
            <a:avLst/>
          </a:prstGeom>
          <a:noFill/>
          <a:ln/>
        </p:spPr>
        <p:txBody>
          <a:bodyPr wrap="square" lIns="0" tIns="0" rIns="0" bIns="0" rtlCol="0" anchor="t"/>
          <a:lstStyle/>
          <a:p>
            <a:pPr algn="l"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AI Creators Program · Training Concept Note</a:t>
            </a:r>
            <a:endParaRPr lang="en-US" sz="900" dirty="0"/>
          </a:p>
        </p:txBody>
      </p:sp>
      <p:sp>
        <p:nvSpPr>
          <p:cNvPr id="4" name="Text 1"/>
          <p:cNvSpPr txBox="1"/>
          <p:nvPr/>
        </p:nvSpPr>
        <p:spPr>
          <a:xfrm>
            <a:off x="11094415" y="6446520"/>
            <a:ext cx="548640" cy="228600"/>
          </a:xfrm>
          <a:prstGeom prst="rect">
            <a:avLst/>
          </a:prstGeom>
          <a:noFill/>
          <a:ln/>
        </p:spPr>
        <p:txBody>
          <a:bodyPr wrap="square" lIns="0" tIns="0" rIns="0" bIns="0" rtlCol="0" anchor="t"/>
          <a:lstStyle/>
          <a:p>
            <a:pPr algn="r"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6</a:t>
            </a:r>
            <a:endParaRPr lang="en-US" sz="900" dirty="0"/>
          </a:p>
        </p:txBody>
      </p:sp>
      <p:sp>
        <p:nvSpPr>
          <p:cNvPr id="5" name="Text 2"/>
          <p:cNvSpPr txBox="1"/>
          <p:nvPr/>
        </p:nvSpPr>
        <p:spPr>
          <a:xfrm>
            <a:off x="548640" y="384048"/>
            <a:ext cx="8961120" cy="274320"/>
          </a:xfrm>
          <a:prstGeom prst="rect">
            <a:avLst/>
          </a:prstGeom>
          <a:noFill/>
          <a:ln/>
        </p:spPr>
        <p:txBody>
          <a:bodyPr wrap="square" lIns="0" tIns="0" rIns="0" bIns="0" rtlCol="0" anchor="t"/>
          <a:lstStyle/>
          <a:p>
            <a:pPr algn="l" indent="0" marL="0">
              <a:lnSpc>
                <a:spcPct val="95000"/>
              </a:lnSpc>
              <a:buNone/>
            </a:pPr>
            <a:r>
              <a:rPr lang="en-US" altLang="en-US" sz="1100" b="1" spc="200" kern="0" dirty="0">
                <a:solidFill>
                  <a:srgbClr val="727274"/>
                </a:solidFill>
                <a:latin typeface="Calibri" pitchFamily="34" charset="0"/>
                <a:ea typeface="Calibri" pitchFamily="34" charset="-122"/>
                <a:cs typeface="Calibri" pitchFamily="34" charset="-120"/>
              </a:rPr>
              <a:t>05 · CORE LEARNING TRACKS</a:t>
            </a:r>
            <a:endParaRPr lang="en-US" sz="1100" dirty="0"/>
          </a:p>
        </p:txBody>
      </p:sp>
      <p:sp>
        <p:nvSpPr>
          <p:cNvPr id="6" name="Text 3"/>
          <p:cNvSpPr txBox="1"/>
          <p:nvPr/>
        </p:nvSpPr>
        <p:spPr>
          <a:xfrm>
            <a:off x="548640" y="676656"/>
            <a:ext cx="9418320" cy="914400"/>
          </a:xfrm>
          <a:prstGeom prst="rect">
            <a:avLst/>
          </a:prstGeom>
          <a:noFill/>
          <a:ln/>
        </p:spPr>
        <p:txBody>
          <a:bodyPr wrap="square" lIns="0" tIns="0" rIns="0" bIns="0" rtlCol="0" anchor="t"/>
          <a:lstStyle/>
          <a:p>
            <a:pPr algn="l" indent="0" marL="0">
              <a:lnSpc>
                <a:spcPct val="90000"/>
              </a:lnSpc>
              <a:buNone/>
            </a:pPr>
            <a:r>
              <a:rPr lang="en-US" altLang="en-US" sz="2800" b="1" dirty="0">
                <a:solidFill>
                  <a:srgbClr val="1A1A1A"/>
                </a:solidFill>
                <a:latin typeface="Cairo" pitchFamily="34" charset="0"/>
                <a:ea typeface="Cairo" pitchFamily="34" charset="-122"/>
                <a:cs typeface="Cairo" pitchFamily="34" charset="-120"/>
              </a:rPr>
              <a:t>Seven tracks, one connected program</a:t>
            </a:r>
            <a:endParaRPr lang="en-US" sz="2800" dirty="0"/>
          </a:p>
        </p:txBody>
      </p:sp>
      <p:sp>
        <p:nvSpPr>
          <p:cNvPr id="7" name="Shape 4"/>
          <p:cNvSpPr/>
          <p:nvPr/>
        </p:nvSpPr>
        <p:spPr>
          <a:xfrm>
            <a:off x="548640" y="1783080"/>
            <a:ext cx="2043627" cy="502920"/>
          </a:xfrm>
          <a:prstGeom prst="rect">
            <a:avLst/>
          </a:prstGeom>
          <a:solidFill>
            <a:srgbClr val="727274"/>
          </a:solidFill>
          <a:ln w="12700">
            <a:solidFill>
              <a:srgbClr val="727274"/>
            </a:solidFill>
            <a:prstDash val="solid"/>
          </a:ln>
        </p:spPr>
      </p:sp>
      <p:sp>
        <p:nvSpPr>
          <p:cNvPr id="8" name="Text 5"/>
          <p:cNvSpPr txBox="1"/>
          <p:nvPr/>
        </p:nvSpPr>
        <p:spPr>
          <a:xfrm>
            <a:off x="548640" y="1783080"/>
            <a:ext cx="2043627" cy="502920"/>
          </a:xfrm>
          <a:prstGeom prst="rect">
            <a:avLst/>
          </a:prstGeom>
          <a:noFill/>
          <a:ln/>
        </p:spPr>
        <p:txBody>
          <a:bodyPr wrap="square" lIns="0" tIns="0" rIns="0" bIns="0" rtlCol="0" anchor="ctr"/>
          <a:lstStyle/>
          <a:p>
            <a:pPr algn="ctr" indent="0" marL="0">
              <a:lnSpc>
                <a:spcPct val="95000"/>
              </a:lnSpc>
              <a:buNone/>
            </a:pPr>
            <a:r>
              <a:rPr lang="en-US" altLang="en-US" sz="1400" b="1" dirty="0">
                <a:solidFill>
                  <a:srgbClr val="FFFFFF"/>
                </a:solidFill>
                <a:latin typeface="Cairo" pitchFamily="34" charset="0"/>
                <a:ea typeface="Cairo" pitchFamily="34" charset="-122"/>
                <a:cs typeface="Cairo" pitchFamily="34" charset="-120"/>
              </a:rPr>
              <a:t>18h</a:t>
            </a:r>
            <a:endParaRPr lang="en-US" sz="1400" dirty="0"/>
          </a:p>
        </p:txBody>
      </p:sp>
      <p:sp>
        <p:nvSpPr>
          <p:cNvPr id="9" name="Shape 6"/>
          <p:cNvSpPr/>
          <p:nvPr/>
        </p:nvSpPr>
        <p:spPr>
          <a:xfrm>
            <a:off x="2628843" y="1783080"/>
            <a:ext cx="1003525" cy="502920"/>
          </a:xfrm>
          <a:prstGeom prst="rect">
            <a:avLst/>
          </a:prstGeom>
          <a:solidFill>
            <a:srgbClr val="4DB449"/>
          </a:solidFill>
          <a:ln w="12700">
            <a:solidFill>
              <a:srgbClr val="4DB449"/>
            </a:solidFill>
            <a:prstDash val="solid"/>
          </a:ln>
        </p:spPr>
      </p:sp>
      <p:sp>
        <p:nvSpPr>
          <p:cNvPr id="10" name="Text 7"/>
          <p:cNvSpPr txBox="1"/>
          <p:nvPr/>
        </p:nvSpPr>
        <p:spPr>
          <a:xfrm>
            <a:off x="2628843" y="1783080"/>
            <a:ext cx="1003525" cy="502920"/>
          </a:xfrm>
          <a:prstGeom prst="rect">
            <a:avLst/>
          </a:prstGeom>
          <a:noFill/>
          <a:ln/>
        </p:spPr>
        <p:txBody>
          <a:bodyPr wrap="square" lIns="0" tIns="0" rIns="0" bIns="0" rtlCol="0" anchor="ctr"/>
          <a:lstStyle/>
          <a:p>
            <a:pPr algn="ctr" indent="0" marL="0">
              <a:lnSpc>
                <a:spcPct val="95000"/>
              </a:lnSpc>
              <a:buNone/>
            </a:pPr>
            <a:r>
              <a:rPr lang="en-US" altLang="en-US" sz="1400" b="1" dirty="0">
                <a:solidFill>
                  <a:srgbClr val="1A1A1A"/>
                </a:solidFill>
                <a:latin typeface="Cairo" pitchFamily="34" charset="0"/>
                <a:ea typeface="Cairo" pitchFamily="34" charset="-122"/>
                <a:cs typeface="Cairo" pitchFamily="34" charset="-120"/>
              </a:rPr>
              <a:t>9h</a:t>
            </a:r>
            <a:endParaRPr lang="en-US" sz="1400" dirty="0"/>
          </a:p>
        </p:txBody>
      </p:sp>
      <p:sp>
        <p:nvSpPr>
          <p:cNvPr id="11" name="Shape 8"/>
          <p:cNvSpPr/>
          <p:nvPr/>
        </p:nvSpPr>
        <p:spPr>
          <a:xfrm>
            <a:off x="3668944" y="1783080"/>
            <a:ext cx="3777129" cy="502920"/>
          </a:xfrm>
          <a:prstGeom prst="rect">
            <a:avLst/>
          </a:prstGeom>
          <a:solidFill>
            <a:srgbClr val="A6D04B"/>
          </a:solidFill>
          <a:ln w="12700">
            <a:solidFill>
              <a:srgbClr val="A6D04B"/>
            </a:solidFill>
            <a:prstDash val="solid"/>
          </a:ln>
        </p:spPr>
      </p:sp>
      <p:sp>
        <p:nvSpPr>
          <p:cNvPr id="12" name="Text 9"/>
          <p:cNvSpPr txBox="1"/>
          <p:nvPr/>
        </p:nvSpPr>
        <p:spPr>
          <a:xfrm>
            <a:off x="3668944" y="1783080"/>
            <a:ext cx="3777129" cy="502920"/>
          </a:xfrm>
          <a:prstGeom prst="rect">
            <a:avLst/>
          </a:prstGeom>
          <a:noFill/>
          <a:ln/>
        </p:spPr>
        <p:txBody>
          <a:bodyPr wrap="square" lIns="0" tIns="0" rIns="0" bIns="0" rtlCol="0" anchor="ctr"/>
          <a:lstStyle/>
          <a:p>
            <a:pPr algn="ctr" indent="0" marL="0">
              <a:lnSpc>
                <a:spcPct val="95000"/>
              </a:lnSpc>
              <a:buNone/>
            </a:pPr>
            <a:r>
              <a:rPr lang="en-US" altLang="en-US" sz="1400" b="1" dirty="0">
                <a:solidFill>
                  <a:srgbClr val="1A1A1A"/>
                </a:solidFill>
                <a:latin typeface="Cairo" pitchFamily="34" charset="0"/>
                <a:ea typeface="Cairo" pitchFamily="34" charset="-122"/>
                <a:cs typeface="Cairo" pitchFamily="34" charset="-120"/>
              </a:rPr>
              <a:t>33h</a:t>
            </a:r>
            <a:endParaRPr lang="en-US" sz="1400" dirty="0"/>
          </a:p>
        </p:txBody>
      </p:sp>
      <p:sp>
        <p:nvSpPr>
          <p:cNvPr id="13" name="Shape 10"/>
          <p:cNvSpPr/>
          <p:nvPr/>
        </p:nvSpPr>
        <p:spPr>
          <a:xfrm>
            <a:off x="7482650" y="1783080"/>
            <a:ext cx="1003525" cy="502920"/>
          </a:xfrm>
          <a:prstGeom prst="rect">
            <a:avLst/>
          </a:prstGeom>
          <a:solidFill>
            <a:srgbClr val="000000"/>
          </a:solidFill>
          <a:ln w="12700">
            <a:solidFill>
              <a:srgbClr val="000000"/>
            </a:solidFill>
            <a:prstDash val="solid"/>
          </a:ln>
        </p:spPr>
      </p:sp>
      <p:sp>
        <p:nvSpPr>
          <p:cNvPr id="14" name="Text 11"/>
          <p:cNvSpPr txBox="1"/>
          <p:nvPr/>
        </p:nvSpPr>
        <p:spPr>
          <a:xfrm>
            <a:off x="7482650" y="1783080"/>
            <a:ext cx="1003525" cy="502920"/>
          </a:xfrm>
          <a:prstGeom prst="rect">
            <a:avLst/>
          </a:prstGeom>
          <a:noFill/>
          <a:ln/>
        </p:spPr>
        <p:txBody>
          <a:bodyPr wrap="square" lIns="0" tIns="0" rIns="0" bIns="0" rtlCol="0" anchor="ctr"/>
          <a:lstStyle/>
          <a:p>
            <a:pPr algn="ctr" indent="0" marL="0">
              <a:lnSpc>
                <a:spcPct val="95000"/>
              </a:lnSpc>
              <a:buNone/>
            </a:pPr>
            <a:r>
              <a:rPr lang="en-US" altLang="en-US" sz="1400" b="1" dirty="0">
                <a:solidFill>
                  <a:srgbClr val="FFFFFF"/>
                </a:solidFill>
                <a:latin typeface="Cairo" pitchFamily="34" charset="0"/>
                <a:ea typeface="Cairo" pitchFamily="34" charset="-122"/>
                <a:cs typeface="Cairo" pitchFamily="34" charset="-120"/>
              </a:rPr>
              <a:t>9h</a:t>
            </a:r>
            <a:endParaRPr lang="en-US" sz="1400" dirty="0"/>
          </a:p>
        </p:txBody>
      </p:sp>
      <p:sp>
        <p:nvSpPr>
          <p:cNvPr id="15" name="Shape 12"/>
          <p:cNvSpPr/>
          <p:nvPr/>
        </p:nvSpPr>
        <p:spPr>
          <a:xfrm>
            <a:off x="8522751" y="1783080"/>
            <a:ext cx="1350226" cy="502920"/>
          </a:xfrm>
          <a:prstGeom prst="rect">
            <a:avLst/>
          </a:prstGeom>
          <a:solidFill>
            <a:srgbClr val="4DB449"/>
          </a:solidFill>
          <a:ln w="12700">
            <a:solidFill>
              <a:srgbClr val="4DB449"/>
            </a:solidFill>
            <a:prstDash val="solid"/>
          </a:ln>
        </p:spPr>
      </p:sp>
      <p:sp>
        <p:nvSpPr>
          <p:cNvPr id="16" name="Text 13"/>
          <p:cNvSpPr txBox="1"/>
          <p:nvPr/>
        </p:nvSpPr>
        <p:spPr>
          <a:xfrm>
            <a:off x="8522751" y="1783080"/>
            <a:ext cx="1350226" cy="502920"/>
          </a:xfrm>
          <a:prstGeom prst="rect">
            <a:avLst/>
          </a:prstGeom>
          <a:noFill/>
          <a:ln/>
        </p:spPr>
        <p:txBody>
          <a:bodyPr wrap="square" lIns="0" tIns="0" rIns="0" bIns="0" rtlCol="0" anchor="ctr"/>
          <a:lstStyle/>
          <a:p>
            <a:pPr algn="ctr" indent="0" marL="0">
              <a:lnSpc>
                <a:spcPct val="95000"/>
              </a:lnSpc>
              <a:buNone/>
            </a:pPr>
            <a:r>
              <a:rPr lang="en-US" altLang="en-US" sz="1400" b="1" dirty="0">
                <a:solidFill>
                  <a:srgbClr val="1A1A1A"/>
                </a:solidFill>
                <a:latin typeface="Cairo" pitchFamily="34" charset="0"/>
                <a:ea typeface="Cairo" pitchFamily="34" charset="-122"/>
                <a:cs typeface="Cairo" pitchFamily="34" charset="-120"/>
              </a:rPr>
              <a:t>12h</a:t>
            </a:r>
            <a:endParaRPr lang="en-US" sz="1400" dirty="0"/>
          </a:p>
        </p:txBody>
      </p:sp>
      <p:sp>
        <p:nvSpPr>
          <p:cNvPr id="17" name="Shape 14"/>
          <p:cNvSpPr/>
          <p:nvPr/>
        </p:nvSpPr>
        <p:spPr>
          <a:xfrm>
            <a:off x="9909553" y="1783080"/>
            <a:ext cx="656825" cy="502920"/>
          </a:xfrm>
          <a:prstGeom prst="rect">
            <a:avLst/>
          </a:prstGeom>
          <a:solidFill>
            <a:srgbClr val="A6D04B"/>
          </a:solidFill>
          <a:ln w="12700">
            <a:solidFill>
              <a:srgbClr val="A6D04B"/>
            </a:solidFill>
            <a:prstDash val="solid"/>
          </a:ln>
        </p:spPr>
      </p:sp>
      <p:sp>
        <p:nvSpPr>
          <p:cNvPr id="18" name="Text 15"/>
          <p:cNvSpPr txBox="1"/>
          <p:nvPr/>
        </p:nvSpPr>
        <p:spPr>
          <a:xfrm>
            <a:off x="9909553" y="1783080"/>
            <a:ext cx="656825" cy="502920"/>
          </a:xfrm>
          <a:prstGeom prst="rect">
            <a:avLst/>
          </a:prstGeom>
          <a:noFill/>
          <a:ln/>
        </p:spPr>
        <p:txBody>
          <a:bodyPr wrap="square" lIns="0" tIns="0" rIns="0" bIns="0" rtlCol="0" anchor="ctr"/>
          <a:lstStyle/>
          <a:p>
            <a:pPr algn="ctr" indent="0" marL="0">
              <a:lnSpc>
                <a:spcPct val="95000"/>
              </a:lnSpc>
              <a:buNone/>
            </a:pPr>
            <a:r>
              <a:rPr lang="en-US" altLang="en-US" sz="1400" b="1" dirty="0">
                <a:solidFill>
                  <a:srgbClr val="1A1A1A"/>
                </a:solidFill>
                <a:latin typeface="Cairo" pitchFamily="34" charset="0"/>
                <a:ea typeface="Cairo" pitchFamily="34" charset="-122"/>
                <a:cs typeface="Cairo" pitchFamily="34" charset="-120"/>
              </a:rPr>
              <a:t>6h</a:t>
            </a:r>
            <a:endParaRPr lang="en-US" sz="1400" dirty="0"/>
          </a:p>
        </p:txBody>
      </p:sp>
      <p:sp>
        <p:nvSpPr>
          <p:cNvPr id="19" name="Shape 16"/>
          <p:cNvSpPr/>
          <p:nvPr/>
        </p:nvSpPr>
        <p:spPr>
          <a:xfrm>
            <a:off x="10602954" y="1783080"/>
            <a:ext cx="1003525" cy="502920"/>
          </a:xfrm>
          <a:prstGeom prst="rect">
            <a:avLst/>
          </a:prstGeom>
          <a:solidFill>
            <a:srgbClr val="000000"/>
          </a:solidFill>
          <a:ln w="12700">
            <a:solidFill>
              <a:srgbClr val="000000"/>
            </a:solidFill>
            <a:prstDash val="solid"/>
          </a:ln>
        </p:spPr>
      </p:sp>
      <p:sp>
        <p:nvSpPr>
          <p:cNvPr id="20" name="Text 17"/>
          <p:cNvSpPr txBox="1"/>
          <p:nvPr/>
        </p:nvSpPr>
        <p:spPr>
          <a:xfrm>
            <a:off x="10602954" y="1783080"/>
            <a:ext cx="1003525" cy="502920"/>
          </a:xfrm>
          <a:prstGeom prst="rect">
            <a:avLst/>
          </a:prstGeom>
          <a:noFill/>
          <a:ln/>
        </p:spPr>
        <p:txBody>
          <a:bodyPr wrap="square" lIns="0" tIns="0" rIns="0" bIns="0" rtlCol="0" anchor="ctr"/>
          <a:lstStyle/>
          <a:p>
            <a:pPr algn="ctr" indent="0" marL="0">
              <a:lnSpc>
                <a:spcPct val="95000"/>
              </a:lnSpc>
              <a:buNone/>
            </a:pPr>
            <a:r>
              <a:rPr lang="en-US" altLang="en-US" sz="1400" b="1" dirty="0">
                <a:solidFill>
                  <a:srgbClr val="FFFFFF"/>
                </a:solidFill>
                <a:latin typeface="Cairo" pitchFamily="34" charset="0"/>
                <a:ea typeface="Cairo" pitchFamily="34" charset="-122"/>
                <a:cs typeface="Cairo" pitchFamily="34" charset="-120"/>
              </a:rPr>
              <a:t>9h</a:t>
            </a:r>
            <a:endParaRPr lang="en-US" sz="1400" dirty="0"/>
          </a:p>
        </p:txBody>
      </p:sp>
      <p:sp>
        <p:nvSpPr>
          <p:cNvPr id="21" name="Shape 18"/>
          <p:cNvSpPr/>
          <p:nvPr/>
        </p:nvSpPr>
        <p:spPr>
          <a:xfrm>
            <a:off x="548640" y="2560320"/>
            <a:ext cx="2602154" cy="1691640"/>
          </a:xfrm>
          <a:prstGeom prst="roundRect">
            <a:avLst>
              <a:gd name="adj" fmla="val 5405"/>
            </a:avLst>
          </a:prstGeom>
          <a:solidFill>
            <a:srgbClr val="F2F4F1"/>
          </a:solidFill>
          <a:ln w="12700">
            <a:solidFill>
              <a:srgbClr val="F2F4F1"/>
            </a:solidFill>
            <a:prstDash val="solid"/>
          </a:ln>
        </p:spPr>
      </p:sp>
      <p:sp>
        <p:nvSpPr>
          <p:cNvPr id="22" name="Shape 19"/>
          <p:cNvSpPr/>
          <p:nvPr/>
        </p:nvSpPr>
        <p:spPr>
          <a:xfrm>
            <a:off x="749808" y="2807208"/>
            <a:ext cx="237744" cy="237744"/>
          </a:xfrm>
          <a:prstGeom prst="ellipse">
            <a:avLst/>
          </a:prstGeom>
          <a:solidFill>
            <a:srgbClr val="727274"/>
          </a:solidFill>
          <a:ln w="6350">
            <a:solidFill>
              <a:srgbClr val="727274"/>
            </a:solidFill>
            <a:prstDash val="solid"/>
          </a:ln>
        </p:spPr>
      </p:sp>
      <p:sp>
        <p:nvSpPr>
          <p:cNvPr id="23" name="Text 20"/>
          <p:cNvSpPr txBox="1"/>
          <p:nvPr/>
        </p:nvSpPr>
        <p:spPr>
          <a:xfrm>
            <a:off x="1115568" y="2706624"/>
            <a:ext cx="1870634" cy="411480"/>
          </a:xfrm>
          <a:prstGeom prst="rect">
            <a:avLst/>
          </a:prstGeom>
          <a:noFill/>
          <a:ln/>
        </p:spPr>
        <p:txBody>
          <a:bodyPr wrap="square" lIns="0" tIns="0" rIns="0" bIns="0" rtlCol="0" anchor="t"/>
          <a:lstStyle/>
          <a:p>
            <a:pPr algn="l" indent="0" marL="0">
              <a:lnSpc>
                <a:spcPct val="95000"/>
              </a:lnSpc>
              <a:buNone/>
            </a:pPr>
            <a:r>
              <a:rPr lang="en-US" altLang="en-US" sz="1700" b="1" dirty="0">
                <a:solidFill>
                  <a:srgbClr val="1A1A1A"/>
                </a:solidFill>
                <a:latin typeface="Cairo" pitchFamily="34" charset="0"/>
                <a:ea typeface="Cairo" pitchFamily="34" charset="-122"/>
                <a:cs typeface="Cairo" pitchFamily="34" charset="-120"/>
              </a:rPr>
              <a:t>Foundation</a:t>
            </a:r>
            <a:endParaRPr lang="en-US" sz="1700" dirty="0"/>
          </a:p>
        </p:txBody>
      </p:sp>
      <p:sp>
        <p:nvSpPr>
          <p:cNvPr id="24" name="Text 21"/>
          <p:cNvSpPr txBox="1"/>
          <p:nvPr/>
        </p:nvSpPr>
        <p:spPr>
          <a:xfrm>
            <a:off x="749808" y="3127248"/>
            <a:ext cx="2236394" cy="274320"/>
          </a:xfrm>
          <a:prstGeom prst="rect">
            <a:avLst/>
          </a:prstGeom>
          <a:noFill/>
          <a:ln/>
        </p:spPr>
        <p:txBody>
          <a:bodyPr wrap="square" lIns="0" tIns="0" rIns="0" bIns="0" rtlCol="0" anchor="t"/>
          <a:lstStyle/>
          <a:p>
            <a:pPr algn="l"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M1–M3 · 18 hours</a:t>
            </a:r>
            <a:endParaRPr lang="en-US" sz="1200" dirty="0"/>
          </a:p>
        </p:txBody>
      </p:sp>
      <p:sp>
        <p:nvSpPr>
          <p:cNvPr id="25" name="Text 22"/>
          <p:cNvSpPr txBox="1"/>
          <p:nvPr/>
        </p:nvSpPr>
        <p:spPr>
          <a:xfrm>
            <a:off x="749808" y="3429000"/>
            <a:ext cx="2236394" cy="777240"/>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AI literacy, responsible use, prompting, context, research and client briefs</a:t>
            </a:r>
            <a:endParaRPr lang="en-US" sz="1300" dirty="0"/>
          </a:p>
        </p:txBody>
      </p:sp>
      <p:sp>
        <p:nvSpPr>
          <p:cNvPr id="26" name="Shape 23"/>
          <p:cNvSpPr/>
          <p:nvPr/>
        </p:nvSpPr>
        <p:spPr>
          <a:xfrm>
            <a:off x="3379394" y="2560320"/>
            <a:ext cx="2602154" cy="1691640"/>
          </a:xfrm>
          <a:prstGeom prst="roundRect">
            <a:avLst>
              <a:gd name="adj" fmla="val 5405"/>
            </a:avLst>
          </a:prstGeom>
          <a:solidFill>
            <a:srgbClr val="F2F4F1"/>
          </a:solidFill>
          <a:ln w="12700">
            <a:solidFill>
              <a:srgbClr val="F2F4F1"/>
            </a:solidFill>
            <a:prstDash val="solid"/>
          </a:ln>
        </p:spPr>
      </p:sp>
      <p:sp>
        <p:nvSpPr>
          <p:cNvPr id="27" name="Shape 24"/>
          <p:cNvSpPr/>
          <p:nvPr/>
        </p:nvSpPr>
        <p:spPr>
          <a:xfrm>
            <a:off x="3580562" y="2807208"/>
            <a:ext cx="237744" cy="237744"/>
          </a:xfrm>
          <a:prstGeom prst="ellipse">
            <a:avLst/>
          </a:prstGeom>
          <a:solidFill>
            <a:srgbClr val="4DB449"/>
          </a:solidFill>
          <a:ln w="6350">
            <a:solidFill>
              <a:srgbClr val="4DB449"/>
            </a:solidFill>
            <a:prstDash val="solid"/>
          </a:ln>
        </p:spPr>
      </p:sp>
      <p:sp>
        <p:nvSpPr>
          <p:cNvPr id="28" name="Text 25"/>
          <p:cNvSpPr txBox="1"/>
          <p:nvPr/>
        </p:nvSpPr>
        <p:spPr>
          <a:xfrm>
            <a:off x="3946322" y="2706624"/>
            <a:ext cx="1870634" cy="411480"/>
          </a:xfrm>
          <a:prstGeom prst="rect">
            <a:avLst/>
          </a:prstGeom>
          <a:noFill/>
          <a:ln/>
        </p:spPr>
        <p:txBody>
          <a:bodyPr wrap="square" lIns="0" tIns="0" rIns="0" bIns="0" rtlCol="0" anchor="t"/>
          <a:lstStyle/>
          <a:p>
            <a:pPr algn="l" indent="0" marL="0">
              <a:lnSpc>
                <a:spcPct val="95000"/>
              </a:lnSpc>
              <a:buNone/>
            </a:pPr>
            <a:r>
              <a:rPr lang="en-US" altLang="en-US" sz="1700" b="1" dirty="0">
                <a:solidFill>
                  <a:srgbClr val="1A1A1A"/>
                </a:solidFill>
                <a:latin typeface="Cairo" pitchFamily="34" charset="0"/>
                <a:ea typeface="Cairo" pitchFamily="34" charset="-122"/>
                <a:cs typeface="Cairo" pitchFamily="34" charset="-120"/>
              </a:rPr>
              <a:t>Create</a:t>
            </a:r>
            <a:endParaRPr lang="en-US" sz="1700" dirty="0"/>
          </a:p>
        </p:txBody>
      </p:sp>
      <p:sp>
        <p:nvSpPr>
          <p:cNvPr id="29" name="Text 26"/>
          <p:cNvSpPr txBox="1"/>
          <p:nvPr/>
        </p:nvSpPr>
        <p:spPr>
          <a:xfrm>
            <a:off x="3580562" y="3127248"/>
            <a:ext cx="2236394" cy="274320"/>
          </a:xfrm>
          <a:prstGeom prst="rect">
            <a:avLst/>
          </a:prstGeom>
          <a:noFill/>
          <a:ln/>
        </p:spPr>
        <p:txBody>
          <a:bodyPr wrap="square" lIns="0" tIns="0" rIns="0" bIns="0" rtlCol="0" anchor="t"/>
          <a:lstStyle/>
          <a:p>
            <a:pPr algn="l"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M4 · 9 hours</a:t>
            </a:r>
            <a:endParaRPr lang="en-US" sz="1200" dirty="0"/>
          </a:p>
        </p:txBody>
      </p:sp>
      <p:sp>
        <p:nvSpPr>
          <p:cNvPr id="30" name="Text 27"/>
          <p:cNvSpPr txBox="1"/>
          <p:nvPr/>
        </p:nvSpPr>
        <p:spPr>
          <a:xfrm>
            <a:off x="3580562" y="3429000"/>
            <a:ext cx="2236394" cy="777240"/>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Copywriting, hooks, CTAs and content pillars</a:t>
            </a:r>
            <a:endParaRPr lang="en-US" sz="1300" dirty="0"/>
          </a:p>
        </p:txBody>
      </p:sp>
      <p:sp>
        <p:nvSpPr>
          <p:cNvPr id="31" name="Shape 28"/>
          <p:cNvSpPr/>
          <p:nvPr/>
        </p:nvSpPr>
        <p:spPr>
          <a:xfrm>
            <a:off x="6210148" y="2560320"/>
            <a:ext cx="2602154" cy="1691640"/>
          </a:xfrm>
          <a:prstGeom prst="roundRect">
            <a:avLst>
              <a:gd name="adj" fmla="val 5405"/>
            </a:avLst>
          </a:prstGeom>
          <a:solidFill>
            <a:srgbClr val="F2F4F1"/>
          </a:solidFill>
          <a:ln w="12700">
            <a:solidFill>
              <a:srgbClr val="F2F4F1"/>
            </a:solidFill>
            <a:prstDash val="solid"/>
          </a:ln>
        </p:spPr>
      </p:sp>
      <p:sp>
        <p:nvSpPr>
          <p:cNvPr id="32" name="Shape 29"/>
          <p:cNvSpPr/>
          <p:nvPr/>
        </p:nvSpPr>
        <p:spPr>
          <a:xfrm>
            <a:off x="6411316" y="2807208"/>
            <a:ext cx="237744" cy="237744"/>
          </a:xfrm>
          <a:prstGeom prst="ellipse">
            <a:avLst/>
          </a:prstGeom>
          <a:solidFill>
            <a:srgbClr val="A6D04B"/>
          </a:solidFill>
          <a:ln w="6350">
            <a:solidFill>
              <a:srgbClr val="A6D04B"/>
            </a:solidFill>
            <a:prstDash val="solid"/>
          </a:ln>
        </p:spPr>
      </p:sp>
      <p:sp>
        <p:nvSpPr>
          <p:cNvPr id="33" name="Text 30"/>
          <p:cNvSpPr txBox="1"/>
          <p:nvPr/>
        </p:nvSpPr>
        <p:spPr>
          <a:xfrm>
            <a:off x="6777076" y="2706624"/>
            <a:ext cx="1870634" cy="411480"/>
          </a:xfrm>
          <a:prstGeom prst="rect">
            <a:avLst/>
          </a:prstGeom>
          <a:noFill/>
          <a:ln/>
        </p:spPr>
        <p:txBody>
          <a:bodyPr wrap="square" lIns="0" tIns="0" rIns="0" bIns="0" rtlCol="0" anchor="t"/>
          <a:lstStyle/>
          <a:p>
            <a:pPr algn="l" indent="0" marL="0">
              <a:lnSpc>
                <a:spcPct val="95000"/>
              </a:lnSpc>
              <a:buNone/>
            </a:pPr>
            <a:r>
              <a:rPr lang="en-US" altLang="en-US" sz="1700" b="1" dirty="0">
                <a:solidFill>
                  <a:srgbClr val="1A1A1A"/>
                </a:solidFill>
                <a:latin typeface="Cairo" pitchFamily="34" charset="0"/>
                <a:ea typeface="Cairo" pitchFamily="34" charset="-122"/>
                <a:cs typeface="Cairo" pitchFamily="34" charset="-120"/>
              </a:rPr>
              <a:t>Produce</a:t>
            </a:r>
            <a:endParaRPr lang="en-US" sz="1700" dirty="0"/>
          </a:p>
        </p:txBody>
      </p:sp>
      <p:sp>
        <p:nvSpPr>
          <p:cNvPr id="34" name="Text 31"/>
          <p:cNvSpPr txBox="1"/>
          <p:nvPr/>
        </p:nvSpPr>
        <p:spPr>
          <a:xfrm>
            <a:off x="6411316" y="3127248"/>
            <a:ext cx="2236394" cy="274320"/>
          </a:xfrm>
          <a:prstGeom prst="rect">
            <a:avLst/>
          </a:prstGeom>
          <a:noFill/>
          <a:ln/>
        </p:spPr>
        <p:txBody>
          <a:bodyPr wrap="square" lIns="0" tIns="0" rIns="0" bIns="0" rtlCol="0" anchor="t"/>
          <a:lstStyle/>
          <a:p>
            <a:pPr algn="l"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M5–M7 · 33 hours</a:t>
            </a:r>
            <a:endParaRPr lang="en-US" sz="1200" dirty="0"/>
          </a:p>
        </p:txBody>
      </p:sp>
      <p:sp>
        <p:nvSpPr>
          <p:cNvPr id="35" name="Text 32"/>
          <p:cNvSpPr txBox="1"/>
          <p:nvPr/>
        </p:nvSpPr>
        <p:spPr>
          <a:xfrm>
            <a:off x="6411316" y="3429000"/>
            <a:ext cx="2236394" cy="777240"/>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Characters, voice, visuals, scripts, storyboards, AI video and editing</a:t>
            </a:r>
            <a:endParaRPr lang="en-US" sz="1300" dirty="0"/>
          </a:p>
        </p:txBody>
      </p:sp>
      <p:sp>
        <p:nvSpPr>
          <p:cNvPr id="36" name="Shape 33"/>
          <p:cNvSpPr/>
          <p:nvPr/>
        </p:nvSpPr>
        <p:spPr>
          <a:xfrm>
            <a:off x="9040901" y="2560320"/>
            <a:ext cx="2602154" cy="1691640"/>
          </a:xfrm>
          <a:prstGeom prst="roundRect">
            <a:avLst>
              <a:gd name="adj" fmla="val 5405"/>
            </a:avLst>
          </a:prstGeom>
          <a:solidFill>
            <a:srgbClr val="F2F4F1"/>
          </a:solidFill>
          <a:ln w="12700">
            <a:solidFill>
              <a:srgbClr val="F2F4F1"/>
            </a:solidFill>
            <a:prstDash val="solid"/>
          </a:ln>
        </p:spPr>
      </p:sp>
      <p:sp>
        <p:nvSpPr>
          <p:cNvPr id="37" name="Shape 34"/>
          <p:cNvSpPr/>
          <p:nvPr/>
        </p:nvSpPr>
        <p:spPr>
          <a:xfrm>
            <a:off x="9242069" y="2807208"/>
            <a:ext cx="237744" cy="237744"/>
          </a:xfrm>
          <a:prstGeom prst="ellipse">
            <a:avLst/>
          </a:prstGeom>
          <a:solidFill>
            <a:srgbClr val="000000"/>
          </a:solidFill>
          <a:ln w="6350">
            <a:solidFill>
              <a:srgbClr val="000000"/>
            </a:solidFill>
            <a:prstDash val="solid"/>
          </a:ln>
        </p:spPr>
      </p:sp>
      <p:sp>
        <p:nvSpPr>
          <p:cNvPr id="38" name="Text 35"/>
          <p:cNvSpPr txBox="1"/>
          <p:nvPr/>
        </p:nvSpPr>
        <p:spPr>
          <a:xfrm>
            <a:off x="9607829" y="2706624"/>
            <a:ext cx="1870634" cy="411480"/>
          </a:xfrm>
          <a:prstGeom prst="rect">
            <a:avLst/>
          </a:prstGeom>
          <a:noFill/>
          <a:ln/>
        </p:spPr>
        <p:txBody>
          <a:bodyPr wrap="square" lIns="0" tIns="0" rIns="0" bIns="0" rtlCol="0" anchor="t"/>
          <a:lstStyle/>
          <a:p>
            <a:pPr algn="l" indent="0" marL="0">
              <a:lnSpc>
                <a:spcPct val="95000"/>
              </a:lnSpc>
              <a:buNone/>
            </a:pPr>
            <a:r>
              <a:rPr lang="en-US" altLang="en-US" sz="1700" b="1" dirty="0">
                <a:solidFill>
                  <a:srgbClr val="1A1A1A"/>
                </a:solidFill>
                <a:latin typeface="Cairo" pitchFamily="34" charset="0"/>
                <a:ea typeface="Cairo" pitchFamily="34" charset="-122"/>
                <a:cs typeface="Cairo" pitchFamily="34" charset="-120"/>
              </a:rPr>
              <a:t>Market</a:t>
            </a:r>
            <a:endParaRPr lang="en-US" sz="1700" dirty="0"/>
          </a:p>
        </p:txBody>
      </p:sp>
      <p:sp>
        <p:nvSpPr>
          <p:cNvPr id="39" name="Text 36"/>
          <p:cNvSpPr txBox="1"/>
          <p:nvPr/>
        </p:nvSpPr>
        <p:spPr>
          <a:xfrm>
            <a:off x="9242069" y="3127248"/>
            <a:ext cx="2236394" cy="274320"/>
          </a:xfrm>
          <a:prstGeom prst="rect">
            <a:avLst/>
          </a:prstGeom>
          <a:noFill/>
          <a:ln/>
        </p:spPr>
        <p:txBody>
          <a:bodyPr wrap="square" lIns="0" tIns="0" rIns="0" bIns="0" rtlCol="0" anchor="t"/>
          <a:lstStyle/>
          <a:p>
            <a:pPr algn="l"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M8 · 9 hours</a:t>
            </a:r>
            <a:endParaRPr lang="en-US" sz="1200" dirty="0"/>
          </a:p>
        </p:txBody>
      </p:sp>
      <p:sp>
        <p:nvSpPr>
          <p:cNvPr id="40" name="Text 37"/>
          <p:cNvSpPr txBox="1"/>
          <p:nvPr/>
        </p:nvSpPr>
        <p:spPr>
          <a:xfrm>
            <a:off x="9242069" y="3429000"/>
            <a:ext cx="2236394" cy="777240"/>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Personas, objectives, calendars and campaigns</a:t>
            </a:r>
            <a:endParaRPr lang="en-US" sz="1300" dirty="0"/>
          </a:p>
        </p:txBody>
      </p:sp>
      <p:sp>
        <p:nvSpPr>
          <p:cNvPr id="41" name="Shape 38"/>
          <p:cNvSpPr/>
          <p:nvPr/>
        </p:nvSpPr>
        <p:spPr>
          <a:xfrm>
            <a:off x="548640" y="4453128"/>
            <a:ext cx="2602154" cy="1691640"/>
          </a:xfrm>
          <a:prstGeom prst="roundRect">
            <a:avLst>
              <a:gd name="adj" fmla="val 5405"/>
            </a:avLst>
          </a:prstGeom>
          <a:solidFill>
            <a:srgbClr val="F2F4F1"/>
          </a:solidFill>
          <a:ln w="12700">
            <a:solidFill>
              <a:srgbClr val="F2F4F1"/>
            </a:solidFill>
            <a:prstDash val="solid"/>
          </a:ln>
        </p:spPr>
      </p:sp>
      <p:sp>
        <p:nvSpPr>
          <p:cNvPr id="42" name="Shape 39"/>
          <p:cNvSpPr/>
          <p:nvPr/>
        </p:nvSpPr>
        <p:spPr>
          <a:xfrm>
            <a:off x="749808" y="4700016"/>
            <a:ext cx="237744" cy="237744"/>
          </a:xfrm>
          <a:prstGeom prst="ellipse">
            <a:avLst/>
          </a:prstGeom>
          <a:solidFill>
            <a:srgbClr val="4DB449"/>
          </a:solidFill>
          <a:ln w="6350">
            <a:solidFill>
              <a:srgbClr val="4DB449"/>
            </a:solidFill>
            <a:prstDash val="solid"/>
          </a:ln>
        </p:spPr>
      </p:sp>
      <p:sp>
        <p:nvSpPr>
          <p:cNvPr id="43" name="Text 40"/>
          <p:cNvSpPr txBox="1"/>
          <p:nvPr/>
        </p:nvSpPr>
        <p:spPr>
          <a:xfrm>
            <a:off x="1115568" y="4599432"/>
            <a:ext cx="1870634" cy="411480"/>
          </a:xfrm>
          <a:prstGeom prst="rect">
            <a:avLst/>
          </a:prstGeom>
          <a:noFill/>
          <a:ln/>
        </p:spPr>
        <p:txBody>
          <a:bodyPr wrap="square" lIns="0" tIns="0" rIns="0" bIns="0" rtlCol="0" anchor="t"/>
          <a:lstStyle/>
          <a:p>
            <a:pPr algn="l" indent="0" marL="0">
              <a:lnSpc>
                <a:spcPct val="95000"/>
              </a:lnSpc>
              <a:buNone/>
            </a:pPr>
            <a:r>
              <a:rPr lang="en-US" altLang="en-US" sz="1700" b="1" dirty="0">
                <a:solidFill>
                  <a:srgbClr val="1A1A1A"/>
                </a:solidFill>
                <a:latin typeface="Cairo" pitchFamily="34" charset="0"/>
                <a:ea typeface="Cairo" pitchFamily="34" charset="-122"/>
                <a:cs typeface="Cairo" pitchFamily="34" charset="-120"/>
              </a:rPr>
              <a:t>Automate</a:t>
            </a:r>
            <a:endParaRPr lang="en-US" sz="1700" dirty="0"/>
          </a:p>
        </p:txBody>
      </p:sp>
      <p:sp>
        <p:nvSpPr>
          <p:cNvPr id="44" name="Text 41"/>
          <p:cNvSpPr txBox="1"/>
          <p:nvPr/>
        </p:nvSpPr>
        <p:spPr>
          <a:xfrm>
            <a:off x="749808" y="5020056"/>
            <a:ext cx="2236394" cy="274320"/>
          </a:xfrm>
          <a:prstGeom prst="rect">
            <a:avLst/>
          </a:prstGeom>
          <a:noFill/>
          <a:ln/>
        </p:spPr>
        <p:txBody>
          <a:bodyPr wrap="square" lIns="0" tIns="0" rIns="0" bIns="0" rtlCol="0" anchor="t"/>
          <a:lstStyle/>
          <a:p>
            <a:pPr algn="l"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M9 · 12 hours</a:t>
            </a:r>
            <a:endParaRPr lang="en-US" sz="1200" dirty="0"/>
          </a:p>
        </p:txBody>
      </p:sp>
      <p:sp>
        <p:nvSpPr>
          <p:cNvPr id="45" name="Text 42"/>
          <p:cNvSpPr txBox="1"/>
          <p:nvPr/>
        </p:nvSpPr>
        <p:spPr>
          <a:xfrm>
            <a:off x="749808" y="5321808"/>
            <a:ext cx="2236394" cy="777240"/>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n8n workflows with forms, conditions, Sheets and AI</a:t>
            </a:r>
            <a:endParaRPr lang="en-US" sz="1300" dirty="0"/>
          </a:p>
        </p:txBody>
      </p:sp>
      <p:sp>
        <p:nvSpPr>
          <p:cNvPr id="46" name="Shape 43"/>
          <p:cNvSpPr/>
          <p:nvPr/>
        </p:nvSpPr>
        <p:spPr>
          <a:xfrm>
            <a:off x="3379394" y="4453128"/>
            <a:ext cx="2602154" cy="1691640"/>
          </a:xfrm>
          <a:prstGeom prst="roundRect">
            <a:avLst>
              <a:gd name="adj" fmla="val 5405"/>
            </a:avLst>
          </a:prstGeom>
          <a:solidFill>
            <a:srgbClr val="F2F4F1"/>
          </a:solidFill>
          <a:ln w="12700">
            <a:solidFill>
              <a:srgbClr val="F2F4F1"/>
            </a:solidFill>
            <a:prstDash val="solid"/>
          </a:ln>
        </p:spPr>
      </p:sp>
      <p:sp>
        <p:nvSpPr>
          <p:cNvPr id="47" name="Shape 44"/>
          <p:cNvSpPr/>
          <p:nvPr/>
        </p:nvSpPr>
        <p:spPr>
          <a:xfrm>
            <a:off x="3580562" y="4700016"/>
            <a:ext cx="237744" cy="237744"/>
          </a:xfrm>
          <a:prstGeom prst="ellipse">
            <a:avLst/>
          </a:prstGeom>
          <a:solidFill>
            <a:srgbClr val="A6D04B"/>
          </a:solidFill>
          <a:ln w="6350">
            <a:solidFill>
              <a:srgbClr val="A6D04B"/>
            </a:solidFill>
            <a:prstDash val="solid"/>
          </a:ln>
        </p:spPr>
      </p:sp>
      <p:sp>
        <p:nvSpPr>
          <p:cNvPr id="48" name="Text 45"/>
          <p:cNvSpPr txBox="1"/>
          <p:nvPr/>
        </p:nvSpPr>
        <p:spPr>
          <a:xfrm>
            <a:off x="3946322" y="4599432"/>
            <a:ext cx="1870634" cy="411480"/>
          </a:xfrm>
          <a:prstGeom prst="rect">
            <a:avLst/>
          </a:prstGeom>
          <a:noFill/>
          <a:ln/>
        </p:spPr>
        <p:txBody>
          <a:bodyPr wrap="square" lIns="0" tIns="0" rIns="0" bIns="0" rtlCol="0" anchor="t"/>
          <a:lstStyle/>
          <a:p>
            <a:pPr algn="l" indent="0" marL="0">
              <a:lnSpc>
                <a:spcPct val="95000"/>
              </a:lnSpc>
              <a:buNone/>
            </a:pPr>
            <a:r>
              <a:rPr lang="en-US" altLang="en-US" sz="1700" b="1" dirty="0">
                <a:solidFill>
                  <a:srgbClr val="1A1A1A"/>
                </a:solidFill>
                <a:latin typeface="Cairo" pitchFamily="34" charset="0"/>
                <a:ea typeface="Cairo" pitchFamily="34" charset="-122"/>
                <a:cs typeface="Cairo" pitchFamily="34" charset="-120"/>
              </a:rPr>
              <a:t>Launch</a:t>
            </a:r>
            <a:endParaRPr lang="en-US" sz="1700" dirty="0"/>
          </a:p>
        </p:txBody>
      </p:sp>
      <p:sp>
        <p:nvSpPr>
          <p:cNvPr id="49" name="Text 46"/>
          <p:cNvSpPr txBox="1"/>
          <p:nvPr/>
        </p:nvSpPr>
        <p:spPr>
          <a:xfrm>
            <a:off x="3580562" y="5020056"/>
            <a:ext cx="2236394" cy="274320"/>
          </a:xfrm>
          <a:prstGeom prst="rect">
            <a:avLst/>
          </a:prstGeom>
          <a:noFill/>
          <a:ln/>
        </p:spPr>
        <p:txBody>
          <a:bodyPr wrap="square" lIns="0" tIns="0" rIns="0" bIns="0" rtlCol="0" anchor="t"/>
          <a:lstStyle/>
          <a:p>
            <a:pPr algn="l"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M10 · 6 hours</a:t>
            </a:r>
            <a:endParaRPr lang="en-US" sz="1200" dirty="0"/>
          </a:p>
        </p:txBody>
      </p:sp>
      <p:sp>
        <p:nvSpPr>
          <p:cNvPr id="50" name="Text 47"/>
          <p:cNvSpPr txBox="1"/>
          <p:nvPr/>
        </p:nvSpPr>
        <p:spPr>
          <a:xfrm>
            <a:off x="3580562" y="5321808"/>
            <a:ext cx="2236394" cy="777240"/>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Vibe-coded portfolio, service packages, client communication</a:t>
            </a:r>
            <a:endParaRPr lang="en-US" sz="1300" dirty="0"/>
          </a:p>
        </p:txBody>
      </p:sp>
      <p:sp>
        <p:nvSpPr>
          <p:cNvPr id="51" name="Shape 48"/>
          <p:cNvSpPr/>
          <p:nvPr/>
        </p:nvSpPr>
        <p:spPr>
          <a:xfrm>
            <a:off x="6210148" y="4453128"/>
            <a:ext cx="2602154" cy="1691640"/>
          </a:xfrm>
          <a:prstGeom prst="roundRect">
            <a:avLst>
              <a:gd name="adj" fmla="val 5405"/>
            </a:avLst>
          </a:prstGeom>
          <a:solidFill>
            <a:srgbClr val="F2F4F1"/>
          </a:solidFill>
          <a:ln w="12700">
            <a:solidFill>
              <a:srgbClr val="F2F4F1"/>
            </a:solidFill>
            <a:prstDash val="solid"/>
          </a:ln>
        </p:spPr>
      </p:sp>
      <p:sp>
        <p:nvSpPr>
          <p:cNvPr id="52" name="Shape 49"/>
          <p:cNvSpPr/>
          <p:nvPr/>
        </p:nvSpPr>
        <p:spPr>
          <a:xfrm>
            <a:off x="6411316" y="4700016"/>
            <a:ext cx="237744" cy="237744"/>
          </a:xfrm>
          <a:prstGeom prst="ellipse">
            <a:avLst/>
          </a:prstGeom>
          <a:solidFill>
            <a:srgbClr val="000000"/>
          </a:solidFill>
          <a:ln w="6350">
            <a:solidFill>
              <a:srgbClr val="000000"/>
            </a:solidFill>
            <a:prstDash val="solid"/>
          </a:ln>
        </p:spPr>
      </p:sp>
      <p:sp>
        <p:nvSpPr>
          <p:cNvPr id="53" name="Text 50"/>
          <p:cNvSpPr txBox="1"/>
          <p:nvPr/>
        </p:nvSpPr>
        <p:spPr>
          <a:xfrm>
            <a:off x="6777076" y="4599432"/>
            <a:ext cx="1870634" cy="411480"/>
          </a:xfrm>
          <a:prstGeom prst="rect">
            <a:avLst/>
          </a:prstGeom>
          <a:noFill/>
          <a:ln/>
        </p:spPr>
        <p:txBody>
          <a:bodyPr wrap="square" lIns="0" tIns="0" rIns="0" bIns="0" rtlCol="0" anchor="t"/>
          <a:lstStyle/>
          <a:p>
            <a:pPr algn="l" indent="0" marL="0">
              <a:lnSpc>
                <a:spcPct val="95000"/>
              </a:lnSpc>
              <a:buNone/>
            </a:pPr>
            <a:r>
              <a:rPr lang="en-US" altLang="en-US" sz="1700" b="1" dirty="0">
                <a:solidFill>
                  <a:srgbClr val="1A1A1A"/>
                </a:solidFill>
                <a:latin typeface="Cairo" pitchFamily="34" charset="0"/>
                <a:ea typeface="Cairo" pitchFamily="34" charset="-122"/>
                <a:cs typeface="Cairo" pitchFamily="34" charset="-120"/>
              </a:rPr>
              <a:t>Capstone</a:t>
            </a:r>
            <a:endParaRPr lang="en-US" sz="1700" dirty="0"/>
          </a:p>
        </p:txBody>
      </p:sp>
      <p:sp>
        <p:nvSpPr>
          <p:cNvPr id="54" name="Text 51"/>
          <p:cNvSpPr txBox="1"/>
          <p:nvPr/>
        </p:nvSpPr>
        <p:spPr>
          <a:xfrm>
            <a:off x="6411316" y="5020056"/>
            <a:ext cx="2236394" cy="274320"/>
          </a:xfrm>
          <a:prstGeom prst="rect">
            <a:avLst/>
          </a:prstGeom>
          <a:noFill/>
          <a:ln/>
        </p:spPr>
        <p:txBody>
          <a:bodyPr wrap="square" lIns="0" tIns="0" rIns="0" bIns="0" rtlCol="0" anchor="t"/>
          <a:lstStyle/>
          <a:p>
            <a:pPr algn="l"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M11 · 9 hours</a:t>
            </a:r>
            <a:endParaRPr lang="en-US" sz="1200" dirty="0"/>
          </a:p>
        </p:txBody>
      </p:sp>
      <p:sp>
        <p:nvSpPr>
          <p:cNvPr id="55" name="Text 52"/>
          <p:cNvSpPr txBox="1"/>
          <p:nvPr/>
        </p:nvSpPr>
        <p:spPr>
          <a:xfrm>
            <a:off x="6411316" y="5321808"/>
            <a:ext cx="2236394" cy="777240"/>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Studio work, post-assessment and Demo Day</a:t>
            </a:r>
            <a:endParaRPr lang="en-US" sz="1300" dirty="0"/>
          </a:p>
        </p:txBody>
      </p:sp>
      <p:sp>
        <p:nvSpPr>
          <p:cNvPr id="56" name="Shape 53"/>
          <p:cNvSpPr/>
          <p:nvPr/>
        </p:nvSpPr>
        <p:spPr>
          <a:xfrm>
            <a:off x="9040901" y="4453128"/>
            <a:ext cx="2602154" cy="1691640"/>
          </a:xfrm>
          <a:prstGeom prst="roundRect">
            <a:avLst>
              <a:gd name="adj" fmla="val 5405"/>
            </a:avLst>
          </a:prstGeom>
          <a:solidFill>
            <a:srgbClr val="000000"/>
          </a:solidFill>
          <a:ln w="12700">
            <a:solidFill>
              <a:srgbClr val="000000"/>
            </a:solidFill>
            <a:prstDash val="solid"/>
          </a:ln>
        </p:spPr>
      </p:sp>
      <p:sp>
        <p:nvSpPr>
          <p:cNvPr id="57" name="Text 54"/>
          <p:cNvSpPr txBox="1"/>
          <p:nvPr/>
        </p:nvSpPr>
        <p:spPr>
          <a:xfrm>
            <a:off x="9269501" y="4636008"/>
            <a:ext cx="2144954" cy="868680"/>
          </a:xfrm>
          <a:prstGeom prst="rect">
            <a:avLst/>
          </a:prstGeom>
          <a:noFill/>
          <a:ln/>
        </p:spPr>
        <p:txBody>
          <a:bodyPr wrap="square" lIns="0" tIns="0" rIns="0" bIns="0" rtlCol="0" anchor="t"/>
          <a:lstStyle/>
          <a:p>
            <a:pPr algn="l" indent="0" marL="0">
              <a:lnSpc>
                <a:spcPct val="95000"/>
              </a:lnSpc>
              <a:buNone/>
            </a:pPr>
            <a:r>
              <a:rPr lang="en-US" altLang="en-US" sz="5400" b="1" dirty="0">
                <a:solidFill>
                  <a:srgbClr val="A6D04B"/>
                </a:solidFill>
                <a:latin typeface="Cairo" pitchFamily="34" charset="0"/>
                <a:ea typeface="Cairo" pitchFamily="34" charset="-122"/>
                <a:cs typeface="Cairo" pitchFamily="34" charset="-120"/>
              </a:rPr>
              <a:t>96</a:t>
            </a:r>
            <a:endParaRPr lang="en-US" sz="5400" dirty="0"/>
          </a:p>
        </p:txBody>
      </p:sp>
      <p:sp>
        <p:nvSpPr>
          <p:cNvPr id="58" name="Text 55"/>
          <p:cNvSpPr txBox="1"/>
          <p:nvPr/>
        </p:nvSpPr>
        <p:spPr>
          <a:xfrm>
            <a:off x="9269501" y="5550408"/>
            <a:ext cx="2144954" cy="365760"/>
          </a:xfrm>
          <a:prstGeom prst="rect">
            <a:avLst/>
          </a:prstGeom>
          <a:noFill/>
          <a:ln/>
        </p:spPr>
        <p:txBody>
          <a:bodyPr wrap="square" lIns="0" tIns="0" rIns="0" bIns="0" rtlCol="0" anchor="t"/>
          <a:lstStyle/>
          <a:p>
            <a:pPr algn="l" indent="0" marL="0">
              <a:lnSpc>
                <a:spcPct val="95000"/>
              </a:lnSpc>
              <a:buNone/>
            </a:pPr>
            <a:r>
              <a:rPr lang="en-US" altLang="en-US" sz="1500" dirty="0">
                <a:solidFill>
                  <a:srgbClr val="FFFFFF"/>
                </a:solidFill>
                <a:latin typeface="Calibri" pitchFamily="34" charset="0"/>
                <a:ea typeface="Calibri" pitchFamily="34" charset="-122"/>
                <a:cs typeface="Calibri" pitchFamily="34" charset="-120"/>
              </a:rPr>
              <a:t>training hours in total</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10356554" y="384048"/>
            <a:ext cx="1286501" cy="457200"/>
          </a:xfrm>
          <a:prstGeom prst="rect">
            <a:avLst/>
          </a:prstGeom>
        </p:spPr>
      </p:pic>
      <p:sp>
        <p:nvSpPr>
          <p:cNvPr id="3" name="Text 0"/>
          <p:cNvSpPr txBox="1"/>
          <p:nvPr/>
        </p:nvSpPr>
        <p:spPr>
          <a:xfrm>
            <a:off x="548640" y="6446520"/>
            <a:ext cx="6400800" cy="228600"/>
          </a:xfrm>
          <a:prstGeom prst="rect">
            <a:avLst/>
          </a:prstGeom>
          <a:noFill/>
          <a:ln/>
        </p:spPr>
        <p:txBody>
          <a:bodyPr wrap="square" lIns="0" tIns="0" rIns="0" bIns="0" rtlCol="0" anchor="t"/>
          <a:lstStyle/>
          <a:p>
            <a:pPr algn="l"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AI Creators Program · Training Concept Note</a:t>
            </a:r>
            <a:endParaRPr lang="en-US" sz="900" dirty="0"/>
          </a:p>
        </p:txBody>
      </p:sp>
      <p:sp>
        <p:nvSpPr>
          <p:cNvPr id="4" name="Text 1"/>
          <p:cNvSpPr txBox="1"/>
          <p:nvPr/>
        </p:nvSpPr>
        <p:spPr>
          <a:xfrm>
            <a:off x="11094415" y="6446520"/>
            <a:ext cx="548640" cy="228600"/>
          </a:xfrm>
          <a:prstGeom prst="rect">
            <a:avLst/>
          </a:prstGeom>
          <a:noFill/>
          <a:ln/>
        </p:spPr>
        <p:txBody>
          <a:bodyPr wrap="square" lIns="0" tIns="0" rIns="0" bIns="0" rtlCol="0" anchor="t"/>
          <a:lstStyle/>
          <a:p>
            <a:pPr algn="r"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7</a:t>
            </a:r>
            <a:endParaRPr lang="en-US" sz="900" dirty="0"/>
          </a:p>
        </p:txBody>
      </p:sp>
      <p:sp>
        <p:nvSpPr>
          <p:cNvPr id="5" name="Text 2"/>
          <p:cNvSpPr txBox="1"/>
          <p:nvPr/>
        </p:nvSpPr>
        <p:spPr>
          <a:xfrm>
            <a:off x="548640" y="384048"/>
            <a:ext cx="8961120" cy="274320"/>
          </a:xfrm>
          <a:prstGeom prst="rect">
            <a:avLst/>
          </a:prstGeom>
          <a:noFill/>
          <a:ln/>
        </p:spPr>
        <p:txBody>
          <a:bodyPr wrap="square" lIns="0" tIns="0" rIns="0" bIns="0" rtlCol="0" anchor="t"/>
          <a:lstStyle/>
          <a:p>
            <a:pPr algn="l" indent="0" marL="0">
              <a:lnSpc>
                <a:spcPct val="95000"/>
              </a:lnSpc>
              <a:buNone/>
            </a:pPr>
            <a:r>
              <a:rPr lang="en-US" altLang="en-US" sz="1100" b="1" spc="200" kern="0" dirty="0">
                <a:solidFill>
                  <a:srgbClr val="727274"/>
                </a:solidFill>
                <a:latin typeface="Calibri" pitchFamily="34" charset="0"/>
                <a:ea typeface="Calibri" pitchFamily="34" charset="-122"/>
                <a:cs typeface="Calibri" pitchFamily="34" charset="-120"/>
              </a:rPr>
              <a:t>06 · AI CONTENT CREATION</a:t>
            </a:r>
            <a:endParaRPr lang="en-US" sz="1100" dirty="0"/>
          </a:p>
        </p:txBody>
      </p:sp>
      <p:sp>
        <p:nvSpPr>
          <p:cNvPr id="6" name="Text 3"/>
          <p:cNvSpPr txBox="1"/>
          <p:nvPr/>
        </p:nvSpPr>
        <p:spPr>
          <a:xfrm>
            <a:off x="548640" y="676656"/>
            <a:ext cx="9418320" cy="914400"/>
          </a:xfrm>
          <a:prstGeom prst="rect">
            <a:avLst/>
          </a:prstGeom>
          <a:noFill/>
          <a:ln/>
        </p:spPr>
        <p:txBody>
          <a:bodyPr wrap="square" lIns="0" tIns="0" rIns="0" bIns="0" rtlCol="0" anchor="t"/>
          <a:lstStyle/>
          <a:p>
            <a:pPr algn="l" indent="0" marL="0">
              <a:lnSpc>
                <a:spcPct val="90000"/>
              </a:lnSpc>
              <a:buNone/>
            </a:pPr>
            <a:r>
              <a:rPr lang="en-US" altLang="en-US" sz="2800" b="1" dirty="0">
                <a:solidFill>
                  <a:srgbClr val="1A1A1A"/>
                </a:solidFill>
                <a:latin typeface="Cairo" pitchFamily="34" charset="0"/>
                <a:ea typeface="Cairo" pitchFamily="34" charset="-122"/>
                <a:cs typeface="Cairo" pitchFamily="34" charset="-120"/>
              </a:rPr>
              <a:t>Writing that people stop for, with AI as a drafting partner</a:t>
            </a:r>
            <a:endParaRPr lang="en-US" sz="2800" dirty="0"/>
          </a:p>
        </p:txBody>
      </p:sp>
      <p:sp>
        <p:nvSpPr>
          <p:cNvPr id="7" name="Text 4"/>
          <p:cNvSpPr txBox="1"/>
          <p:nvPr/>
        </p:nvSpPr>
        <p:spPr>
          <a:xfrm>
            <a:off x="548640" y="1828800"/>
            <a:ext cx="5120640" cy="1325880"/>
          </a:xfrm>
          <a:prstGeom prst="rect">
            <a:avLst/>
          </a:prstGeom>
          <a:noFill/>
          <a:ln/>
        </p:spPr>
        <p:txBody>
          <a:bodyPr wrap="square" lIns="0" tIns="0" rIns="0" bIns="0" rtlCol="0" anchor="t"/>
          <a:lstStyle/>
          <a:p>
            <a:pPr algn="l" indent="0" marL="0">
              <a:lnSpc>
                <a:spcPct val="105000"/>
              </a:lnSpc>
              <a:buNone/>
            </a:pPr>
            <a:r>
              <a:rPr lang="en-US" altLang="en-US" sz="1600" dirty="0">
                <a:solidFill>
                  <a:srgbClr val="2E302D"/>
                </a:solidFill>
                <a:latin typeface="Calibri" pitchFamily="34" charset="0"/>
                <a:ea typeface="Calibri" pitchFamily="34" charset="-122"/>
                <a:cs typeface="Calibri" pitchFamily="34" charset="-120"/>
              </a:rPr>
              <a:t>Students learn to brief an AI assistant properly, then rewrite its drafts until they sound human and fit the brand. Every exercise starts from a client need, not from the tool.</a:t>
            </a:r>
            <a:endParaRPr lang="en-US" sz="1600" dirty="0"/>
          </a:p>
        </p:txBody>
      </p:sp>
      <p:sp>
        <p:nvSpPr>
          <p:cNvPr id="8" name="Shape 5"/>
          <p:cNvSpPr/>
          <p:nvPr/>
        </p:nvSpPr>
        <p:spPr>
          <a:xfrm>
            <a:off x="548640" y="3337560"/>
            <a:ext cx="2468880" cy="438912"/>
          </a:xfrm>
          <a:prstGeom prst="roundRect">
            <a:avLst>
              <a:gd name="adj" fmla="val 50000"/>
            </a:avLst>
          </a:prstGeom>
          <a:solidFill>
            <a:srgbClr val="000000"/>
          </a:solidFill>
          <a:ln w="9525">
            <a:solidFill>
              <a:srgbClr val="000000"/>
            </a:solidFill>
            <a:prstDash val="solid"/>
          </a:ln>
        </p:spPr>
      </p:sp>
      <p:sp>
        <p:nvSpPr>
          <p:cNvPr id="9" name="Text 6"/>
          <p:cNvSpPr txBox="1"/>
          <p:nvPr/>
        </p:nvSpPr>
        <p:spPr>
          <a:xfrm>
            <a:off x="658368" y="3337560"/>
            <a:ext cx="2249424" cy="438912"/>
          </a:xfrm>
          <a:prstGeom prst="rect">
            <a:avLst/>
          </a:prstGeom>
          <a:noFill/>
          <a:ln/>
        </p:spPr>
        <p:txBody>
          <a:bodyPr wrap="square" lIns="0" tIns="0" rIns="0" bIns="0" rtlCol="0" anchor="ctr"/>
          <a:lstStyle/>
          <a:p>
            <a:pPr algn="ctr" indent="0" marL="0">
              <a:lnSpc>
                <a:spcPct val="95000"/>
              </a:lnSpc>
              <a:buNone/>
            </a:pPr>
            <a:r>
              <a:rPr lang="en-US" altLang="en-US" sz="1300" dirty="0">
                <a:solidFill>
                  <a:srgbClr val="FFFFFF"/>
                </a:solidFill>
                <a:latin typeface="Calibri" pitchFamily="34" charset="0"/>
                <a:ea typeface="Calibri" pitchFamily="34" charset="-122"/>
                <a:cs typeface="Calibri" pitchFamily="34" charset="-120"/>
              </a:rPr>
              <a:t>Prompt &amp; context engineering</a:t>
            </a:r>
            <a:endParaRPr lang="en-US" sz="1300" dirty="0"/>
          </a:p>
        </p:txBody>
      </p:sp>
      <p:sp>
        <p:nvSpPr>
          <p:cNvPr id="10" name="Shape 7"/>
          <p:cNvSpPr/>
          <p:nvPr/>
        </p:nvSpPr>
        <p:spPr>
          <a:xfrm>
            <a:off x="3154680" y="3337560"/>
            <a:ext cx="2468880" cy="438912"/>
          </a:xfrm>
          <a:prstGeom prst="roundRect">
            <a:avLst>
              <a:gd name="adj" fmla="val 50000"/>
            </a:avLst>
          </a:prstGeom>
          <a:solidFill>
            <a:srgbClr val="000000"/>
          </a:solidFill>
          <a:ln w="9525">
            <a:solidFill>
              <a:srgbClr val="000000"/>
            </a:solidFill>
            <a:prstDash val="solid"/>
          </a:ln>
        </p:spPr>
      </p:sp>
      <p:sp>
        <p:nvSpPr>
          <p:cNvPr id="11" name="Text 8"/>
          <p:cNvSpPr txBox="1"/>
          <p:nvPr/>
        </p:nvSpPr>
        <p:spPr>
          <a:xfrm>
            <a:off x="3264408" y="3337560"/>
            <a:ext cx="2249424" cy="438912"/>
          </a:xfrm>
          <a:prstGeom prst="rect">
            <a:avLst/>
          </a:prstGeom>
          <a:noFill/>
          <a:ln/>
        </p:spPr>
        <p:txBody>
          <a:bodyPr wrap="square" lIns="0" tIns="0" rIns="0" bIns="0" rtlCol="0" anchor="ctr"/>
          <a:lstStyle/>
          <a:p>
            <a:pPr algn="ctr" indent="0" marL="0">
              <a:lnSpc>
                <a:spcPct val="95000"/>
              </a:lnSpc>
              <a:buNone/>
            </a:pPr>
            <a:r>
              <a:rPr lang="en-US" altLang="en-US" sz="1300" dirty="0">
                <a:solidFill>
                  <a:srgbClr val="FFFFFF"/>
                </a:solidFill>
                <a:latin typeface="Calibri" pitchFamily="34" charset="0"/>
                <a:ea typeface="Calibri" pitchFamily="34" charset="-122"/>
                <a:cs typeface="Calibri" pitchFamily="34" charset="-120"/>
              </a:rPr>
              <a:t>Research &amp; fact checking</a:t>
            </a:r>
            <a:endParaRPr lang="en-US" sz="1300" dirty="0"/>
          </a:p>
        </p:txBody>
      </p:sp>
      <p:sp>
        <p:nvSpPr>
          <p:cNvPr id="12" name="Shape 9"/>
          <p:cNvSpPr/>
          <p:nvPr/>
        </p:nvSpPr>
        <p:spPr>
          <a:xfrm>
            <a:off x="548640" y="3904488"/>
            <a:ext cx="2468880" cy="438912"/>
          </a:xfrm>
          <a:prstGeom prst="roundRect">
            <a:avLst>
              <a:gd name="adj" fmla="val 50000"/>
            </a:avLst>
          </a:prstGeom>
          <a:solidFill>
            <a:srgbClr val="F2F4F1"/>
          </a:solidFill>
          <a:ln w="9525">
            <a:solidFill>
              <a:srgbClr val="F2F4F1"/>
            </a:solidFill>
            <a:prstDash val="solid"/>
          </a:ln>
        </p:spPr>
      </p:sp>
      <p:sp>
        <p:nvSpPr>
          <p:cNvPr id="13" name="Text 10"/>
          <p:cNvSpPr txBox="1"/>
          <p:nvPr/>
        </p:nvSpPr>
        <p:spPr>
          <a:xfrm>
            <a:off x="658368" y="3904488"/>
            <a:ext cx="2249424" cy="438912"/>
          </a:xfrm>
          <a:prstGeom prst="rect">
            <a:avLst/>
          </a:prstGeom>
          <a:noFill/>
          <a:ln/>
        </p:spPr>
        <p:txBody>
          <a:bodyPr wrap="square" lIns="0" tIns="0" rIns="0" bIns="0" rtlCol="0" anchor="ctr"/>
          <a:lstStyle/>
          <a:p>
            <a:pPr algn="ctr" indent="0" marL="0">
              <a:lnSpc>
                <a:spcPct val="95000"/>
              </a:lnSpc>
              <a:buNone/>
            </a:pPr>
            <a:r>
              <a:rPr lang="en-US" altLang="en-US" sz="1300" dirty="0">
                <a:solidFill>
                  <a:srgbClr val="1A1A1A"/>
                </a:solidFill>
                <a:latin typeface="Calibri" pitchFamily="34" charset="0"/>
                <a:ea typeface="Calibri" pitchFamily="34" charset="-122"/>
                <a:cs typeface="Calibri" pitchFamily="34" charset="-120"/>
              </a:rPr>
              <a:t>Creative briefs</a:t>
            </a:r>
            <a:endParaRPr lang="en-US" sz="1300" dirty="0"/>
          </a:p>
        </p:txBody>
      </p:sp>
      <p:sp>
        <p:nvSpPr>
          <p:cNvPr id="14" name="Shape 11"/>
          <p:cNvSpPr/>
          <p:nvPr/>
        </p:nvSpPr>
        <p:spPr>
          <a:xfrm>
            <a:off x="3154680" y="3904488"/>
            <a:ext cx="2468880" cy="438912"/>
          </a:xfrm>
          <a:prstGeom prst="roundRect">
            <a:avLst>
              <a:gd name="adj" fmla="val 50000"/>
            </a:avLst>
          </a:prstGeom>
          <a:solidFill>
            <a:srgbClr val="F2F4F1"/>
          </a:solidFill>
          <a:ln w="9525">
            <a:solidFill>
              <a:srgbClr val="F2F4F1"/>
            </a:solidFill>
            <a:prstDash val="solid"/>
          </a:ln>
        </p:spPr>
      </p:sp>
      <p:sp>
        <p:nvSpPr>
          <p:cNvPr id="15" name="Text 12"/>
          <p:cNvSpPr txBox="1"/>
          <p:nvPr/>
        </p:nvSpPr>
        <p:spPr>
          <a:xfrm>
            <a:off x="3264408" y="3904488"/>
            <a:ext cx="2249424" cy="438912"/>
          </a:xfrm>
          <a:prstGeom prst="rect">
            <a:avLst/>
          </a:prstGeom>
          <a:noFill/>
          <a:ln/>
        </p:spPr>
        <p:txBody>
          <a:bodyPr wrap="square" lIns="0" tIns="0" rIns="0" bIns="0" rtlCol="0" anchor="ctr"/>
          <a:lstStyle/>
          <a:p>
            <a:pPr algn="ctr" indent="0" marL="0">
              <a:lnSpc>
                <a:spcPct val="95000"/>
              </a:lnSpc>
              <a:buNone/>
            </a:pPr>
            <a:r>
              <a:rPr lang="en-US" altLang="en-US" sz="1300" dirty="0">
                <a:solidFill>
                  <a:srgbClr val="1A1A1A"/>
                </a:solidFill>
                <a:latin typeface="Calibri" pitchFamily="34" charset="0"/>
                <a:ea typeface="Calibri" pitchFamily="34" charset="-122"/>
                <a:cs typeface="Calibri" pitchFamily="34" charset="-120"/>
              </a:rPr>
              <a:t>Copywriting (AIDA, PAS)</a:t>
            </a:r>
            <a:endParaRPr lang="en-US" sz="1300" dirty="0"/>
          </a:p>
        </p:txBody>
      </p:sp>
      <p:sp>
        <p:nvSpPr>
          <p:cNvPr id="16" name="Shape 13"/>
          <p:cNvSpPr/>
          <p:nvPr/>
        </p:nvSpPr>
        <p:spPr>
          <a:xfrm>
            <a:off x="548640" y="4471416"/>
            <a:ext cx="2468880" cy="438912"/>
          </a:xfrm>
          <a:prstGeom prst="roundRect">
            <a:avLst>
              <a:gd name="adj" fmla="val 50000"/>
            </a:avLst>
          </a:prstGeom>
          <a:solidFill>
            <a:srgbClr val="F2F4F1"/>
          </a:solidFill>
          <a:ln w="9525">
            <a:solidFill>
              <a:srgbClr val="F2F4F1"/>
            </a:solidFill>
            <a:prstDash val="solid"/>
          </a:ln>
        </p:spPr>
      </p:sp>
      <p:sp>
        <p:nvSpPr>
          <p:cNvPr id="17" name="Text 14"/>
          <p:cNvSpPr txBox="1"/>
          <p:nvPr/>
        </p:nvSpPr>
        <p:spPr>
          <a:xfrm>
            <a:off x="658368" y="4471416"/>
            <a:ext cx="2249424" cy="438912"/>
          </a:xfrm>
          <a:prstGeom prst="rect">
            <a:avLst/>
          </a:prstGeom>
          <a:noFill/>
          <a:ln/>
        </p:spPr>
        <p:txBody>
          <a:bodyPr wrap="square" lIns="0" tIns="0" rIns="0" bIns="0" rtlCol="0" anchor="ctr"/>
          <a:lstStyle/>
          <a:p>
            <a:pPr algn="ctr" indent="0" marL="0">
              <a:lnSpc>
                <a:spcPct val="95000"/>
              </a:lnSpc>
              <a:buNone/>
            </a:pPr>
            <a:r>
              <a:rPr lang="en-US" altLang="en-US" sz="1300" dirty="0">
                <a:solidFill>
                  <a:srgbClr val="1A1A1A"/>
                </a:solidFill>
                <a:latin typeface="Calibri" pitchFamily="34" charset="0"/>
                <a:ea typeface="Calibri" pitchFamily="34" charset="-122"/>
                <a:cs typeface="Calibri" pitchFamily="34" charset="-120"/>
              </a:rPr>
              <a:t>Hooks &amp; CTAs</a:t>
            </a:r>
            <a:endParaRPr lang="en-US" sz="1300" dirty="0"/>
          </a:p>
        </p:txBody>
      </p:sp>
      <p:sp>
        <p:nvSpPr>
          <p:cNvPr id="18" name="Shape 15"/>
          <p:cNvSpPr/>
          <p:nvPr/>
        </p:nvSpPr>
        <p:spPr>
          <a:xfrm>
            <a:off x="3154680" y="4471416"/>
            <a:ext cx="2468880" cy="438912"/>
          </a:xfrm>
          <a:prstGeom prst="roundRect">
            <a:avLst>
              <a:gd name="adj" fmla="val 50000"/>
            </a:avLst>
          </a:prstGeom>
          <a:solidFill>
            <a:srgbClr val="F2F4F1"/>
          </a:solidFill>
          <a:ln w="9525">
            <a:solidFill>
              <a:srgbClr val="F2F4F1"/>
            </a:solidFill>
            <a:prstDash val="solid"/>
          </a:ln>
        </p:spPr>
      </p:sp>
      <p:sp>
        <p:nvSpPr>
          <p:cNvPr id="19" name="Text 16"/>
          <p:cNvSpPr txBox="1"/>
          <p:nvPr/>
        </p:nvSpPr>
        <p:spPr>
          <a:xfrm>
            <a:off x="3264408" y="4471416"/>
            <a:ext cx="2249424" cy="438912"/>
          </a:xfrm>
          <a:prstGeom prst="rect">
            <a:avLst/>
          </a:prstGeom>
          <a:noFill/>
          <a:ln/>
        </p:spPr>
        <p:txBody>
          <a:bodyPr wrap="square" lIns="0" tIns="0" rIns="0" bIns="0" rtlCol="0" anchor="ctr"/>
          <a:lstStyle/>
          <a:p>
            <a:pPr algn="ctr" indent="0" marL="0">
              <a:lnSpc>
                <a:spcPct val="95000"/>
              </a:lnSpc>
              <a:buNone/>
            </a:pPr>
            <a:r>
              <a:rPr lang="en-US" altLang="en-US" sz="1300" dirty="0">
                <a:solidFill>
                  <a:srgbClr val="1A1A1A"/>
                </a:solidFill>
                <a:latin typeface="Calibri" pitchFamily="34" charset="0"/>
                <a:ea typeface="Calibri" pitchFamily="34" charset="-122"/>
                <a:cs typeface="Calibri" pitchFamily="34" charset="-120"/>
              </a:rPr>
              <a:t>Content pillars</a:t>
            </a:r>
            <a:endParaRPr lang="en-US" sz="1300" dirty="0"/>
          </a:p>
        </p:txBody>
      </p:sp>
      <p:sp>
        <p:nvSpPr>
          <p:cNvPr id="20" name="Text 17"/>
          <p:cNvSpPr txBox="1"/>
          <p:nvPr/>
        </p:nvSpPr>
        <p:spPr>
          <a:xfrm>
            <a:off x="548640" y="5212080"/>
            <a:ext cx="5120640" cy="320040"/>
          </a:xfrm>
          <a:prstGeom prst="rect">
            <a:avLst/>
          </a:prstGeom>
          <a:noFill/>
          <a:ln/>
        </p:spPr>
        <p:txBody>
          <a:bodyPr wrap="square" lIns="0" tIns="0" rIns="0" bIns="0" rtlCol="0" anchor="t"/>
          <a:lstStyle/>
          <a:p>
            <a:pPr algn="l" indent="0" marL="0">
              <a:lnSpc>
                <a:spcPct val="95000"/>
              </a:lnSpc>
              <a:buNone/>
            </a:pPr>
            <a:r>
              <a:rPr lang="en-US" altLang="en-US" sz="1300" b="1" dirty="0">
                <a:solidFill>
                  <a:srgbClr val="727274"/>
                </a:solidFill>
                <a:latin typeface="Calibri" pitchFamily="34" charset="0"/>
                <a:ea typeface="Calibri" pitchFamily="34" charset="-122"/>
                <a:cs typeface="Calibri" pitchFamily="34" charset="-120"/>
              </a:rPr>
              <a:t>Tools: ChatGPT · Gemini · Canva</a:t>
            </a:r>
            <a:endParaRPr lang="en-US" sz="1300" dirty="0"/>
          </a:p>
        </p:txBody>
      </p:sp>
      <p:sp>
        <p:nvSpPr>
          <p:cNvPr id="21" name="Shape 18"/>
          <p:cNvSpPr/>
          <p:nvPr/>
        </p:nvSpPr>
        <p:spPr>
          <a:xfrm>
            <a:off x="6172200" y="2971800"/>
            <a:ext cx="1554480" cy="1554480"/>
          </a:xfrm>
          <a:prstGeom prst="ellipse">
            <a:avLst/>
          </a:prstGeom>
          <a:solidFill>
            <a:srgbClr val="000000"/>
          </a:solidFill>
          <a:ln w="12700">
            <a:solidFill>
              <a:srgbClr val="000000"/>
            </a:solidFill>
            <a:prstDash val="solid"/>
          </a:ln>
        </p:spPr>
      </p:sp>
      <p:pic>
        <p:nvPicPr>
          <p:cNvPr id="22" name="Image 1" descr="preencoded.png">    </p:cNvPr>
          <p:cNvPicPr>
            <a:picLocks noChangeAspect="1"/>
          </p:cNvPicPr>
          <p:nvPr/>
        </p:nvPicPr>
        <p:blipFill>
          <a:blip r:embed="rId2"/>
          <a:stretch>
            <a:fillRect/>
          </a:stretch>
        </p:blipFill>
        <p:spPr>
          <a:xfrm>
            <a:off x="6720840" y="3246120"/>
            <a:ext cx="457200" cy="457200"/>
          </a:xfrm>
          <a:prstGeom prst="rect">
            <a:avLst/>
          </a:prstGeom>
        </p:spPr>
      </p:pic>
      <p:sp>
        <p:nvSpPr>
          <p:cNvPr id="23" name="Text 19"/>
          <p:cNvSpPr txBox="1"/>
          <p:nvPr/>
        </p:nvSpPr>
        <p:spPr>
          <a:xfrm>
            <a:off x="6263640" y="3749040"/>
            <a:ext cx="1371600" cy="457200"/>
          </a:xfrm>
          <a:prstGeom prst="rect">
            <a:avLst/>
          </a:prstGeom>
          <a:noFill/>
          <a:ln/>
        </p:spPr>
        <p:txBody>
          <a:bodyPr wrap="square" lIns="0" tIns="0" rIns="0" bIns="0" rtlCol="0" anchor="t"/>
          <a:lstStyle/>
          <a:p>
            <a:pPr algn="ctr" indent="0" marL="0">
              <a:lnSpc>
                <a:spcPct val="95000"/>
              </a:lnSpc>
              <a:buNone/>
            </a:pPr>
            <a:r>
              <a:rPr lang="en-US" altLang="en-US" sz="1600" b="1" dirty="0">
                <a:solidFill>
                  <a:srgbClr val="FFFFFF"/>
                </a:solidFill>
                <a:latin typeface="Cairo" pitchFamily="34" charset="0"/>
                <a:ea typeface="Cairo" pitchFamily="34" charset="-122"/>
                <a:cs typeface="Cairo" pitchFamily="34" charset="-120"/>
              </a:rPr>
              <a:t>One idea</a:t>
            </a:r>
            <a:endParaRPr lang="en-US" sz="1600" dirty="0"/>
          </a:p>
        </p:txBody>
      </p:sp>
      <p:sp>
        <p:nvSpPr>
          <p:cNvPr id="24" name="Shape 20"/>
          <p:cNvSpPr/>
          <p:nvPr/>
        </p:nvSpPr>
        <p:spPr>
          <a:xfrm flipV="1">
            <a:off x="7726680" y="2468880"/>
            <a:ext cx="868680" cy="1280160"/>
          </a:xfrm>
          <a:prstGeom prst="line">
            <a:avLst/>
          </a:prstGeom>
          <a:noFill/>
          <a:ln w="25400">
            <a:solidFill>
              <a:srgbClr val="4DB449"/>
            </a:solidFill>
            <a:prstDash val="solid"/>
          </a:ln>
        </p:spPr>
      </p:sp>
      <p:sp>
        <p:nvSpPr>
          <p:cNvPr id="25" name="Shape 21"/>
          <p:cNvSpPr/>
          <p:nvPr/>
        </p:nvSpPr>
        <p:spPr>
          <a:xfrm>
            <a:off x="8595360" y="1920240"/>
            <a:ext cx="3044952" cy="1097280"/>
          </a:xfrm>
          <a:prstGeom prst="roundRect">
            <a:avLst>
              <a:gd name="adj" fmla="val 8333"/>
            </a:avLst>
          </a:prstGeom>
          <a:solidFill>
            <a:srgbClr val="EAF5E8"/>
          </a:solidFill>
          <a:ln w="12700">
            <a:solidFill>
              <a:srgbClr val="EAF5E8"/>
            </a:solidFill>
            <a:prstDash val="solid"/>
          </a:ln>
        </p:spPr>
      </p:sp>
      <p:pic>
        <p:nvPicPr>
          <p:cNvPr id="26" name="Image 2" descr="preencoded.png">    </p:cNvPr>
          <p:cNvPicPr>
            <a:picLocks noChangeAspect="1"/>
          </p:cNvPicPr>
          <p:nvPr/>
        </p:nvPicPr>
        <p:blipFill>
          <a:blip r:embed="rId3"/>
          <a:stretch>
            <a:fillRect/>
          </a:stretch>
        </p:blipFill>
        <p:spPr>
          <a:xfrm>
            <a:off x="8796528" y="2121408"/>
            <a:ext cx="365760" cy="365760"/>
          </a:xfrm>
          <a:prstGeom prst="rect">
            <a:avLst/>
          </a:prstGeom>
        </p:spPr>
      </p:pic>
      <p:sp>
        <p:nvSpPr>
          <p:cNvPr id="27" name="Text 22"/>
          <p:cNvSpPr txBox="1"/>
          <p:nvPr/>
        </p:nvSpPr>
        <p:spPr>
          <a:xfrm>
            <a:off x="9281160" y="2057400"/>
            <a:ext cx="2176272" cy="411480"/>
          </a:xfrm>
          <a:prstGeom prst="rect">
            <a:avLst/>
          </a:prstGeom>
          <a:noFill/>
          <a:ln/>
        </p:spPr>
        <p:txBody>
          <a:bodyPr wrap="square" lIns="0" tIns="0" rIns="0" bIns="0" rtlCol="0" anchor="t"/>
          <a:lstStyle/>
          <a:p>
            <a:pPr algn="l" indent="0" marL="0">
              <a:lnSpc>
                <a:spcPct val="95000"/>
              </a:lnSpc>
              <a:buNone/>
            </a:pPr>
            <a:r>
              <a:rPr lang="en-US" altLang="en-US" sz="1600" b="1" dirty="0">
                <a:solidFill>
                  <a:srgbClr val="1A1A1A"/>
                </a:solidFill>
                <a:latin typeface="Cairo" pitchFamily="34" charset="0"/>
                <a:ea typeface="Cairo" pitchFamily="34" charset="-122"/>
                <a:cs typeface="Cairo" pitchFamily="34" charset="-120"/>
              </a:rPr>
              <a:t>Reel hook</a:t>
            </a:r>
            <a:endParaRPr lang="en-US" sz="1600" dirty="0"/>
          </a:p>
        </p:txBody>
      </p:sp>
      <p:sp>
        <p:nvSpPr>
          <p:cNvPr id="28" name="Text 23"/>
          <p:cNvSpPr txBox="1"/>
          <p:nvPr/>
        </p:nvSpPr>
        <p:spPr>
          <a:xfrm>
            <a:off x="9281160" y="2468880"/>
            <a:ext cx="2176272" cy="457200"/>
          </a:xfrm>
          <a:prstGeom prst="rect">
            <a:avLst/>
          </a:prstGeom>
          <a:noFill/>
          <a:ln/>
        </p:spPr>
        <p:txBody>
          <a:bodyPr wrap="square" lIns="0" tIns="0" rIns="0" bIns="0" rtlCol="0" anchor="t"/>
          <a:lstStyle/>
          <a:p>
            <a:pPr algn="l" indent="0" marL="0">
              <a:lnSpc>
                <a:spcPct val="95000"/>
              </a:lnSpc>
              <a:buNone/>
            </a:pPr>
            <a:r>
              <a:rPr lang="en-US" altLang="en-US" sz="1300" dirty="0">
                <a:solidFill>
                  <a:srgbClr val="3C3E3B"/>
                </a:solidFill>
                <a:latin typeface="Calibri" pitchFamily="34" charset="0"/>
                <a:ea typeface="Calibri" pitchFamily="34" charset="-122"/>
                <a:cs typeface="Calibri" pitchFamily="34" charset="-120"/>
              </a:rPr>
              <a:t>First 3 seconds that stop the scroll</a:t>
            </a:r>
            <a:endParaRPr lang="en-US" sz="1300" dirty="0"/>
          </a:p>
        </p:txBody>
      </p:sp>
      <p:sp>
        <p:nvSpPr>
          <p:cNvPr id="29" name="Shape 24"/>
          <p:cNvSpPr/>
          <p:nvPr/>
        </p:nvSpPr>
        <p:spPr>
          <a:xfrm>
            <a:off x="7726680" y="3749040"/>
            <a:ext cx="868680" cy="45720"/>
          </a:xfrm>
          <a:prstGeom prst="line">
            <a:avLst/>
          </a:prstGeom>
          <a:noFill/>
          <a:ln w="25400">
            <a:solidFill>
              <a:srgbClr val="4DB449"/>
            </a:solidFill>
            <a:prstDash val="solid"/>
          </a:ln>
        </p:spPr>
      </p:sp>
      <p:sp>
        <p:nvSpPr>
          <p:cNvPr id="30" name="Shape 25"/>
          <p:cNvSpPr/>
          <p:nvPr/>
        </p:nvSpPr>
        <p:spPr>
          <a:xfrm>
            <a:off x="8595360" y="3246120"/>
            <a:ext cx="3044952" cy="1097280"/>
          </a:xfrm>
          <a:prstGeom prst="roundRect">
            <a:avLst>
              <a:gd name="adj" fmla="val 8333"/>
            </a:avLst>
          </a:prstGeom>
          <a:solidFill>
            <a:srgbClr val="EAF5E8"/>
          </a:solidFill>
          <a:ln w="12700">
            <a:solidFill>
              <a:srgbClr val="EAF5E8"/>
            </a:solidFill>
            <a:prstDash val="solid"/>
          </a:ln>
        </p:spPr>
      </p:sp>
      <p:pic>
        <p:nvPicPr>
          <p:cNvPr id="31" name="Image 3" descr="preencoded.png">    </p:cNvPr>
          <p:cNvPicPr>
            <a:picLocks noChangeAspect="1"/>
          </p:cNvPicPr>
          <p:nvPr/>
        </p:nvPicPr>
        <p:blipFill>
          <a:blip r:embed="rId4"/>
          <a:stretch>
            <a:fillRect/>
          </a:stretch>
        </p:blipFill>
        <p:spPr>
          <a:xfrm>
            <a:off x="8796528" y="3447288"/>
            <a:ext cx="365760" cy="365760"/>
          </a:xfrm>
          <a:prstGeom prst="rect">
            <a:avLst/>
          </a:prstGeom>
        </p:spPr>
      </p:pic>
      <p:sp>
        <p:nvSpPr>
          <p:cNvPr id="32" name="Text 26"/>
          <p:cNvSpPr txBox="1"/>
          <p:nvPr/>
        </p:nvSpPr>
        <p:spPr>
          <a:xfrm>
            <a:off x="9281160" y="3383280"/>
            <a:ext cx="2176272" cy="411480"/>
          </a:xfrm>
          <a:prstGeom prst="rect">
            <a:avLst/>
          </a:prstGeom>
          <a:noFill/>
          <a:ln/>
        </p:spPr>
        <p:txBody>
          <a:bodyPr wrap="square" lIns="0" tIns="0" rIns="0" bIns="0" rtlCol="0" anchor="t"/>
          <a:lstStyle/>
          <a:p>
            <a:pPr algn="l" indent="0" marL="0">
              <a:lnSpc>
                <a:spcPct val="95000"/>
              </a:lnSpc>
              <a:buNone/>
            </a:pPr>
            <a:r>
              <a:rPr lang="en-US" altLang="en-US" sz="1600" b="1" dirty="0">
                <a:solidFill>
                  <a:srgbClr val="1A1A1A"/>
                </a:solidFill>
                <a:latin typeface="Cairo" pitchFamily="34" charset="0"/>
                <a:ea typeface="Cairo" pitchFamily="34" charset="-122"/>
                <a:cs typeface="Cairo" pitchFamily="34" charset="-120"/>
              </a:rPr>
              <a:t>Carousel</a:t>
            </a:r>
            <a:endParaRPr lang="en-US" sz="1600" dirty="0"/>
          </a:p>
        </p:txBody>
      </p:sp>
      <p:sp>
        <p:nvSpPr>
          <p:cNvPr id="33" name="Text 27"/>
          <p:cNvSpPr txBox="1"/>
          <p:nvPr/>
        </p:nvSpPr>
        <p:spPr>
          <a:xfrm>
            <a:off x="9281160" y="3794760"/>
            <a:ext cx="2176272" cy="457200"/>
          </a:xfrm>
          <a:prstGeom prst="rect">
            <a:avLst/>
          </a:prstGeom>
          <a:noFill/>
          <a:ln/>
        </p:spPr>
        <p:txBody>
          <a:bodyPr wrap="square" lIns="0" tIns="0" rIns="0" bIns="0" rtlCol="0" anchor="t"/>
          <a:lstStyle/>
          <a:p>
            <a:pPr algn="l" indent="0" marL="0">
              <a:lnSpc>
                <a:spcPct val="95000"/>
              </a:lnSpc>
              <a:buNone/>
            </a:pPr>
            <a:r>
              <a:rPr lang="en-US" altLang="en-US" sz="1300" dirty="0">
                <a:solidFill>
                  <a:srgbClr val="3C3E3B"/>
                </a:solidFill>
                <a:latin typeface="Calibri" pitchFamily="34" charset="0"/>
                <a:ea typeface="Calibri" pitchFamily="34" charset="-122"/>
                <a:cs typeface="Calibri" pitchFamily="34" charset="-120"/>
              </a:rPr>
              <a:t>5–7 slides designed in Canva</a:t>
            </a:r>
            <a:endParaRPr lang="en-US" sz="1300" dirty="0"/>
          </a:p>
        </p:txBody>
      </p:sp>
      <p:sp>
        <p:nvSpPr>
          <p:cNvPr id="34" name="Shape 28"/>
          <p:cNvSpPr/>
          <p:nvPr/>
        </p:nvSpPr>
        <p:spPr>
          <a:xfrm>
            <a:off x="7726680" y="3749040"/>
            <a:ext cx="868680" cy="1371600"/>
          </a:xfrm>
          <a:prstGeom prst="line">
            <a:avLst/>
          </a:prstGeom>
          <a:noFill/>
          <a:ln w="25400">
            <a:solidFill>
              <a:srgbClr val="4DB449"/>
            </a:solidFill>
            <a:prstDash val="solid"/>
          </a:ln>
        </p:spPr>
      </p:sp>
      <p:sp>
        <p:nvSpPr>
          <p:cNvPr id="35" name="Shape 29"/>
          <p:cNvSpPr/>
          <p:nvPr/>
        </p:nvSpPr>
        <p:spPr>
          <a:xfrm>
            <a:off x="8595360" y="4572000"/>
            <a:ext cx="3044952" cy="1097280"/>
          </a:xfrm>
          <a:prstGeom prst="roundRect">
            <a:avLst>
              <a:gd name="adj" fmla="val 8333"/>
            </a:avLst>
          </a:prstGeom>
          <a:solidFill>
            <a:srgbClr val="EAF5E8"/>
          </a:solidFill>
          <a:ln w="12700">
            <a:solidFill>
              <a:srgbClr val="EAF5E8"/>
            </a:solidFill>
            <a:prstDash val="solid"/>
          </a:ln>
        </p:spPr>
      </p:sp>
      <p:pic>
        <p:nvPicPr>
          <p:cNvPr id="36" name="Image 4" descr="preencoded.png">    </p:cNvPr>
          <p:cNvPicPr>
            <a:picLocks noChangeAspect="1"/>
          </p:cNvPicPr>
          <p:nvPr/>
        </p:nvPicPr>
        <p:blipFill>
          <a:blip r:embed="rId5"/>
          <a:stretch>
            <a:fillRect/>
          </a:stretch>
        </p:blipFill>
        <p:spPr>
          <a:xfrm>
            <a:off x="8796528" y="4773168"/>
            <a:ext cx="365760" cy="365760"/>
          </a:xfrm>
          <a:prstGeom prst="rect">
            <a:avLst/>
          </a:prstGeom>
        </p:spPr>
      </p:pic>
      <p:sp>
        <p:nvSpPr>
          <p:cNvPr id="37" name="Text 30"/>
          <p:cNvSpPr txBox="1"/>
          <p:nvPr/>
        </p:nvSpPr>
        <p:spPr>
          <a:xfrm>
            <a:off x="9281160" y="4709160"/>
            <a:ext cx="2176272" cy="411480"/>
          </a:xfrm>
          <a:prstGeom prst="rect">
            <a:avLst/>
          </a:prstGeom>
          <a:noFill/>
          <a:ln/>
        </p:spPr>
        <p:txBody>
          <a:bodyPr wrap="square" lIns="0" tIns="0" rIns="0" bIns="0" rtlCol="0" anchor="t"/>
          <a:lstStyle/>
          <a:p>
            <a:pPr algn="l" indent="0" marL="0">
              <a:lnSpc>
                <a:spcPct val="95000"/>
              </a:lnSpc>
              <a:buNone/>
            </a:pPr>
            <a:r>
              <a:rPr lang="en-US" altLang="en-US" sz="1600" b="1" dirty="0">
                <a:solidFill>
                  <a:srgbClr val="1A1A1A"/>
                </a:solidFill>
                <a:latin typeface="Cairo" pitchFamily="34" charset="0"/>
                <a:ea typeface="Cairo" pitchFamily="34" charset="-122"/>
                <a:cs typeface="Cairo" pitchFamily="34" charset="-120"/>
              </a:rPr>
              <a:t>Caption + CTA</a:t>
            </a:r>
            <a:endParaRPr lang="en-US" sz="1600" dirty="0"/>
          </a:p>
        </p:txBody>
      </p:sp>
      <p:sp>
        <p:nvSpPr>
          <p:cNvPr id="38" name="Text 31"/>
          <p:cNvSpPr txBox="1"/>
          <p:nvPr/>
        </p:nvSpPr>
        <p:spPr>
          <a:xfrm>
            <a:off x="9281160" y="5120640"/>
            <a:ext cx="2176272" cy="457200"/>
          </a:xfrm>
          <a:prstGeom prst="rect">
            <a:avLst/>
          </a:prstGeom>
          <a:noFill/>
          <a:ln/>
        </p:spPr>
        <p:txBody>
          <a:bodyPr wrap="square" lIns="0" tIns="0" rIns="0" bIns="0" rtlCol="0" anchor="t"/>
          <a:lstStyle/>
          <a:p>
            <a:pPr algn="l" indent="0" marL="0">
              <a:lnSpc>
                <a:spcPct val="95000"/>
              </a:lnSpc>
              <a:buNone/>
            </a:pPr>
            <a:r>
              <a:rPr lang="en-US" altLang="en-US" sz="1300" dirty="0">
                <a:solidFill>
                  <a:srgbClr val="3C3E3B"/>
                </a:solidFill>
                <a:latin typeface="Calibri" pitchFamily="34" charset="0"/>
                <a:ea typeface="Calibri" pitchFamily="34" charset="-122"/>
                <a:cs typeface="Calibri" pitchFamily="34" charset="-120"/>
              </a:rPr>
              <a:t>Clear next step for the reader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6446520"/>
            <a:ext cx="6400800" cy="228600"/>
          </a:xfrm>
          <a:prstGeom prst="rect">
            <a:avLst/>
          </a:prstGeom>
          <a:noFill/>
          <a:ln/>
        </p:spPr>
        <p:txBody>
          <a:bodyPr wrap="square" lIns="0" tIns="0" rIns="0" bIns="0" rtlCol="0" anchor="t"/>
          <a:lstStyle/>
          <a:p>
            <a:pPr algn="l" indent="0" marL="0">
              <a:lnSpc>
                <a:spcPct val="95000"/>
              </a:lnSpc>
              <a:buNone/>
            </a:pPr>
            <a:r>
              <a:rPr lang="en-US" altLang="en-US" sz="900" dirty="0">
                <a:solidFill>
                  <a:srgbClr val="8A8C88"/>
                </a:solidFill>
                <a:latin typeface="Calibri" pitchFamily="34" charset="0"/>
                <a:ea typeface="Calibri" pitchFamily="34" charset="-122"/>
                <a:cs typeface="Calibri" pitchFamily="34" charset="-120"/>
              </a:rPr>
              <a:t>AI Creators Program · Training Concept Note</a:t>
            </a:r>
            <a:endParaRPr lang="en-US" sz="900" dirty="0"/>
          </a:p>
        </p:txBody>
      </p:sp>
      <p:sp>
        <p:nvSpPr>
          <p:cNvPr id="3" name="Text 1"/>
          <p:cNvSpPr txBox="1"/>
          <p:nvPr/>
        </p:nvSpPr>
        <p:spPr>
          <a:xfrm>
            <a:off x="11094415" y="6446520"/>
            <a:ext cx="548640" cy="228600"/>
          </a:xfrm>
          <a:prstGeom prst="rect">
            <a:avLst/>
          </a:prstGeom>
          <a:noFill/>
          <a:ln/>
        </p:spPr>
        <p:txBody>
          <a:bodyPr wrap="square" lIns="0" tIns="0" rIns="0" bIns="0" rtlCol="0" anchor="t"/>
          <a:lstStyle/>
          <a:p>
            <a:pPr algn="r" indent="0" marL="0">
              <a:lnSpc>
                <a:spcPct val="95000"/>
              </a:lnSpc>
              <a:buNone/>
            </a:pPr>
            <a:r>
              <a:rPr lang="en-US" altLang="en-US" sz="900" dirty="0">
                <a:solidFill>
                  <a:srgbClr val="8A8C88"/>
                </a:solidFill>
                <a:latin typeface="Calibri" pitchFamily="34" charset="0"/>
                <a:ea typeface="Calibri" pitchFamily="34" charset="-122"/>
                <a:cs typeface="Calibri" pitchFamily="34" charset="-120"/>
              </a:rPr>
              <a:t>8</a:t>
            </a:r>
            <a:endParaRPr lang="en-US" sz="900" dirty="0"/>
          </a:p>
        </p:txBody>
      </p:sp>
      <p:pic>
        <p:nvPicPr>
          <p:cNvPr id="4" name="Image 0" descr="/tmp/claude-0/-home-user-Ahmadhj4/8033014c-23ac-596c-be21-c24cf3e8b75e/scratchpad/build/assets/green-circle-logo.png">    </p:cNvPr>
          <p:cNvPicPr>
            <a:picLocks noChangeAspect="1"/>
          </p:cNvPicPr>
          <p:nvPr/>
        </p:nvPicPr>
        <p:blipFill>
          <a:blip r:embed="rId1"/>
          <a:stretch>
            <a:fillRect/>
          </a:stretch>
        </p:blipFill>
        <p:spPr>
          <a:xfrm>
            <a:off x="10225735" y="384048"/>
            <a:ext cx="1417320" cy="503691"/>
          </a:xfrm>
          <a:prstGeom prst="rect">
            <a:avLst/>
          </a:prstGeom>
        </p:spPr>
      </p:pic>
      <p:sp>
        <p:nvSpPr>
          <p:cNvPr id="5" name="Text 2"/>
          <p:cNvSpPr txBox="1"/>
          <p:nvPr/>
        </p:nvSpPr>
        <p:spPr>
          <a:xfrm>
            <a:off x="548640" y="384048"/>
            <a:ext cx="8961120" cy="274320"/>
          </a:xfrm>
          <a:prstGeom prst="rect">
            <a:avLst/>
          </a:prstGeom>
          <a:noFill/>
          <a:ln/>
        </p:spPr>
        <p:txBody>
          <a:bodyPr wrap="square" lIns="0" tIns="0" rIns="0" bIns="0" rtlCol="0" anchor="t"/>
          <a:lstStyle/>
          <a:p>
            <a:pPr algn="l" indent="0" marL="0">
              <a:lnSpc>
                <a:spcPct val="95000"/>
              </a:lnSpc>
              <a:buNone/>
            </a:pPr>
            <a:r>
              <a:rPr lang="en-US" altLang="en-US" sz="1100" b="1" spc="200" kern="0" dirty="0">
                <a:solidFill>
                  <a:srgbClr val="A6D04B"/>
                </a:solidFill>
                <a:latin typeface="Calibri" pitchFamily="34" charset="0"/>
                <a:ea typeface="Calibri" pitchFamily="34" charset="-122"/>
                <a:cs typeface="Calibri" pitchFamily="34" charset="-120"/>
              </a:rPr>
              <a:t>07 · AI VIDEO &amp; CHARACTER CREATION</a:t>
            </a:r>
            <a:endParaRPr lang="en-US" sz="1100" dirty="0"/>
          </a:p>
        </p:txBody>
      </p:sp>
      <p:sp>
        <p:nvSpPr>
          <p:cNvPr id="6" name="Text 3"/>
          <p:cNvSpPr txBox="1"/>
          <p:nvPr/>
        </p:nvSpPr>
        <p:spPr>
          <a:xfrm>
            <a:off x="548640" y="676656"/>
            <a:ext cx="9418320" cy="914400"/>
          </a:xfrm>
          <a:prstGeom prst="rect">
            <a:avLst/>
          </a:prstGeom>
          <a:noFill/>
          <a:ln/>
        </p:spPr>
        <p:txBody>
          <a:bodyPr wrap="square" lIns="0" tIns="0" rIns="0" bIns="0" rtlCol="0" anchor="t"/>
          <a:lstStyle/>
          <a:p>
            <a:pPr algn="l" indent="0" marL="0">
              <a:lnSpc>
                <a:spcPct val="90000"/>
              </a:lnSpc>
              <a:buNone/>
            </a:pPr>
            <a:r>
              <a:rPr lang="en-US" altLang="en-US" sz="2800" b="1" dirty="0">
                <a:solidFill>
                  <a:srgbClr val="FFFFFF"/>
                </a:solidFill>
                <a:latin typeface="Cairo" pitchFamily="34" charset="0"/>
                <a:ea typeface="Cairo" pitchFamily="34" charset="-122"/>
                <a:cs typeface="Cairo" pitchFamily="34" charset="-120"/>
              </a:rPr>
              <a:t>From a character sheet to a finished, captioned video</a:t>
            </a:r>
            <a:endParaRPr lang="en-US" sz="2800" dirty="0"/>
          </a:p>
        </p:txBody>
      </p:sp>
      <p:pic>
        <p:nvPicPr>
          <p:cNvPr id="7" name="Image 1" descr="preencoded.png">    </p:cNvPr>
          <p:cNvPicPr>
            <a:picLocks noChangeAspect="1"/>
          </p:cNvPicPr>
          <p:nvPr/>
        </p:nvPicPr>
        <p:blipFill>
          <a:blip r:embed="rId2"/>
          <a:stretch>
            <a:fillRect/>
          </a:stretch>
        </p:blipFill>
        <p:spPr>
          <a:xfrm>
            <a:off x="2214829" y="2308860"/>
            <a:ext cx="365760" cy="365760"/>
          </a:xfrm>
          <a:prstGeom prst="rect">
            <a:avLst/>
          </a:prstGeom>
        </p:spPr>
      </p:pic>
      <p:sp>
        <p:nvSpPr>
          <p:cNvPr id="8" name="Shape 4"/>
          <p:cNvSpPr/>
          <p:nvPr/>
        </p:nvSpPr>
        <p:spPr>
          <a:xfrm>
            <a:off x="993115" y="2011680"/>
            <a:ext cx="960120" cy="960120"/>
          </a:xfrm>
          <a:prstGeom prst="ellipse">
            <a:avLst/>
          </a:prstGeom>
          <a:solidFill>
            <a:srgbClr val="4DB449"/>
          </a:solidFill>
          <a:ln w="12700">
            <a:solidFill>
              <a:srgbClr val="4DB449"/>
            </a:solidFill>
            <a:prstDash val="solid"/>
          </a:ln>
        </p:spPr>
      </p:sp>
      <p:pic>
        <p:nvPicPr>
          <p:cNvPr id="9" name="Image 2" descr="preencoded.png">    </p:cNvPr>
          <p:cNvPicPr>
            <a:picLocks noChangeAspect="1"/>
          </p:cNvPicPr>
          <p:nvPr/>
        </p:nvPicPr>
        <p:blipFill>
          <a:blip r:embed="rId3"/>
          <a:stretch>
            <a:fillRect/>
          </a:stretch>
        </p:blipFill>
        <p:spPr>
          <a:xfrm>
            <a:off x="1235431" y="2253996"/>
            <a:ext cx="475488" cy="475488"/>
          </a:xfrm>
          <a:prstGeom prst="rect">
            <a:avLst/>
          </a:prstGeom>
        </p:spPr>
      </p:pic>
      <p:sp>
        <p:nvSpPr>
          <p:cNvPr id="10" name="Text 5"/>
          <p:cNvSpPr txBox="1"/>
          <p:nvPr/>
        </p:nvSpPr>
        <p:spPr>
          <a:xfrm>
            <a:off x="741655" y="3108960"/>
            <a:ext cx="146304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A6D04B"/>
                </a:solidFill>
                <a:latin typeface="Calibri" pitchFamily="34" charset="0"/>
                <a:ea typeface="Calibri" pitchFamily="34" charset="-122"/>
                <a:cs typeface="Calibri" pitchFamily="34" charset="-120"/>
              </a:rPr>
              <a:t>01</a:t>
            </a:r>
            <a:endParaRPr lang="en-US" sz="1100" dirty="0"/>
          </a:p>
        </p:txBody>
      </p:sp>
      <p:sp>
        <p:nvSpPr>
          <p:cNvPr id="11" name="Text 6"/>
          <p:cNvSpPr txBox="1"/>
          <p:nvPr/>
        </p:nvSpPr>
        <p:spPr>
          <a:xfrm>
            <a:off x="558775" y="3383280"/>
            <a:ext cx="1828800" cy="384048"/>
          </a:xfrm>
          <a:prstGeom prst="rect">
            <a:avLst/>
          </a:prstGeom>
          <a:noFill/>
          <a:ln/>
        </p:spPr>
        <p:txBody>
          <a:bodyPr wrap="square" lIns="0" tIns="0" rIns="0" bIns="0" rtlCol="0" anchor="t"/>
          <a:lstStyle/>
          <a:p>
            <a:pPr algn="ctr" indent="0" marL="0">
              <a:lnSpc>
                <a:spcPct val="95000"/>
              </a:lnSpc>
              <a:buNone/>
            </a:pPr>
            <a:r>
              <a:rPr lang="en-US" altLang="en-US" sz="1700" b="1" dirty="0">
                <a:solidFill>
                  <a:srgbClr val="FFFFFF"/>
                </a:solidFill>
                <a:latin typeface="Cairo" pitchFamily="34" charset="0"/>
                <a:ea typeface="Cairo" pitchFamily="34" charset="-122"/>
                <a:cs typeface="Cairo" pitchFamily="34" charset="-120"/>
              </a:rPr>
              <a:t>Character</a:t>
            </a:r>
            <a:endParaRPr lang="en-US" sz="1700" dirty="0"/>
          </a:p>
        </p:txBody>
      </p:sp>
      <p:sp>
        <p:nvSpPr>
          <p:cNvPr id="12" name="Text 7"/>
          <p:cNvSpPr txBox="1"/>
          <p:nvPr/>
        </p:nvSpPr>
        <p:spPr>
          <a:xfrm>
            <a:off x="577063" y="3813048"/>
            <a:ext cx="1792224" cy="731520"/>
          </a:xfrm>
          <a:prstGeom prst="rect">
            <a:avLst/>
          </a:prstGeom>
          <a:noFill/>
          <a:ln/>
        </p:spPr>
        <p:txBody>
          <a:bodyPr wrap="square" lIns="0" tIns="0" rIns="0" bIns="0" rtlCol="0" anchor="t"/>
          <a:lstStyle/>
          <a:p>
            <a:pPr algn="ctr" indent="0" marL="0">
              <a:lnSpc>
                <a:spcPct val="100000"/>
              </a:lnSpc>
              <a:buNone/>
            </a:pPr>
            <a:r>
              <a:rPr lang="en-US" altLang="en-US" sz="1300" dirty="0">
                <a:solidFill>
                  <a:srgbClr val="C9CCC8"/>
                </a:solidFill>
                <a:latin typeface="Calibri" pitchFamily="34" charset="0"/>
                <a:ea typeface="Calibri" pitchFamily="34" charset="-122"/>
                <a:cs typeface="Calibri" pitchFamily="34" charset="-120"/>
              </a:rPr>
              <a:t>Character sheet + reference images</a:t>
            </a:r>
            <a:endParaRPr lang="en-US" sz="1300" dirty="0"/>
          </a:p>
        </p:txBody>
      </p:sp>
      <p:pic>
        <p:nvPicPr>
          <p:cNvPr id="13" name="Image 3" descr="preencoded.png">    </p:cNvPr>
          <p:cNvPicPr>
            <a:picLocks noChangeAspect="1"/>
          </p:cNvPicPr>
          <p:nvPr/>
        </p:nvPicPr>
        <p:blipFill>
          <a:blip r:embed="rId4"/>
          <a:stretch>
            <a:fillRect/>
          </a:stretch>
        </p:blipFill>
        <p:spPr>
          <a:xfrm>
            <a:off x="4063898" y="2308860"/>
            <a:ext cx="365760" cy="365760"/>
          </a:xfrm>
          <a:prstGeom prst="rect">
            <a:avLst/>
          </a:prstGeom>
        </p:spPr>
      </p:pic>
      <p:sp>
        <p:nvSpPr>
          <p:cNvPr id="14" name="Shape 8"/>
          <p:cNvSpPr/>
          <p:nvPr/>
        </p:nvSpPr>
        <p:spPr>
          <a:xfrm>
            <a:off x="2842184" y="2011680"/>
            <a:ext cx="960120" cy="960120"/>
          </a:xfrm>
          <a:prstGeom prst="ellipse">
            <a:avLst/>
          </a:prstGeom>
          <a:solidFill>
            <a:srgbClr val="A6D04B"/>
          </a:solidFill>
          <a:ln w="12700">
            <a:solidFill>
              <a:srgbClr val="A6D04B"/>
            </a:solidFill>
            <a:prstDash val="solid"/>
          </a:ln>
        </p:spPr>
      </p:sp>
      <p:pic>
        <p:nvPicPr>
          <p:cNvPr id="15" name="Image 4" descr="preencoded.png">    </p:cNvPr>
          <p:cNvPicPr>
            <a:picLocks noChangeAspect="1"/>
          </p:cNvPicPr>
          <p:nvPr/>
        </p:nvPicPr>
        <p:blipFill>
          <a:blip r:embed="rId5"/>
          <a:stretch>
            <a:fillRect/>
          </a:stretch>
        </p:blipFill>
        <p:spPr>
          <a:xfrm>
            <a:off x="3084500" y="2253996"/>
            <a:ext cx="475488" cy="475488"/>
          </a:xfrm>
          <a:prstGeom prst="rect">
            <a:avLst/>
          </a:prstGeom>
        </p:spPr>
      </p:pic>
      <p:sp>
        <p:nvSpPr>
          <p:cNvPr id="16" name="Text 9"/>
          <p:cNvSpPr txBox="1"/>
          <p:nvPr/>
        </p:nvSpPr>
        <p:spPr>
          <a:xfrm>
            <a:off x="2590724" y="3108960"/>
            <a:ext cx="146304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A6D04B"/>
                </a:solidFill>
                <a:latin typeface="Calibri" pitchFamily="34" charset="0"/>
                <a:ea typeface="Calibri" pitchFamily="34" charset="-122"/>
                <a:cs typeface="Calibri" pitchFamily="34" charset="-120"/>
              </a:rPr>
              <a:t>02</a:t>
            </a:r>
            <a:endParaRPr lang="en-US" sz="1100" dirty="0"/>
          </a:p>
        </p:txBody>
      </p:sp>
      <p:sp>
        <p:nvSpPr>
          <p:cNvPr id="17" name="Text 10"/>
          <p:cNvSpPr txBox="1"/>
          <p:nvPr/>
        </p:nvSpPr>
        <p:spPr>
          <a:xfrm>
            <a:off x="2407844" y="3383280"/>
            <a:ext cx="1828800" cy="384048"/>
          </a:xfrm>
          <a:prstGeom prst="rect">
            <a:avLst/>
          </a:prstGeom>
          <a:noFill/>
          <a:ln/>
        </p:spPr>
        <p:txBody>
          <a:bodyPr wrap="square" lIns="0" tIns="0" rIns="0" bIns="0" rtlCol="0" anchor="t"/>
          <a:lstStyle/>
          <a:p>
            <a:pPr algn="ctr" indent="0" marL="0">
              <a:lnSpc>
                <a:spcPct val="95000"/>
              </a:lnSpc>
              <a:buNone/>
            </a:pPr>
            <a:r>
              <a:rPr lang="en-US" altLang="en-US" sz="1700" b="1" dirty="0">
                <a:solidFill>
                  <a:srgbClr val="FFFFFF"/>
                </a:solidFill>
                <a:latin typeface="Cairo" pitchFamily="34" charset="0"/>
                <a:ea typeface="Cairo" pitchFamily="34" charset="-122"/>
                <a:cs typeface="Cairo" pitchFamily="34" charset="-120"/>
              </a:rPr>
              <a:t>Voice</a:t>
            </a:r>
            <a:endParaRPr lang="en-US" sz="1700" dirty="0"/>
          </a:p>
        </p:txBody>
      </p:sp>
      <p:sp>
        <p:nvSpPr>
          <p:cNvPr id="18" name="Text 11"/>
          <p:cNvSpPr txBox="1"/>
          <p:nvPr/>
        </p:nvSpPr>
        <p:spPr>
          <a:xfrm>
            <a:off x="2426132" y="3813048"/>
            <a:ext cx="1792224" cy="731520"/>
          </a:xfrm>
          <a:prstGeom prst="rect">
            <a:avLst/>
          </a:prstGeom>
          <a:noFill/>
          <a:ln/>
        </p:spPr>
        <p:txBody>
          <a:bodyPr wrap="square" lIns="0" tIns="0" rIns="0" bIns="0" rtlCol="0" anchor="t"/>
          <a:lstStyle/>
          <a:p>
            <a:pPr algn="ctr" indent="0" marL="0">
              <a:lnSpc>
                <a:spcPct val="100000"/>
              </a:lnSpc>
              <a:buNone/>
            </a:pPr>
            <a:r>
              <a:rPr lang="en-US" altLang="en-US" sz="1300" dirty="0">
                <a:solidFill>
                  <a:srgbClr val="C9CCC8"/>
                </a:solidFill>
                <a:latin typeface="Calibri" pitchFamily="34" charset="0"/>
                <a:ea typeface="Calibri" pitchFamily="34" charset="-122"/>
                <a:cs typeface="Calibri" pitchFamily="34" charset="-120"/>
              </a:rPr>
              <a:t>Voice profile + 30-sec narration</a:t>
            </a:r>
            <a:endParaRPr lang="en-US" sz="1300" dirty="0"/>
          </a:p>
        </p:txBody>
      </p:sp>
      <p:pic>
        <p:nvPicPr>
          <p:cNvPr id="19" name="Image 5" descr="preencoded.png">    </p:cNvPr>
          <p:cNvPicPr>
            <a:picLocks noChangeAspect="1"/>
          </p:cNvPicPr>
          <p:nvPr/>
        </p:nvPicPr>
        <p:blipFill>
          <a:blip r:embed="rId6"/>
          <a:stretch>
            <a:fillRect/>
          </a:stretch>
        </p:blipFill>
        <p:spPr>
          <a:xfrm>
            <a:off x="5912968" y="2308860"/>
            <a:ext cx="365760" cy="365760"/>
          </a:xfrm>
          <a:prstGeom prst="rect">
            <a:avLst/>
          </a:prstGeom>
        </p:spPr>
      </p:pic>
      <p:sp>
        <p:nvSpPr>
          <p:cNvPr id="20" name="Shape 12"/>
          <p:cNvSpPr/>
          <p:nvPr/>
        </p:nvSpPr>
        <p:spPr>
          <a:xfrm>
            <a:off x="4691253" y="2011680"/>
            <a:ext cx="960120" cy="960120"/>
          </a:xfrm>
          <a:prstGeom prst="ellipse">
            <a:avLst/>
          </a:prstGeom>
          <a:solidFill>
            <a:srgbClr val="4DB449"/>
          </a:solidFill>
          <a:ln w="12700">
            <a:solidFill>
              <a:srgbClr val="4DB449"/>
            </a:solidFill>
            <a:prstDash val="solid"/>
          </a:ln>
        </p:spPr>
      </p:sp>
      <p:pic>
        <p:nvPicPr>
          <p:cNvPr id="21" name="Image 6" descr="preencoded.png">    </p:cNvPr>
          <p:cNvPicPr>
            <a:picLocks noChangeAspect="1"/>
          </p:cNvPicPr>
          <p:nvPr/>
        </p:nvPicPr>
        <p:blipFill>
          <a:blip r:embed="rId7"/>
          <a:stretch>
            <a:fillRect/>
          </a:stretch>
        </p:blipFill>
        <p:spPr>
          <a:xfrm>
            <a:off x="4933569" y="2253996"/>
            <a:ext cx="475488" cy="475488"/>
          </a:xfrm>
          <a:prstGeom prst="rect">
            <a:avLst/>
          </a:prstGeom>
        </p:spPr>
      </p:pic>
      <p:sp>
        <p:nvSpPr>
          <p:cNvPr id="22" name="Text 13"/>
          <p:cNvSpPr txBox="1"/>
          <p:nvPr/>
        </p:nvSpPr>
        <p:spPr>
          <a:xfrm>
            <a:off x="4439793" y="3108960"/>
            <a:ext cx="146304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A6D04B"/>
                </a:solidFill>
                <a:latin typeface="Calibri" pitchFamily="34" charset="0"/>
                <a:ea typeface="Calibri" pitchFamily="34" charset="-122"/>
                <a:cs typeface="Calibri" pitchFamily="34" charset="-120"/>
              </a:rPr>
              <a:t>03</a:t>
            </a:r>
            <a:endParaRPr lang="en-US" sz="1100" dirty="0"/>
          </a:p>
        </p:txBody>
      </p:sp>
      <p:sp>
        <p:nvSpPr>
          <p:cNvPr id="23" name="Text 14"/>
          <p:cNvSpPr txBox="1"/>
          <p:nvPr/>
        </p:nvSpPr>
        <p:spPr>
          <a:xfrm>
            <a:off x="4256913" y="3383280"/>
            <a:ext cx="1828800" cy="384048"/>
          </a:xfrm>
          <a:prstGeom prst="rect">
            <a:avLst/>
          </a:prstGeom>
          <a:noFill/>
          <a:ln/>
        </p:spPr>
        <p:txBody>
          <a:bodyPr wrap="square" lIns="0" tIns="0" rIns="0" bIns="0" rtlCol="0" anchor="t"/>
          <a:lstStyle/>
          <a:p>
            <a:pPr algn="ctr" indent="0" marL="0">
              <a:lnSpc>
                <a:spcPct val="95000"/>
              </a:lnSpc>
              <a:buNone/>
            </a:pPr>
            <a:r>
              <a:rPr lang="en-US" altLang="en-US" sz="1700" b="1" dirty="0">
                <a:solidFill>
                  <a:srgbClr val="FFFFFF"/>
                </a:solidFill>
                <a:latin typeface="Cairo" pitchFamily="34" charset="0"/>
                <a:ea typeface="Cairo" pitchFamily="34" charset="-122"/>
                <a:cs typeface="Cairo" pitchFamily="34" charset="-120"/>
              </a:rPr>
              <a:t>Script</a:t>
            </a:r>
            <a:endParaRPr lang="en-US" sz="1700" dirty="0"/>
          </a:p>
        </p:txBody>
      </p:sp>
      <p:sp>
        <p:nvSpPr>
          <p:cNvPr id="24" name="Text 15"/>
          <p:cNvSpPr txBox="1"/>
          <p:nvPr/>
        </p:nvSpPr>
        <p:spPr>
          <a:xfrm>
            <a:off x="4275201" y="3813048"/>
            <a:ext cx="1792224" cy="731520"/>
          </a:xfrm>
          <a:prstGeom prst="rect">
            <a:avLst/>
          </a:prstGeom>
          <a:noFill/>
          <a:ln/>
        </p:spPr>
        <p:txBody>
          <a:bodyPr wrap="square" lIns="0" tIns="0" rIns="0" bIns="0" rtlCol="0" anchor="t"/>
          <a:lstStyle/>
          <a:p>
            <a:pPr algn="ctr" indent="0" marL="0">
              <a:lnSpc>
                <a:spcPct val="100000"/>
              </a:lnSpc>
              <a:buNone/>
            </a:pPr>
            <a:r>
              <a:rPr lang="en-US" altLang="en-US" sz="1300" dirty="0">
                <a:solidFill>
                  <a:srgbClr val="C9CCC8"/>
                </a:solidFill>
                <a:latin typeface="Calibri" pitchFamily="34" charset="0"/>
                <a:ea typeface="Calibri" pitchFamily="34" charset="-122"/>
                <a:cs typeface="Calibri" pitchFamily="34" charset="-120"/>
              </a:rPr>
              <a:t>30–60 sec two-column script</a:t>
            </a:r>
            <a:endParaRPr lang="en-US" sz="1300" dirty="0"/>
          </a:p>
        </p:txBody>
      </p:sp>
      <p:pic>
        <p:nvPicPr>
          <p:cNvPr id="25" name="Image 7" descr="preencoded.png">    </p:cNvPr>
          <p:cNvPicPr>
            <a:picLocks noChangeAspect="1"/>
          </p:cNvPicPr>
          <p:nvPr/>
        </p:nvPicPr>
        <p:blipFill>
          <a:blip r:embed="rId8"/>
          <a:stretch>
            <a:fillRect/>
          </a:stretch>
        </p:blipFill>
        <p:spPr>
          <a:xfrm>
            <a:off x="7762037" y="2308860"/>
            <a:ext cx="365760" cy="365760"/>
          </a:xfrm>
          <a:prstGeom prst="rect">
            <a:avLst/>
          </a:prstGeom>
        </p:spPr>
      </p:pic>
      <p:sp>
        <p:nvSpPr>
          <p:cNvPr id="26" name="Shape 16"/>
          <p:cNvSpPr/>
          <p:nvPr/>
        </p:nvSpPr>
        <p:spPr>
          <a:xfrm>
            <a:off x="6540322" y="2011680"/>
            <a:ext cx="960120" cy="960120"/>
          </a:xfrm>
          <a:prstGeom prst="ellipse">
            <a:avLst/>
          </a:prstGeom>
          <a:solidFill>
            <a:srgbClr val="A6D04B"/>
          </a:solidFill>
          <a:ln w="12700">
            <a:solidFill>
              <a:srgbClr val="A6D04B"/>
            </a:solidFill>
            <a:prstDash val="solid"/>
          </a:ln>
        </p:spPr>
      </p:sp>
      <p:pic>
        <p:nvPicPr>
          <p:cNvPr id="27" name="Image 8" descr="preencoded.png">    </p:cNvPr>
          <p:cNvPicPr>
            <a:picLocks noChangeAspect="1"/>
          </p:cNvPicPr>
          <p:nvPr/>
        </p:nvPicPr>
        <p:blipFill>
          <a:blip r:embed="rId9"/>
          <a:stretch>
            <a:fillRect/>
          </a:stretch>
        </p:blipFill>
        <p:spPr>
          <a:xfrm>
            <a:off x="6782638" y="2253996"/>
            <a:ext cx="475488" cy="475488"/>
          </a:xfrm>
          <a:prstGeom prst="rect">
            <a:avLst/>
          </a:prstGeom>
        </p:spPr>
      </p:pic>
      <p:sp>
        <p:nvSpPr>
          <p:cNvPr id="28" name="Text 17"/>
          <p:cNvSpPr txBox="1"/>
          <p:nvPr/>
        </p:nvSpPr>
        <p:spPr>
          <a:xfrm>
            <a:off x="6288862" y="3108960"/>
            <a:ext cx="146304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A6D04B"/>
                </a:solidFill>
                <a:latin typeface="Calibri" pitchFamily="34" charset="0"/>
                <a:ea typeface="Calibri" pitchFamily="34" charset="-122"/>
                <a:cs typeface="Calibri" pitchFamily="34" charset="-120"/>
              </a:rPr>
              <a:t>04</a:t>
            </a:r>
            <a:endParaRPr lang="en-US" sz="1100" dirty="0"/>
          </a:p>
        </p:txBody>
      </p:sp>
      <p:sp>
        <p:nvSpPr>
          <p:cNvPr id="29" name="Text 18"/>
          <p:cNvSpPr txBox="1"/>
          <p:nvPr/>
        </p:nvSpPr>
        <p:spPr>
          <a:xfrm>
            <a:off x="6105982" y="3383280"/>
            <a:ext cx="1828800" cy="384048"/>
          </a:xfrm>
          <a:prstGeom prst="rect">
            <a:avLst/>
          </a:prstGeom>
          <a:noFill/>
          <a:ln/>
        </p:spPr>
        <p:txBody>
          <a:bodyPr wrap="square" lIns="0" tIns="0" rIns="0" bIns="0" rtlCol="0" anchor="t"/>
          <a:lstStyle/>
          <a:p>
            <a:pPr algn="ctr" indent="0" marL="0">
              <a:lnSpc>
                <a:spcPct val="95000"/>
              </a:lnSpc>
              <a:buNone/>
            </a:pPr>
            <a:r>
              <a:rPr lang="en-US" altLang="en-US" sz="1700" b="1" dirty="0">
                <a:solidFill>
                  <a:srgbClr val="FFFFFF"/>
                </a:solidFill>
                <a:latin typeface="Cairo" pitchFamily="34" charset="0"/>
                <a:ea typeface="Cairo" pitchFamily="34" charset="-122"/>
                <a:cs typeface="Cairo" pitchFamily="34" charset="-120"/>
              </a:rPr>
              <a:t>Storyboard</a:t>
            </a:r>
            <a:endParaRPr lang="en-US" sz="1700" dirty="0"/>
          </a:p>
        </p:txBody>
      </p:sp>
      <p:sp>
        <p:nvSpPr>
          <p:cNvPr id="30" name="Text 19"/>
          <p:cNvSpPr txBox="1"/>
          <p:nvPr/>
        </p:nvSpPr>
        <p:spPr>
          <a:xfrm>
            <a:off x="6124270" y="3813048"/>
            <a:ext cx="1792224" cy="731520"/>
          </a:xfrm>
          <a:prstGeom prst="rect">
            <a:avLst/>
          </a:prstGeom>
          <a:noFill/>
          <a:ln/>
        </p:spPr>
        <p:txBody>
          <a:bodyPr wrap="square" lIns="0" tIns="0" rIns="0" bIns="0" rtlCol="0" anchor="t"/>
          <a:lstStyle/>
          <a:p>
            <a:pPr algn="ctr" indent="0" marL="0">
              <a:lnSpc>
                <a:spcPct val="100000"/>
              </a:lnSpc>
              <a:buNone/>
            </a:pPr>
            <a:r>
              <a:rPr lang="en-US" altLang="en-US" sz="1300" dirty="0">
                <a:solidFill>
                  <a:srgbClr val="C9CCC8"/>
                </a:solidFill>
                <a:latin typeface="Calibri" pitchFamily="34" charset="0"/>
                <a:ea typeface="Calibri" pitchFamily="34" charset="-122"/>
                <a:cs typeface="Calibri" pitchFamily="34" charset="-120"/>
              </a:rPr>
              <a:t>6–10 frames with shot list</a:t>
            </a:r>
            <a:endParaRPr lang="en-US" sz="1300" dirty="0"/>
          </a:p>
        </p:txBody>
      </p:sp>
      <p:pic>
        <p:nvPicPr>
          <p:cNvPr id="31" name="Image 9" descr="preencoded.png">    </p:cNvPr>
          <p:cNvPicPr>
            <a:picLocks noChangeAspect="1"/>
          </p:cNvPicPr>
          <p:nvPr/>
        </p:nvPicPr>
        <p:blipFill>
          <a:blip r:embed="rId10"/>
          <a:stretch>
            <a:fillRect/>
          </a:stretch>
        </p:blipFill>
        <p:spPr>
          <a:xfrm>
            <a:off x="9611106" y="2308860"/>
            <a:ext cx="365760" cy="365760"/>
          </a:xfrm>
          <a:prstGeom prst="rect">
            <a:avLst/>
          </a:prstGeom>
        </p:spPr>
      </p:pic>
      <p:sp>
        <p:nvSpPr>
          <p:cNvPr id="32" name="Shape 20"/>
          <p:cNvSpPr/>
          <p:nvPr/>
        </p:nvSpPr>
        <p:spPr>
          <a:xfrm>
            <a:off x="8389391" y="2011680"/>
            <a:ext cx="960120" cy="960120"/>
          </a:xfrm>
          <a:prstGeom prst="ellipse">
            <a:avLst/>
          </a:prstGeom>
          <a:solidFill>
            <a:srgbClr val="4DB449"/>
          </a:solidFill>
          <a:ln w="12700">
            <a:solidFill>
              <a:srgbClr val="4DB449"/>
            </a:solidFill>
            <a:prstDash val="solid"/>
          </a:ln>
        </p:spPr>
      </p:sp>
      <p:pic>
        <p:nvPicPr>
          <p:cNvPr id="33" name="Image 10" descr="preencoded.png">    </p:cNvPr>
          <p:cNvPicPr>
            <a:picLocks noChangeAspect="1"/>
          </p:cNvPicPr>
          <p:nvPr/>
        </p:nvPicPr>
        <p:blipFill>
          <a:blip r:embed="rId11"/>
          <a:stretch>
            <a:fillRect/>
          </a:stretch>
        </p:blipFill>
        <p:spPr>
          <a:xfrm>
            <a:off x="8631707" y="2253996"/>
            <a:ext cx="475488" cy="475488"/>
          </a:xfrm>
          <a:prstGeom prst="rect">
            <a:avLst/>
          </a:prstGeom>
        </p:spPr>
      </p:pic>
      <p:sp>
        <p:nvSpPr>
          <p:cNvPr id="34" name="Text 21"/>
          <p:cNvSpPr txBox="1"/>
          <p:nvPr/>
        </p:nvSpPr>
        <p:spPr>
          <a:xfrm>
            <a:off x="8137931" y="3108960"/>
            <a:ext cx="146304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A6D04B"/>
                </a:solidFill>
                <a:latin typeface="Calibri" pitchFamily="34" charset="0"/>
                <a:ea typeface="Calibri" pitchFamily="34" charset="-122"/>
                <a:cs typeface="Calibri" pitchFamily="34" charset="-120"/>
              </a:rPr>
              <a:t>05</a:t>
            </a:r>
            <a:endParaRPr lang="en-US" sz="1100" dirty="0"/>
          </a:p>
        </p:txBody>
      </p:sp>
      <p:sp>
        <p:nvSpPr>
          <p:cNvPr id="35" name="Text 22"/>
          <p:cNvSpPr txBox="1"/>
          <p:nvPr/>
        </p:nvSpPr>
        <p:spPr>
          <a:xfrm>
            <a:off x="7955051" y="3383280"/>
            <a:ext cx="1828800" cy="384048"/>
          </a:xfrm>
          <a:prstGeom prst="rect">
            <a:avLst/>
          </a:prstGeom>
          <a:noFill/>
          <a:ln/>
        </p:spPr>
        <p:txBody>
          <a:bodyPr wrap="square" lIns="0" tIns="0" rIns="0" bIns="0" rtlCol="0" anchor="t"/>
          <a:lstStyle/>
          <a:p>
            <a:pPr algn="ctr" indent="0" marL="0">
              <a:lnSpc>
                <a:spcPct val="95000"/>
              </a:lnSpc>
              <a:buNone/>
            </a:pPr>
            <a:r>
              <a:rPr lang="en-US" altLang="en-US" sz="1700" b="1" dirty="0">
                <a:solidFill>
                  <a:srgbClr val="FFFFFF"/>
                </a:solidFill>
                <a:latin typeface="Cairo" pitchFamily="34" charset="0"/>
                <a:ea typeface="Cairo" pitchFamily="34" charset="-122"/>
                <a:cs typeface="Cairo" pitchFamily="34" charset="-120"/>
              </a:rPr>
              <a:t>AI video</a:t>
            </a:r>
            <a:endParaRPr lang="en-US" sz="1700" dirty="0"/>
          </a:p>
        </p:txBody>
      </p:sp>
      <p:sp>
        <p:nvSpPr>
          <p:cNvPr id="36" name="Text 23"/>
          <p:cNvSpPr txBox="1"/>
          <p:nvPr/>
        </p:nvSpPr>
        <p:spPr>
          <a:xfrm>
            <a:off x="7973339" y="3813048"/>
            <a:ext cx="1792224" cy="731520"/>
          </a:xfrm>
          <a:prstGeom prst="rect">
            <a:avLst/>
          </a:prstGeom>
          <a:noFill/>
          <a:ln/>
        </p:spPr>
        <p:txBody>
          <a:bodyPr wrap="square" lIns="0" tIns="0" rIns="0" bIns="0" rtlCol="0" anchor="t"/>
          <a:lstStyle/>
          <a:p>
            <a:pPr algn="ctr" indent="0" marL="0">
              <a:lnSpc>
                <a:spcPct val="100000"/>
              </a:lnSpc>
              <a:buNone/>
            </a:pPr>
            <a:r>
              <a:rPr lang="en-US" altLang="en-US" sz="1300" dirty="0">
                <a:solidFill>
                  <a:srgbClr val="C9CCC8"/>
                </a:solidFill>
                <a:latin typeface="Calibri" pitchFamily="34" charset="0"/>
                <a:ea typeface="Calibri" pitchFamily="34" charset="-122"/>
                <a:cs typeface="Calibri" pitchFamily="34" charset="-120"/>
              </a:rPr>
              <a:t>Shots generated with continuity</a:t>
            </a:r>
            <a:endParaRPr lang="en-US" sz="1300" dirty="0"/>
          </a:p>
        </p:txBody>
      </p:sp>
      <p:sp>
        <p:nvSpPr>
          <p:cNvPr id="37" name="Shape 24"/>
          <p:cNvSpPr/>
          <p:nvPr/>
        </p:nvSpPr>
        <p:spPr>
          <a:xfrm>
            <a:off x="10238461" y="2011680"/>
            <a:ext cx="960120" cy="960120"/>
          </a:xfrm>
          <a:prstGeom prst="ellipse">
            <a:avLst/>
          </a:prstGeom>
          <a:solidFill>
            <a:srgbClr val="A6D04B"/>
          </a:solidFill>
          <a:ln w="12700">
            <a:solidFill>
              <a:srgbClr val="A6D04B"/>
            </a:solidFill>
            <a:prstDash val="solid"/>
          </a:ln>
        </p:spPr>
      </p:sp>
      <p:pic>
        <p:nvPicPr>
          <p:cNvPr id="38" name="Image 11" descr="preencoded.png">    </p:cNvPr>
          <p:cNvPicPr>
            <a:picLocks noChangeAspect="1"/>
          </p:cNvPicPr>
          <p:nvPr/>
        </p:nvPicPr>
        <p:blipFill>
          <a:blip r:embed="rId12"/>
          <a:stretch>
            <a:fillRect/>
          </a:stretch>
        </p:blipFill>
        <p:spPr>
          <a:xfrm>
            <a:off x="10480777" y="2253996"/>
            <a:ext cx="475488" cy="475488"/>
          </a:xfrm>
          <a:prstGeom prst="rect">
            <a:avLst/>
          </a:prstGeom>
        </p:spPr>
      </p:pic>
      <p:sp>
        <p:nvSpPr>
          <p:cNvPr id="39" name="Text 25"/>
          <p:cNvSpPr txBox="1"/>
          <p:nvPr/>
        </p:nvSpPr>
        <p:spPr>
          <a:xfrm>
            <a:off x="9987001" y="3108960"/>
            <a:ext cx="146304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A6D04B"/>
                </a:solidFill>
                <a:latin typeface="Calibri" pitchFamily="34" charset="0"/>
                <a:ea typeface="Calibri" pitchFamily="34" charset="-122"/>
                <a:cs typeface="Calibri" pitchFamily="34" charset="-120"/>
              </a:rPr>
              <a:t>06</a:t>
            </a:r>
            <a:endParaRPr lang="en-US" sz="1100" dirty="0"/>
          </a:p>
        </p:txBody>
      </p:sp>
      <p:sp>
        <p:nvSpPr>
          <p:cNvPr id="40" name="Text 26"/>
          <p:cNvSpPr txBox="1"/>
          <p:nvPr/>
        </p:nvSpPr>
        <p:spPr>
          <a:xfrm>
            <a:off x="9804121" y="3383280"/>
            <a:ext cx="1828800" cy="384048"/>
          </a:xfrm>
          <a:prstGeom prst="rect">
            <a:avLst/>
          </a:prstGeom>
          <a:noFill/>
          <a:ln/>
        </p:spPr>
        <p:txBody>
          <a:bodyPr wrap="square" lIns="0" tIns="0" rIns="0" bIns="0" rtlCol="0" anchor="t"/>
          <a:lstStyle/>
          <a:p>
            <a:pPr algn="ctr" indent="0" marL="0">
              <a:lnSpc>
                <a:spcPct val="95000"/>
              </a:lnSpc>
              <a:buNone/>
            </a:pPr>
            <a:r>
              <a:rPr lang="en-US" altLang="en-US" sz="1700" b="1" dirty="0">
                <a:solidFill>
                  <a:srgbClr val="FFFFFF"/>
                </a:solidFill>
                <a:latin typeface="Cairo" pitchFamily="34" charset="0"/>
                <a:ea typeface="Cairo" pitchFamily="34" charset="-122"/>
                <a:cs typeface="Cairo" pitchFamily="34" charset="-120"/>
              </a:rPr>
              <a:t>Edit &amp; publish</a:t>
            </a:r>
            <a:endParaRPr lang="en-US" sz="1700" dirty="0"/>
          </a:p>
        </p:txBody>
      </p:sp>
      <p:sp>
        <p:nvSpPr>
          <p:cNvPr id="41" name="Text 27"/>
          <p:cNvSpPr txBox="1"/>
          <p:nvPr/>
        </p:nvSpPr>
        <p:spPr>
          <a:xfrm>
            <a:off x="9822409" y="3813048"/>
            <a:ext cx="1792224" cy="731520"/>
          </a:xfrm>
          <a:prstGeom prst="rect">
            <a:avLst/>
          </a:prstGeom>
          <a:noFill/>
          <a:ln/>
        </p:spPr>
        <p:txBody>
          <a:bodyPr wrap="square" lIns="0" tIns="0" rIns="0" bIns="0" rtlCol="0" anchor="t"/>
          <a:lstStyle/>
          <a:p>
            <a:pPr algn="ctr" indent="0" marL="0">
              <a:lnSpc>
                <a:spcPct val="100000"/>
              </a:lnSpc>
              <a:buNone/>
            </a:pPr>
            <a:r>
              <a:rPr lang="en-US" altLang="en-US" sz="1300" dirty="0">
                <a:solidFill>
                  <a:srgbClr val="C9CCC8"/>
                </a:solidFill>
                <a:latin typeface="Calibri" pitchFamily="34" charset="0"/>
                <a:ea typeface="Calibri" pitchFamily="34" charset="-122"/>
                <a:cs typeface="Calibri" pitchFamily="34" charset="-120"/>
              </a:rPr>
              <a:t>Captions, audio, export</a:t>
            </a:r>
            <a:endParaRPr lang="en-US" sz="1300" dirty="0"/>
          </a:p>
        </p:txBody>
      </p:sp>
      <p:sp>
        <p:nvSpPr>
          <p:cNvPr id="42" name="Shape 28"/>
          <p:cNvSpPr/>
          <p:nvPr/>
        </p:nvSpPr>
        <p:spPr>
          <a:xfrm>
            <a:off x="548640" y="4800600"/>
            <a:ext cx="11094415" cy="960120"/>
          </a:xfrm>
          <a:prstGeom prst="roundRect">
            <a:avLst>
              <a:gd name="adj" fmla="val 9524"/>
            </a:avLst>
          </a:prstGeom>
          <a:solidFill>
            <a:srgbClr val="161816"/>
          </a:solidFill>
          <a:ln w="9525">
            <a:solidFill>
              <a:srgbClr val="3A3D39"/>
            </a:solidFill>
            <a:prstDash val="solid"/>
          </a:ln>
        </p:spPr>
      </p:sp>
      <p:pic>
        <p:nvPicPr>
          <p:cNvPr id="43" name="Image 12" descr="preencoded.png">    </p:cNvPr>
          <p:cNvPicPr>
            <a:picLocks noChangeAspect="1"/>
          </p:cNvPicPr>
          <p:nvPr/>
        </p:nvPicPr>
        <p:blipFill>
          <a:blip r:embed="rId13"/>
          <a:stretch>
            <a:fillRect/>
          </a:stretch>
        </p:blipFill>
        <p:spPr>
          <a:xfrm>
            <a:off x="822960" y="5056632"/>
            <a:ext cx="438912" cy="438912"/>
          </a:xfrm>
          <a:prstGeom prst="rect">
            <a:avLst/>
          </a:prstGeom>
        </p:spPr>
      </p:pic>
      <p:sp>
        <p:nvSpPr>
          <p:cNvPr id="44" name="Text 29"/>
          <p:cNvSpPr txBox="1"/>
          <p:nvPr/>
        </p:nvSpPr>
        <p:spPr>
          <a:xfrm>
            <a:off x="1463040" y="4800600"/>
            <a:ext cx="9905695" cy="960120"/>
          </a:xfrm>
          <a:prstGeom prst="rect">
            <a:avLst/>
          </a:prstGeom>
          <a:noFill/>
          <a:ln/>
        </p:spPr>
        <p:txBody>
          <a:bodyPr wrap="square" lIns="0" tIns="0" rIns="0" bIns="0" rtlCol="0" anchor="ctr"/>
          <a:lstStyle/>
          <a:p>
            <a:pPr algn="l" indent="0" marL="0">
              <a:lnSpc>
                <a:spcPct val="100000"/>
              </a:lnSpc>
              <a:buNone/>
            </a:pPr>
            <a:r>
              <a:rPr lang="en-US" altLang="en-US" sz="1400" dirty="0">
                <a:solidFill>
                  <a:srgbClr val="FFFFFF"/>
                </a:solidFill>
                <a:latin typeface="Calibri" pitchFamily="34" charset="0"/>
                <a:ea typeface="Calibri" pitchFamily="34" charset="-122"/>
                <a:cs typeface="Calibri" pitchFamily="34" charset="-120"/>
              </a:rPr>
              <a:t>Google Flow and AI-voice tools are restricted to users aged 18+. Students aged 15–17 work from trainer-led demos and build their videos from AI images, recorded narration and their own footage.</a:t>
            </a:r>
            <a:endParaRPr lang="en-US" sz="1400" dirty="0"/>
          </a:p>
        </p:txBody>
      </p:sp>
      <p:sp>
        <p:nvSpPr>
          <p:cNvPr id="45" name="Text 30"/>
          <p:cNvSpPr txBox="1"/>
          <p:nvPr/>
        </p:nvSpPr>
        <p:spPr>
          <a:xfrm>
            <a:off x="548640" y="5925312"/>
            <a:ext cx="11094415" cy="320040"/>
          </a:xfrm>
          <a:prstGeom prst="rect">
            <a:avLst/>
          </a:prstGeom>
          <a:noFill/>
          <a:ln/>
        </p:spPr>
        <p:txBody>
          <a:bodyPr wrap="square" lIns="0" tIns="0" rIns="0" bIns="0" rtlCol="0" anchor="t"/>
          <a:lstStyle/>
          <a:p>
            <a:pPr algn="l" indent="0" marL="0">
              <a:lnSpc>
                <a:spcPct val="95000"/>
              </a:lnSpc>
              <a:buNone/>
            </a:pPr>
            <a:r>
              <a:rPr lang="en-US" altLang="en-US" sz="1200" b="1" dirty="0">
                <a:solidFill>
                  <a:srgbClr val="A6D04B"/>
                </a:solidFill>
                <a:latin typeface="Calibri" pitchFamily="34" charset="0"/>
                <a:ea typeface="Calibri" pitchFamily="34" charset="-122"/>
                <a:cs typeface="Calibri" pitchFamily="34" charset="-120"/>
              </a:rPr>
              <a:t>Tools: Google Flow · CapCut · Canva · ChatGPT / Gemini image generation · ElevenLabs (18+)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10356554" y="384048"/>
            <a:ext cx="1286501" cy="457200"/>
          </a:xfrm>
          <a:prstGeom prst="rect">
            <a:avLst/>
          </a:prstGeom>
        </p:spPr>
      </p:pic>
      <p:sp>
        <p:nvSpPr>
          <p:cNvPr id="3" name="Text 0"/>
          <p:cNvSpPr txBox="1"/>
          <p:nvPr/>
        </p:nvSpPr>
        <p:spPr>
          <a:xfrm>
            <a:off x="548640" y="6446520"/>
            <a:ext cx="6400800" cy="228600"/>
          </a:xfrm>
          <a:prstGeom prst="rect">
            <a:avLst/>
          </a:prstGeom>
          <a:noFill/>
          <a:ln/>
        </p:spPr>
        <p:txBody>
          <a:bodyPr wrap="square" lIns="0" tIns="0" rIns="0" bIns="0" rtlCol="0" anchor="t"/>
          <a:lstStyle/>
          <a:p>
            <a:pPr algn="l"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AI Creators Program · Training Concept Note</a:t>
            </a:r>
            <a:endParaRPr lang="en-US" sz="900" dirty="0"/>
          </a:p>
        </p:txBody>
      </p:sp>
      <p:sp>
        <p:nvSpPr>
          <p:cNvPr id="4" name="Text 1"/>
          <p:cNvSpPr txBox="1"/>
          <p:nvPr/>
        </p:nvSpPr>
        <p:spPr>
          <a:xfrm>
            <a:off x="11094415" y="6446520"/>
            <a:ext cx="548640" cy="228600"/>
          </a:xfrm>
          <a:prstGeom prst="rect">
            <a:avLst/>
          </a:prstGeom>
          <a:noFill/>
          <a:ln/>
        </p:spPr>
        <p:txBody>
          <a:bodyPr wrap="square" lIns="0" tIns="0" rIns="0" bIns="0" rtlCol="0" anchor="t"/>
          <a:lstStyle/>
          <a:p>
            <a:pPr algn="r"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9</a:t>
            </a:r>
            <a:endParaRPr lang="en-US" sz="900" dirty="0"/>
          </a:p>
        </p:txBody>
      </p:sp>
      <p:sp>
        <p:nvSpPr>
          <p:cNvPr id="5" name="Text 2"/>
          <p:cNvSpPr txBox="1"/>
          <p:nvPr/>
        </p:nvSpPr>
        <p:spPr>
          <a:xfrm>
            <a:off x="548640" y="384048"/>
            <a:ext cx="8961120" cy="274320"/>
          </a:xfrm>
          <a:prstGeom prst="rect">
            <a:avLst/>
          </a:prstGeom>
          <a:noFill/>
          <a:ln/>
        </p:spPr>
        <p:txBody>
          <a:bodyPr wrap="square" lIns="0" tIns="0" rIns="0" bIns="0" rtlCol="0" anchor="t"/>
          <a:lstStyle/>
          <a:p>
            <a:pPr algn="l" indent="0" marL="0">
              <a:lnSpc>
                <a:spcPct val="95000"/>
              </a:lnSpc>
              <a:buNone/>
            </a:pPr>
            <a:r>
              <a:rPr lang="en-US" altLang="en-US" sz="1100" b="1" spc="200" kern="0" dirty="0">
                <a:solidFill>
                  <a:srgbClr val="727274"/>
                </a:solidFill>
                <a:latin typeface="Calibri" pitchFamily="34" charset="0"/>
                <a:ea typeface="Calibri" pitchFamily="34" charset="-122"/>
                <a:cs typeface="Calibri" pitchFamily="34" charset="-120"/>
              </a:rPr>
              <a:t>08 · DIGITAL MARKETING</a:t>
            </a:r>
            <a:endParaRPr lang="en-US" sz="1100" dirty="0"/>
          </a:p>
        </p:txBody>
      </p:sp>
      <p:sp>
        <p:nvSpPr>
          <p:cNvPr id="6" name="Text 3"/>
          <p:cNvSpPr txBox="1"/>
          <p:nvPr/>
        </p:nvSpPr>
        <p:spPr>
          <a:xfrm>
            <a:off x="548640" y="676656"/>
            <a:ext cx="9418320" cy="914400"/>
          </a:xfrm>
          <a:prstGeom prst="rect">
            <a:avLst/>
          </a:prstGeom>
          <a:noFill/>
          <a:ln/>
        </p:spPr>
        <p:txBody>
          <a:bodyPr wrap="square" lIns="0" tIns="0" rIns="0" bIns="0" rtlCol="0" anchor="t"/>
          <a:lstStyle/>
          <a:p>
            <a:pPr algn="l" indent="0" marL="0">
              <a:lnSpc>
                <a:spcPct val="90000"/>
              </a:lnSpc>
              <a:buNone/>
            </a:pPr>
            <a:r>
              <a:rPr lang="en-US" altLang="en-US" sz="2800" b="1" dirty="0">
                <a:solidFill>
                  <a:srgbClr val="1A1A1A"/>
                </a:solidFill>
                <a:latin typeface="Cairo" pitchFamily="34" charset="0"/>
                <a:ea typeface="Cairo" pitchFamily="34" charset="-122"/>
                <a:cs typeface="Cairo" pitchFamily="34" charset="-120"/>
              </a:rPr>
              <a:t>Content only works when it sits inside a plan</a:t>
            </a:r>
            <a:endParaRPr lang="en-US" sz="2800" dirty="0"/>
          </a:p>
        </p:txBody>
      </p:sp>
      <p:sp>
        <p:nvSpPr>
          <p:cNvPr id="7" name="Shape 4"/>
          <p:cNvSpPr/>
          <p:nvPr/>
        </p:nvSpPr>
        <p:spPr>
          <a:xfrm>
            <a:off x="548640" y="1828800"/>
            <a:ext cx="4846320" cy="868680"/>
          </a:xfrm>
          <a:prstGeom prst="roundRect">
            <a:avLst>
              <a:gd name="adj" fmla="val 10526"/>
            </a:avLst>
          </a:prstGeom>
          <a:solidFill>
            <a:srgbClr val="F2F4F1"/>
          </a:solidFill>
          <a:ln w="12700">
            <a:solidFill>
              <a:srgbClr val="F2F4F1"/>
            </a:solidFill>
            <a:prstDash val="solid"/>
          </a:ln>
        </p:spPr>
      </p:sp>
      <p:sp>
        <p:nvSpPr>
          <p:cNvPr id="8" name="Shape 5"/>
          <p:cNvSpPr/>
          <p:nvPr/>
        </p:nvSpPr>
        <p:spPr>
          <a:xfrm>
            <a:off x="731520" y="1993392"/>
            <a:ext cx="548640" cy="548640"/>
          </a:xfrm>
          <a:prstGeom prst="ellipse">
            <a:avLst/>
          </a:prstGeom>
          <a:solidFill>
            <a:srgbClr val="4DB449"/>
          </a:solidFill>
          <a:ln w="6350">
            <a:solidFill>
              <a:srgbClr val="4DB449"/>
            </a:solidFill>
            <a:prstDash val="solid"/>
          </a:ln>
        </p:spPr>
      </p:sp>
      <p:pic>
        <p:nvPicPr>
          <p:cNvPr id="9" name="Image 1" descr="preencoded.png">    </p:cNvPr>
          <p:cNvPicPr>
            <a:picLocks noChangeAspect="1"/>
          </p:cNvPicPr>
          <p:nvPr/>
        </p:nvPicPr>
        <p:blipFill>
          <a:blip r:embed="rId2"/>
          <a:stretch>
            <a:fillRect/>
          </a:stretch>
        </p:blipFill>
        <p:spPr>
          <a:xfrm>
            <a:off x="850392" y="2112264"/>
            <a:ext cx="310896" cy="310896"/>
          </a:xfrm>
          <a:prstGeom prst="rect">
            <a:avLst/>
          </a:prstGeom>
        </p:spPr>
      </p:pic>
      <p:sp>
        <p:nvSpPr>
          <p:cNvPr id="10" name="Text 6"/>
          <p:cNvSpPr txBox="1"/>
          <p:nvPr/>
        </p:nvSpPr>
        <p:spPr>
          <a:xfrm>
            <a:off x="1463040" y="1920240"/>
            <a:ext cx="3749040" cy="365760"/>
          </a:xfrm>
          <a:prstGeom prst="rect">
            <a:avLst/>
          </a:prstGeom>
          <a:noFill/>
          <a:ln/>
        </p:spPr>
        <p:txBody>
          <a:bodyPr wrap="square" lIns="0" tIns="0" rIns="0" bIns="0" rtlCol="0" anchor="t"/>
          <a:lstStyle/>
          <a:p>
            <a:pPr algn="l" indent="0" marL="0">
              <a:lnSpc>
                <a:spcPct val="95000"/>
              </a:lnSpc>
              <a:buNone/>
            </a:pPr>
            <a:r>
              <a:rPr lang="en-US" altLang="en-US" sz="1700" b="1" dirty="0">
                <a:solidFill>
                  <a:srgbClr val="1A1A1A"/>
                </a:solidFill>
                <a:latin typeface="Cairo" pitchFamily="34" charset="0"/>
                <a:ea typeface="Cairo" pitchFamily="34" charset="-122"/>
                <a:cs typeface="Cairo" pitchFamily="34" charset="-120"/>
              </a:rPr>
              <a:t>Persona</a:t>
            </a:r>
            <a:endParaRPr lang="en-US" sz="1700" dirty="0"/>
          </a:p>
        </p:txBody>
      </p:sp>
      <p:sp>
        <p:nvSpPr>
          <p:cNvPr id="11" name="Text 7"/>
          <p:cNvSpPr txBox="1"/>
          <p:nvPr/>
        </p:nvSpPr>
        <p:spPr>
          <a:xfrm>
            <a:off x="1463040" y="2286000"/>
            <a:ext cx="3794760" cy="365760"/>
          </a:xfrm>
          <a:prstGeom prst="rect">
            <a:avLst/>
          </a:prstGeom>
          <a:noFill/>
          <a:ln/>
        </p:spPr>
        <p:txBody>
          <a:bodyPr wrap="square" lIns="0" tIns="0" rIns="0" bIns="0" rtlCol="0" anchor="t"/>
          <a:lstStyle/>
          <a:p>
            <a:pPr algn="l" indent="0" marL="0">
              <a:lnSpc>
                <a:spcPct val="95000"/>
              </a:lnSpc>
              <a:buNone/>
            </a:pPr>
            <a:r>
              <a:rPr lang="en-US" altLang="en-US" sz="1350" dirty="0">
                <a:solidFill>
                  <a:srgbClr val="3C3E3B"/>
                </a:solidFill>
                <a:latin typeface="Calibri" pitchFamily="34" charset="0"/>
                <a:ea typeface="Calibri" pitchFamily="34" charset="-122"/>
                <a:cs typeface="Calibri" pitchFamily="34" charset="-120"/>
              </a:rPr>
              <a:t>Who exactly are we talking to?</a:t>
            </a:r>
            <a:endParaRPr lang="en-US" sz="1350" dirty="0"/>
          </a:p>
        </p:txBody>
      </p:sp>
      <p:sp>
        <p:nvSpPr>
          <p:cNvPr id="12" name="Shape 8"/>
          <p:cNvSpPr/>
          <p:nvPr/>
        </p:nvSpPr>
        <p:spPr>
          <a:xfrm>
            <a:off x="548640" y="2898648"/>
            <a:ext cx="4846320" cy="868680"/>
          </a:xfrm>
          <a:prstGeom prst="roundRect">
            <a:avLst>
              <a:gd name="adj" fmla="val 10526"/>
            </a:avLst>
          </a:prstGeom>
          <a:solidFill>
            <a:srgbClr val="F2F4F1"/>
          </a:solidFill>
          <a:ln w="12700">
            <a:solidFill>
              <a:srgbClr val="F2F4F1"/>
            </a:solidFill>
            <a:prstDash val="solid"/>
          </a:ln>
        </p:spPr>
      </p:sp>
      <p:sp>
        <p:nvSpPr>
          <p:cNvPr id="13" name="Shape 9"/>
          <p:cNvSpPr/>
          <p:nvPr/>
        </p:nvSpPr>
        <p:spPr>
          <a:xfrm>
            <a:off x="731520" y="3063240"/>
            <a:ext cx="548640" cy="548640"/>
          </a:xfrm>
          <a:prstGeom prst="ellipse">
            <a:avLst/>
          </a:prstGeom>
          <a:solidFill>
            <a:srgbClr val="4DB449"/>
          </a:solidFill>
          <a:ln w="6350">
            <a:solidFill>
              <a:srgbClr val="4DB449"/>
            </a:solidFill>
            <a:prstDash val="solid"/>
          </a:ln>
        </p:spPr>
      </p:sp>
      <p:pic>
        <p:nvPicPr>
          <p:cNvPr id="14" name="Image 2" descr="preencoded.png">    </p:cNvPr>
          <p:cNvPicPr>
            <a:picLocks noChangeAspect="1"/>
          </p:cNvPicPr>
          <p:nvPr/>
        </p:nvPicPr>
        <p:blipFill>
          <a:blip r:embed="rId3"/>
          <a:stretch>
            <a:fillRect/>
          </a:stretch>
        </p:blipFill>
        <p:spPr>
          <a:xfrm>
            <a:off x="850392" y="3182112"/>
            <a:ext cx="310896" cy="310896"/>
          </a:xfrm>
          <a:prstGeom prst="rect">
            <a:avLst/>
          </a:prstGeom>
        </p:spPr>
      </p:pic>
      <p:sp>
        <p:nvSpPr>
          <p:cNvPr id="15" name="Text 10"/>
          <p:cNvSpPr txBox="1"/>
          <p:nvPr/>
        </p:nvSpPr>
        <p:spPr>
          <a:xfrm>
            <a:off x="1463040" y="2990088"/>
            <a:ext cx="3749040" cy="365760"/>
          </a:xfrm>
          <a:prstGeom prst="rect">
            <a:avLst/>
          </a:prstGeom>
          <a:noFill/>
          <a:ln/>
        </p:spPr>
        <p:txBody>
          <a:bodyPr wrap="square" lIns="0" tIns="0" rIns="0" bIns="0" rtlCol="0" anchor="t"/>
          <a:lstStyle/>
          <a:p>
            <a:pPr algn="l" indent="0" marL="0">
              <a:lnSpc>
                <a:spcPct val="95000"/>
              </a:lnSpc>
              <a:buNone/>
            </a:pPr>
            <a:r>
              <a:rPr lang="en-US" altLang="en-US" sz="1700" b="1" dirty="0">
                <a:solidFill>
                  <a:srgbClr val="1A1A1A"/>
                </a:solidFill>
                <a:latin typeface="Cairo" pitchFamily="34" charset="0"/>
                <a:ea typeface="Cairo" pitchFamily="34" charset="-122"/>
                <a:cs typeface="Cairo" pitchFamily="34" charset="-120"/>
              </a:rPr>
              <a:t>Objective</a:t>
            </a:r>
            <a:endParaRPr lang="en-US" sz="1700" dirty="0"/>
          </a:p>
        </p:txBody>
      </p:sp>
      <p:sp>
        <p:nvSpPr>
          <p:cNvPr id="16" name="Text 11"/>
          <p:cNvSpPr txBox="1"/>
          <p:nvPr/>
        </p:nvSpPr>
        <p:spPr>
          <a:xfrm>
            <a:off x="1463040" y="3355848"/>
            <a:ext cx="3794760" cy="365760"/>
          </a:xfrm>
          <a:prstGeom prst="rect">
            <a:avLst/>
          </a:prstGeom>
          <a:noFill/>
          <a:ln/>
        </p:spPr>
        <p:txBody>
          <a:bodyPr wrap="square" lIns="0" tIns="0" rIns="0" bIns="0" rtlCol="0" anchor="t"/>
          <a:lstStyle/>
          <a:p>
            <a:pPr algn="l" indent="0" marL="0">
              <a:lnSpc>
                <a:spcPct val="95000"/>
              </a:lnSpc>
              <a:buNone/>
            </a:pPr>
            <a:r>
              <a:rPr lang="en-US" altLang="en-US" sz="1350" dirty="0">
                <a:solidFill>
                  <a:srgbClr val="3C3E3B"/>
                </a:solidFill>
                <a:latin typeface="Calibri" pitchFamily="34" charset="0"/>
                <a:ea typeface="Calibri" pitchFamily="34" charset="-122"/>
                <a:cs typeface="Calibri" pitchFamily="34" charset="-120"/>
              </a:rPr>
              <a:t>What should change, and by when? (SMART)</a:t>
            </a:r>
            <a:endParaRPr lang="en-US" sz="1350" dirty="0"/>
          </a:p>
        </p:txBody>
      </p:sp>
      <p:sp>
        <p:nvSpPr>
          <p:cNvPr id="17" name="Shape 12"/>
          <p:cNvSpPr/>
          <p:nvPr/>
        </p:nvSpPr>
        <p:spPr>
          <a:xfrm>
            <a:off x="548640" y="3968496"/>
            <a:ext cx="4846320" cy="868680"/>
          </a:xfrm>
          <a:prstGeom prst="roundRect">
            <a:avLst>
              <a:gd name="adj" fmla="val 10526"/>
            </a:avLst>
          </a:prstGeom>
          <a:solidFill>
            <a:srgbClr val="F2F4F1"/>
          </a:solidFill>
          <a:ln w="12700">
            <a:solidFill>
              <a:srgbClr val="F2F4F1"/>
            </a:solidFill>
            <a:prstDash val="solid"/>
          </a:ln>
        </p:spPr>
      </p:sp>
      <p:sp>
        <p:nvSpPr>
          <p:cNvPr id="18" name="Shape 13"/>
          <p:cNvSpPr/>
          <p:nvPr/>
        </p:nvSpPr>
        <p:spPr>
          <a:xfrm>
            <a:off x="731520" y="4133088"/>
            <a:ext cx="548640" cy="548640"/>
          </a:xfrm>
          <a:prstGeom prst="ellipse">
            <a:avLst/>
          </a:prstGeom>
          <a:solidFill>
            <a:srgbClr val="4DB449"/>
          </a:solidFill>
          <a:ln w="6350">
            <a:solidFill>
              <a:srgbClr val="4DB449"/>
            </a:solidFill>
            <a:prstDash val="solid"/>
          </a:ln>
        </p:spPr>
      </p:sp>
      <p:pic>
        <p:nvPicPr>
          <p:cNvPr id="19" name="Image 3" descr="preencoded.png">    </p:cNvPr>
          <p:cNvPicPr>
            <a:picLocks noChangeAspect="1"/>
          </p:cNvPicPr>
          <p:nvPr/>
        </p:nvPicPr>
        <p:blipFill>
          <a:blip r:embed="rId4"/>
          <a:stretch>
            <a:fillRect/>
          </a:stretch>
        </p:blipFill>
        <p:spPr>
          <a:xfrm>
            <a:off x="850392" y="4251960"/>
            <a:ext cx="310896" cy="310896"/>
          </a:xfrm>
          <a:prstGeom prst="rect">
            <a:avLst/>
          </a:prstGeom>
        </p:spPr>
      </p:pic>
      <p:sp>
        <p:nvSpPr>
          <p:cNvPr id="20" name="Text 14"/>
          <p:cNvSpPr txBox="1"/>
          <p:nvPr/>
        </p:nvSpPr>
        <p:spPr>
          <a:xfrm>
            <a:off x="1463040" y="4059936"/>
            <a:ext cx="3749040" cy="365760"/>
          </a:xfrm>
          <a:prstGeom prst="rect">
            <a:avLst/>
          </a:prstGeom>
          <a:noFill/>
          <a:ln/>
        </p:spPr>
        <p:txBody>
          <a:bodyPr wrap="square" lIns="0" tIns="0" rIns="0" bIns="0" rtlCol="0" anchor="t"/>
          <a:lstStyle/>
          <a:p>
            <a:pPr algn="l" indent="0" marL="0">
              <a:lnSpc>
                <a:spcPct val="95000"/>
              </a:lnSpc>
              <a:buNone/>
            </a:pPr>
            <a:r>
              <a:rPr lang="en-US" altLang="en-US" sz="1700" b="1" dirty="0">
                <a:solidFill>
                  <a:srgbClr val="1A1A1A"/>
                </a:solidFill>
                <a:latin typeface="Cairo" pitchFamily="34" charset="0"/>
                <a:ea typeface="Cairo" pitchFamily="34" charset="-122"/>
                <a:cs typeface="Cairo" pitchFamily="34" charset="-120"/>
              </a:rPr>
              <a:t>Calendar</a:t>
            </a:r>
            <a:endParaRPr lang="en-US" sz="1700" dirty="0"/>
          </a:p>
        </p:txBody>
      </p:sp>
      <p:sp>
        <p:nvSpPr>
          <p:cNvPr id="21" name="Text 15"/>
          <p:cNvSpPr txBox="1"/>
          <p:nvPr/>
        </p:nvSpPr>
        <p:spPr>
          <a:xfrm>
            <a:off x="1463040" y="4425696"/>
            <a:ext cx="3794760" cy="365760"/>
          </a:xfrm>
          <a:prstGeom prst="rect">
            <a:avLst/>
          </a:prstGeom>
          <a:noFill/>
          <a:ln/>
        </p:spPr>
        <p:txBody>
          <a:bodyPr wrap="square" lIns="0" tIns="0" rIns="0" bIns="0" rtlCol="0" anchor="t"/>
          <a:lstStyle/>
          <a:p>
            <a:pPr algn="l" indent="0" marL="0">
              <a:lnSpc>
                <a:spcPct val="95000"/>
              </a:lnSpc>
              <a:buNone/>
            </a:pPr>
            <a:r>
              <a:rPr lang="en-US" altLang="en-US" sz="1350" dirty="0">
                <a:solidFill>
                  <a:srgbClr val="3C3E3B"/>
                </a:solidFill>
                <a:latin typeface="Calibri" pitchFamily="34" charset="0"/>
                <a:ea typeface="Calibri" pitchFamily="34" charset="-122"/>
                <a:cs typeface="Calibri" pitchFamily="34" charset="-120"/>
              </a:rPr>
              <a:t>What goes out each week, on which platform?</a:t>
            </a:r>
            <a:endParaRPr lang="en-US" sz="1350" dirty="0"/>
          </a:p>
        </p:txBody>
      </p:sp>
      <p:sp>
        <p:nvSpPr>
          <p:cNvPr id="22" name="Shape 16"/>
          <p:cNvSpPr/>
          <p:nvPr/>
        </p:nvSpPr>
        <p:spPr>
          <a:xfrm>
            <a:off x="548640" y="5038344"/>
            <a:ext cx="4846320" cy="868680"/>
          </a:xfrm>
          <a:prstGeom prst="roundRect">
            <a:avLst>
              <a:gd name="adj" fmla="val 10526"/>
            </a:avLst>
          </a:prstGeom>
          <a:solidFill>
            <a:srgbClr val="000000"/>
          </a:solidFill>
          <a:ln w="12700">
            <a:solidFill>
              <a:srgbClr val="000000"/>
            </a:solidFill>
            <a:prstDash val="solid"/>
          </a:ln>
        </p:spPr>
      </p:sp>
      <p:sp>
        <p:nvSpPr>
          <p:cNvPr id="23" name="Shape 17"/>
          <p:cNvSpPr/>
          <p:nvPr/>
        </p:nvSpPr>
        <p:spPr>
          <a:xfrm>
            <a:off x="731520" y="5202936"/>
            <a:ext cx="548640" cy="548640"/>
          </a:xfrm>
          <a:prstGeom prst="ellipse">
            <a:avLst/>
          </a:prstGeom>
          <a:solidFill>
            <a:srgbClr val="A6D04B"/>
          </a:solidFill>
          <a:ln w="6350">
            <a:solidFill>
              <a:srgbClr val="A6D04B"/>
            </a:solidFill>
            <a:prstDash val="solid"/>
          </a:ln>
        </p:spPr>
      </p:sp>
      <p:pic>
        <p:nvPicPr>
          <p:cNvPr id="24" name="Image 4" descr="preencoded.png">    </p:cNvPr>
          <p:cNvPicPr>
            <a:picLocks noChangeAspect="1"/>
          </p:cNvPicPr>
          <p:nvPr/>
        </p:nvPicPr>
        <p:blipFill>
          <a:blip r:embed="rId5"/>
          <a:stretch>
            <a:fillRect/>
          </a:stretch>
        </p:blipFill>
        <p:spPr>
          <a:xfrm>
            <a:off x="850392" y="5321808"/>
            <a:ext cx="310896" cy="310896"/>
          </a:xfrm>
          <a:prstGeom prst="rect">
            <a:avLst/>
          </a:prstGeom>
        </p:spPr>
      </p:pic>
      <p:sp>
        <p:nvSpPr>
          <p:cNvPr id="25" name="Text 18"/>
          <p:cNvSpPr txBox="1"/>
          <p:nvPr/>
        </p:nvSpPr>
        <p:spPr>
          <a:xfrm>
            <a:off x="1463040" y="5129784"/>
            <a:ext cx="3749040" cy="365760"/>
          </a:xfrm>
          <a:prstGeom prst="rect">
            <a:avLst/>
          </a:prstGeom>
          <a:noFill/>
          <a:ln/>
        </p:spPr>
        <p:txBody>
          <a:bodyPr wrap="square" lIns="0" tIns="0" rIns="0" bIns="0" rtlCol="0" anchor="t"/>
          <a:lstStyle/>
          <a:p>
            <a:pPr algn="l" indent="0" marL="0">
              <a:lnSpc>
                <a:spcPct val="95000"/>
              </a:lnSpc>
              <a:buNone/>
            </a:pPr>
            <a:r>
              <a:rPr lang="en-US" altLang="en-US" sz="1700" b="1" dirty="0">
                <a:solidFill>
                  <a:srgbClr val="FFFFFF"/>
                </a:solidFill>
                <a:latin typeface="Cairo" pitchFamily="34" charset="0"/>
                <a:ea typeface="Cairo" pitchFamily="34" charset="-122"/>
                <a:cs typeface="Cairo" pitchFamily="34" charset="-120"/>
              </a:rPr>
              <a:t>Campaign</a:t>
            </a:r>
            <a:endParaRPr lang="en-US" sz="1700" dirty="0"/>
          </a:p>
        </p:txBody>
      </p:sp>
      <p:sp>
        <p:nvSpPr>
          <p:cNvPr id="26" name="Text 19"/>
          <p:cNvSpPr txBox="1"/>
          <p:nvPr/>
        </p:nvSpPr>
        <p:spPr>
          <a:xfrm>
            <a:off x="1463040" y="5495544"/>
            <a:ext cx="3794760" cy="365760"/>
          </a:xfrm>
          <a:prstGeom prst="rect">
            <a:avLst/>
          </a:prstGeom>
          <a:noFill/>
          <a:ln/>
        </p:spPr>
        <p:txBody>
          <a:bodyPr wrap="square" lIns="0" tIns="0" rIns="0" bIns="0" rtlCol="0" anchor="t"/>
          <a:lstStyle/>
          <a:p>
            <a:pPr algn="l" indent="0" marL="0">
              <a:lnSpc>
                <a:spcPct val="95000"/>
              </a:lnSpc>
              <a:buNone/>
            </a:pPr>
            <a:r>
              <a:rPr lang="en-US" altLang="en-US" sz="1350" dirty="0">
                <a:solidFill>
                  <a:srgbClr val="D6D8D4"/>
                </a:solidFill>
                <a:latin typeface="Calibri" pitchFamily="34" charset="0"/>
                <a:ea typeface="Calibri" pitchFamily="34" charset="-122"/>
                <a:cs typeface="Calibri" pitchFamily="34" charset="-120"/>
              </a:rPr>
              <a:t>One message, one offer, clear measures</a:t>
            </a:r>
            <a:endParaRPr lang="en-US" sz="1350" dirty="0"/>
          </a:p>
        </p:txBody>
      </p:sp>
      <p:sp>
        <p:nvSpPr>
          <p:cNvPr id="27" name="Text 20"/>
          <p:cNvSpPr txBox="1"/>
          <p:nvPr/>
        </p:nvSpPr>
        <p:spPr>
          <a:xfrm>
            <a:off x="5852160" y="1810512"/>
            <a:ext cx="5790895" cy="365760"/>
          </a:xfrm>
          <a:prstGeom prst="rect">
            <a:avLst/>
          </a:prstGeom>
          <a:noFill/>
          <a:ln/>
        </p:spPr>
        <p:txBody>
          <a:bodyPr wrap="square" lIns="0" tIns="0" rIns="0" bIns="0" rtlCol="0" anchor="t"/>
          <a:lstStyle/>
          <a:p>
            <a:pPr algn="l" indent="0" marL="0">
              <a:lnSpc>
                <a:spcPct val="95000"/>
              </a:lnSpc>
              <a:buNone/>
            </a:pPr>
            <a:r>
              <a:rPr lang="en-US" altLang="en-US" sz="1500" b="1" dirty="0">
                <a:solidFill>
                  <a:srgbClr val="1A1A1A"/>
                </a:solidFill>
                <a:latin typeface="Cairo" pitchFamily="34" charset="0"/>
                <a:ea typeface="Cairo" pitchFamily="34" charset="-122"/>
                <a:cs typeface="Cairo" pitchFamily="34" charset="-120"/>
              </a:rPr>
              <a:t>Four-week content calendar (sample)</a:t>
            </a:r>
            <a:endParaRPr lang="en-US" sz="1500" dirty="0"/>
          </a:p>
        </p:txBody>
      </p:sp>
      <p:sp>
        <p:nvSpPr>
          <p:cNvPr id="28" name="Text 21"/>
          <p:cNvSpPr txBox="1"/>
          <p:nvPr/>
        </p:nvSpPr>
        <p:spPr>
          <a:xfrm>
            <a:off x="6355080" y="2286000"/>
            <a:ext cx="755425" cy="274320"/>
          </a:xfrm>
          <a:prstGeom prst="rect">
            <a:avLst/>
          </a:prstGeom>
          <a:noFill/>
          <a:ln/>
        </p:spPr>
        <p:txBody>
          <a:bodyPr wrap="square" lIns="0" tIns="0" rIns="0" bIns="0" rtlCol="0" anchor="t"/>
          <a:lstStyle/>
          <a:p>
            <a:pPr algn="ctr"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Mon</a:t>
            </a:r>
            <a:endParaRPr lang="en-US" sz="1200" dirty="0"/>
          </a:p>
        </p:txBody>
      </p:sp>
      <p:sp>
        <p:nvSpPr>
          <p:cNvPr id="29" name="Text 22"/>
          <p:cNvSpPr txBox="1"/>
          <p:nvPr/>
        </p:nvSpPr>
        <p:spPr>
          <a:xfrm>
            <a:off x="7110505" y="2286000"/>
            <a:ext cx="755425" cy="274320"/>
          </a:xfrm>
          <a:prstGeom prst="rect">
            <a:avLst/>
          </a:prstGeom>
          <a:noFill/>
          <a:ln/>
        </p:spPr>
        <p:txBody>
          <a:bodyPr wrap="square" lIns="0" tIns="0" rIns="0" bIns="0" rtlCol="0" anchor="t"/>
          <a:lstStyle/>
          <a:p>
            <a:pPr algn="ctr"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Tue</a:t>
            </a:r>
            <a:endParaRPr lang="en-US" sz="1200" dirty="0"/>
          </a:p>
        </p:txBody>
      </p:sp>
      <p:sp>
        <p:nvSpPr>
          <p:cNvPr id="30" name="Text 23"/>
          <p:cNvSpPr txBox="1"/>
          <p:nvPr/>
        </p:nvSpPr>
        <p:spPr>
          <a:xfrm>
            <a:off x="7865930" y="2286000"/>
            <a:ext cx="755425" cy="274320"/>
          </a:xfrm>
          <a:prstGeom prst="rect">
            <a:avLst/>
          </a:prstGeom>
          <a:noFill/>
          <a:ln/>
        </p:spPr>
        <p:txBody>
          <a:bodyPr wrap="square" lIns="0" tIns="0" rIns="0" bIns="0" rtlCol="0" anchor="t"/>
          <a:lstStyle/>
          <a:p>
            <a:pPr algn="ctr"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Wed</a:t>
            </a:r>
            <a:endParaRPr lang="en-US" sz="1200" dirty="0"/>
          </a:p>
        </p:txBody>
      </p:sp>
      <p:sp>
        <p:nvSpPr>
          <p:cNvPr id="31" name="Text 24"/>
          <p:cNvSpPr txBox="1"/>
          <p:nvPr/>
        </p:nvSpPr>
        <p:spPr>
          <a:xfrm>
            <a:off x="8621355" y="2286000"/>
            <a:ext cx="755425" cy="274320"/>
          </a:xfrm>
          <a:prstGeom prst="rect">
            <a:avLst/>
          </a:prstGeom>
          <a:noFill/>
          <a:ln/>
        </p:spPr>
        <p:txBody>
          <a:bodyPr wrap="square" lIns="0" tIns="0" rIns="0" bIns="0" rtlCol="0" anchor="t"/>
          <a:lstStyle/>
          <a:p>
            <a:pPr algn="ctr"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Thu</a:t>
            </a:r>
            <a:endParaRPr lang="en-US" sz="1200" dirty="0"/>
          </a:p>
        </p:txBody>
      </p:sp>
      <p:sp>
        <p:nvSpPr>
          <p:cNvPr id="32" name="Text 25"/>
          <p:cNvSpPr txBox="1"/>
          <p:nvPr/>
        </p:nvSpPr>
        <p:spPr>
          <a:xfrm>
            <a:off x="9376780" y="2286000"/>
            <a:ext cx="755425" cy="274320"/>
          </a:xfrm>
          <a:prstGeom prst="rect">
            <a:avLst/>
          </a:prstGeom>
          <a:noFill/>
          <a:ln/>
        </p:spPr>
        <p:txBody>
          <a:bodyPr wrap="square" lIns="0" tIns="0" rIns="0" bIns="0" rtlCol="0" anchor="t"/>
          <a:lstStyle/>
          <a:p>
            <a:pPr algn="ctr"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Fri</a:t>
            </a:r>
            <a:endParaRPr lang="en-US" sz="1200" dirty="0"/>
          </a:p>
        </p:txBody>
      </p:sp>
      <p:sp>
        <p:nvSpPr>
          <p:cNvPr id="33" name="Text 26"/>
          <p:cNvSpPr txBox="1"/>
          <p:nvPr/>
        </p:nvSpPr>
        <p:spPr>
          <a:xfrm>
            <a:off x="10132205" y="2286000"/>
            <a:ext cx="755425" cy="274320"/>
          </a:xfrm>
          <a:prstGeom prst="rect">
            <a:avLst/>
          </a:prstGeom>
          <a:noFill/>
          <a:ln/>
        </p:spPr>
        <p:txBody>
          <a:bodyPr wrap="square" lIns="0" tIns="0" rIns="0" bIns="0" rtlCol="0" anchor="t"/>
          <a:lstStyle/>
          <a:p>
            <a:pPr algn="ctr"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Sat</a:t>
            </a:r>
            <a:endParaRPr lang="en-US" sz="1200" dirty="0"/>
          </a:p>
        </p:txBody>
      </p:sp>
      <p:sp>
        <p:nvSpPr>
          <p:cNvPr id="34" name="Text 27"/>
          <p:cNvSpPr txBox="1"/>
          <p:nvPr/>
        </p:nvSpPr>
        <p:spPr>
          <a:xfrm>
            <a:off x="10887630" y="2286000"/>
            <a:ext cx="755425" cy="274320"/>
          </a:xfrm>
          <a:prstGeom prst="rect">
            <a:avLst/>
          </a:prstGeom>
          <a:noFill/>
          <a:ln/>
        </p:spPr>
        <p:txBody>
          <a:bodyPr wrap="square" lIns="0" tIns="0" rIns="0" bIns="0" rtlCol="0" anchor="t"/>
          <a:lstStyle/>
          <a:p>
            <a:pPr algn="ctr"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Sun</a:t>
            </a:r>
            <a:endParaRPr lang="en-US" sz="1200" dirty="0"/>
          </a:p>
        </p:txBody>
      </p:sp>
      <p:sp>
        <p:nvSpPr>
          <p:cNvPr id="35" name="Text 28"/>
          <p:cNvSpPr txBox="1"/>
          <p:nvPr/>
        </p:nvSpPr>
        <p:spPr>
          <a:xfrm>
            <a:off x="5852160" y="2651760"/>
            <a:ext cx="502920" cy="566928"/>
          </a:xfrm>
          <a:prstGeom prst="rect">
            <a:avLst/>
          </a:prstGeom>
          <a:noFill/>
          <a:ln/>
        </p:spPr>
        <p:txBody>
          <a:bodyPr wrap="square" lIns="0" tIns="0" rIns="0" bIns="0" rtlCol="0" anchor="ctr"/>
          <a:lstStyle/>
          <a:p>
            <a:pPr algn="l"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W1</a:t>
            </a:r>
            <a:endParaRPr lang="en-US" sz="1200" dirty="0"/>
          </a:p>
        </p:txBody>
      </p:sp>
      <p:sp>
        <p:nvSpPr>
          <p:cNvPr id="36" name="Shape 29"/>
          <p:cNvSpPr/>
          <p:nvPr/>
        </p:nvSpPr>
        <p:spPr>
          <a:xfrm>
            <a:off x="6391656" y="2651760"/>
            <a:ext cx="682273" cy="566928"/>
          </a:xfrm>
          <a:prstGeom prst="roundRect">
            <a:avLst>
              <a:gd name="adj" fmla="val 9677"/>
            </a:avLst>
          </a:prstGeom>
          <a:solidFill>
            <a:srgbClr val="4DB449"/>
          </a:solidFill>
          <a:ln w="12700">
            <a:solidFill>
              <a:srgbClr val="4DB449"/>
            </a:solidFill>
            <a:prstDash val="solid"/>
          </a:ln>
        </p:spPr>
      </p:sp>
      <p:sp>
        <p:nvSpPr>
          <p:cNvPr id="37" name="Shape 30"/>
          <p:cNvSpPr/>
          <p:nvPr/>
        </p:nvSpPr>
        <p:spPr>
          <a:xfrm>
            <a:off x="7147081" y="2651760"/>
            <a:ext cx="682273" cy="566928"/>
          </a:xfrm>
          <a:prstGeom prst="roundRect">
            <a:avLst>
              <a:gd name="adj" fmla="val 9677"/>
            </a:avLst>
          </a:prstGeom>
          <a:solidFill>
            <a:srgbClr val="F2F4F1"/>
          </a:solidFill>
          <a:ln w="12700">
            <a:solidFill>
              <a:srgbClr val="F2F4F1"/>
            </a:solidFill>
            <a:prstDash val="solid"/>
          </a:ln>
        </p:spPr>
      </p:sp>
      <p:sp>
        <p:nvSpPr>
          <p:cNvPr id="38" name="Shape 31"/>
          <p:cNvSpPr/>
          <p:nvPr/>
        </p:nvSpPr>
        <p:spPr>
          <a:xfrm>
            <a:off x="7902506" y="2651760"/>
            <a:ext cx="682273" cy="566928"/>
          </a:xfrm>
          <a:prstGeom prst="roundRect">
            <a:avLst>
              <a:gd name="adj" fmla="val 9677"/>
            </a:avLst>
          </a:prstGeom>
          <a:solidFill>
            <a:srgbClr val="A6D04B"/>
          </a:solidFill>
          <a:ln w="12700">
            <a:solidFill>
              <a:srgbClr val="A6D04B"/>
            </a:solidFill>
            <a:prstDash val="solid"/>
          </a:ln>
        </p:spPr>
      </p:sp>
      <p:sp>
        <p:nvSpPr>
          <p:cNvPr id="39" name="Shape 32"/>
          <p:cNvSpPr/>
          <p:nvPr/>
        </p:nvSpPr>
        <p:spPr>
          <a:xfrm>
            <a:off x="8657931" y="2651760"/>
            <a:ext cx="682273" cy="566928"/>
          </a:xfrm>
          <a:prstGeom prst="roundRect">
            <a:avLst>
              <a:gd name="adj" fmla="val 9677"/>
            </a:avLst>
          </a:prstGeom>
          <a:solidFill>
            <a:srgbClr val="F2F4F1"/>
          </a:solidFill>
          <a:ln w="12700">
            <a:solidFill>
              <a:srgbClr val="F2F4F1"/>
            </a:solidFill>
            <a:prstDash val="solid"/>
          </a:ln>
        </p:spPr>
      </p:sp>
      <p:sp>
        <p:nvSpPr>
          <p:cNvPr id="40" name="Shape 33"/>
          <p:cNvSpPr/>
          <p:nvPr/>
        </p:nvSpPr>
        <p:spPr>
          <a:xfrm>
            <a:off x="9413356" y="2651760"/>
            <a:ext cx="682273" cy="566928"/>
          </a:xfrm>
          <a:prstGeom prst="roundRect">
            <a:avLst>
              <a:gd name="adj" fmla="val 9677"/>
            </a:avLst>
          </a:prstGeom>
          <a:solidFill>
            <a:srgbClr val="F2F4F1"/>
          </a:solidFill>
          <a:ln w="12700">
            <a:solidFill>
              <a:srgbClr val="F2F4F1"/>
            </a:solidFill>
            <a:prstDash val="solid"/>
          </a:ln>
        </p:spPr>
      </p:sp>
      <p:sp>
        <p:nvSpPr>
          <p:cNvPr id="41" name="Shape 34"/>
          <p:cNvSpPr/>
          <p:nvPr/>
        </p:nvSpPr>
        <p:spPr>
          <a:xfrm>
            <a:off x="10168781" y="2651760"/>
            <a:ext cx="682273" cy="566928"/>
          </a:xfrm>
          <a:prstGeom prst="roundRect">
            <a:avLst>
              <a:gd name="adj" fmla="val 9677"/>
            </a:avLst>
          </a:prstGeom>
          <a:solidFill>
            <a:srgbClr val="727274"/>
          </a:solidFill>
          <a:ln w="12700">
            <a:solidFill>
              <a:srgbClr val="727274"/>
            </a:solidFill>
            <a:prstDash val="solid"/>
          </a:ln>
        </p:spPr>
      </p:sp>
      <p:sp>
        <p:nvSpPr>
          <p:cNvPr id="42" name="Shape 35"/>
          <p:cNvSpPr/>
          <p:nvPr/>
        </p:nvSpPr>
        <p:spPr>
          <a:xfrm>
            <a:off x="10924206" y="2651760"/>
            <a:ext cx="682273" cy="566928"/>
          </a:xfrm>
          <a:prstGeom prst="roundRect">
            <a:avLst>
              <a:gd name="adj" fmla="val 9677"/>
            </a:avLst>
          </a:prstGeom>
          <a:solidFill>
            <a:srgbClr val="F2F4F1"/>
          </a:solidFill>
          <a:ln w="12700">
            <a:solidFill>
              <a:srgbClr val="F2F4F1"/>
            </a:solidFill>
            <a:prstDash val="solid"/>
          </a:ln>
        </p:spPr>
      </p:sp>
      <p:sp>
        <p:nvSpPr>
          <p:cNvPr id="43" name="Text 36"/>
          <p:cNvSpPr txBox="1"/>
          <p:nvPr/>
        </p:nvSpPr>
        <p:spPr>
          <a:xfrm>
            <a:off x="5852160" y="3291840"/>
            <a:ext cx="502920" cy="566928"/>
          </a:xfrm>
          <a:prstGeom prst="rect">
            <a:avLst/>
          </a:prstGeom>
          <a:noFill/>
          <a:ln/>
        </p:spPr>
        <p:txBody>
          <a:bodyPr wrap="square" lIns="0" tIns="0" rIns="0" bIns="0" rtlCol="0" anchor="ctr"/>
          <a:lstStyle/>
          <a:p>
            <a:pPr algn="l"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W2</a:t>
            </a:r>
            <a:endParaRPr lang="en-US" sz="1200" dirty="0"/>
          </a:p>
        </p:txBody>
      </p:sp>
      <p:sp>
        <p:nvSpPr>
          <p:cNvPr id="44" name="Shape 37"/>
          <p:cNvSpPr/>
          <p:nvPr/>
        </p:nvSpPr>
        <p:spPr>
          <a:xfrm>
            <a:off x="6391656" y="3291840"/>
            <a:ext cx="682273" cy="566928"/>
          </a:xfrm>
          <a:prstGeom prst="roundRect">
            <a:avLst>
              <a:gd name="adj" fmla="val 9677"/>
            </a:avLst>
          </a:prstGeom>
          <a:solidFill>
            <a:srgbClr val="F2F4F1"/>
          </a:solidFill>
          <a:ln w="12700">
            <a:solidFill>
              <a:srgbClr val="F2F4F1"/>
            </a:solidFill>
            <a:prstDash val="solid"/>
          </a:ln>
        </p:spPr>
      </p:sp>
      <p:sp>
        <p:nvSpPr>
          <p:cNvPr id="45" name="Shape 38"/>
          <p:cNvSpPr/>
          <p:nvPr/>
        </p:nvSpPr>
        <p:spPr>
          <a:xfrm>
            <a:off x="7147081" y="3291840"/>
            <a:ext cx="682273" cy="566928"/>
          </a:xfrm>
          <a:prstGeom prst="roundRect">
            <a:avLst>
              <a:gd name="adj" fmla="val 9677"/>
            </a:avLst>
          </a:prstGeom>
          <a:solidFill>
            <a:srgbClr val="000000"/>
          </a:solidFill>
          <a:ln w="12700">
            <a:solidFill>
              <a:srgbClr val="000000"/>
            </a:solidFill>
            <a:prstDash val="solid"/>
          </a:ln>
        </p:spPr>
      </p:sp>
      <p:sp>
        <p:nvSpPr>
          <p:cNvPr id="46" name="Shape 39"/>
          <p:cNvSpPr/>
          <p:nvPr/>
        </p:nvSpPr>
        <p:spPr>
          <a:xfrm>
            <a:off x="7902506" y="3291840"/>
            <a:ext cx="682273" cy="566928"/>
          </a:xfrm>
          <a:prstGeom prst="roundRect">
            <a:avLst>
              <a:gd name="adj" fmla="val 9677"/>
            </a:avLst>
          </a:prstGeom>
          <a:solidFill>
            <a:srgbClr val="F2F4F1"/>
          </a:solidFill>
          <a:ln w="12700">
            <a:solidFill>
              <a:srgbClr val="F2F4F1"/>
            </a:solidFill>
            <a:prstDash val="solid"/>
          </a:ln>
        </p:spPr>
      </p:sp>
      <p:sp>
        <p:nvSpPr>
          <p:cNvPr id="47" name="Shape 40"/>
          <p:cNvSpPr/>
          <p:nvPr/>
        </p:nvSpPr>
        <p:spPr>
          <a:xfrm>
            <a:off x="8657931" y="3291840"/>
            <a:ext cx="682273" cy="566928"/>
          </a:xfrm>
          <a:prstGeom prst="roundRect">
            <a:avLst>
              <a:gd name="adj" fmla="val 9677"/>
            </a:avLst>
          </a:prstGeom>
          <a:solidFill>
            <a:srgbClr val="4DB449"/>
          </a:solidFill>
          <a:ln w="12700">
            <a:solidFill>
              <a:srgbClr val="4DB449"/>
            </a:solidFill>
            <a:prstDash val="solid"/>
          </a:ln>
        </p:spPr>
      </p:sp>
      <p:sp>
        <p:nvSpPr>
          <p:cNvPr id="48" name="Shape 41"/>
          <p:cNvSpPr/>
          <p:nvPr/>
        </p:nvSpPr>
        <p:spPr>
          <a:xfrm>
            <a:off x="9413356" y="3291840"/>
            <a:ext cx="682273" cy="566928"/>
          </a:xfrm>
          <a:prstGeom prst="roundRect">
            <a:avLst>
              <a:gd name="adj" fmla="val 9677"/>
            </a:avLst>
          </a:prstGeom>
          <a:solidFill>
            <a:srgbClr val="F2F4F1"/>
          </a:solidFill>
          <a:ln w="12700">
            <a:solidFill>
              <a:srgbClr val="F2F4F1"/>
            </a:solidFill>
            <a:prstDash val="solid"/>
          </a:ln>
        </p:spPr>
      </p:sp>
      <p:sp>
        <p:nvSpPr>
          <p:cNvPr id="49" name="Shape 42"/>
          <p:cNvSpPr/>
          <p:nvPr/>
        </p:nvSpPr>
        <p:spPr>
          <a:xfrm>
            <a:off x="10168781" y="3291840"/>
            <a:ext cx="682273" cy="566928"/>
          </a:xfrm>
          <a:prstGeom prst="roundRect">
            <a:avLst>
              <a:gd name="adj" fmla="val 9677"/>
            </a:avLst>
          </a:prstGeom>
          <a:solidFill>
            <a:srgbClr val="F2F4F1"/>
          </a:solidFill>
          <a:ln w="12700">
            <a:solidFill>
              <a:srgbClr val="F2F4F1"/>
            </a:solidFill>
            <a:prstDash val="solid"/>
          </a:ln>
        </p:spPr>
      </p:sp>
      <p:sp>
        <p:nvSpPr>
          <p:cNvPr id="50" name="Shape 43"/>
          <p:cNvSpPr/>
          <p:nvPr/>
        </p:nvSpPr>
        <p:spPr>
          <a:xfrm>
            <a:off x="10924206" y="3291840"/>
            <a:ext cx="682273" cy="566928"/>
          </a:xfrm>
          <a:prstGeom prst="roundRect">
            <a:avLst>
              <a:gd name="adj" fmla="val 9677"/>
            </a:avLst>
          </a:prstGeom>
          <a:solidFill>
            <a:srgbClr val="A6D04B"/>
          </a:solidFill>
          <a:ln w="12700">
            <a:solidFill>
              <a:srgbClr val="A6D04B"/>
            </a:solidFill>
            <a:prstDash val="solid"/>
          </a:ln>
        </p:spPr>
      </p:sp>
      <p:sp>
        <p:nvSpPr>
          <p:cNvPr id="51" name="Text 44"/>
          <p:cNvSpPr txBox="1"/>
          <p:nvPr/>
        </p:nvSpPr>
        <p:spPr>
          <a:xfrm>
            <a:off x="5852160" y="3931920"/>
            <a:ext cx="502920" cy="566928"/>
          </a:xfrm>
          <a:prstGeom prst="rect">
            <a:avLst/>
          </a:prstGeom>
          <a:noFill/>
          <a:ln/>
        </p:spPr>
        <p:txBody>
          <a:bodyPr wrap="square" lIns="0" tIns="0" rIns="0" bIns="0" rtlCol="0" anchor="ctr"/>
          <a:lstStyle/>
          <a:p>
            <a:pPr algn="l"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W3</a:t>
            </a:r>
            <a:endParaRPr lang="en-US" sz="1200" dirty="0"/>
          </a:p>
        </p:txBody>
      </p:sp>
      <p:sp>
        <p:nvSpPr>
          <p:cNvPr id="52" name="Shape 45"/>
          <p:cNvSpPr/>
          <p:nvPr/>
        </p:nvSpPr>
        <p:spPr>
          <a:xfrm>
            <a:off x="6391656" y="3931920"/>
            <a:ext cx="682273" cy="566928"/>
          </a:xfrm>
          <a:prstGeom prst="roundRect">
            <a:avLst>
              <a:gd name="adj" fmla="val 9677"/>
            </a:avLst>
          </a:prstGeom>
          <a:solidFill>
            <a:srgbClr val="A6D04B"/>
          </a:solidFill>
          <a:ln w="12700">
            <a:solidFill>
              <a:srgbClr val="A6D04B"/>
            </a:solidFill>
            <a:prstDash val="solid"/>
          </a:ln>
        </p:spPr>
      </p:sp>
      <p:sp>
        <p:nvSpPr>
          <p:cNvPr id="53" name="Shape 46"/>
          <p:cNvSpPr/>
          <p:nvPr/>
        </p:nvSpPr>
        <p:spPr>
          <a:xfrm>
            <a:off x="7147081" y="3931920"/>
            <a:ext cx="682273" cy="566928"/>
          </a:xfrm>
          <a:prstGeom prst="roundRect">
            <a:avLst>
              <a:gd name="adj" fmla="val 9677"/>
            </a:avLst>
          </a:prstGeom>
          <a:solidFill>
            <a:srgbClr val="F2F4F1"/>
          </a:solidFill>
          <a:ln w="12700">
            <a:solidFill>
              <a:srgbClr val="F2F4F1"/>
            </a:solidFill>
            <a:prstDash val="solid"/>
          </a:ln>
        </p:spPr>
      </p:sp>
      <p:sp>
        <p:nvSpPr>
          <p:cNvPr id="54" name="Shape 47"/>
          <p:cNvSpPr/>
          <p:nvPr/>
        </p:nvSpPr>
        <p:spPr>
          <a:xfrm>
            <a:off x="7902506" y="3931920"/>
            <a:ext cx="682273" cy="566928"/>
          </a:xfrm>
          <a:prstGeom prst="roundRect">
            <a:avLst>
              <a:gd name="adj" fmla="val 9677"/>
            </a:avLst>
          </a:prstGeom>
          <a:solidFill>
            <a:srgbClr val="F2F4F1"/>
          </a:solidFill>
          <a:ln w="12700">
            <a:solidFill>
              <a:srgbClr val="F2F4F1"/>
            </a:solidFill>
            <a:prstDash val="solid"/>
          </a:ln>
        </p:spPr>
      </p:sp>
      <p:sp>
        <p:nvSpPr>
          <p:cNvPr id="55" name="Shape 48"/>
          <p:cNvSpPr/>
          <p:nvPr/>
        </p:nvSpPr>
        <p:spPr>
          <a:xfrm>
            <a:off x="8657931" y="3931920"/>
            <a:ext cx="682273" cy="566928"/>
          </a:xfrm>
          <a:prstGeom prst="roundRect">
            <a:avLst>
              <a:gd name="adj" fmla="val 9677"/>
            </a:avLst>
          </a:prstGeom>
          <a:solidFill>
            <a:srgbClr val="727274"/>
          </a:solidFill>
          <a:ln w="12700">
            <a:solidFill>
              <a:srgbClr val="727274"/>
            </a:solidFill>
            <a:prstDash val="solid"/>
          </a:ln>
        </p:spPr>
      </p:sp>
      <p:sp>
        <p:nvSpPr>
          <p:cNvPr id="56" name="Shape 49"/>
          <p:cNvSpPr/>
          <p:nvPr/>
        </p:nvSpPr>
        <p:spPr>
          <a:xfrm>
            <a:off x="9413356" y="3931920"/>
            <a:ext cx="682273" cy="566928"/>
          </a:xfrm>
          <a:prstGeom prst="roundRect">
            <a:avLst>
              <a:gd name="adj" fmla="val 9677"/>
            </a:avLst>
          </a:prstGeom>
          <a:solidFill>
            <a:srgbClr val="F2F4F1"/>
          </a:solidFill>
          <a:ln w="12700">
            <a:solidFill>
              <a:srgbClr val="F2F4F1"/>
            </a:solidFill>
            <a:prstDash val="solid"/>
          </a:ln>
        </p:spPr>
      </p:sp>
      <p:sp>
        <p:nvSpPr>
          <p:cNvPr id="57" name="Shape 50"/>
          <p:cNvSpPr/>
          <p:nvPr/>
        </p:nvSpPr>
        <p:spPr>
          <a:xfrm>
            <a:off x="10168781" y="3931920"/>
            <a:ext cx="682273" cy="566928"/>
          </a:xfrm>
          <a:prstGeom prst="roundRect">
            <a:avLst>
              <a:gd name="adj" fmla="val 9677"/>
            </a:avLst>
          </a:prstGeom>
          <a:solidFill>
            <a:srgbClr val="000000"/>
          </a:solidFill>
          <a:ln w="12700">
            <a:solidFill>
              <a:srgbClr val="000000"/>
            </a:solidFill>
            <a:prstDash val="solid"/>
          </a:ln>
        </p:spPr>
      </p:sp>
      <p:sp>
        <p:nvSpPr>
          <p:cNvPr id="58" name="Shape 51"/>
          <p:cNvSpPr/>
          <p:nvPr/>
        </p:nvSpPr>
        <p:spPr>
          <a:xfrm>
            <a:off x="10924206" y="3931920"/>
            <a:ext cx="682273" cy="566928"/>
          </a:xfrm>
          <a:prstGeom prst="roundRect">
            <a:avLst>
              <a:gd name="adj" fmla="val 9677"/>
            </a:avLst>
          </a:prstGeom>
          <a:solidFill>
            <a:srgbClr val="F2F4F1"/>
          </a:solidFill>
          <a:ln w="12700">
            <a:solidFill>
              <a:srgbClr val="F2F4F1"/>
            </a:solidFill>
            <a:prstDash val="solid"/>
          </a:ln>
        </p:spPr>
      </p:sp>
      <p:sp>
        <p:nvSpPr>
          <p:cNvPr id="59" name="Text 52"/>
          <p:cNvSpPr txBox="1"/>
          <p:nvPr/>
        </p:nvSpPr>
        <p:spPr>
          <a:xfrm>
            <a:off x="5852160" y="4572000"/>
            <a:ext cx="502920" cy="566928"/>
          </a:xfrm>
          <a:prstGeom prst="rect">
            <a:avLst/>
          </a:prstGeom>
          <a:noFill/>
          <a:ln/>
        </p:spPr>
        <p:txBody>
          <a:bodyPr wrap="square" lIns="0" tIns="0" rIns="0" bIns="0" rtlCol="0" anchor="ctr"/>
          <a:lstStyle/>
          <a:p>
            <a:pPr algn="l" indent="0" marL="0">
              <a:lnSpc>
                <a:spcPct val="95000"/>
              </a:lnSpc>
              <a:buNone/>
            </a:pPr>
            <a:r>
              <a:rPr lang="en-US" altLang="en-US" sz="1200" b="1" dirty="0">
                <a:solidFill>
                  <a:srgbClr val="727274"/>
                </a:solidFill>
                <a:latin typeface="Calibri" pitchFamily="34" charset="0"/>
                <a:ea typeface="Calibri" pitchFamily="34" charset="-122"/>
                <a:cs typeface="Calibri" pitchFamily="34" charset="-120"/>
              </a:rPr>
              <a:t>W4</a:t>
            </a:r>
            <a:endParaRPr lang="en-US" sz="1200" dirty="0"/>
          </a:p>
        </p:txBody>
      </p:sp>
      <p:sp>
        <p:nvSpPr>
          <p:cNvPr id="60" name="Shape 53"/>
          <p:cNvSpPr/>
          <p:nvPr/>
        </p:nvSpPr>
        <p:spPr>
          <a:xfrm>
            <a:off x="6391656" y="4572000"/>
            <a:ext cx="682273" cy="566928"/>
          </a:xfrm>
          <a:prstGeom prst="roundRect">
            <a:avLst>
              <a:gd name="adj" fmla="val 9677"/>
            </a:avLst>
          </a:prstGeom>
          <a:solidFill>
            <a:srgbClr val="F2F4F1"/>
          </a:solidFill>
          <a:ln w="12700">
            <a:solidFill>
              <a:srgbClr val="F2F4F1"/>
            </a:solidFill>
            <a:prstDash val="solid"/>
          </a:ln>
        </p:spPr>
      </p:sp>
      <p:sp>
        <p:nvSpPr>
          <p:cNvPr id="61" name="Shape 54"/>
          <p:cNvSpPr/>
          <p:nvPr/>
        </p:nvSpPr>
        <p:spPr>
          <a:xfrm>
            <a:off x="7147081" y="4572000"/>
            <a:ext cx="682273" cy="566928"/>
          </a:xfrm>
          <a:prstGeom prst="roundRect">
            <a:avLst>
              <a:gd name="adj" fmla="val 9677"/>
            </a:avLst>
          </a:prstGeom>
          <a:solidFill>
            <a:srgbClr val="4DB449"/>
          </a:solidFill>
          <a:ln w="12700">
            <a:solidFill>
              <a:srgbClr val="4DB449"/>
            </a:solidFill>
            <a:prstDash val="solid"/>
          </a:ln>
        </p:spPr>
      </p:sp>
      <p:sp>
        <p:nvSpPr>
          <p:cNvPr id="62" name="Shape 55"/>
          <p:cNvSpPr/>
          <p:nvPr/>
        </p:nvSpPr>
        <p:spPr>
          <a:xfrm>
            <a:off x="7902506" y="4572000"/>
            <a:ext cx="682273" cy="566928"/>
          </a:xfrm>
          <a:prstGeom prst="roundRect">
            <a:avLst>
              <a:gd name="adj" fmla="val 9677"/>
            </a:avLst>
          </a:prstGeom>
          <a:solidFill>
            <a:srgbClr val="F2F4F1"/>
          </a:solidFill>
          <a:ln w="12700">
            <a:solidFill>
              <a:srgbClr val="F2F4F1"/>
            </a:solidFill>
            <a:prstDash val="solid"/>
          </a:ln>
        </p:spPr>
      </p:sp>
      <p:sp>
        <p:nvSpPr>
          <p:cNvPr id="63" name="Shape 56"/>
          <p:cNvSpPr/>
          <p:nvPr/>
        </p:nvSpPr>
        <p:spPr>
          <a:xfrm>
            <a:off x="8657931" y="4572000"/>
            <a:ext cx="682273" cy="566928"/>
          </a:xfrm>
          <a:prstGeom prst="roundRect">
            <a:avLst>
              <a:gd name="adj" fmla="val 9677"/>
            </a:avLst>
          </a:prstGeom>
          <a:solidFill>
            <a:srgbClr val="A6D04B"/>
          </a:solidFill>
          <a:ln w="12700">
            <a:solidFill>
              <a:srgbClr val="A6D04B"/>
            </a:solidFill>
            <a:prstDash val="solid"/>
          </a:ln>
        </p:spPr>
      </p:sp>
      <p:sp>
        <p:nvSpPr>
          <p:cNvPr id="64" name="Shape 57"/>
          <p:cNvSpPr/>
          <p:nvPr/>
        </p:nvSpPr>
        <p:spPr>
          <a:xfrm>
            <a:off x="9413356" y="4572000"/>
            <a:ext cx="682273" cy="566928"/>
          </a:xfrm>
          <a:prstGeom prst="roundRect">
            <a:avLst>
              <a:gd name="adj" fmla="val 9677"/>
            </a:avLst>
          </a:prstGeom>
          <a:solidFill>
            <a:srgbClr val="F2F4F1"/>
          </a:solidFill>
          <a:ln w="12700">
            <a:solidFill>
              <a:srgbClr val="F2F4F1"/>
            </a:solidFill>
            <a:prstDash val="solid"/>
          </a:ln>
        </p:spPr>
      </p:sp>
      <p:sp>
        <p:nvSpPr>
          <p:cNvPr id="65" name="Shape 58"/>
          <p:cNvSpPr/>
          <p:nvPr/>
        </p:nvSpPr>
        <p:spPr>
          <a:xfrm>
            <a:off x="10168781" y="4572000"/>
            <a:ext cx="682273" cy="566928"/>
          </a:xfrm>
          <a:prstGeom prst="roundRect">
            <a:avLst>
              <a:gd name="adj" fmla="val 9677"/>
            </a:avLst>
          </a:prstGeom>
          <a:solidFill>
            <a:srgbClr val="F2F4F1"/>
          </a:solidFill>
          <a:ln w="12700">
            <a:solidFill>
              <a:srgbClr val="F2F4F1"/>
            </a:solidFill>
            <a:prstDash val="solid"/>
          </a:ln>
        </p:spPr>
      </p:sp>
      <p:sp>
        <p:nvSpPr>
          <p:cNvPr id="66" name="Shape 59"/>
          <p:cNvSpPr/>
          <p:nvPr/>
        </p:nvSpPr>
        <p:spPr>
          <a:xfrm>
            <a:off x="10924206" y="4572000"/>
            <a:ext cx="682273" cy="566928"/>
          </a:xfrm>
          <a:prstGeom prst="roundRect">
            <a:avLst>
              <a:gd name="adj" fmla="val 9677"/>
            </a:avLst>
          </a:prstGeom>
          <a:solidFill>
            <a:srgbClr val="000000"/>
          </a:solidFill>
          <a:ln w="12700">
            <a:solidFill>
              <a:srgbClr val="000000"/>
            </a:solidFill>
            <a:prstDash val="solid"/>
          </a:ln>
        </p:spPr>
      </p:sp>
      <p:sp>
        <p:nvSpPr>
          <p:cNvPr id="67" name="Shape 60"/>
          <p:cNvSpPr/>
          <p:nvPr/>
        </p:nvSpPr>
        <p:spPr>
          <a:xfrm>
            <a:off x="6391656" y="5458968"/>
            <a:ext cx="201168" cy="201168"/>
          </a:xfrm>
          <a:prstGeom prst="ellipse">
            <a:avLst/>
          </a:prstGeom>
          <a:solidFill>
            <a:srgbClr val="4DB449"/>
          </a:solidFill>
          <a:ln w="6350">
            <a:solidFill>
              <a:srgbClr val="4DB449"/>
            </a:solidFill>
            <a:prstDash val="solid"/>
          </a:ln>
        </p:spPr>
      </p:sp>
      <p:sp>
        <p:nvSpPr>
          <p:cNvPr id="68" name="Text 61"/>
          <p:cNvSpPr txBox="1"/>
          <p:nvPr/>
        </p:nvSpPr>
        <p:spPr>
          <a:xfrm>
            <a:off x="6665976" y="5394960"/>
            <a:ext cx="590702" cy="329184"/>
          </a:xfrm>
          <a:prstGeom prst="rect">
            <a:avLst/>
          </a:prstGeom>
          <a:noFill/>
          <a:ln/>
        </p:spPr>
        <p:txBody>
          <a:bodyPr wrap="square" lIns="0" tIns="0" rIns="0" bIns="0" rtlCol="0" anchor="ctr"/>
          <a:lstStyle/>
          <a:p>
            <a:pPr algn="l" indent="0" marL="0">
              <a:lnSpc>
                <a:spcPct val="95000"/>
              </a:lnSpc>
              <a:buNone/>
            </a:pPr>
            <a:r>
              <a:rPr lang="en-US" altLang="en-US" sz="1200" dirty="0">
                <a:solidFill>
                  <a:srgbClr val="3C3E3B"/>
                </a:solidFill>
                <a:latin typeface="Calibri" pitchFamily="34" charset="0"/>
                <a:ea typeface="Calibri" pitchFamily="34" charset="-122"/>
                <a:cs typeface="Calibri" pitchFamily="34" charset="-120"/>
              </a:rPr>
              <a:t>Educate</a:t>
            </a:r>
            <a:endParaRPr lang="en-US" sz="1200" dirty="0"/>
          </a:p>
        </p:txBody>
      </p:sp>
      <p:sp>
        <p:nvSpPr>
          <p:cNvPr id="69" name="Shape 62"/>
          <p:cNvSpPr/>
          <p:nvPr/>
        </p:nvSpPr>
        <p:spPr>
          <a:xfrm>
            <a:off x="7366406" y="5458968"/>
            <a:ext cx="201168" cy="201168"/>
          </a:xfrm>
          <a:prstGeom prst="ellipse">
            <a:avLst/>
          </a:prstGeom>
          <a:solidFill>
            <a:srgbClr val="A6D04B"/>
          </a:solidFill>
          <a:ln w="6350">
            <a:solidFill>
              <a:srgbClr val="A6D04B"/>
            </a:solidFill>
            <a:prstDash val="solid"/>
          </a:ln>
        </p:spPr>
      </p:sp>
      <p:sp>
        <p:nvSpPr>
          <p:cNvPr id="70" name="Text 63"/>
          <p:cNvSpPr txBox="1"/>
          <p:nvPr/>
        </p:nvSpPr>
        <p:spPr>
          <a:xfrm>
            <a:off x="7640726" y="5394960"/>
            <a:ext cx="1303934" cy="329184"/>
          </a:xfrm>
          <a:prstGeom prst="rect">
            <a:avLst/>
          </a:prstGeom>
          <a:noFill/>
          <a:ln/>
        </p:spPr>
        <p:txBody>
          <a:bodyPr wrap="square" lIns="0" tIns="0" rIns="0" bIns="0" rtlCol="0" anchor="ctr"/>
          <a:lstStyle/>
          <a:p>
            <a:pPr algn="l" indent="0" marL="0">
              <a:lnSpc>
                <a:spcPct val="95000"/>
              </a:lnSpc>
              <a:buNone/>
            </a:pPr>
            <a:r>
              <a:rPr lang="en-US" altLang="en-US" sz="1200" dirty="0">
                <a:solidFill>
                  <a:srgbClr val="3C3E3B"/>
                </a:solidFill>
                <a:latin typeface="Calibri" pitchFamily="34" charset="0"/>
                <a:ea typeface="Calibri" pitchFamily="34" charset="-122"/>
                <a:cs typeface="Calibri" pitchFamily="34" charset="-120"/>
              </a:rPr>
              <a:t>Behind the scenes</a:t>
            </a:r>
            <a:endParaRPr lang="en-US" sz="1200" dirty="0"/>
          </a:p>
        </p:txBody>
      </p:sp>
      <p:sp>
        <p:nvSpPr>
          <p:cNvPr id="71" name="Shape 64"/>
          <p:cNvSpPr/>
          <p:nvPr/>
        </p:nvSpPr>
        <p:spPr>
          <a:xfrm>
            <a:off x="9054389" y="5458968"/>
            <a:ext cx="201168" cy="201168"/>
          </a:xfrm>
          <a:prstGeom prst="ellipse">
            <a:avLst/>
          </a:prstGeom>
          <a:solidFill>
            <a:srgbClr val="000000"/>
          </a:solidFill>
          <a:ln w="6350">
            <a:solidFill>
              <a:srgbClr val="000000"/>
            </a:solidFill>
            <a:prstDash val="solid"/>
          </a:ln>
        </p:spPr>
      </p:sp>
      <p:sp>
        <p:nvSpPr>
          <p:cNvPr id="72" name="Text 65"/>
          <p:cNvSpPr txBox="1"/>
          <p:nvPr/>
        </p:nvSpPr>
        <p:spPr>
          <a:xfrm>
            <a:off x="9328709" y="5394960"/>
            <a:ext cx="448056" cy="329184"/>
          </a:xfrm>
          <a:prstGeom prst="rect">
            <a:avLst/>
          </a:prstGeom>
          <a:noFill/>
          <a:ln/>
        </p:spPr>
        <p:txBody>
          <a:bodyPr wrap="square" lIns="0" tIns="0" rIns="0" bIns="0" rtlCol="0" anchor="ctr"/>
          <a:lstStyle/>
          <a:p>
            <a:pPr algn="l" indent="0" marL="0">
              <a:lnSpc>
                <a:spcPct val="95000"/>
              </a:lnSpc>
              <a:buNone/>
            </a:pPr>
            <a:r>
              <a:rPr lang="en-US" altLang="en-US" sz="1200" dirty="0">
                <a:solidFill>
                  <a:srgbClr val="3C3E3B"/>
                </a:solidFill>
                <a:latin typeface="Calibri" pitchFamily="34" charset="0"/>
                <a:ea typeface="Calibri" pitchFamily="34" charset="-122"/>
                <a:cs typeface="Calibri" pitchFamily="34" charset="-120"/>
              </a:rPr>
              <a:t>Offer</a:t>
            </a:r>
            <a:endParaRPr lang="en-US" sz="1200" dirty="0"/>
          </a:p>
        </p:txBody>
      </p:sp>
      <p:sp>
        <p:nvSpPr>
          <p:cNvPr id="73" name="Shape 66"/>
          <p:cNvSpPr/>
          <p:nvPr/>
        </p:nvSpPr>
        <p:spPr>
          <a:xfrm>
            <a:off x="9886493" y="5458968"/>
            <a:ext cx="201168" cy="201168"/>
          </a:xfrm>
          <a:prstGeom prst="ellipse">
            <a:avLst/>
          </a:prstGeom>
          <a:solidFill>
            <a:srgbClr val="727274"/>
          </a:solidFill>
          <a:ln w="6350">
            <a:solidFill>
              <a:srgbClr val="727274"/>
            </a:solidFill>
            <a:prstDash val="solid"/>
          </a:ln>
        </p:spPr>
      </p:sp>
      <p:sp>
        <p:nvSpPr>
          <p:cNvPr id="74" name="Text 67"/>
          <p:cNvSpPr txBox="1"/>
          <p:nvPr/>
        </p:nvSpPr>
        <p:spPr>
          <a:xfrm>
            <a:off x="10160813" y="5394960"/>
            <a:ext cx="733349" cy="329184"/>
          </a:xfrm>
          <a:prstGeom prst="rect">
            <a:avLst/>
          </a:prstGeom>
          <a:noFill/>
          <a:ln/>
        </p:spPr>
        <p:txBody>
          <a:bodyPr wrap="square" lIns="0" tIns="0" rIns="0" bIns="0" rtlCol="0" anchor="ctr"/>
          <a:lstStyle/>
          <a:p>
            <a:pPr algn="l" indent="0" marL="0">
              <a:lnSpc>
                <a:spcPct val="95000"/>
              </a:lnSpc>
              <a:buNone/>
            </a:pPr>
            <a:r>
              <a:rPr lang="en-US" altLang="en-US" sz="1200" dirty="0">
                <a:solidFill>
                  <a:srgbClr val="3C3E3B"/>
                </a:solidFill>
                <a:latin typeface="Calibri" pitchFamily="34" charset="0"/>
                <a:ea typeface="Calibri" pitchFamily="34" charset="-122"/>
                <a:cs typeface="Calibri" pitchFamily="34" charset="-120"/>
              </a:rPr>
              <a:t>Community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6446520"/>
            <a:ext cx="6400800" cy="228600"/>
          </a:xfrm>
          <a:prstGeom prst="rect">
            <a:avLst/>
          </a:prstGeom>
          <a:noFill/>
          <a:ln/>
        </p:spPr>
        <p:txBody>
          <a:bodyPr wrap="square" lIns="0" tIns="0" rIns="0" bIns="0" rtlCol="0" anchor="t"/>
          <a:lstStyle/>
          <a:p>
            <a:pPr algn="l" indent="0" marL="0">
              <a:lnSpc>
                <a:spcPct val="95000"/>
              </a:lnSpc>
              <a:buNone/>
            </a:pPr>
            <a:r>
              <a:rPr lang="en-US" altLang="en-US" sz="900" dirty="0">
                <a:solidFill>
                  <a:srgbClr val="8A8C88"/>
                </a:solidFill>
                <a:latin typeface="Calibri" pitchFamily="34" charset="0"/>
                <a:ea typeface="Calibri" pitchFamily="34" charset="-122"/>
                <a:cs typeface="Calibri" pitchFamily="34" charset="-120"/>
              </a:rPr>
              <a:t>AI Creators Program · Training Concept Note</a:t>
            </a:r>
            <a:endParaRPr lang="en-US" sz="900" dirty="0"/>
          </a:p>
        </p:txBody>
      </p:sp>
      <p:sp>
        <p:nvSpPr>
          <p:cNvPr id="3" name="Text 1"/>
          <p:cNvSpPr txBox="1"/>
          <p:nvPr/>
        </p:nvSpPr>
        <p:spPr>
          <a:xfrm>
            <a:off x="11094415" y="6446520"/>
            <a:ext cx="548640" cy="228600"/>
          </a:xfrm>
          <a:prstGeom prst="rect">
            <a:avLst/>
          </a:prstGeom>
          <a:noFill/>
          <a:ln/>
        </p:spPr>
        <p:txBody>
          <a:bodyPr wrap="square" lIns="0" tIns="0" rIns="0" bIns="0" rtlCol="0" anchor="t"/>
          <a:lstStyle/>
          <a:p>
            <a:pPr algn="r" indent="0" marL="0">
              <a:lnSpc>
                <a:spcPct val="95000"/>
              </a:lnSpc>
              <a:buNone/>
            </a:pPr>
            <a:r>
              <a:rPr lang="en-US" altLang="en-US" sz="900" dirty="0">
                <a:solidFill>
                  <a:srgbClr val="8A8C88"/>
                </a:solidFill>
                <a:latin typeface="Calibri" pitchFamily="34" charset="0"/>
                <a:ea typeface="Calibri" pitchFamily="34" charset="-122"/>
                <a:cs typeface="Calibri" pitchFamily="34" charset="-120"/>
              </a:rPr>
              <a:t>10</a:t>
            </a:r>
            <a:endParaRPr lang="en-US" sz="900" dirty="0"/>
          </a:p>
        </p:txBody>
      </p:sp>
      <p:pic>
        <p:nvPicPr>
          <p:cNvPr id="4" name="Image 0" descr="/tmp/claude-0/-home-user-Ahmadhj4/8033014c-23ac-596c-be21-c24cf3e8b75e/scratchpad/build/assets/green-circle-logo.png">    </p:cNvPr>
          <p:cNvPicPr>
            <a:picLocks noChangeAspect="1"/>
          </p:cNvPicPr>
          <p:nvPr/>
        </p:nvPicPr>
        <p:blipFill>
          <a:blip r:embed="rId1"/>
          <a:stretch>
            <a:fillRect/>
          </a:stretch>
        </p:blipFill>
        <p:spPr>
          <a:xfrm>
            <a:off x="10225735" y="384048"/>
            <a:ext cx="1417320" cy="503691"/>
          </a:xfrm>
          <a:prstGeom prst="rect">
            <a:avLst/>
          </a:prstGeom>
        </p:spPr>
      </p:pic>
      <p:sp>
        <p:nvSpPr>
          <p:cNvPr id="5" name="Text 2"/>
          <p:cNvSpPr txBox="1"/>
          <p:nvPr/>
        </p:nvSpPr>
        <p:spPr>
          <a:xfrm>
            <a:off x="548640" y="384048"/>
            <a:ext cx="8961120" cy="274320"/>
          </a:xfrm>
          <a:prstGeom prst="rect">
            <a:avLst/>
          </a:prstGeom>
          <a:noFill/>
          <a:ln/>
        </p:spPr>
        <p:txBody>
          <a:bodyPr wrap="square" lIns="0" tIns="0" rIns="0" bIns="0" rtlCol="0" anchor="t"/>
          <a:lstStyle/>
          <a:p>
            <a:pPr algn="l" indent="0" marL="0">
              <a:lnSpc>
                <a:spcPct val="95000"/>
              </a:lnSpc>
              <a:buNone/>
            </a:pPr>
            <a:r>
              <a:rPr lang="en-US" altLang="en-US" sz="1100" b="1" spc="200" kern="0" dirty="0">
                <a:solidFill>
                  <a:srgbClr val="A6D04B"/>
                </a:solidFill>
                <a:latin typeface="Calibri" pitchFamily="34" charset="0"/>
                <a:ea typeface="Calibri" pitchFamily="34" charset="-122"/>
                <a:cs typeface="Calibri" pitchFamily="34" charset="-120"/>
              </a:rPr>
              <a:t>09 · AUTOMATION WITH n8n</a:t>
            </a:r>
            <a:endParaRPr lang="en-US" sz="1100" dirty="0"/>
          </a:p>
        </p:txBody>
      </p:sp>
      <p:sp>
        <p:nvSpPr>
          <p:cNvPr id="6" name="Text 3"/>
          <p:cNvSpPr txBox="1"/>
          <p:nvPr/>
        </p:nvSpPr>
        <p:spPr>
          <a:xfrm>
            <a:off x="548640" y="676656"/>
            <a:ext cx="9418320" cy="914400"/>
          </a:xfrm>
          <a:prstGeom prst="rect">
            <a:avLst/>
          </a:prstGeom>
          <a:noFill/>
          <a:ln/>
        </p:spPr>
        <p:txBody>
          <a:bodyPr wrap="square" lIns="0" tIns="0" rIns="0" bIns="0" rtlCol="0" anchor="t"/>
          <a:lstStyle/>
          <a:p>
            <a:pPr algn="l" indent="0" marL="0">
              <a:lnSpc>
                <a:spcPct val="90000"/>
              </a:lnSpc>
              <a:buNone/>
            </a:pPr>
            <a:r>
              <a:rPr lang="en-US" altLang="en-US" sz="2800" b="1" dirty="0">
                <a:solidFill>
                  <a:srgbClr val="FFFFFF"/>
                </a:solidFill>
                <a:latin typeface="Cairo" pitchFamily="34" charset="0"/>
                <a:ea typeface="Cairo" pitchFamily="34" charset="-122"/>
                <a:cs typeface="Cairo" pitchFamily="34" charset="-120"/>
              </a:rPr>
              <a:t>Trigger → Process → AI → Action</a:t>
            </a:r>
            <a:endParaRPr lang="en-US" sz="2800" dirty="0"/>
          </a:p>
        </p:txBody>
      </p:sp>
      <p:sp>
        <p:nvSpPr>
          <p:cNvPr id="7" name="Shape 4"/>
          <p:cNvSpPr/>
          <p:nvPr/>
        </p:nvSpPr>
        <p:spPr>
          <a:xfrm>
            <a:off x="548640" y="1783080"/>
            <a:ext cx="2464994" cy="1051560"/>
          </a:xfrm>
          <a:prstGeom prst="roundRect">
            <a:avLst>
              <a:gd name="adj" fmla="val 10435"/>
            </a:avLst>
          </a:prstGeom>
          <a:solidFill>
            <a:srgbClr val="161816"/>
          </a:solidFill>
          <a:ln w="15875">
            <a:solidFill>
              <a:srgbClr val="A6D04B"/>
            </a:solidFill>
            <a:prstDash val="solid"/>
          </a:ln>
        </p:spPr>
      </p:sp>
      <p:pic>
        <p:nvPicPr>
          <p:cNvPr id="8" name="Image 1" descr="preencoded.png">    </p:cNvPr>
          <p:cNvPicPr>
            <a:picLocks noChangeAspect="1"/>
          </p:cNvPicPr>
          <p:nvPr/>
        </p:nvPicPr>
        <p:blipFill>
          <a:blip r:embed="rId2"/>
          <a:stretch>
            <a:fillRect/>
          </a:stretch>
        </p:blipFill>
        <p:spPr>
          <a:xfrm>
            <a:off x="777240" y="2075688"/>
            <a:ext cx="457200" cy="457200"/>
          </a:xfrm>
          <a:prstGeom prst="rect">
            <a:avLst/>
          </a:prstGeom>
        </p:spPr>
      </p:pic>
      <p:sp>
        <p:nvSpPr>
          <p:cNvPr id="9" name="Text 5"/>
          <p:cNvSpPr txBox="1"/>
          <p:nvPr/>
        </p:nvSpPr>
        <p:spPr>
          <a:xfrm>
            <a:off x="1371600" y="1938528"/>
            <a:ext cx="1550594" cy="411480"/>
          </a:xfrm>
          <a:prstGeom prst="rect">
            <a:avLst/>
          </a:prstGeom>
          <a:noFill/>
          <a:ln/>
        </p:spPr>
        <p:txBody>
          <a:bodyPr wrap="square" lIns="0" tIns="0" rIns="0" bIns="0" rtlCol="0" anchor="t"/>
          <a:lstStyle/>
          <a:p>
            <a:pPr algn="l" indent="0" marL="0">
              <a:lnSpc>
                <a:spcPct val="95000"/>
              </a:lnSpc>
              <a:buNone/>
            </a:pPr>
            <a:r>
              <a:rPr lang="en-US" altLang="en-US" sz="1800" b="1" dirty="0">
                <a:solidFill>
                  <a:srgbClr val="FFFFFF"/>
                </a:solidFill>
                <a:latin typeface="Cairo" pitchFamily="34" charset="0"/>
                <a:ea typeface="Cairo" pitchFamily="34" charset="-122"/>
                <a:cs typeface="Cairo" pitchFamily="34" charset="-120"/>
              </a:rPr>
              <a:t>Trigger</a:t>
            </a:r>
            <a:endParaRPr lang="en-US" sz="1800" dirty="0"/>
          </a:p>
        </p:txBody>
      </p:sp>
      <p:sp>
        <p:nvSpPr>
          <p:cNvPr id="10" name="Text 6"/>
          <p:cNvSpPr txBox="1"/>
          <p:nvPr/>
        </p:nvSpPr>
        <p:spPr>
          <a:xfrm>
            <a:off x="1371600" y="2350008"/>
            <a:ext cx="1550594" cy="411480"/>
          </a:xfrm>
          <a:prstGeom prst="rect">
            <a:avLst/>
          </a:prstGeom>
          <a:noFill/>
          <a:ln/>
        </p:spPr>
        <p:txBody>
          <a:bodyPr wrap="square" lIns="0" tIns="0" rIns="0" bIns="0" rtlCol="0" anchor="t"/>
          <a:lstStyle/>
          <a:p>
            <a:pPr algn="l" indent="0" marL="0">
              <a:lnSpc>
                <a:spcPct val="95000"/>
              </a:lnSpc>
              <a:buNone/>
            </a:pPr>
            <a:r>
              <a:rPr lang="en-US" altLang="en-US" sz="1300" dirty="0">
                <a:solidFill>
                  <a:srgbClr val="C9CCC8"/>
                </a:solidFill>
                <a:latin typeface="Calibri" pitchFamily="34" charset="0"/>
                <a:ea typeface="Calibri" pitchFamily="34" charset="-122"/>
                <a:cs typeface="Calibri" pitchFamily="34" charset="-120"/>
              </a:rPr>
              <a:t>Something starts the workflow</a:t>
            </a:r>
            <a:endParaRPr lang="en-US" sz="1300" dirty="0"/>
          </a:p>
        </p:txBody>
      </p:sp>
      <p:pic>
        <p:nvPicPr>
          <p:cNvPr id="11" name="Image 2" descr="preencoded.png">    </p:cNvPr>
          <p:cNvPicPr>
            <a:picLocks noChangeAspect="1"/>
          </p:cNvPicPr>
          <p:nvPr/>
        </p:nvPicPr>
        <p:blipFill>
          <a:blip r:embed="rId3"/>
          <a:stretch>
            <a:fillRect/>
          </a:stretch>
        </p:blipFill>
        <p:spPr>
          <a:xfrm>
            <a:off x="3068498" y="2148840"/>
            <a:ext cx="301752" cy="301752"/>
          </a:xfrm>
          <a:prstGeom prst="rect">
            <a:avLst/>
          </a:prstGeom>
        </p:spPr>
      </p:pic>
      <p:sp>
        <p:nvSpPr>
          <p:cNvPr id="12" name="Shape 7"/>
          <p:cNvSpPr/>
          <p:nvPr/>
        </p:nvSpPr>
        <p:spPr>
          <a:xfrm>
            <a:off x="3425114" y="1783080"/>
            <a:ext cx="2464994" cy="1051560"/>
          </a:xfrm>
          <a:prstGeom prst="roundRect">
            <a:avLst>
              <a:gd name="adj" fmla="val 10435"/>
            </a:avLst>
          </a:prstGeom>
          <a:solidFill>
            <a:srgbClr val="161816"/>
          </a:solidFill>
          <a:ln w="15875">
            <a:solidFill>
              <a:srgbClr val="A6D04B"/>
            </a:solidFill>
            <a:prstDash val="solid"/>
          </a:ln>
        </p:spPr>
      </p:sp>
      <p:pic>
        <p:nvPicPr>
          <p:cNvPr id="13" name="Image 3" descr="preencoded.png">    </p:cNvPr>
          <p:cNvPicPr>
            <a:picLocks noChangeAspect="1"/>
          </p:cNvPicPr>
          <p:nvPr/>
        </p:nvPicPr>
        <p:blipFill>
          <a:blip r:embed="rId4"/>
          <a:stretch>
            <a:fillRect/>
          </a:stretch>
        </p:blipFill>
        <p:spPr>
          <a:xfrm>
            <a:off x="3653714" y="2075688"/>
            <a:ext cx="457200" cy="457200"/>
          </a:xfrm>
          <a:prstGeom prst="rect">
            <a:avLst/>
          </a:prstGeom>
        </p:spPr>
      </p:pic>
      <p:sp>
        <p:nvSpPr>
          <p:cNvPr id="14" name="Text 8"/>
          <p:cNvSpPr txBox="1"/>
          <p:nvPr/>
        </p:nvSpPr>
        <p:spPr>
          <a:xfrm>
            <a:off x="4248074" y="1938528"/>
            <a:ext cx="1550594" cy="411480"/>
          </a:xfrm>
          <a:prstGeom prst="rect">
            <a:avLst/>
          </a:prstGeom>
          <a:noFill/>
          <a:ln/>
        </p:spPr>
        <p:txBody>
          <a:bodyPr wrap="square" lIns="0" tIns="0" rIns="0" bIns="0" rtlCol="0" anchor="t"/>
          <a:lstStyle/>
          <a:p>
            <a:pPr algn="l" indent="0" marL="0">
              <a:lnSpc>
                <a:spcPct val="95000"/>
              </a:lnSpc>
              <a:buNone/>
            </a:pPr>
            <a:r>
              <a:rPr lang="en-US" altLang="en-US" sz="1800" b="1" dirty="0">
                <a:solidFill>
                  <a:srgbClr val="FFFFFF"/>
                </a:solidFill>
                <a:latin typeface="Cairo" pitchFamily="34" charset="0"/>
                <a:ea typeface="Cairo" pitchFamily="34" charset="-122"/>
                <a:cs typeface="Cairo" pitchFamily="34" charset="-120"/>
              </a:rPr>
              <a:t>Process</a:t>
            </a:r>
            <a:endParaRPr lang="en-US" sz="1800" dirty="0"/>
          </a:p>
        </p:txBody>
      </p:sp>
      <p:sp>
        <p:nvSpPr>
          <p:cNvPr id="15" name="Text 9"/>
          <p:cNvSpPr txBox="1"/>
          <p:nvPr/>
        </p:nvSpPr>
        <p:spPr>
          <a:xfrm>
            <a:off x="4248074" y="2350008"/>
            <a:ext cx="1550594" cy="411480"/>
          </a:xfrm>
          <a:prstGeom prst="rect">
            <a:avLst/>
          </a:prstGeom>
          <a:noFill/>
          <a:ln/>
        </p:spPr>
        <p:txBody>
          <a:bodyPr wrap="square" lIns="0" tIns="0" rIns="0" bIns="0" rtlCol="0" anchor="t"/>
          <a:lstStyle/>
          <a:p>
            <a:pPr algn="l" indent="0" marL="0">
              <a:lnSpc>
                <a:spcPct val="95000"/>
              </a:lnSpc>
              <a:buNone/>
            </a:pPr>
            <a:r>
              <a:rPr lang="en-US" altLang="en-US" sz="1300" dirty="0">
                <a:solidFill>
                  <a:srgbClr val="C9CCC8"/>
                </a:solidFill>
                <a:latin typeface="Calibri" pitchFamily="34" charset="0"/>
                <a:ea typeface="Calibri" pitchFamily="34" charset="-122"/>
                <a:cs typeface="Calibri" pitchFamily="34" charset="-120"/>
              </a:rPr>
              <a:t>Data is mapped and checked</a:t>
            </a:r>
            <a:endParaRPr lang="en-US" sz="1300" dirty="0"/>
          </a:p>
        </p:txBody>
      </p:sp>
      <p:pic>
        <p:nvPicPr>
          <p:cNvPr id="16" name="Image 4" descr="preencoded.png">    </p:cNvPr>
          <p:cNvPicPr>
            <a:picLocks noChangeAspect="1"/>
          </p:cNvPicPr>
          <p:nvPr/>
        </p:nvPicPr>
        <p:blipFill>
          <a:blip r:embed="rId5"/>
          <a:stretch>
            <a:fillRect/>
          </a:stretch>
        </p:blipFill>
        <p:spPr>
          <a:xfrm>
            <a:off x="5944972" y="2148840"/>
            <a:ext cx="301752" cy="301752"/>
          </a:xfrm>
          <a:prstGeom prst="rect">
            <a:avLst/>
          </a:prstGeom>
        </p:spPr>
      </p:pic>
      <p:sp>
        <p:nvSpPr>
          <p:cNvPr id="17" name="Shape 10"/>
          <p:cNvSpPr/>
          <p:nvPr/>
        </p:nvSpPr>
        <p:spPr>
          <a:xfrm>
            <a:off x="6301588" y="1783080"/>
            <a:ext cx="2464994" cy="1051560"/>
          </a:xfrm>
          <a:prstGeom prst="roundRect">
            <a:avLst>
              <a:gd name="adj" fmla="val 10435"/>
            </a:avLst>
          </a:prstGeom>
          <a:solidFill>
            <a:srgbClr val="4DB449"/>
          </a:solidFill>
          <a:ln w="15875">
            <a:solidFill>
              <a:srgbClr val="4DB449"/>
            </a:solidFill>
            <a:prstDash val="solid"/>
          </a:ln>
        </p:spPr>
      </p:sp>
      <p:pic>
        <p:nvPicPr>
          <p:cNvPr id="18" name="Image 5" descr="preencoded.png">    </p:cNvPr>
          <p:cNvPicPr>
            <a:picLocks noChangeAspect="1"/>
          </p:cNvPicPr>
          <p:nvPr/>
        </p:nvPicPr>
        <p:blipFill>
          <a:blip r:embed="rId6"/>
          <a:stretch>
            <a:fillRect/>
          </a:stretch>
        </p:blipFill>
        <p:spPr>
          <a:xfrm>
            <a:off x="6530188" y="2075688"/>
            <a:ext cx="457200" cy="457200"/>
          </a:xfrm>
          <a:prstGeom prst="rect">
            <a:avLst/>
          </a:prstGeom>
        </p:spPr>
      </p:pic>
      <p:sp>
        <p:nvSpPr>
          <p:cNvPr id="19" name="Text 11"/>
          <p:cNvSpPr txBox="1"/>
          <p:nvPr/>
        </p:nvSpPr>
        <p:spPr>
          <a:xfrm>
            <a:off x="7124548" y="1938528"/>
            <a:ext cx="1550594" cy="411480"/>
          </a:xfrm>
          <a:prstGeom prst="rect">
            <a:avLst/>
          </a:prstGeom>
          <a:noFill/>
          <a:ln/>
        </p:spPr>
        <p:txBody>
          <a:bodyPr wrap="square" lIns="0" tIns="0" rIns="0" bIns="0" rtlCol="0" anchor="t"/>
          <a:lstStyle/>
          <a:p>
            <a:pPr algn="l" indent="0" marL="0">
              <a:lnSpc>
                <a:spcPct val="95000"/>
              </a:lnSpc>
              <a:buNone/>
            </a:pPr>
            <a:r>
              <a:rPr lang="en-US" altLang="en-US" sz="1800" b="1" dirty="0">
                <a:solidFill>
                  <a:srgbClr val="000000"/>
                </a:solidFill>
                <a:latin typeface="Cairo" pitchFamily="34" charset="0"/>
                <a:ea typeface="Cairo" pitchFamily="34" charset="-122"/>
                <a:cs typeface="Cairo" pitchFamily="34" charset="-120"/>
              </a:rPr>
              <a:t>AI</a:t>
            </a:r>
            <a:endParaRPr lang="en-US" sz="1800" dirty="0"/>
          </a:p>
        </p:txBody>
      </p:sp>
      <p:sp>
        <p:nvSpPr>
          <p:cNvPr id="20" name="Text 12"/>
          <p:cNvSpPr txBox="1"/>
          <p:nvPr/>
        </p:nvSpPr>
        <p:spPr>
          <a:xfrm>
            <a:off x="7124548" y="2350008"/>
            <a:ext cx="1550594" cy="411480"/>
          </a:xfrm>
          <a:prstGeom prst="rect">
            <a:avLst/>
          </a:prstGeom>
          <a:noFill/>
          <a:ln/>
        </p:spPr>
        <p:txBody>
          <a:bodyPr wrap="square" lIns="0" tIns="0" rIns="0" bIns="0" rtlCol="0" anchor="t"/>
          <a:lstStyle/>
          <a:p>
            <a:pPr algn="l" indent="0" marL="0">
              <a:lnSpc>
                <a:spcPct val="95000"/>
              </a:lnSpc>
              <a:buNone/>
            </a:pPr>
            <a:r>
              <a:rPr lang="en-US" altLang="en-US" sz="1300" dirty="0">
                <a:solidFill>
                  <a:srgbClr val="000000"/>
                </a:solidFill>
                <a:latin typeface="Calibri" pitchFamily="34" charset="0"/>
                <a:ea typeface="Calibri" pitchFamily="34" charset="-122"/>
                <a:cs typeface="Calibri" pitchFamily="34" charset="-120"/>
              </a:rPr>
              <a:t>A model drafts the content</a:t>
            </a:r>
            <a:endParaRPr lang="en-US" sz="1300" dirty="0"/>
          </a:p>
        </p:txBody>
      </p:sp>
      <p:pic>
        <p:nvPicPr>
          <p:cNvPr id="21" name="Image 6" descr="preencoded.png">    </p:cNvPr>
          <p:cNvPicPr>
            <a:picLocks noChangeAspect="1"/>
          </p:cNvPicPr>
          <p:nvPr/>
        </p:nvPicPr>
        <p:blipFill>
          <a:blip r:embed="rId7"/>
          <a:stretch>
            <a:fillRect/>
          </a:stretch>
        </p:blipFill>
        <p:spPr>
          <a:xfrm>
            <a:off x="8821445" y="2148840"/>
            <a:ext cx="301752" cy="301752"/>
          </a:xfrm>
          <a:prstGeom prst="rect">
            <a:avLst/>
          </a:prstGeom>
        </p:spPr>
      </p:pic>
      <p:sp>
        <p:nvSpPr>
          <p:cNvPr id="22" name="Shape 13"/>
          <p:cNvSpPr/>
          <p:nvPr/>
        </p:nvSpPr>
        <p:spPr>
          <a:xfrm>
            <a:off x="9178061" y="1783080"/>
            <a:ext cx="2464994" cy="1051560"/>
          </a:xfrm>
          <a:prstGeom prst="roundRect">
            <a:avLst>
              <a:gd name="adj" fmla="val 10435"/>
            </a:avLst>
          </a:prstGeom>
          <a:solidFill>
            <a:srgbClr val="161816"/>
          </a:solidFill>
          <a:ln w="15875">
            <a:solidFill>
              <a:srgbClr val="A6D04B"/>
            </a:solidFill>
            <a:prstDash val="solid"/>
          </a:ln>
        </p:spPr>
      </p:sp>
      <p:pic>
        <p:nvPicPr>
          <p:cNvPr id="23" name="Image 7" descr="preencoded.png">    </p:cNvPr>
          <p:cNvPicPr>
            <a:picLocks noChangeAspect="1"/>
          </p:cNvPicPr>
          <p:nvPr/>
        </p:nvPicPr>
        <p:blipFill>
          <a:blip r:embed="rId8"/>
          <a:stretch>
            <a:fillRect/>
          </a:stretch>
        </p:blipFill>
        <p:spPr>
          <a:xfrm>
            <a:off x="9406661" y="2075688"/>
            <a:ext cx="457200" cy="457200"/>
          </a:xfrm>
          <a:prstGeom prst="rect">
            <a:avLst/>
          </a:prstGeom>
        </p:spPr>
      </p:pic>
      <p:sp>
        <p:nvSpPr>
          <p:cNvPr id="24" name="Text 14"/>
          <p:cNvSpPr txBox="1"/>
          <p:nvPr/>
        </p:nvSpPr>
        <p:spPr>
          <a:xfrm>
            <a:off x="10001021" y="1938528"/>
            <a:ext cx="1550594" cy="411480"/>
          </a:xfrm>
          <a:prstGeom prst="rect">
            <a:avLst/>
          </a:prstGeom>
          <a:noFill/>
          <a:ln/>
        </p:spPr>
        <p:txBody>
          <a:bodyPr wrap="square" lIns="0" tIns="0" rIns="0" bIns="0" rtlCol="0" anchor="t"/>
          <a:lstStyle/>
          <a:p>
            <a:pPr algn="l" indent="0" marL="0">
              <a:lnSpc>
                <a:spcPct val="95000"/>
              </a:lnSpc>
              <a:buNone/>
            </a:pPr>
            <a:r>
              <a:rPr lang="en-US" altLang="en-US" sz="1800" b="1" dirty="0">
                <a:solidFill>
                  <a:srgbClr val="FFFFFF"/>
                </a:solidFill>
                <a:latin typeface="Cairo" pitchFamily="34" charset="0"/>
                <a:ea typeface="Cairo" pitchFamily="34" charset="-122"/>
                <a:cs typeface="Cairo" pitchFamily="34" charset="-120"/>
              </a:rPr>
              <a:t>Action</a:t>
            </a:r>
            <a:endParaRPr lang="en-US" sz="1800" dirty="0"/>
          </a:p>
        </p:txBody>
      </p:sp>
      <p:sp>
        <p:nvSpPr>
          <p:cNvPr id="25" name="Text 15"/>
          <p:cNvSpPr txBox="1"/>
          <p:nvPr/>
        </p:nvSpPr>
        <p:spPr>
          <a:xfrm>
            <a:off x="10001021" y="2350008"/>
            <a:ext cx="1550594" cy="411480"/>
          </a:xfrm>
          <a:prstGeom prst="rect">
            <a:avLst/>
          </a:prstGeom>
          <a:noFill/>
          <a:ln/>
        </p:spPr>
        <p:txBody>
          <a:bodyPr wrap="square" lIns="0" tIns="0" rIns="0" bIns="0" rtlCol="0" anchor="t"/>
          <a:lstStyle/>
          <a:p>
            <a:pPr algn="l" indent="0" marL="0">
              <a:lnSpc>
                <a:spcPct val="95000"/>
              </a:lnSpc>
              <a:buNone/>
            </a:pPr>
            <a:r>
              <a:rPr lang="en-US" altLang="en-US" sz="1300" dirty="0">
                <a:solidFill>
                  <a:srgbClr val="C9CCC8"/>
                </a:solidFill>
                <a:latin typeface="Calibri" pitchFamily="34" charset="0"/>
                <a:ea typeface="Calibri" pitchFamily="34" charset="-122"/>
                <a:cs typeface="Calibri" pitchFamily="34" charset="-120"/>
              </a:rPr>
              <a:t>Results are saved or sent</a:t>
            </a:r>
            <a:endParaRPr lang="en-US" sz="1300" dirty="0"/>
          </a:p>
        </p:txBody>
      </p:sp>
      <p:sp>
        <p:nvSpPr>
          <p:cNvPr id="26" name="Text 16"/>
          <p:cNvSpPr txBox="1"/>
          <p:nvPr/>
        </p:nvSpPr>
        <p:spPr>
          <a:xfrm>
            <a:off x="548640" y="3127248"/>
            <a:ext cx="7315200" cy="365760"/>
          </a:xfrm>
          <a:prstGeom prst="rect">
            <a:avLst/>
          </a:prstGeom>
          <a:noFill/>
          <a:ln/>
        </p:spPr>
        <p:txBody>
          <a:bodyPr wrap="square" lIns="0" tIns="0" rIns="0" bIns="0" rtlCol="0" anchor="t"/>
          <a:lstStyle/>
          <a:p>
            <a:pPr algn="l" indent="0" marL="0">
              <a:lnSpc>
                <a:spcPct val="95000"/>
              </a:lnSpc>
              <a:buNone/>
            </a:pPr>
            <a:r>
              <a:rPr lang="en-US" altLang="en-US" sz="1500" b="1" dirty="0">
                <a:solidFill>
                  <a:srgbClr val="A6D04B"/>
                </a:solidFill>
                <a:latin typeface="Cairo" pitchFamily="34" charset="0"/>
                <a:ea typeface="Cairo" pitchFamily="34" charset="-122"/>
                <a:cs typeface="Cairo" pitchFamily="34" charset="-120"/>
              </a:rPr>
              <a:t>Student workflow: Content Idea Generator</a:t>
            </a:r>
            <a:endParaRPr lang="en-US" sz="1500" dirty="0"/>
          </a:p>
        </p:txBody>
      </p:sp>
      <p:sp>
        <p:nvSpPr>
          <p:cNvPr id="27" name="Shape 17"/>
          <p:cNvSpPr/>
          <p:nvPr/>
        </p:nvSpPr>
        <p:spPr>
          <a:xfrm>
            <a:off x="548640" y="3584448"/>
            <a:ext cx="1188720" cy="731520"/>
          </a:xfrm>
          <a:prstGeom prst="roundRect">
            <a:avLst>
              <a:gd name="adj" fmla="val 12500"/>
            </a:avLst>
          </a:prstGeom>
          <a:solidFill>
            <a:srgbClr val="FFFFFF"/>
          </a:solidFill>
          <a:ln w="15875">
            <a:solidFill>
              <a:srgbClr val="FFFFFF"/>
            </a:solidFill>
            <a:prstDash val="solid"/>
          </a:ln>
        </p:spPr>
      </p:sp>
      <p:sp>
        <p:nvSpPr>
          <p:cNvPr id="28" name="Text 18"/>
          <p:cNvSpPr txBox="1"/>
          <p:nvPr/>
        </p:nvSpPr>
        <p:spPr>
          <a:xfrm>
            <a:off x="621792" y="3584448"/>
            <a:ext cx="1042416" cy="731520"/>
          </a:xfrm>
          <a:prstGeom prst="rect">
            <a:avLst/>
          </a:prstGeom>
          <a:noFill/>
          <a:ln/>
        </p:spPr>
        <p:txBody>
          <a:bodyPr wrap="square" lIns="0" tIns="0" rIns="0" bIns="0" rtlCol="0" anchor="ctr"/>
          <a:lstStyle/>
          <a:p>
            <a:pPr algn="ctr" indent="0" marL="0">
              <a:lnSpc>
                <a:spcPct val="95000"/>
              </a:lnSpc>
              <a:buNone/>
            </a:pPr>
            <a:r>
              <a:rPr lang="en-US" altLang="en-US" sz="1350" b="1" dirty="0">
                <a:solidFill>
                  <a:srgbClr val="000000"/>
                </a:solidFill>
                <a:latin typeface="Calibri" pitchFamily="34" charset="0"/>
                <a:ea typeface="Calibri" pitchFamily="34" charset="-122"/>
                <a:cs typeface="Calibri" pitchFamily="34" charset="-120"/>
              </a:rPr>
              <a:t>Form</a:t>
            </a:r>
            <a:endParaRPr lang="en-US" sz="1350" dirty="0"/>
          </a:p>
        </p:txBody>
      </p:sp>
      <p:pic>
        <p:nvPicPr>
          <p:cNvPr id="29" name="Image 8" descr="preencoded.png">    </p:cNvPr>
          <p:cNvPicPr>
            <a:picLocks noChangeAspect="1"/>
          </p:cNvPicPr>
          <p:nvPr/>
        </p:nvPicPr>
        <p:blipFill>
          <a:blip r:embed="rId9"/>
          <a:stretch>
            <a:fillRect/>
          </a:stretch>
        </p:blipFill>
        <p:spPr>
          <a:xfrm>
            <a:off x="1712946" y="3813048"/>
            <a:ext cx="274320" cy="274320"/>
          </a:xfrm>
          <a:prstGeom prst="rect">
            <a:avLst/>
          </a:prstGeom>
        </p:spPr>
      </p:pic>
      <p:sp>
        <p:nvSpPr>
          <p:cNvPr id="30" name="Shape 19"/>
          <p:cNvSpPr/>
          <p:nvPr/>
        </p:nvSpPr>
        <p:spPr>
          <a:xfrm>
            <a:off x="1962851" y="3584448"/>
            <a:ext cx="1691640" cy="731520"/>
          </a:xfrm>
          <a:prstGeom prst="roundRect">
            <a:avLst>
              <a:gd name="adj" fmla="val 12500"/>
            </a:avLst>
          </a:prstGeom>
          <a:solidFill>
            <a:srgbClr val="FFFFFF"/>
          </a:solidFill>
          <a:ln w="15875">
            <a:solidFill>
              <a:srgbClr val="FFFFFF"/>
            </a:solidFill>
            <a:prstDash val="solid"/>
          </a:ln>
        </p:spPr>
      </p:sp>
      <p:sp>
        <p:nvSpPr>
          <p:cNvPr id="31" name="Text 20"/>
          <p:cNvSpPr txBox="1"/>
          <p:nvPr/>
        </p:nvSpPr>
        <p:spPr>
          <a:xfrm>
            <a:off x="2036003" y="3584448"/>
            <a:ext cx="1545336" cy="731520"/>
          </a:xfrm>
          <a:prstGeom prst="rect">
            <a:avLst/>
          </a:prstGeom>
          <a:noFill/>
          <a:ln/>
        </p:spPr>
        <p:txBody>
          <a:bodyPr wrap="square" lIns="0" tIns="0" rIns="0" bIns="0" rtlCol="0" anchor="ctr"/>
          <a:lstStyle/>
          <a:p>
            <a:pPr algn="ctr" indent="0" marL="0">
              <a:lnSpc>
                <a:spcPct val="95000"/>
              </a:lnSpc>
              <a:buNone/>
            </a:pPr>
            <a:r>
              <a:rPr lang="en-US" altLang="en-US" sz="1350" b="1" dirty="0">
                <a:solidFill>
                  <a:srgbClr val="000000"/>
                </a:solidFill>
                <a:latin typeface="Calibri" pitchFamily="34" charset="0"/>
                <a:ea typeface="Calibri" pitchFamily="34" charset="-122"/>
                <a:cs typeface="Calibri" pitchFamily="34" charset="-120"/>
              </a:rPr>
              <a:t>Business info</a:t>
            </a:r>
            <a:endParaRPr lang="en-US" sz="1350" dirty="0"/>
          </a:p>
        </p:txBody>
      </p:sp>
      <p:pic>
        <p:nvPicPr>
          <p:cNvPr id="32" name="Image 9" descr="preencoded.png">    </p:cNvPr>
          <p:cNvPicPr>
            <a:picLocks noChangeAspect="1"/>
          </p:cNvPicPr>
          <p:nvPr/>
        </p:nvPicPr>
        <p:blipFill>
          <a:blip r:embed="rId10"/>
          <a:stretch>
            <a:fillRect/>
          </a:stretch>
        </p:blipFill>
        <p:spPr>
          <a:xfrm>
            <a:off x="3630077" y="3813048"/>
            <a:ext cx="274320" cy="274320"/>
          </a:xfrm>
          <a:prstGeom prst="rect">
            <a:avLst/>
          </a:prstGeom>
        </p:spPr>
      </p:pic>
      <p:sp>
        <p:nvSpPr>
          <p:cNvPr id="33" name="Shape 21"/>
          <p:cNvSpPr/>
          <p:nvPr/>
        </p:nvSpPr>
        <p:spPr>
          <a:xfrm>
            <a:off x="3879982" y="3584448"/>
            <a:ext cx="1188720" cy="731520"/>
          </a:xfrm>
          <a:prstGeom prst="roundRect">
            <a:avLst>
              <a:gd name="adj" fmla="val 12500"/>
            </a:avLst>
          </a:prstGeom>
          <a:solidFill>
            <a:srgbClr val="161816"/>
          </a:solidFill>
          <a:ln w="15875">
            <a:solidFill>
              <a:srgbClr val="EA4B71"/>
            </a:solidFill>
            <a:prstDash val="solid"/>
          </a:ln>
        </p:spPr>
      </p:sp>
      <p:pic>
        <p:nvPicPr>
          <p:cNvPr id="34" name="Image 10" descr="n8n logo">    </p:cNvPr>
          <p:cNvPicPr>
            <a:picLocks noChangeAspect="1"/>
          </p:cNvPicPr>
          <p:nvPr/>
        </p:nvPicPr>
        <p:blipFill>
          <a:blip r:embed="rId11"/>
          <a:stretch>
            <a:fillRect/>
          </a:stretch>
        </p:blipFill>
        <p:spPr>
          <a:xfrm>
            <a:off x="4007998" y="3721608"/>
            <a:ext cx="457200" cy="457200"/>
          </a:xfrm>
          <a:prstGeom prst="rect">
            <a:avLst/>
          </a:prstGeom>
        </p:spPr>
      </p:pic>
      <p:sp>
        <p:nvSpPr>
          <p:cNvPr id="35" name="Text 22"/>
          <p:cNvSpPr txBox="1"/>
          <p:nvPr/>
        </p:nvSpPr>
        <p:spPr>
          <a:xfrm>
            <a:off x="4483486" y="3584448"/>
            <a:ext cx="530352" cy="731520"/>
          </a:xfrm>
          <a:prstGeom prst="rect">
            <a:avLst/>
          </a:prstGeom>
          <a:noFill/>
          <a:ln/>
        </p:spPr>
        <p:txBody>
          <a:bodyPr wrap="square" lIns="0" tIns="0" rIns="0" bIns="0" rtlCol="0" anchor="ctr"/>
          <a:lstStyle/>
          <a:p>
            <a:pPr algn="l" indent="0" marL="0">
              <a:lnSpc>
                <a:spcPct val="95000"/>
              </a:lnSpc>
              <a:buNone/>
            </a:pPr>
            <a:r>
              <a:rPr lang="en-US" altLang="en-US" sz="1500" b="1" dirty="0">
                <a:solidFill>
                  <a:srgbClr val="FFFFFF"/>
                </a:solidFill>
                <a:latin typeface="Calibri" pitchFamily="34" charset="0"/>
                <a:ea typeface="Calibri" pitchFamily="34" charset="-122"/>
                <a:cs typeface="Calibri" pitchFamily="34" charset="-120"/>
              </a:rPr>
              <a:t>n8n</a:t>
            </a:r>
            <a:endParaRPr lang="en-US" sz="1500" dirty="0"/>
          </a:p>
        </p:txBody>
      </p:sp>
      <p:pic>
        <p:nvPicPr>
          <p:cNvPr id="36" name="Image 11" descr="preencoded.png">    </p:cNvPr>
          <p:cNvPicPr>
            <a:picLocks noChangeAspect="1"/>
          </p:cNvPicPr>
          <p:nvPr/>
        </p:nvPicPr>
        <p:blipFill>
          <a:blip r:embed="rId12"/>
          <a:stretch>
            <a:fillRect/>
          </a:stretch>
        </p:blipFill>
        <p:spPr>
          <a:xfrm>
            <a:off x="5044288" y="3813048"/>
            <a:ext cx="274320" cy="274320"/>
          </a:xfrm>
          <a:prstGeom prst="rect">
            <a:avLst/>
          </a:prstGeom>
        </p:spPr>
      </p:pic>
      <p:sp>
        <p:nvSpPr>
          <p:cNvPr id="37" name="Shape 23"/>
          <p:cNvSpPr/>
          <p:nvPr/>
        </p:nvSpPr>
        <p:spPr>
          <a:xfrm>
            <a:off x="5294193" y="3584448"/>
            <a:ext cx="1371600" cy="731520"/>
          </a:xfrm>
          <a:prstGeom prst="roundRect">
            <a:avLst>
              <a:gd name="adj" fmla="val 12500"/>
            </a:avLst>
          </a:prstGeom>
          <a:solidFill>
            <a:srgbClr val="4DB449"/>
          </a:solidFill>
          <a:ln w="15875">
            <a:solidFill>
              <a:srgbClr val="4DB449"/>
            </a:solidFill>
            <a:prstDash val="solid"/>
          </a:ln>
        </p:spPr>
      </p:sp>
      <p:sp>
        <p:nvSpPr>
          <p:cNvPr id="38" name="Text 24"/>
          <p:cNvSpPr txBox="1"/>
          <p:nvPr/>
        </p:nvSpPr>
        <p:spPr>
          <a:xfrm>
            <a:off x="5367345" y="3584448"/>
            <a:ext cx="1225296" cy="731520"/>
          </a:xfrm>
          <a:prstGeom prst="rect">
            <a:avLst/>
          </a:prstGeom>
          <a:noFill/>
          <a:ln/>
        </p:spPr>
        <p:txBody>
          <a:bodyPr wrap="square" lIns="0" tIns="0" rIns="0" bIns="0" rtlCol="0" anchor="ctr"/>
          <a:lstStyle/>
          <a:p>
            <a:pPr algn="ctr" indent="0" marL="0">
              <a:lnSpc>
                <a:spcPct val="95000"/>
              </a:lnSpc>
              <a:buNone/>
            </a:pPr>
            <a:r>
              <a:rPr lang="en-US" altLang="en-US" sz="1350" b="1" dirty="0">
                <a:solidFill>
                  <a:srgbClr val="000000"/>
                </a:solidFill>
                <a:latin typeface="Calibri" pitchFamily="34" charset="0"/>
                <a:ea typeface="Calibri" pitchFamily="34" charset="-122"/>
                <a:cs typeface="Calibri" pitchFamily="34" charset="-120"/>
              </a:rPr>
              <a:t>AI</a:t>
            </a:r>
            <a:endParaRPr lang="en-US" sz="1350" dirty="0"/>
          </a:p>
        </p:txBody>
      </p:sp>
      <p:pic>
        <p:nvPicPr>
          <p:cNvPr id="39" name="Image 12" descr="preencoded.png">    </p:cNvPr>
          <p:cNvPicPr>
            <a:picLocks noChangeAspect="1"/>
          </p:cNvPicPr>
          <p:nvPr/>
        </p:nvPicPr>
        <p:blipFill>
          <a:blip r:embed="rId13"/>
          <a:stretch>
            <a:fillRect/>
          </a:stretch>
        </p:blipFill>
        <p:spPr>
          <a:xfrm>
            <a:off x="6641379" y="3813048"/>
            <a:ext cx="274320" cy="274320"/>
          </a:xfrm>
          <a:prstGeom prst="rect">
            <a:avLst/>
          </a:prstGeom>
        </p:spPr>
      </p:pic>
      <p:sp>
        <p:nvSpPr>
          <p:cNvPr id="40" name="Shape 25"/>
          <p:cNvSpPr/>
          <p:nvPr/>
        </p:nvSpPr>
        <p:spPr>
          <a:xfrm>
            <a:off x="6891284" y="3584448"/>
            <a:ext cx="2834640" cy="731520"/>
          </a:xfrm>
          <a:prstGeom prst="roundRect">
            <a:avLst>
              <a:gd name="adj" fmla="val 12500"/>
            </a:avLst>
          </a:prstGeom>
          <a:solidFill>
            <a:srgbClr val="FFFFFF"/>
          </a:solidFill>
          <a:ln w="15875">
            <a:solidFill>
              <a:srgbClr val="FFFFFF"/>
            </a:solidFill>
            <a:prstDash val="solid"/>
          </a:ln>
        </p:spPr>
      </p:sp>
      <p:sp>
        <p:nvSpPr>
          <p:cNvPr id="41" name="Text 26"/>
          <p:cNvSpPr txBox="1"/>
          <p:nvPr/>
        </p:nvSpPr>
        <p:spPr>
          <a:xfrm>
            <a:off x="6964436" y="3584448"/>
            <a:ext cx="2688336" cy="731520"/>
          </a:xfrm>
          <a:prstGeom prst="rect">
            <a:avLst/>
          </a:prstGeom>
          <a:noFill/>
          <a:ln/>
        </p:spPr>
        <p:txBody>
          <a:bodyPr wrap="square" lIns="0" tIns="0" rIns="0" bIns="0" rtlCol="0" anchor="ctr"/>
          <a:lstStyle/>
          <a:p>
            <a:pPr algn="ctr" indent="0" marL="0">
              <a:lnSpc>
                <a:spcPct val="95000"/>
              </a:lnSpc>
              <a:buNone/>
            </a:pPr>
            <a:r>
              <a:rPr lang="en-US" altLang="en-US" sz="1350" b="1" dirty="0">
                <a:solidFill>
                  <a:srgbClr val="000000"/>
                </a:solidFill>
                <a:latin typeface="Calibri" pitchFamily="34" charset="0"/>
                <a:ea typeface="Calibri" pitchFamily="34" charset="-122"/>
                <a:cs typeface="Calibri" pitchFamily="34" charset="-120"/>
              </a:rPr>
              <a:t>Hook · Caption · CTA · Reel idea</a:t>
            </a:r>
            <a:endParaRPr lang="en-US" sz="1350" dirty="0"/>
          </a:p>
        </p:txBody>
      </p:sp>
      <p:pic>
        <p:nvPicPr>
          <p:cNvPr id="42" name="Image 13" descr="preencoded.png">    </p:cNvPr>
          <p:cNvPicPr>
            <a:picLocks noChangeAspect="1"/>
          </p:cNvPicPr>
          <p:nvPr/>
        </p:nvPicPr>
        <p:blipFill>
          <a:blip r:embed="rId14"/>
          <a:stretch>
            <a:fillRect/>
          </a:stretch>
        </p:blipFill>
        <p:spPr>
          <a:xfrm>
            <a:off x="9701510" y="3813048"/>
            <a:ext cx="274320" cy="274320"/>
          </a:xfrm>
          <a:prstGeom prst="rect">
            <a:avLst/>
          </a:prstGeom>
        </p:spPr>
      </p:pic>
      <p:sp>
        <p:nvSpPr>
          <p:cNvPr id="43" name="Shape 27"/>
          <p:cNvSpPr/>
          <p:nvPr/>
        </p:nvSpPr>
        <p:spPr>
          <a:xfrm>
            <a:off x="9951415" y="3584448"/>
            <a:ext cx="1691640" cy="731520"/>
          </a:xfrm>
          <a:prstGeom prst="roundRect">
            <a:avLst>
              <a:gd name="adj" fmla="val 12500"/>
            </a:avLst>
          </a:prstGeom>
          <a:solidFill>
            <a:srgbClr val="FFFFFF"/>
          </a:solidFill>
          <a:ln w="15875">
            <a:solidFill>
              <a:srgbClr val="FFFFFF"/>
            </a:solidFill>
            <a:prstDash val="solid"/>
          </a:ln>
        </p:spPr>
      </p:sp>
      <p:sp>
        <p:nvSpPr>
          <p:cNvPr id="44" name="Text 28"/>
          <p:cNvSpPr txBox="1"/>
          <p:nvPr/>
        </p:nvSpPr>
        <p:spPr>
          <a:xfrm>
            <a:off x="10024567" y="3584448"/>
            <a:ext cx="1545336" cy="731520"/>
          </a:xfrm>
          <a:prstGeom prst="rect">
            <a:avLst/>
          </a:prstGeom>
          <a:noFill/>
          <a:ln/>
        </p:spPr>
        <p:txBody>
          <a:bodyPr wrap="square" lIns="0" tIns="0" rIns="0" bIns="0" rtlCol="0" anchor="ctr"/>
          <a:lstStyle/>
          <a:p>
            <a:pPr algn="ctr" indent="0" marL="0">
              <a:lnSpc>
                <a:spcPct val="95000"/>
              </a:lnSpc>
              <a:buNone/>
            </a:pPr>
            <a:r>
              <a:rPr lang="en-US" altLang="en-US" sz="1350" b="1" dirty="0">
                <a:solidFill>
                  <a:srgbClr val="000000"/>
                </a:solidFill>
                <a:latin typeface="Calibri" pitchFamily="34" charset="0"/>
                <a:ea typeface="Calibri" pitchFamily="34" charset="-122"/>
                <a:cs typeface="Calibri" pitchFamily="34" charset="-120"/>
              </a:rPr>
              <a:t>Google Sheets</a:t>
            </a:r>
            <a:endParaRPr lang="en-US" sz="1350" dirty="0"/>
          </a:p>
        </p:txBody>
      </p:sp>
      <p:sp>
        <p:nvSpPr>
          <p:cNvPr id="45" name="Shape 29"/>
          <p:cNvSpPr/>
          <p:nvPr/>
        </p:nvSpPr>
        <p:spPr>
          <a:xfrm>
            <a:off x="548640" y="4663440"/>
            <a:ext cx="1934870" cy="384048"/>
          </a:xfrm>
          <a:prstGeom prst="roundRect">
            <a:avLst>
              <a:gd name="adj" fmla="val 50000"/>
            </a:avLst>
          </a:prstGeom>
          <a:solidFill>
            <a:srgbClr val="161816"/>
          </a:solidFill>
          <a:ln w="9525">
            <a:solidFill>
              <a:srgbClr val="3A3D39"/>
            </a:solidFill>
            <a:prstDash val="solid"/>
          </a:ln>
        </p:spPr>
      </p:sp>
      <p:sp>
        <p:nvSpPr>
          <p:cNvPr id="46" name="Text 30"/>
          <p:cNvSpPr txBox="1"/>
          <p:nvPr/>
        </p:nvSpPr>
        <p:spPr>
          <a:xfrm>
            <a:off x="658368" y="4663440"/>
            <a:ext cx="1715414" cy="384048"/>
          </a:xfrm>
          <a:prstGeom prst="rect">
            <a:avLst/>
          </a:prstGeom>
          <a:noFill/>
          <a:ln/>
        </p:spPr>
        <p:txBody>
          <a:bodyPr wrap="square" lIns="0" tIns="0" rIns="0" bIns="0" rtlCol="0" anchor="ctr"/>
          <a:lstStyle/>
          <a:p>
            <a:pPr algn="ctr" indent="0" marL="0">
              <a:lnSpc>
                <a:spcPct val="95000"/>
              </a:lnSpc>
              <a:buNone/>
            </a:pPr>
            <a:r>
              <a:rPr lang="en-US" altLang="en-US" sz="1200" dirty="0">
                <a:solidFill>
                  <a:srgbClr val="FFFFFF"/>
                </a:solidFill>
                <a:latin typeface="Calibri" pitchFamily="34" charset="0"/>
                <a:ea typeface="Calibri" pitchFamily="34" charset="-122"/>
                <a:cs typeface="Calibri" pitchFamily="34" charset="-120"/>
              </a:rPr>
              <a:t>Workflows &amp; nodes</a:t>
            </a:r>
            <a:endParaRPr lang="en-US" sz="1200" dirty="0"/>
          </a:p>
        </p:txBody>
      </p:sp>
      <p:sp>
        <p:nvSpPr>
          <p:cNvPr id="47" name="Shape 31"/>
          <p:cNvSpPr/>
          <p:nvPr/>
        </p:nvSpPr>
        <p:spPr>
          <a:xfrm>
            <a:off x="2620670" y="4663440"/>
            <a:ext cx="3279038" cy="384048"/>
          </a:xfrm>
          <a:prstGeom prst="roundRect">
            <a:avLst>
              <a:gd name="adj" fmla="val 50000"/>
            </a:avLst>
          </a:prstGeom>
          <a:solidFill>
            <a:srgbClr val="161816"/>
          </a:solidFill>
          <a:ln w="9525">
            <a:solidFill>
              <a:srgbClr val="3A3D39"/>
            </a:solidFill>
            <a:prstDash val="solid"/>
          </a:ln>
        </p:spPr>
      </p:sp>
      <p:sp>
        <p:nvSpPr>
          <p:cNvPr id="48" name="Text 32"/>
          <p:cNvSpPr txBox="1"/>
          <p:nvPr/>
        </p:nvSpPr>
        <p:spPr>
          <a:xfrm>
            <a:off x="2730398" y="4663440"/>
            <a:ext cx="3059582" cy="384048"/>
          </a:xfrm>
          <a:prstGeom prst="rect">
            <a:avLst/>
          </a:prstGeom>
          <a:noFill/>
          <a:ln/>
        </p:spPr>
        <p:txBody>
          <a:bodyPr wrap="square" lIns="0" tIns="0" rIns="0" bIns="0" rtlCol="0" anchor="ctr"/>
          <a:lstStyle/>
          <a:p>
            <a:pPr algn="ctr" indent="0" marL="0">
              <a:lnSpc>
                <a:spcPct val="95000"/>
              </a:lnSpc>
              <a:buNone/>
            </a:pPr>
            <a:r>
              <a:rPr lang="en-US" altLang="en-US" sz="1200" dirty="0">
                <a:solidFill>
                  <a:srgbClr val="FFFFFF"/>
                </a:solidFill>
                <a:latin typeface="Calibri" pitchFamily="34" charset="0"/>
                <a:ea typeface="Calibri" pitchFamily="34" charset="-122"/>
                <a:cs typeface="Calibri" pitchFamily="34" charset="-120"/>
              </a:rPr>
              <a:t>Manual, form &amp; schedule triggers</a:t>
            </a:r>
            <a:endParaRPr lang="en-US" sz="1200" dirty="0"/>
          </a:p>
        </p:txBody>
      </p:sp>
      <p:sp>
        <p:nvSpPr>
          <p:cNvPr id="49" name="Shape 33"/>
          <p:cNvSpPr/>
          <p:nvPr/>
        </p:nvSpPr>
        <p:spPr>
          <a:xfrm>
            <a:off x="6036869" y="4663440"/>
            <a:ext cx="2024482" cy="384048"/>
          </a:xfrm>
          <a:prstGeom prst="roundRect">
            <a:avLst>
              <a:gd name="adj" fmla="val 50000"/>
            </a:avLst>
          </a:prstGeom>
          <a:solidFill>
            <a:srgbClr val="161816"/>
          </a:solidFill>
          <a:ln w="9525">
            <a:solidFill>
              <a:srgbClr val="3A3D39"/>
            </a:solidFill>
            <a:prstDash val="solid"/>
          </a:ln>
        </p:spPr>
      </p:sp>
      <p:sp>
        <p:nvSpPr>
          <p:cNvPr id="50" name="Text 34"/>
          <p:cNvSpPr txBox="1"/>
          <p:nvPr/>
        </p:nvSpPr>
        <p:spPr>
          <a:xfrm>
            <a:off x="6146597" y="4663440"/>
            <a:ext cx="1805026" cy="384048"/>
          </a:xfrm>
          <a:prstGeom prst="rect">
            <a:avLst/>
          </a:prstGeom>
          <a:noFill/>
          <a:ln/>
        </p:spPr>
        <p:txBody>
          <a:bodyPr wrap="square" lIns="0" tIns="0" rIns="0" bIns="0" rtlCol="0" anchor="ctr"/>
          <a:lstStyle/>
          <a:p>
            <a:pPr algn="ctr" indent="0" marL="0">
              <a:lnSpc>
                <a:spcPct val="95000"/>
              </a:lnSpc>
              <a:buNone/>
            </a:pPr>
            <a:r>
              <a:rPr lang="en-US" altLang="en-US" sz="1200" dirty="0">
                <a:solidFill>
                  <a:srgbClr val="FFFFFF"/>
                </a:solidFill>
                <a:latin typeface="Calibri" pitchFamily="34" charset="0"/>
                <a:ea typeface="Calibri" pitchFamily="34" charset="-122"/>
                <a:cs typeface="Calibri" pitchFamily="34" charset="-120"/>
              </a:rPr>
              <a:t>Webhooks (concept)</a:t>
            </a:r>
            <a:endParaRPr lang="en-US" sz="1200" dirty="0"/>
          </a:p>
        </p:txBody>
      </p:sp>
      <p:sp>
        <p:nvSpPr>
          <p:cNvPr id="51" name="Shape 35"/>
          <p:cNvSpPr/>
          <p:nvPr/>
        </p:nvSpPr>
        <p:spPr>
          <a:xfrm>
            <a:off x="8198510" y="4663440"/>
            <a:ext cx="2741371" cy="384048"/>
          </a:xfrm>
          <a:prstGeom prst="roundRect">
            <a:avLst>
              <a:gd name="adj" fmla="val 50000"/>
            </a:avLst>
          </a:prstGeom>
          <a:solidFill>
            <a:srgbClr val="161816"/>
          </a:solidFill>
          <a:ln w="9525">
            <a:solidFill>
              <a:srgbClr val="3A3D39"/>
            </a:solidFill>
            <a:prstDash val="solid"/>
          </a:ln>
        </p:spPr>
      </p:sp>
      <p:sp>
        <p:nvSpPr>
          <p:cNvPr id="52" name="Text 36"/>
          <p:cNvSpPr txBox="1"/>
          <p:nvPr/>
        </p:nvSpPr>
        <p:spPr>
          <a:xfrm>
            <a:off x="8308238" y="4663440"/>
            <a:ext cx="2521915" cy="384048"/>
          </a:xfrm>
          <a:prstGeom prst="rect">
            <a:avLst/>
          </a:prstGeom>
          <a:noFill/>
          <a:ln/>
        </p:spPr>
        <p:txBody>
          <a:bodyPr wrap="square" lIns="0" tIns="0" rIns="0" bIns="0" rtlCol="0" anchor="ctr"/>
          <a:lstStyle/>
          <a:p>
            <a:pPr algn="ctr" indent="0" marL="0">
              <a:lnSpc>
                <a:spcPct val="95000"/>
              </a:lnSpc>
              <a:buNone/>
            </a:pPr>
            <a:r>
              <a:rPr lang="en-US" altLang="en-US" sz="1200" dirty="0">
                <a:solidFill>
                  <a:srgbClr val="FFFFFF"/>
                </a:solidFill>
                <a:latin typeface="Calibri" pitchFamily="34" charset="0"/>
                <a:ea typeface="Calibri" pitchFamily="34" charset="-122"/>
                <a:cs typeface="Calibri" pitchFamily="34" charset="-120"/>
              </a:rPr>
              <a:t>Data mapping &amp; expressions</a:t>
            </a:r>
            <a:endParaRPr lang="en-US" sz="1200" dirty="0"/>
          </a:p>
        </p:txBody>
      </p:sp>
      <p:sp>
        <p:nvSpPr>
          <p:cNvPr id="53" name="Shape 37"/>
          <p:cNvSpPr/>
          <p:nvPr/>
        </p:nvSpPr>
        <p:spPr>
          <a:xfrm>
            <a:off x="548640" y="5166360"/>
            <a:ext cx="1576426" cy="384048"/>
          </a:xfrm>
          <a:prstGeom prst="roundRect">
            <a:avLst>
              <a:gd name="adj" fmla="val 50000"/>
            </a:avLst>
          </a:prstGeom>
          <a:solidFill>
            <a:srgbClr val="161816"/>
          </a:solidFill>
          <a:ln w="9525">
            <a:solidFill>
              <a:srgbClr val="3A3D39"/>
            </a:solidFill>
            <a:prstDash val="solid"/>
          </a:ln>
        </p:spPr>
      </p:sp>
      <p:sp>
        <p:nvSpPr>
          <p:cNvPr id="54" name="Text 38"/>
          <p:cNvSpPr txBox="1"/>
          <p:nvPr/>
        </p:nvSpPr>
        <p:spPr>
          <a:xfrm>
            <a:off x="658368" y="5166360"/>
            <a:ext cx="1356970" cy="384048"/>
          </a:xfrm>
          <a:prstGeom prst="rect">
            <a:avLst/>
          </a:prstGeom>
          <a:noFill/>
          <a:ln/>
        </p:spPr>
        <p:txBody>
          <a:bodyPr wrap="square" lIns="0" tIns="0" rIns="0" bIns="0" rtlCol="0" anchor="ctr"/>
          <a:lstStyle/>
          <a:p>
            <a:pPr algn="ctr" indent="0" marL="0">
              <a:lnSpc>
                <a:spcPct val="95000"/>
              </a:lnSpc>
              <a:buNone/>
            </a:pPr>
            <a:r>
              <a:rPr lang="en-US" altLang="en-US" sz="1200" dirty="0">
                <a:solidFill>
                  <a:srgbClr val="FFFFFF"/>
                </a:solidFill>
                <a:latin typeface="Calibri" pitchFamily="34" charset="0"/>
                <a:ea typeface="Calibri" pitchFamily="34" charset="-122"/>
                <a:cs typeface="Calibri" pitchFamily="34" charset="-120"/>
              </a:rPr>
              <a:t>IF conditions</a:t>
            </a:r>
            <a:endParaRPr lang="en-US" sz="1200" dirty="0"/>
          </a:p>
        </p:txBody>
      </p:sp>
      <p:sp>
        <p:nvSpPr>
          <p:cNvPr id="55" name="Shape 39"/>
          <p:cNvSpPr/>
          <p:nvPr/>
        </p:nvSpPr>
        <p:spPr>
          <a:xfrm>
            <a:off x="2262226" y="5166360"/>
            <a:ext cx="3995928" cy="384048"/>
          </a:xfrm>
          <a:prstGeom prst="roundRect">
            <a:avLst>
              <a:gd name="adj" fmla="val 50000"/>
            </a:avLst>
          </a:prstGeom>
          <a:solidFill>
            <a:srgbClr val="161816"/>
          </a:solidFill>
          <a:ln w="9525">
            <a:solidFill>
              <a:srgbClr val="3A3D39"/>
            </a:solidFill>
            <a:prstDash val="solid"/>
          </a:ln>
        </p:spPr>
      </p:sp>
      <p:sp>
        <p:nvSpPr>
          <p:cNvPr id="56" name="Text 40"/>
          <p:cNvSpPr txBox="1"/>
          <p:nvPr/>
        </p:nvSpPr>
        <p:spPr>
          <a:xfrm>
            <a:off x="2371954" y="5166360"/>
            <a:ext cx="3776472" cy="384048"/>
          </a:xfrm>
          <a:prstGeom prst="rect">
            <a:avLst/>
          </a:prstGeom>
          <a:noFill/>
          <a:ln/>
        </p:spPr>
        <p:txBody>
          <a:bodyPr wrap="square" lIns="0" tIns="0" rIns="0" bIns="0" rtlCol="0" anchor="ctr"/>
          <a:lstStyle/>
          <a:p>
            <a:pPr algn="ctr" indent="0" marL="0">
              <a:lnSpc>
                <a:spcPct val="95000"/>
              </a:lnSpc>
              <a:buNone/>
            </a:pPr>
            <a:r>
              <a:rPr lang="en-US" altLang="en-US" sz="1200" dirty="0">
                <a:solidFill>
                  <a:srgbClr val="FFFFFF"/>
                </a:solidFill>
                <a:latin typeface="Calibri" pitchFamily="34" charset="0"/>
                <a:ea typeface="Calibri" pitchFamily="34" charset="-122"/>
                <a:cs typeface="Calibri" pitchFamily="34" charset="-120"/>
              </a:rPr>
              <a:t>Credentials, API keys &amp; OAuth (concepts)</a:t>
            </a:r>
            <a:endParaRPr lang="en-US" sz="1200" dirty="0"/>
          </a:p>
        </p:txBody>
      </p:sp>
      <p:sp>
        <p:nvSpPr>
          <p:cNvPr id="57" name="Shape 41"/>
          <p:cNvSpPr/>
          <p:nvPr/>
        </p:nvSpPr>
        <p:spPr>
          <a:xfrm>
            <a:off x="6395314" y="5166360"/>
            <a:ext cx="2114093" cy="384048"/>
          </a:xfrm>
          <a:prstGeom prst="roundRect">
            <a:avLst>
              <a:gd name="adj" fmla="val 50000"/>
            </a:avLst>
          </a:prstGeom>
          <a:solidFill>
            <a:srgbClr val="161816"/>
          </a:solidFill>
          <a:ln w="9525">
            <a:solidFill>
              <a:srgbClr val="3A3D39"/>
            </a:solidFill>
            <a:prstDash val="solid"/>
          </a:ln>
        </p:spPr>
      </p:sp>
      <p:sp>
        <p:nvSpPr>
          <p:cNvPr id="58" name="Text 42"/>
          <p:cNvSpPr txBox="1"/>
          <p:nvPr/>
        </p:nvSpPr>
        <p:spPr>
          <a:xfrm>
            <a:off x="6505042" y="5166360"/>
            <a:ext cx="1894637" cy="384048"/>
          </a:xfrm>
          <a:prstGeom prst="rect">
            <a:avLst/>
          </a:prstGeom>
          <a:noFill/>
          <a:ln/>
        </p:spPr>
        <p:txBody>
          <a:bodyPr wrap="square" lIns="0" tIns="0" rIns="0" bIns="0" rtlCol="0" anchor="ctr"/>
          <a:lstStyle/>
          <a:p>
            <a:pPr algn="ctr" indent="0" marL="0">
              <a:lnSpc>
                <a:spcPct val="95000"/>
              </a:lnSpc>
              <a:buNone/>
            </a:pPr>
            <a:r>
              <a:rPr lang="en-US" altLang="en-US" sz="1200" dirty="0">
                <a:solidFill>
                  <a:srgbClr val="FFFFFF"/>
                </a:solidFill>
                <a:latin typeface="Calibri" pitchFamily="34" charset="0"/>
                <a:ea typeface="Calibri" pitchFamily="34" charset="-122"/>
                <a:cs typeface="Calibri" pitchFamily="34" charset="-120"/>
              </a:rPr>
              <a:t>Credential security</a:t>
            </a:r>
            <a:endParaRPr lang="en-US" sz="1200" dirty="0"/>
          </a:p>
        </p:txBody>
      </p:sp>
      <p:sp>
        <p:nvSpPr>
          <p:cNvPr id="59" name="Text 43"/>
          <p:cNvSpPr txBox="1"/>
          <p:nvPr/>
        </p:nvSpPr>
        <p:spPr>
          <a:xfrm>
            <a:off x="548640" y="5715000"/>
            <a:ext cx="11094415" cy="548640"/>
          </a:xfrm>
          <a:prstGeom prst="rect">
            <a:avLst/>
          </a:prstGeom>
          <a:noFill/>
          <a:ln/>
        </p:spPr>
        <p:txBody>
          <a:bodyPr wrap="square" lIns="0" tIns="0" rIns="0" bIns="0" rtlCol="0" anchor="t"/>
          <a:lstStyle/>
          <a:p>
            <a:pPr algn="l" indent="0" marL="0">
              <a:lnSpc>
                <a:spcPct val="100000"/>
              </a:lnSpc>
              <a:buNone/>
            </a:pPr>
            <a:r>
              <a:rPr lang="en-US" altLang="en-US" sz="1300" dirty="0">
                <a:solidFill>
                  <a:srgbClr val="C9CCC8"/>
                </a:solidFill>
                <a:latin typeface="Calibri" pitchFamily="34" charset="0"/>
                <a:ea typeface="Calibri" pitchFamily="34" charset="-122"/>
                <a:cs typeface="Calibri" pitchFamily="34" charset="-120"/>
              </a:rPr>
              <a:t>Beginner level by design. No servers, Docker or advanced APIs. Trainers manage all credentials; students never handle real keys.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10356554" y="384048"/>
            <a:ext cx="1286501" cy="457200"/>
          </a:xfrm>
          <a:prstGeom prst="rect">
            <a:avLst/>
          </a:prstGeom>
        </p:spPr>
      </p:pic>
      <p:sp>
        <p:nvSpPr>
          <p:cNvPr id="3" name="Text 0"/>
          <p:cNvSpPr txBox="1"/>
          <p:nvPr/>
        </p:nvSpPr>
        <p:spPr>
          <a:xfrm>
            <a:off x="548640" y="6446520"/>
            <a:ext cx="6400800" cy="228600"/>
          </a:xfrm>
          <a:prstGeom prst="rect">
            <a:avLst/>
          </a:prstGeom>
          <a:noFill/>
          <a:ln/>
        </p:spPr>
        <p:txBody>
          <a:bodyPr wrap="square" lIns="0" tIns="0" rIns="0" bIns="0" rtlCol="0" anchor="t"/>
          <a:lstStyle/>
          <a:p>
            <a:pPr algn="l"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AI Creators Program · Training Concept Note</a:t>
            </a:r>
            <a:endParaRPr lang="en-US" sz="900" dirty="0"/>
          </a:p>
        </p:txBody>
      </p:sp>
      <p:sp>
        <p:nvSpPr>
          <p:cNvPr id="4" name="Text 1"/>
          <p:cNvSpPr txBox="1"/>
          <p:nvPr/>
        </p:nvSpPr>
        <p:spPr>
          <a:xfrm>
            <a:off x="11094415" y="6446520"/>
            <a:ext cx="548640" cy="228600"/>
          </a:xfrm>
          <a:prstGeom prst="rect">
            <a:avLst/>
          </a:prstGeom>
          <a:noFill/>
          <a:ln/>
        </p:spPr>
        <p:txBody>
          <a:bodyPr wrap="square" lIns="0" tIns="0" rIns="0" bIns="0" rtlCol="0" anchor="t"/>
          <a:lstStyle/>
          <a:p>
            <a:pPr algn="r"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11</a:t>
            </a:r>
            <a:endParaRPr lang="en-US" sz="900" dirty="0"/>
          </a:p>
        </p:txBody>
      </p:sp>
      <p:sp>
        <p:nvSpPr>
          <p:cNvPr id="5" name="Text 2"/>
          <p:cNvSpPr txBox="1"/>
          <p:nvPr/>
        </p:nvSpPr>
        <p:spPr>
          <a:xfrm>
            <a:off x="548640" y="384048"/>
            <a:ext cx="8961120" cy="274320"/>
          </a:xfrm>
          <a:prstGeom prst="rect">
            <a:avLst/>
          </a:prstGeom>
          <a:noFill/>
          <a:ln/>
        </p:spPr>
        <p:txBody>
          <a:bodyPr wrap="square" lIns="0" tIns="0" rIns="0" bIns="0" rtlCol="0" anchor="t"/>
          <a:lstStyle/>
          <a:p>
            <a:pPr algn="l" indent="0" marL="0">
              <a:lnSpc>
                <a:spcPct val="95000"/>
              </a:lnSpc>
              <a:buNone/>
            </a:pPr>
            <a:r>
              <a:rPr lang="en-US" altLang="en-US" sz="1100" b="1" spc="200" kern="0" dirty="0">
                <a:solidFill>
                  <a:srgbClr val="727274"/>
                </a:solidFill>
                <a:latin typeface="Calibri" pitchFamily="34" charset="0"/>
                <a:ea typeface="Calibri" pitchFamily="34" charset="-122"/>
                <a:cs typeface="Calibri" pitchFamily="34" charset="-120"/>
              </a:rPr>
              <a:t>10 · PORTFOLIO &amp; FREELANCING</a:t>
            </a:r>
            <a:endParaRPr lang="en-US" sz="1100" dirty="0"/>
          </a:p>
        </p:txBody>
      </p:sp>
      <p:sp>
        <p:nvSpPr>
          <p:cNvPr id="6" name="Text 3"/>
          <p:cNvSpPr txBox="1"/>
          <p:nvPr/>
        </p:nvSpPr>
        <p:spPr>
          <a:xfrm>
            <a:off x="548640" y="676656"/>
            <a:ext cx="9418320" cy="914400"/>
          </a:xfrm>
          <a:prstGeom prst="rect">
            <a:avLst/>
          </a:prstGeom>
          <a:noFill/>
          <a:ln/>
        </p:spPr>
        <p:txBody>
          <a:bodyPr wrap="square" lIns="0" tIns="0" rIns="0" bIns="0" rtlCol="0" anchor="t"/>
          <a:lstStyle/>
          <a:p>
            <a:pPr algn="l" indent="0" marL="0">
              <a:lnSpc>
                <a:spcPct val="90000"/>
              </a:lnSpc>
              <a:buNone/>
            </a:pPr>
            <a:r>
              <a:rPr lang="en-US" altLang="en-US" sz="2800" b="1" dirty="0">
                <a:solidFill>
                  <a:srgbClr val="1A1A1A"/>
                </a:solidFill>
                <a:latin typeface="Cairo" pitchFamily="34" charset="0"/>
                <a:ea typeface="Cairo" pitchFamily="34" charset="-122"/>
                <a:cs typeface="Cairo" pitchFamily="34" charset="-120"/>
              </a:rPr>
              <a:t>Leaving with proof of skill and the habits of a professional</a:t>
            </a:r>
            <a:endParaRPr lang="en-US" sz="2800" dirty="0"/>
          </a:p>
        </p:txBody>
      </p:sp>
      <p:sp>
        <p:nvSpPr>
          <p:cNvPr id="7" name="Shape 4"/>
          <p:cNvSpPr/>
          <p:nvPr/>
        </p:nvSpPr>
        <p:spPr>
          <a:xfrm>
            <a:off x="548640" y="1828800"/>
            <a:ext cx="3515258" cy="3017520"/>
          </a:xfrm>
          <a:prstGeom prst="roundRect">
            <a:avLst>
              <a:gd name="adj" fmla="val 3636"/>
            </a:avLst>
          </a:prstGeom>
          <a:solidFill>
            <a:srgbClr val="F2F4F1"/>
          </a:solidFill>
          <a:ln w="12700">
            <a:solidFill>
              <a:srgbClr val="F2F4F1"/>
            </a:solidFill>
            <a:prstDash val="solid"/>
          </a:ln>
        </p:spPr>
      </p:sp>
      <p:sp>
        <p:nvSpPr>
          <p:cNvPr id="8" name="Shape 5"/>
          <p:cNvSpPr/>
          <p:nvPr/>
        </p:nvSpPr>
        <p:spPr>
          <a:xfrm>
            <a:off x="868680" y="2148840"/>
            <a:ext cx="777240" cy="777240"/>
          </a:xfrm>
          <a:prstGeom prst="ellipse">
            <a:avLst/>
          </a:prstGeom>
          <a:solidFill>
            <a:srgbClr val="4DB449"/>
          </a:solidFill>
          <a:ln w="6350">
            <a:solidFill>
              <a:srgbClr val="4DB449"/>
            </a:solidFill>
            <a:prstDash val="solid"/>
          </a:ln>
        </p:spPr>
      </p:sp>
      <p:pic>
        <p:nvPicPr>
          <p:cNvPr id="9" name="Image 1" descr="preencoded.png">    </p:cNvPr>
          <p:cNvPicPr>
            <a:picLocks noChangeAspect="1"/>
          </p:cNvPicPr>
          <p:nvPr/>
        </p:nvPicPr>
        <p:blipFill>
          <a:blip r:embed="rId2"/>
          <a:stretch>
            <a:fillRect/>
          </a:stretch>
        </p:blipFill>
        <p:spPr>
          <a:xfrm>
            <a:off x="1051560" y="2331720"/>
            <a:ext cx="411480" cy="411480"/>
          </a:xfrm>
          <a:prstGeom prst="rect">
            <a:avLst/>
          </a:prstGeom>
        </p:spPr>
      </p:pic>
      <p:sp>
        <p:nvSpPr>
          <p:cNvPr id="10" name="Text 6"/>
          <p:cNvSpPr txBox="1"/>
          <p:nvPr/>
        </p:nvSpPr>
        <p:spPr>
          <a:xfrm>
            <a:off x="868680" y="3108960"/>
            <a:ext cx="2875178" cy="457200"/>
          </a:xfrm>
          <a:prstGeom prst="rect">
            <a:avLst/>
          </a:prstGeom>
          <a:noFill/>
          <a:ln/>
        </p:spPr>
        <p:txBody>
          <a:bodyPr wrap="square" lIns="0" tIns="0" rIns="0" bIns="0" rtlCol="0" anchor="t"/>
          <a:lstStyle/>
          <a:p>
            <a:pPr algn="l" indent="0" marL="0">
              <a:lnSpc>
                <a:spcPct val="95000"/>
              </a:lnSpc>
              <a:buNone/>
            </a:pPr>
            <a:r>
              <a:rPr lang="en-US" altLang="en-US" sz="2000" b="1" dirty="0">
                <a:solidFill>
                  <a:srgbClr val="1A1A1A"/>
                </a:solidFill>
                <a:latin typeface="Cairo" pitchFamily="34" charset="0"/>
                <a:ea typeface="Cairo" pitchFamily="34" charset="-122"/>
                <a:cs typeface="Cairo" pitchFamily="34" charset="-120"/>
              </a:rPr>
              <a:t>Build</a:t>
            </a:r>
            <a:endParaRPr lang="en-US" sz="2000" dirty="0"/>
          </a:p>
        </p:txBody>
      </p:sp>
      <p:sp>
        <p:nvSpPr>
          <p:cNvPr id="11" name="Text 7"/>
          <p:cNvSpPr txBox="1"/>
          <p:nvPr/>
        </p:nvSpPr>
        <p:spPr>
          <a:xfrm>
            <a:off x="868680" y="3611880"/>
            <a:ext cx="2875178" cy="1143000"/>
          </a:xfrm>
          <a:prstGeom prst="rect">
            <a:avLst/>
          </a:prstGeom>
          <a:noFill/>
          <a:ln/>
        </p:spPr>
        <p:txBody>
          <a:bodyPr wrap="square" lIns="0" tIns="0" rIns="0" bIns="0" rtlCol="0" anchor="t"/>
          <a:lstStyle/>
          <a:p>
            <a:pPr algn="l" indent="0" marL="0">
              <a:lnSpc>
                <a:spcPct val="102000"/>
              </a:lnSpc>
              <a:buNone/>
            </a:pPr>
            <a:r>
              <a:rPr lang="en-US" altLang="en-US" sz="1400" dirty="0">
                <a:solidFill>
                  <a:srgbClr val="3C3E3B"/>
                </a:solidFill>
                <a:latin typeface="Calibri" pitchFamily="34" charset="0"/>
                <a:ea typeface="Calibri" pitchFamily="34" charset="-122"/>
                <a:cs typeface="Calibri" pitchFamily="34" charset="-120"/>
              </a:rPr>
              <a:t>A one-page portfolio or landing page, described in plain language, built with an AI assistant, reviewed and published.</a:t>
            </a:r>
            <a:endParaRPr lang="en-US" sz="1400" dirty="0"/>
          </a:p>
        </p:txBody>
      </p:sp>
      <p:sp>
        <p:nvSpPr>
          <p:cNvPr id="12" name="Shape 8"/>
          <p:cNvSpPr/>
          <p:nvPr/>
        </p:nvSpPr>
        <p:spPr>
          <a:xfrm>
            <a:off x="4338218" y="1828800"/>
            <a:ext cx="3515258" cy="3017520"/>
          </a:xfrm>
          <a:prstGeom prst="roundRect">
            <a:avLst>
              <a:gd name="adj" fmla="val 3636"/>
            </a:avLst>
          </a:prstGeom>
          <a:solidFill>
            <a:srgbClr val="000000"/>
          </a:solidFill>
          <a:ln w="12700">
            <a:solidFill>
              <a:srgbClr val="000000"/>
            </a:solidFill>
            <a:prstDash val="solid"/>
          </a:ln>
        </p:spPr>
      </p:sp>
      <p:sp>
        <p:nvSpPr>
          <p:cNvPr id="13" name="Shape 9"/>
          <p:cNvSpPr/>
          <p:nvPr/>
        </p:nvSpPr>
        <p:spPr>
          <a:xfrm>
            <a:off x="4658258" y="2148840"/>
            <a:ext cx="777240" cy="777240"/>
          </a:xfrm>
          <a:prstGeom prst="ellipse">
            <a:avLst/>
          </a:prstGeom>
          <a:solidFill>
            <a:srgbClr val="A6D04B"/>
          </a:solidFill>
          <a:ln w="6350">
            <a:solidFill>
              <a:srgbClr val="A6D04B"/>
            </a:solidFill>
            <a:prstDash val="solid"/>
          </a:ln>
        </p:spPr>
      </p:sp>
      <p:pic>
        <p:nvPicPr>
          <p:cNvPr id="14" name="Image 2" descr="preencoded.png">    </p:cNvPr>
          <p:cNvPicPr>
            <a:picLocks noChangeAspect="1"/>
          </p:cNvPicPr>
          <p:nvPr/>
        </p:nvPicPr>
        <p:blipFill>
          <a:blip r:embed="rId3"/>
          <a:stretch>
            <a:fillRect/>
          </a:stretch>
        </p:blipFill>
        <p:spPr>
          <a:xfrm>
            <a:off x="4841138" y="2331720"/>
            <a:ext cx="411480" cy="411480"/>
          </a:xfrm>
          <a:prstGeom prst="rect">
            <a:avLst/>
          </a:prstGeom>
        </p:spPr>
      </p:pic>
      <p:sp>
        <p:nvSpPr>
          <p:cNvPr id="15" name="Text 10"/>
          <p:cNvSpPr txBox="1"/>
          <p:nvPr/>
        </p:nvSpPr>
        <p:spPr>
          <a:xfrm>
            <a:off x="4658258" y="3108960"/>
            <a:ext cx="2875178" cy="457200"/>
          </a:xfrm>
          <a:prstGeom prst="rect">
            <a:avLst/>
          </a:prstGeom>
          <a:noFill/>
          <a:ln/>
        </p:spPr>
        <p:txBody>
          <a:bodyPr wrap="square" lIns="0" tIns="0" rIns="0" bIns="0" rtlCol="0" anchor="t"/>
          <a:lstStyle/>
          <a:p>
            <a:pPr algn="l" indent="0" marL="0">
              <a:lnSpc>
                <a:spcPct val="95000"/>
              </a:lnSpc>
              <a:buNone/>
            </a:pPr>
            <a:r>
              <a:rPr lang="en-US" altLang="en-US" sz="2000" b="1" dirty="0">
                <a:solidFill>
                  <a:srgbClr val="FFFFFF"/>
                </a:solidFill>
                <a:latin typeface="Cairo" pitchFamily="34" charset="0"/>
                <a:ea typeface="Cairo" pitchFamily="34" charset="-122"/>
                <a:cs typeface="Cairo" pitchFamily="34" charset="-120"/>
              </a:rPr>
              <a:t>Package</a:t>
            </a:r>
            <a:endParaRPr lang="en-US" sz="2000" dirty="0"/>
          </a:p>
        </p:txBody>
      </p:sp>
      <p:sp>
        <p:nvSpPr>
          <p:cNvPr id="16" name="Text 11"/>
          <p:cNvSpPr txBox="1"/>
          <p:nvPr/>
        </p:nvSpPr>
        <p:spPr>
          <a:xfrm>
            <a:off x="4658258" y="3611880"/>
            <a:ext cx="2875178" cy="1143000"/>
          </a:xfrm>
          <a:prstGeom prst="rect">
            <a:avLst/>
          </a:prstGeom>
          <a:noFill/>
          <a:ln/>
        </p:spPr>
        <p:txBody>
          <a:bodyPr wrap="square" lIns="0" tIns="0" rIns="0" bIns="0" rtlCol="0" anchor="t"/>
          <a:lstStyle/>
          <a:p>
            <a:pPr algn="l" indent="0" marL="0">
              <a:lnSpc>
                <a:spcPct val="102000"/>
              </a:lnSpc>
              <a:buNone/>
            </a:pPr>
            <a:r>
              <a:rPr lang="en-US" altLang="en-US" sz="1400" dirty="0">
                <a:solidFill>
                  <a:srgbClr val="D6D8D4"/>
                </a:solidFill>
                <a:latin typeface="Calibri" pitchFamily="34" charset="0"/>
                <a:ea typeface="Calibri" pitchFamily="34" charset="-122"/>
                <a:cs typeface="Calibri" pitchFamily="34" charset="-120"/>
              </a:rPr>
              <a:t>Three clear service offers, each with scope and deliverables. Pricing is outside this program.</a:t>
            </a:r>
            <a:endParaRPr lang="en-US" sz="1400" dirty="0"/>
          </a:p>
        </p:txBody>
      </p:sp>
      <p:sp>
        <p:nvSpPr>
          <p:cNvPr id="17" name="Shape 12"/>
          <p:cNvSpPr/>
          <p:nvPr/>
        </p:nvSpPr>
        <p:spPr>
          <a:xfrm>
            <a:off x="8127797" y="1828800"/>
            <a:ext cx="3515258" cy="3017520"/>
          </a:xfrm>
          <a:prstGeom prst="roundRect">
            <a:avLst>
              <a:gd name="adj" fmla="val 3636"/>
            </a:avLst>
          </a:prstGeom>
          <a:solidFill>
            <a:srgbClr val="F2F4F1"/>
          </a:solidFill>
          <a:ln w="12700">
            <a:solidFill>
              <a:srgbClr val="F2F4F1"/>
            </a:solidFill>
            <a:prstDash val="solid"/>
          </a:ln>
        </p:spPr>
      </p:sp>
      <p:sp>
        <p:nvSpPr>
          <p:cNvPr id="18" name="Shape 13"/>
          <p:cNvSpPr/>
          <p:nvPr/>
        </p:nvSpPr>
        <p:spPr>
          <a:xfrm>
            <a:off x="8447837" y="2148840"/>
            <a:ext cx="777240" cy="777240"/>
          </a:xfrm>
          <a:prstGeom prst="ellipse">
            <a:avLst/>
          </a:prstGeom>
          <a:solidFill>
            <a:srgbClr val="4DB449"/>
          </a:solidFill>
          <a:ln w="6350">
            <a:solidFill>
              <a:srgbClr val="4DB449"/>
            </a:solidFill>
            <a:prstDash val="solid"/>
          </a:ln>
        </p:spPr>
      </p:sp>
      <p:pic>
        <p:nvPicPr>
          <p:cNvPr id="19" name="Image 3" descr="preencoded.png">    </p:cNvPr>
          <p:cNvPicPr>
            <a:picLocks noChangeAspect="1"/>
          </p:cNvPicPr>
          <p:nvPr/>
        </p:nvPicPr>
        <p:blipFill>
          <a:blip r:embed="rId4"/>
          <a:stretch>
            <a:fillRect/>
          </a:stretch>
        </p:blipFill>
        <p:spPr>
          <a:xfrm>
            <a:off x="8630717" y="2331720"/>
            <a:ext cx="411480" cy="411480"/>
          </a:xfrm>
          <a:prstGeom prst="rect">
            <a:avLst/>
          </a:prstGeom>
        </p:spPr>
      </p:pic>
      <p:sp>
        <p:nvSpPr>
          <p:cNvPr id="20" name="Text 14"/>
          <p:cNvSpPr txBox="1"/>
          <p:nvPr/>
        </p:nvSpPr>
        <p:spPr>
          <a:xfrm>
            <a:off x="8447837" y="3108960"/>
            <a:ext cx="2875178" cy="457200"/>
          </a:xfrm>
          <a:prstGeom prst="rect">
            <a:avLst/>
          </a:prstGeom>
          <a:noFill/>
          <a:ln/>
        </p:spPr>
        <p:txBody>
          <a:bodyPr wrap="square" lIns="0" tIns="0" rIns="0" bIns="0" rtlCol="0" anchor="t"/>
          <a:lstStyle/>
          <a:p>
            <a:pPr algn="l" indent="0" marL="0">
              <a:lnSpc>
                <a:spcPct val="95000"/>
              </a:lnSpc>
              <a:buNone/>
            </a:pPr>
            <a:r>
              <a:rPr lang="en-US" altLang="en-US" sz="2000" b="1" dirty="0">
                <a:solidFill>
                  <a:srgbClr val="1A1A1A"/>
                </a:solidFill>
                <a:latin typeface="Cairo" pitchFamily="34" charset="0"/>
                <a:ea typeface="Cairo" pitchFamily="34" charset="-122"/>
                <a:cs typeface="Cairo" pitchFamily="34" charset="-120"/>
              </a:rPr>
              <a:t>Communicate</a:t>
            </a:r>
            <a:endParaRPr lang="en-US" sz="2000" dirty="0"/>
          </a:p>
        </p:txBody>
      </p:sp>
      <p:sp>
        <p:nvSpPr>
          <p:cNvPr id="21" name="Text 15"/>
          <p:cNvSpPr txBox="1"/>
          <p:nvPr/>
        </p:nvSpPr>
        <p:spPr>
          <a:xfrm>
            <a:off x="8447837" y="3611880"/>
            <a:ext cx="2875178" cy="1143000"/>
          </a:xfrm>
          <a:prstGeom prst="rect">
            <a:avLst/>
          </a:prstGeom>
          <a:noFill/>
          <a:ln/>
        </p:spPr>
        <p:txBody>
          <a:bodyPr wrap="square" lIns="0" tIns="0" rIns="0" bIns="0" rtlCol="0" anchor="t"/>
          <a:lstStyle/>
          <a:p>
            <a:pPr algn="l" indent="0" marL="0">
              <a:lnSpc>
                <a:spcPct val="102000"/>
              </a:lnSpc>
              <a:buNone/>
            </a:pPr>
            <a:r>
              <a:rPr lang="en-US" altLang="en-US" sz="1400" dirty="0">
                <a:solidFill>
                  <a:srgbClr val="3C3E3B"/>
                </a:solidFill>
                <a:latin typeface="Calibri" pitchFamily="34" charset="0"/>
                <a:ea typeface="Calibri" pitchFamily="34" charset="-122"/>
                <a:cs typeface="Calibri" pitchFamily="34" charset="-120"/>
              </a:rPr>
              <a:t>Message templates for first contact, confirming scope, handling changes and delivering work.</a:t>
            </a:r>
            <a:endParaRPr lang="en-US" sz="1400" dirty="0"/>
          </a:p>
        </p:txBody>
      </p:sp>
      <p:sp>
        <p:nvSpPr>
          <p:cNvPr id="22" name="Shape 16"/>
          <p:cNvSpPr/>
          <p:nvPr/>
        </p:nvSpPr>
        <p:spPr>
          <a:xfrm>
            <a:off x="548640" y="5120640"/>
            <a:ext cx="11094415" cy="1051560"/>
          </a:xfrm>
          <a:prstGeom prst="roundRect">
            <a:avLst>
              <a:gd name="adj" fmla="val 8696"/>
            </a:avLst>
          </a:prstGeom>
          <a:solidFill>
            <a:srgbClr val="EAF5E8"/>
          </a:solidFill>
          <a:ln w="12700">
            <a:solidFill>
              <a:srgbClr val="EAF5E8"/>
            </a:solidFill>
            <a:prstDash val="solid"/>
          </a:ln>
        </p:spPr>
      </p:sp>
      <p:pic>
        <p:nvPicPr>
          <p:cNvPr id="23" name="Image 4" descr="preencoded.png">    </p:cNvPr>
          <p:cNvPicPr>
            <a:picLocks noChangeAspect="1"/>
          </p:cNvPicPr>
          <p:nvPr/>
        </p:nvPicPr>
        <p:blipFill>
          <a:blip r:embed="rId5"/>
          <a:stretch>
            <a:fillRect/>
          </a:stretch>
        </p:blipFill>
        <p:spPr>
          <a:xfrm>
            <a:off x="822960" y="5440680"/>
            <a:ext cx="384048" cy="384048"/>
          </a:xfrm>
          <a:prstGeom prst="rect">
            <a:avLst/>
          </a:prstGeom>
        </p:spPr>
      </p:pic>
      <p:sp>
        <p:nvSpPr>
          <p:cNvPr id="24" name="Text 17"/>
          <p:cNvSpPr txBox="1"/>
          <p:nvPr/>
        </p:nvSpPr>
        <p:spPr>
          <a:xfrm>
            <a:off x="1417320" y="5120640"/>
            <a:ext cx="9997135" cy="1051560"/>
          </a:xfrm>
          <a:prstGeom prst="rect">
            <a:avLst/>
          </a:prstGeom>
          <a:noFill/>
          <a:ln/>
        </p:spPr>
        <p:txBody>
          <a:bodyPr wrap="square" lIns="0" tIns="0" rIns="0" bIns="0" rtlCol="0" anchor="ctr"/>
          <a:lstStyle/>
          <a:p>
            <a:pPr algn="l" indent="0" marL="0">
              <a:lnSpc>
                <a:spcPct val="100000"/>
              </a:lnSpc>
              <a:buNone/>
            </a:pPr>
            <a:r>
              <a:rPr lang="en-US" altLang="en-US" sz="1350" dirty="0">
                <a:solidFill>
                  <a:srgbClr val="1A1A1A"/>
                </a:solidFill>
                <a:latin typeface="Calibri" pitchFamily="34" charset="0"/>
                <a:ea typeface="Calibri" pitchFamily="34" charset="-122"/>
                <a:cs typeface="Calibri" pitchFamily="34" charset="-120"/>
              </a:rPr>
              <a:t>Freelance platforms set their own age rules. Fiverr, for example, requires sellers to be 18+, and allows 13–17-year-olds only through a parent's account. Under-18 students practise with community partners arranged by the program.</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10356554" y="384048"/>
            <a:ext cx="1286501" cy="457200"/>
          </a:xfrm>
          <a:prstGeom prst="rect">
            <a:avLst/>
          </a:prstGeom>
        </p:spPr>
      </p:pic>
      <p:sp>
        <p:nvSpPr>
          <p:cNvPr id="3" name="Text 0"/>
          <p:cNvSpPr txBox="1"/>
          <p:nvPr/>
        </p:nvSpPr>
        <p:spPr>
          <a:xfrm>
            <a:off x="548640" y="6446520"/>
            <a:ext cx="6400800" cy="228600"/>
          </a:xfrm>
          <a:prstGeom prst="rect">
            <a:avLst/>
          </a:prstGeom>
          <a:noFill/>
          <a:ln/>
        </p:spPr>
        <p:txBody>
          <a:bodyPr wrap="square" lIns="0" tIns="0" rIns="0" bIns="0" rtlCol="0" anchor="t"/>
          <a:lstStyle/>
          <a:p>
            <a:pPr algn="l"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AI Creators Program · Training Concept Note</a:t>
            </a:r>
            <a:endParaRPr lang="en-US" sz="900" dirty="0"/>
          </a:p>
        </p:txBody>
      </p:sp>
      <p:sp>
        <p:nvSpPr>
          <p:cNvPr id="4" name="Text 1"/>
          <p:cNvSpPr txBox="1"/>
          <p:nvPr/>
        </p:nvSpPr>
        <p:spPr>
          <a:xfrm>
            <a:off x="11094415" y="6446520"/>
            <a:ext cx="548640" cy="228600"/>
          </a:xfrm>
          <a:prstGeom prst="rect">
            <a:avLst/>
          </a:prstGeom>
          <a:noFill/>
          <a:ln/>
        </p:spPr>
        <p:txBody>
          <a:bodyPr wrap="square" lIns="0" tIns="0" rIns="0" bIns="0" rtlCol="0" anchor="t"/>
          <a:lstStyle/>
          <a:p>
            <a:pPr algn="r"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12</a:t>
            </a:r>
            <a:endParaRPr lang="en-US" sz="900" dirty="0"/>
          </a:p>
        </p:txBody>
      </p:sp>
      <p:sp>
        <p:nvSpPr>
          <p:cNvPr id="5" name="Text 2"/>
          <p:cNvSpPr txBox="1"/>
          <p:nvPr/>
        </p:nvSpPr>
        <p:spPr>
          <a:xfrm>
            <a:off x="548640" y="384048"/>
            <a:ext cx="8961120" cy="274320"/>
          </a:xfrm>
          <a:prstGeom prst="rect">
            <a:avLst/>
          </a:prstGeom>
          <a:noFill/>
          <a:ln/>
        </p:spPr>
        <p:txBody>
          <a:bodyPr wrap="square" lIns="0" tIns="0" rIns="0" bIns="0" rtlCol="0" anchor="t"/>
          <a:lstStyle/>
          <a:p>
            <a:pPr algn="l" indent="0" marL="0">
              <a:lnSpc>
                <a:spcPct val="95000"/>
              </a:lnSpc>
              <a:buNone/>
            </a:pPr>
            <a:r>
              <a:rPr lang="en-US" altLang="en-US" sz="1100" b="1" spc="200" kern="0" dirty="0">
                <a:solidFill>
                  <a:srgbClr val="727274"/>
                </a:solidFill>
                <a:latin typeface="Calibri" pitchFamily="34" charset="0"/>
                <a:ea typeface="Calibri" pitchFamily="34" charset="-122"/>
                <a:cs typeface="Calibri" pitchFamily="34" charset="-120"/>
              </a:rPr>
              <a:t>11 · HOW STUDENTS LEARN</a:t>
            </a:r>
            <a:endParaRPr lang="en-US" sz="1100" dirty="0"/>
          </a:p>
        </p:txBody>
      </p:sp>
      <p:sp>
        <p:nvSpPr>
          <p:cNvPr id="6" name="Text 3"/>
          <p:cNvSpPr txBox="1"/>
          <p:nvPr/>
        </p:nvSpPr>
        <p:spPr>
          <a:xfrm>
            <a:off x="548640" y="676656"/>
            <a:ext cx="9418320" cy="914400"/>
          </a:xfrm>
          <a:prstGeom prst="rect">
            <a:avLst/>
          </a:prstGeom>
          <a:noFill/>
          <a:ln/>
        </p:spPr>
        <p:txBody>
          <a:bodyPr wrap="square" lIns="0" tIns="0" rIns="0" bIns="0" rtlCol="0" anchor="t"/>
          <a:lstStyle/>
          <a:p>
            <a:pPr algn="l" indent="0" marL="0">
              <a:lnSpc>
                <a:spcPct val="90000"/>
              </a:lnSpc>
              <a:buNone/>
            </a:pPr>
            <a:r>
              <a:rPr lang="en-US" altLang="en-US" sz="2800" b="1" dirty="0">
                <a:solidFill>
                  <a:srgbClr val="1A1A1A"/>
                </a:solidFill>
                <a:latin typeface="Cairo" pitchFamily="34" charset="0"/>
                <a:ea typeface="Cairo" pitchFamily="34" charset="-122"/>
                <a:cs typeface="Cairo" pitchFamily="34" charset="-120"/>
              </a:rPr>
              <a:t>Show briefly, then build. Every session ends with something made</a:t>
            </a:r>
            <a:endParaRPr lang="en-US" sz="2800" dirty="0"/>
          </a:p>
        </p:txBody>
      </p:sp>
      <p:graphicFrame>
        <p:nvGraphicFramePr>
          <p:cNvPr id="7" name="Chart 0" descr=""/>
          <p:cNvGraphicFramePr/>
          <p:nvPr/>
        </p:nvGraphicFramePr>
        <p:xfrm>
          <a:off x="548640" y="1783080"/>
          <a:ext cx="3108960" cy="310896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1188720" y="2788920"/>
            <a:ext cx="1828800" cy="685800"/>
          </a:xfrm>
          <a:prstGeom prst="rect">
            <a:avLst/>
          </a:prstGeom>
          <a:noFill/>
          <a:ln/>
        </p:spPr>
        <p:txBody>
          <a:bodyPr wrap="square" lIns="0" tIns="0" rIns="0" bIns="0" rtlCol="0" anchor="t"/>
          <a:lstStyle/>
          <a:p>
            <a:pPr algn="ctr" indent="0" marL="0">
              <a:lnSpc>
                <a:spcPct val="95000"/>
              </a:lnSpc>
              <a:buNone/>
            </a:pPr>
            <a:r>
              <a:rPr lang="en-US" altLang="en-US" sz="3800" b="1" dirty="0">
                <a:solidFill>
                  <a:srgbClr val="1A1A1A"/>
                </a:solidFill>
                <a:latin typeface="Cairo" pitchFamily="34" charset="0"/>
                <a:ea typeface="Cairo" pitchFamily="34" charset="-122"/>
                <a:cs typeface="Cairo" pitchFamily="34" charset="-120"/>
              </a:rPr>
              <a:t>70%</a:t>
            </a:r>
            <a:endParaRPr lang="en-US" sz="3800" dirty="0"/>
          </a:p>
        </p:txBody>
      </p:sp>
      <p:sp>
        <p:nvSpPr>
          <p:cNvPr id="9" name="Text 5"/>
          <p:cNvSpPr txBox="1"/>
          <p:nvPr/>
        </p:nvSpPr>
        <p:spPr>
          <a:xfrm>
            <a:off x="1188720" y="3429000"/>
            <a:ext cx="1828800" cy="320040"/>
          </a:xfrm>
          <a:prstGeom prst="rect">
            <a:avLst/>
          </a:prstGeom>
          <a:noFill/>
          <a:ln/>
        </p:spPr>
        <p:txBody>
          <a:bodyPr wrap="square" lIns="0" tIns="0" rIns="0" bIns="0" rtlCol="0" anchor="t"/>
          <a:lstStyle/>
          <a:p>
            <a:pPr algn="ctr" indent="0" marL="0">
              <a:lnSpc>
                <a:spcPct val="95000"/>
              </a:lnSpc>
              <a:buNone/>
            </a:pPr>
            <a:r>
              <a:rPr lang="en-US" altLang="en-US" sz="1400" dirty="0">
                <a:solidFill>
                  <a:srgbClr val="727274"/>
                </a:solidFill>
                <a:latin typeface="Calibri" pitchFamily="34" charset="0"/>
                <a:ea typeface="Calibri" pitchFamily="34" charset="-122"/>
                <a:cs typeface="Calibri" pitchFamily="34" charset="-120"/>
              </a:rPr>
              <a:t>Hands-on</a:t>
            </a:r>
            <a:endParaRPr lang="en-US" sz="1400" dirty="0"/>
          </a:p>
        </p:txBody>
      </p:sp>
      <p:sp>
        <p:nvSpPr>
          <p:cNvPr id="10" name="Shape 6"/>
          <p:cNvSpPr/>
          <p:nvPr/>
        </p:nvSpPr>
        <p:spPr>
          <a:xfrm>
            <a:off x="868680" y="5093208"/>
            <a:ext cx="182880" cy="182880"/>
          </a:xfrm>
          <a:prstGeom prst="ellipse">
            <a:avLst/>
          </a:prstGeom>
          <a:solidFill>
            <a:srgbClr val="4DB449"/>
          </a:solidFill>
          <a:ln w="6350">
            <a:solidFill>
              <a:srgbClr val="4DB449"/>
            </a:solidFill>
            <a:prstDash val="solid"/>
          </a:ln>
        </p:spPr>
      </p:sp>
      <p:sp>
        <p:nvSpPr>
          <p:cNvPr id="11" name="Text 7"/>
          <p:cNvSpPr txBox="1"/>
          <p:nvPr/>
        </p:nvSpPr>
        <p:spPr>
          <a:xfrm>
            <a:off x="1143000" y="5029200"/>
            <a:ext cx="2651760" cy="310896"/>
          </a:xfrm>
          <a:prstGeom prst="rect">
            <a:avLst/>
          </a:prstGeom>
          <a:noFill/>
          <a:ln/>
        </p:spPr>
        <p:txBody>
          <a:bodyPr wrap="square" lIns="0" tIns="0" rIns="0" bIns="0" rtlCol="0" anchor="ctr"/>
          <a:lstStyle/>
          <a:p>
            <a:pPr algn="l" indent="0" marL="0">
              <a:lnSpc>
                <a:spcPct val="95000"/>
              </a:lnSpc>
              <a:buNone/>
            </a:pPr>
            <a:r>
              <a:rPr lang="en-US" altLang="en-US" sz="1300" dirty="0">
                <a:solidFill>
                  <a:srgbClr val="3C3E3B"/>
                </a:solidFill>
                <a:latin typeface="Calibri" pitchFamily="34" charset="0"/>
                <a:ea typeface="Calibri" pitchFamily="34" charset="-122"/>
                <a:cs typeface="Calibri" pitchFamily="34" charset="-120"/>
              </a:rPr>
              <a:t>Hands-on: 67.5 h</a:t>
            </a:r>
            <a:endParaRPr lang="en-US" sz="1300" dirty="0"/>
          </a:p>
        </p:txBody>
      </p:sp>
      <p:sp>
        <p:nvSpPr>
          <p:cNvPr id="12" name="Shape 8"/>
          <p:cNvSpPr/>
          <p:nvPr/>
        </p:nvSpPr>
        <p:spPr>
          <a:xfrm>
            <a:off x="868680" y="5458968"/>
            <a:ext cx="182880" cy="182880"/>
          </a:xfrm>
          <a:prstGeom prst="ellipse">
            <a:avLst/>
          </a:prstGeom>
          <a:solidFill>
            <a:srgbClr val="727274"/>
          </a:solidFill>
          <a:ln w="6350">
            <a:solidFill>
              <a:srgbClr val="727274"/>
            </a:solidFill>
            <a:prstDash val="solid"/>
          </a:ln>
        </p:spPr>
      </p:sp>
      <p:sp>
        <p:nvSpPr>
          <p:cNvPr id="13" name="Text 9"/>
          <p:cNvSpPr txBox="1"/>
          <p:nvPr/>
        </p:nvSpPr>
        <p:spPr>
          <a:xfrm>
            <a:off x="1143000" y="5394960"/>
            <a:ext cx="2651760" cy="310896"/>
          </a:xfrm>
          <a:prstGeom prst="rect">
            <a:avLst/>
          </a:prstGeom>
          <a:noFill/>
          <a:ln/>
        </p:spPr>
        <p:txBody>
          <a:bodyPr wrap="square" lIns="0" tIns="0" rIns="0" bIns="0" rtlCol="0" anchor="ctr"/>
          <a:lstStyle/>
          <a:p>
            <a:pPr algn="l" indent="0" marL="0">
              <a:lnSpc>
                <a:spcPct val="95000"/>
              </a:lnSpc>
              <a:buNone/>
            </a:pPr>
            <a:r>
              <a:rPr lang="en-US" altLang="en-US" sz="1300" dirty="0">
                <a:solidFill>
                  <a:srgbClr val="3C3E3B"/>
                </a:solidFill>
                <a:latin typeface="Calibri" pitchFamily="34" charset="0"/>
                <a:ea typeface="Calibri" pitchFamily="34" charset="-122"/>
                <a:cs typeface="Calibri" pitchFamily="34" charset="-120"/>
              </a:rPr>
              <a:t>Theory: 28.5 h</a:t>
            </a:r>
            <a:endParaRPr lang="en-US" sz="1300" dirty="0"/>
          </a:p>
        </p:txBody>
      </p:sp>
      <p:sp>
        <p:nvSpPr>
          <p:cNvPr id="14" name="Shape 10"/>
          <p:cNvSpPr/>
          <p:nvPr/>
        </p:nvSpPr>
        <p:spPr>
          <a:xfrm>
            <a:off x="4251960" y="1783080"/>
            <a:ext cx="3566160" cy="1143000"/>
          </a:xfrm>
          <a:prstGeom prst="roundRect">
            <a:avLst>
              <a:gd name="adj" fmla="val 8000"/>
            </a:avLst>
          </a:prstGeom>
          <a:solidFill>
            <a:srgbClr val="F2F4F1"/>
          </a:solidFill>
          <a:ln w="12700">
            <a:solidFill>
              <a:srgbClr val="F2F4F1"/>
            </a:solidFill>
            <a:prstDash val="solid"/>
          </a:ln>
        </p:spPr>
      </p:sp>
      <p:sp>
        <p:nvSpPr>
          <p:cNvPr id="15" name="Shape 11"/>
          <p:cNvSpPr/>
          <p:nvPr/>
        </p:nvSpPr>
        <p:spPr>
          <a:xfrm>
            <a:off x="4480560" y="2057400"/>
            <a:ext cx="594360" cy="594360"/>
          </a:xfrm>
          <a:prstGeom prst="ellipse">
            <a:avLst/>
          </a:prstGeom>
          <a:solidFill>
            <a:srgbClr val="4DB449"/>
          </a:solidFill>
          <a:ln w="6350">
            <a:solidFill>
              <a:srgbClr val="4DB449"/>
            </a:solidFill>
            <a:prstDash val="solid"/>
          </a:ln>
        </p:spPr>
      </p:sp>
      <p:pic>
        <p:nvPicPr>
          <p:cNvPr id="16" name="Image 1" descr="preencoded.png">    </p:cNvPr>
          <p:cNvPicPr>
            <a:picLocks noChangeAspect="1"/>
          </p:cNvPicPr>
          <p:nvPr/>
        </p:nvPicPr>
        <p:blipFill>
          <a:blip r:embed="rId3"/>
          <a:stretch>
            <a:fillRect/>
          </a:stretch>
        </p:blipFill>
        <p:spPr>
          <a:xfrm>
            <a:off x="4608576" y="2185416"/>
            <a:ext cx="338328" cy="338328"/>
          </a:xfrm>
          <a:prstGeom prst="rect">
            <a:avLst/>
          </a:prstGeom>
        </p:spPr>
      </p:pic>
      <p:sp>
        <p:nvSpPr>
          <p:cNvPr id="17" name="Text 12"/>
          <p:cNvSpPr txBox="1"/>
          <p:nvPr/>
        </p:nvSpPr>
        <p:spPr>
          <a:xfrm>
            <a:off x="5257800" y="1965960"/>
            <a:ext cx="2377440" cy="411480"/>
          </a:xfrm>
          <a:prstGeom prst="rect">
            <a:avLst/>
          </a:prstGeom>
          <a:noFill/>
          <a:ln/>
        </p:spPr>
        <p:txBody>
          <a:bodyPr wrap="square" lIns="0" tIns="0" rIns="0" bIns="0" rtlCol="0" anchor="t"/>
          <a:lstStyle/>
          <a:p>
            <a:pPr algn="l" indent="0" marL="0">
              <a:lnSpc>
                <a:spcPct val="95000"/>
              </a:lnSpc>
              <a:buNone/>
            </a:pPr>
            <a:r>
              <a:rPr lang="en-US" altLang="en-US" sz="1800" b="1" dirty="0">
                <a:solidFill>
                  <a:srgbClr val="1A1A1A"/>
                </a:solidFill>
                <a:latin typeface="Cairo" pitchFamily="34" charset="0"/>
                <a:ea typeface="Cairo" pitchFamily="34" charset="-122"/>
                <a:cs typeface="Cairo" pitchFamily="34" charset="-120"/>
              </a:rPr>
              <a:t>1. See it</a:t>
            </a:r>
            <a:endParaRPr lang="en-US" sz="1800" dirty="0"/>
          </a:p>
        </p:txBody>
      </p:sp>
      <p:sp>
        <p:nvSpPr>
          <p:cNvPr id="18" name="Text 13"/>
          <p:cNvSpPr txBox="1"/>
          <p:nvPr/>
        </p:nvSpPr>
        <p:spPr>
          <a:xfrm>
            <a:off x="5257800" y="2386584"/>
            <a:ext cx="2377440" cy="411480"/>
          </a:xfrm>
          <a:prstGeom prst="rect">
            <a:avLst/>
          </a:prstGeom>
          <a:noFill/>
          <a:ln/>
        </p:spPr>
        <p:txBody>
          <a:bodyPr wrap="square" lIns="0" tIns="0" rIns="0" bIns="0" rtlCol="0" anchor="t"/>
          <a:lstStyle/>
          <a:p>
            <a:pPr algn="l" indent="0" marL="0">
              <a:lnSpc>
                <a:spcPct val="95000"/>
              </a:lnSpc>
              <a:buNone/>
            </a:pPr>
            <a:r>
              <a:rPr lang="en-US" altLang="en-US" sz="1350" dirty="0">
                <a:solidFill>
                  <a:srgbClr val="3C3E3B"/>
                </a:solidFill>
                <a:latin typeface="Calibri" pitchFamily="34" charset="0"/>
                <a:ea typeface="Calibri" pitchFamily="34" charset="-122"/>
                <a:cs typeface="Calibri" pitchFamily="34" charset="-120"/>
              </a:rPr>
              <a:t>Short concept and live demo</a:t>
            </a:r>
            <a:endParaRPr lang="en-US" sz="1350" dirty="0"/>
          </a:p>
        </p:txBody>
      </p:sp>
      <p:sp>
        <p:nvSpPr>
          <p:cNvPr id="19" name="Shape 14"/>
          <p:cNvSpPr/>
          <p:nvPr/>
        </p:nvSpPr>
        <p:spPr>
          <a:xfrm>
            <a:off x="8092440" y="1783080"/>
            <a:ext cx="3566160" cy="1143000"/>
          </a:xfrm>
          <a:prstGeom prst="roundRect">
            <a:avLst>
              <a:gd name="adj" fmla="val 8000"/>
            </a:avLst>
          </a:prstGeom>
          <a:solidFill>
            <a:srgbClr val="F2F4F1"/>
          </a:solidFill>
          <a:ln w="12700">
            <a:solidFill>
              <a:srgbClr val="F2F4F1"/>
            </a:solidFill>
            <a:prstDash val="solid"/>
          </a:ln>
        </p:spPr>
      </p:sp>
      <p:sp>
        <p:nvSpPr>
          <p:cNvPr id="20" name="Shape 15"/>
          <p:cNvSpPr/>
          <p:nvPr/>
        </p:nvSpPr>
        <p:spPr>
          <a:xfrm>
            <a:off x="8321040" y="2057400"/>
            <a:ext cx="594360" cy="594360"/>
          </a:xfrm>
          <a:prstGeom prst="ellipse">
            <a:avLst/>
          </a:prstGeom>
          <a:solidFill>
            <a:srgbClr val="4DB449"/>
          </a:solidFill>
          <a:ln w="6350">
            <a:solidFill>
              <a:srgbClr val="4DB449"/>
            </a:solidFill>
            <a:prstDash val="solid"/>
          </a:ln>
        </p:spPr>
      </p:sp>
      <p:pic>
        <p:nvPicPr>
          <p:cNvPr id="21" name="Image 2" descr="preencoded.png">    </p:cNvPr>
          <p:cNvPicPr>
            <a:picLocks noChangeAspect="1"/>
          </p:cNvPicPr>
          <p:nvPr/>
        </p:nvPicPr>
        <p:blipFill>
          <a:blip r:embed="rId4"/>
          <a:stretch>
            <a:fillRect/>
          </a:stretch>
        </p:blipFill>
        <p:spPr>
          <a:xfrm>
            <a:off x="8449056" y="2185416"/>
            <a:ext cx="338328" cy="338328"/>
          </a:xfrm>
          <a:prstGeom prst="rect">
            <a:avLst/>
          </a:prstGeom>
        </p:spPr>
      </p:pic>
      <p:sp>
        <p:nvSpPr>
          <p:cNvPr id="22" name="Text 16"/>
          <p:cNvSpPr txBox="1"/>
          <p:nvPr/>
        </p:nvSpPr>
        <p:spPr>
          <a:xfrm>
            <a:off x="9098280" y="1965960"/>
            <a:ext cx="2377440" cy="411480"/>
          </a:xfrm>
          <a:prstGeom prst="rect">
            <a:avLst/>
          </a:prstGeom>
          <a:noFill/>
          <a:ln/>
        </p:spPr>
        <p:txBody>
          <a:bodyPr wrap="square" lIns="0" tIns="0" rIns="0" bIns="0" rtlCol="0" anchor="t"/>
          <a:lstStyle/>
          <a:p>
            <a:pPr algn="l" indent="0" marL="0">
              <a:lnSpc>
                <a:spcPct val="95000"/>
              </a:lnSpc>
              <a:buNone/>
            </a:pPr>
            <a:r>
              <a:rPr lang="en-US" altLang="en-US" sz="1800" b="1" dirty="0">
                <a:solidFill>
                  <a:srgbClr val="1A1A1A"/>
                </a:solidFill>
                <a:latin typeface="Cairo" pitchFamily="34" charset="0"/>
                <a:ea typeface="Cairo" pitchFamily="34" charset="-122"/>
                <a:cs typeface="Cairo" pitchFamily="34" charset="-120"/>
              </a:rPr>
              <a:t>2. Try it</a:t>
            </a:r>
            <a:endParaRPr lang="en-US" sz="1800" dirty="0"/>
          </a:p>
        </p:txBody>
      </p:sp>
      <p:sp>
        <p:nvSpPr>
          <p:cNvPr id="23" name="Text 17"/>
          <p:cNvSpPr txBox="1"/>
          <p:nvPr/>
        </p:nvSpPr>
        <p:spPr>
          <a:xfrm>
            <a:off x="9098280" y="2386584"/>
            <a:ext cx="2377440" cy="411480"/>
          </a:xfrm>
          <a:prstGeom prst="rect">
            <a:avLst/>
          </a:prstGeom>
          <a:noFill/>
          <a:ln/>
        </p:spPr>
        <p:txBody>
          <a:bodyPr wrap="square" lIns="0" tIns="0" rIns="0" bIns="0" rtlCol="0" anchor="t"/>
          <a:lstStyle/>
          <a:p>
            <a:pPr algn="l" indent="0" marL="0">
              <a:lnSpc>
                <a:spcPct val="95000"/>
              </a:lnSpc>
              <a:buNone/>
            </a:pPr>
            <a:r>
              <a:rPr lang="en-US" altLang="en-US" sz="1350" dirty="0">
                <a:solidFill>
                  <a:srgbClr val="3C3E3B"/>
                </a:solidFill>
                <a:latin typeface="Calibri" pitchFamily="34" charset="0"/>
                <a:ea typeface="Calibri" pitchFamily="34" charset="-122"/>
                <a:cs typeface="Calibri" pitchFamily="34" charset="-120"/>
              </a:rPr>
              <a:t>Guided exercise in pairs</a:t>
            </a:r>
            <a:endParaRPr lang="en-US" sz="1350" dirty="0"/>
          </a:p>
        </p:txBody>
      </p:sp>
      <p:sp>
        <p:nvSpPr>
          <p:cNvPr id="24" name="Shape 18"/>
          <p:cNvSpPr/>
          <p:nvPr/>
        </p:nvSpPr>
        <p:spPr>
          <a:xfrm>
            <a:off x="8092440" y="3200400"/>
            <a:ext cx="3566160" cy="1143000"/>
          </a:xfrm>
          <a:prstGeom prst="roundRect">
            <a:avLst>
              <a:gd name="adj" fmla="val 8000"/>
            </a:avLst>
          </a:prstGeom>
          <a:solidFill>
            <a:srgbClr val="000000"/>
          </a:solidFill>
          <a:ln w="12700">
            <a:solidFill>
              <a:srgbClr val="000000"/>
            </a:solidFill>
            <a:prstDash val="solid"/>
          </a:ln>
        </p:spPr>
      </p:sp>
      <p:sp>
        <p:nvSpPr>
          <p:cNvPr id="25" name="Shape 19"/>
          <p:cNvSpPr/>
          <p:nvPr/>
        </p:nvSpPr>
        <p:spPr>
          <a:xfrm>
            <a:off x="8321040" y="3474720"/>
            <a:ext cx="594360" cy="594360"/>
          </a:xfrm>
          <a:prstGeom prst="ellipse">
            <a:avLst/>
          </a:prstGeom>
          <a:solidFill>
            <a:srgbClr val="A6D04B"/>
          </a:solidFill>
          <a:ln w="6350">
            <a:solidFill>
              <a:srgbClr val="A6D04B"/>
            </a:solidFill>
            <a:prstDash val="solid"/>
          </a:ln>
        </p:spPr>
      </p:sp>
      <p:pic>
        <p:nvPicPr>
          <p:cNvPr id="26" name="Image 3" descr="preencoded.png">    </p:cNvPr>
          <p:cNvPicPr>
            <a:picLocks noChangeAspect="1"/>
          </p:cNvPicPr>
          <p:nvPr/>
        </p:nvPicPr>
        <p:blipFill>
          <a:blip r:embed="rId5"/>
          <a:stretch>
            <a:fillRect/>
          </a:stretch>
        </p:blipFill>
        <p:spPr>
          <a:xfrm>
            <a:off x="8449056" y="3602736"/>
            <a:ext cx="338328" cy="338328"/>
          </a:xfrm>
          <a:prstGeom prst="rect">
            <a:avLst/>
          </a:prstGeom>
        </p:spPr>
      </p:pic>
      <p:sp>
        <p:nvSpPr>
          <p:cNvPr id="27" name="Text 20"/>
          <p:cNvSpPr txBox="1"/>
          <p:nvPr/>
        </p:nvSpPr>
        <p:spPr>
          <a:xfrm>
            <a:off x="9098280" y="3383280"/>
            <a:ext cx="2377440" cy="411480"/>
          </a:xfrm>
          <a:prstGeom prst="rect">
            <a:avLst/>
          </a:prstGeom>
          <a:noFill/>
          <a:ln/>
        </p:spPr>
        <p:txBody>
          <a:bodyPr wrap="square" lIns="0" tIns="0" rIns="0" bIns="0" rtlCol="0" anchor="t"/>
          <a:lstStyle/>
          <a:p>
            <a:pPr algn="l" indent="0" marL="0">
              <a:lnSpc>
                <a:spcPct val="95000"/>
              </a:lnSpc>
              <a:buNone/>
            </a:pPr>
            <a:r>
              <a:rPr lang="en-US" altLang="en-US" sz="1800" b="1" dirty="0">
                <a:solidFill>
                  <a:srgbClr val="FFFFFF"/>
                </a:solidFill>
                <a:latin typeface="Cairo" pitchFamily="34" charset="0"/>
                <a:ea typeface="Cairo" pitchFamily="34" charset="-122"/>
                <a:cs typeface="Cairo" pitchFamily="34" charset="-120"/>
              </a:rPr>
              <a:t>3. Build it</a:t>
            </a:r>
            <a:endParaRPr lang="en-US" sz="1800" dirty="0"/>
          </a:p>
        </p:txBody>
      </p:sp>
      <p:sp>
        <p:nvSpPr>
          <p:cNvPr id="28" name="Text 21"/>
          <p:cNvSpPr txBox="1"/>
          <p:nvPr/>
        </p:nvSpPr>
        <p:spPr>
          <a:xfrm>
            <a:off x="9098280" y="3803904"/>
            <a:ext cx="2377440" cy="411480"/>
          </a:xfrm>
          <a:prstGeom prst="rect">
            <a:avLst/>
          </a:prstGeom>
          <a:noFill/>
          <a:ln/>
        </p:spPr>
        <p:txBody>
          <a:bodyPr wrap="square" lIns="0" tIns="0" rIns="0" bIns="0" rtlCol="0" anchor="t"/>
          <a:lstStyle/>
          <a:p>
            <a:pPr algn="l" indent="0" marL="0">
              <a:lnSpc>
                <a:spcPct val="95000"/>
              </a:lnSpc>
              <a:buNone/>
            </a:pPr>
            <a:r>
              <a:rPr lang="en-US" altLang="en-US" sz="1350" dirty="0">
                <a:solidFill>
                  <a:srgbClr val="D6D8D4"/>
                </a:solidFill>
                <a:latin typeface="Calibri" pitchFamily="34" charset="0"/>
                <a:ea typeface="Calibri" pitchFamily="34" charset="-122"/>
                <a:cs typeface="Calibri" pitchFamily="34" charset="-120"/>
              </a:rPr>
              <a:t>Apply it to the capstone client</a:t>
            </a:r>
            <a:endParaRPr lang="en-US" sz="1350" dirty="0"/>
          </a:p>
        </p:txBody>
      </p:sp>
      <p:sp>
        <p:nvSpPr>
          <p:cNvPr id="29" name="Shape 22"/>
          <p:cNvSpPr/>
          <p:nvPr/>
        </p:nvSpPr>
        <p:spPr>
          <a:xfrm>
            <a:off x="4251960" y="3200400"/>
            <a:ext cx="3566160" cy="1143000"/>
          </a:xfrm>
          <a:prstGeom prst="roundRect">
            <a:avLst>
              <a:gd name="adj" fmla="val 8000"/>
            </a:avLst>
          </a:prstGeom>
          <a:solidFill>
            <a:srgbClr val="F2F4F1"/>
          </a:solidFill>
          <a:ln w="12700">
            <a:solidFill>
              <a:srgbClr val="F2F4F1"/>
            </a:solidFill>
            <a:prstDash val="solid"/>
          </a:ln>
        </p:spPr>
      </p:sp>
      <p:sp>
        <p:nvSpPr>
          <p:cNvPr id="30" name="Shape 23"/>
          <p:cNvSpPr/>
          <p:nvPr/>
        </p:nvSpPr>
        <p:spPr>
          <a:xfrm>
            <a:off x="4480560" y="3474720"/>
            <a:ext cx="594360" cy="594360"/>
          </a:xfrm>
          <a:prstGeom prst="ellipse">
            <a:avLst/>
          </a:prstGeom>
          <a:solidFill>
            <a:srgbClr val="4DB449"/>
          </a:solidFill>
          <a:ln w="6350">
            <a:solidFill>
              <a:srgbClr val="4DB449"/>
            </a:solidFill>
            <a:prstDash val="solid"/>
          </a:ln>
        </p:spPr>
      </p:sp>
      <p:pic>
        <p:nvPicPr>
          <p:cNvPr id="31" name="Image 4" descr="preencoded.png">    </p:cNvPr>
          <p:cNvPicPr>
            <a:picLocks noChangeAspect="1"/>
          </p:cNvPicPr>
          <p:nvPr/>
        </p:nvPicPr>
        <p:blipFill>
          <a:blip r:embed="rId6"/>
          <a:stretch>
            <a:fillRect/>
          </a:stretch>
        </p:blipFill>
        <p:spPr>
          <a:xfrm>
            <a:off x="4608576" y="3602736"/>
            <a:ext cx="338328" cy="338328"/>
          </a:xfrm>
          <a:prstGeom prst="rect">
            <a:avLst/>
          </a:prstGeom>
        </p:spPr>
      </p:pic>
      <p:sp>
        <p:nvSpPr>
          <p:cNvPr id="32" name="Text 24"/>
          <p:cNvSpPr txBox="1"/>
          <p:nvPr/>
        </p:nvSpPr>
        <p:spPr>
          <a:xfrm>
            <a:off x="5257800" y="3383280"/>
            <a:ext cx="2377440" cy="411480"/>
          </a:xfrm>
          <a:prstGeom prst="rect">
            <a:avLst/>
          </a:prstGeom>
          <a:noFill/>
          <a:ln/>
        </p:spPr>
        <p:txBody>
          <a:bodyPr wrap="square" lIns="0" tIns="0" rIns="0" bIns="0" rtlCol="0" anchor="t"/>
          <a:lstStyle/>
          <a:p>
            <a:pPr algn="l" indent="0" marL="0">
              <a:lnSpc>
                <a:spcPct val="95000"/>
              </a:lnSpc>
              <a:buNone/>
            </a:pPr>
            <a:r>
              <a:rPr lang="en-US" altLang="en-US" sz="1800" b="1" dirty="0">
                <a:solidFill>
                  <a:srgbClr val="1A1A1A"/>
                </a:solidFill>
                <a:latin typeface="Cairo" pitchFamily="34" charset="0"/>
                <a:ea typeface="Cairo" pitchFamily="34" charset="-122"/>
                <a:cs typeface="Cairo" pitchFamily="34" charset="-120"/>
              </a:rPr>
              <a:t>4. Show it</a:t>
            </a:r>
            <a:endParaRPr lang="en-US" sz="1800" dirty="0"/>
          </a:p>
        </p:txBody>
      </p:sp>
      <p:sp>
        <p:nvSpPr>
          <p:cNvPr id="33" name="Text 25"/>
          <p:cNvSpPr txBox="1"/>
          <p:nvPr/>
        </p:nvSpPr>
        <p:spPr>
          <a:xfrm>
            <a:off x="5257800" y="3803904"/>
            <a:ext cx="2377440" cy="411480"/>
          </a:xfrm>
          <a:prstGeom prst="rect">
            <a:avLst/>
          </a:prstGeom>
          <a:noFill/>
          <a:ln/>
        </p:spPr>
        <p:txBody>
          <a:bodyPr wrap="square" lIns="0" tIns="0" rIns="0" bIns="0" rtlCol="0" anchor="t"/>
          <a:lstStyle/>
          <a:p>
            <a:pPr algn="l" indent="0" marL="0">
              <a:lnSpc>
                <a:spcPct val="95000"/>
              </a:lnSpc>
              <a:buNone/>
            </a:pPr>
            <a:r>
              <a:rPr lang="en-US" altLang="en-US" sz="1350" dirty="0">
                <a:solidFill>
                  <a:srgbClr val="3C3E3B"/>
                </a:solidFill>
                <a:latin typeface="Calibri" pitchFamily="34" charset="0"/>
                <a:ea typeface="Calibri" pitchFamily="34" charset="-122"/>
                <a:cs typeface="Calibri" pitchFamily="34" charset="-120"/>
              </a:rPr>
              <a:t>Share, get feedback, improve</a:t>
            </a:r>
            <a:endParaRPr lang="en-US" sz="1350" dirty="0"/>
          </a:p>
        </p:txBody>
      </p:sp>
      <p:pic>
        <p:nvPicPr>
          <p:cNvPr id="34" name="Image 5" descr="preencoded.png">    </p:cNvPr>
          <p:cNvPicPr>
            <a:picLocks noChangeAspect="1"/>
          </p:cNvPicPr>
          <p:nvPr/>
        </p:nvPicPr>
        <p:blipFill>
          <a:blip r:embed="rId7"/>
          <a:stretch>
            <a:fillRect/>
          </a:stretch>
        </p:blipFill>
        <p:spPr>
          <a:xfrm>
            <a:off x="7708392" y="2816352"/>
            <a:ext cx="493776" cy="493776"/>
          </a:xfrm>
          <a:prstGeom prst="rect">
            <a:avLst/>
          </a:prstGeom>
        </p:spPr>
      </p:pic>
      <p:sp>
        <p:nvSpPr>
          <p:cNvPr id="35" name="Text 26"/>
          <p:cNvSpPr txBox="1"/>
          <p:nvPr/>
        </p:nvSpPr>
        <p:spPr>
          <a:xfrm>
            <a:off x="4251960" y="4782312"/>
            <a:ext cx="7391095" cy="365760"/>
          </a:xfrm>
          <a:prstGeom prst="rect">
            <a:avLst/>
          </a:prstGeom>
          <a:noFill/>
          <a:ln/>
        </p:spPr>
        <p:txBody>
          <a:bodyPr wrap="square" lIns="0" tIns="0" rIns="0" bIns="0" rtlCol="0" anchor="t"/>
          <a:lstStyle/>
          <a:p>
            <a:pPr algn="l" indent="0" marL="0">
              <a:lnSpc>
                <a:spcPct val="95000"/>
              </a:lnSpc>
              <a:buNone/>
            </a:pPr>
            <a:r>
              <a:rPr lang="en-US" altLang="en-US" sz="1500" b="1" dirty="0">
                <a:solidFill>
                  <a:srgbClr val="1A1A1A"/>
                </a:solidFill>
                <a:latin typeface="Cairo" pitchFamily="34" charset="0"/>
                <a:ea typeface="Cairo" pitchFamily="34" charset="-122"/>
                <a:cs typeface="Cairo" pitchFamily="34" charset="-120"/>
              </a:rPr>
              <a:t>A typical 3-hour session</a:t>
            </a:r>
            <a:endParaRPr lang="en-US" sz="1500" dirty="0"/>
          </a:p>
        </p:txBody>
      </p:sp>
      <p:sp>
        <p:nvSpPr>
          <p:cNvPr id="36" name="Shape 27"/>
          <p:cNvSpPr/>
          <p:nvPr/>
        </p:nvSpPr>
        <p:spPr>
          <a:xfrm>
            <a:off x="4251960" y="5239512"/>
            <a:ext cx="2016506" cy="457200"/>
          </a:xfrm>
          <a:prstGeom prst="rect">
            <a:avLst/>
          </a:prstGeom>
          <a:solidFill>
            <a:srgbClr val="727274"/>
          </a:solidFill>
          <a:ln w="12700">
            <a:solidFill>
              <a:srgbClr val="727274"/>
            </a:solidFill>
            <a:prstDash val="solid"/>
          </a:ln>
        </p:spPr>
      </p:sp>
      <p:sp>
        <p:nvSpPr>
          <p:cNvPr id="37" name="Text 28"/>
          <p:cNvSpPr txBox="1"/>
          <p:nvPr/>
        </p:nvSpPr>
        <p:spPr>
          <a:xfrm>
            <a:off x="4297680" y="5239512"/>
            <a:ext cx="1925066" cy="457200"/>
          </a:xfrm>
          <a:prstGeom prst="rect">
            <a:avLst/>
          </a:prstGeom>
          <a:noFill/>
          <a:ln/>
        </p:spPr>
        <p:txBody>
          <a:bodyPr wrap="square" lIns="0" tIns="0" rIns="0" bIns="0" rtlCol="0" anchor="ctr"/>
          <a:lstStyle/>
          <a:p>
            <a:pPr algn="ctr" indent="0" marL="0">
              <a:lnSpc>
                <a:spcPct val="95000"/>
              </a:lnSpc>
              <a:buNone/>
            </a:pPr>
            <a:r>
              <a:rPr lang="en-US" altLang="en-US" sz="1300" b="1" dirty="0">
                <a:solidFill>
                  <a:srgbClr val="FFFFFF"/>
                </a:solidFill>
                <a:latin typeface="Calibri" pitchFamily="34" charset="0"/>
                <a:ea typeface="Calibri" pitchFamily="34" charset="-122"/>
                <a:cs typeface="Calibri" pitchFamily="34" charset="-120"/>
              </a:rPr>
              <a:t>Concept &amp; demo</a:t>
            </a:r>
            <a:endParaRPr lang="en-US" sz="1300" dirty="0"/>
          </a:p>
        </p:txBody>
      </p:sp>
      <p:sp>
        <p:nvSpPr>
          <p:cNvPr id="38" name="Text 29"/>
          <p:cNvSpPr txBox="1"/>
          <p:nvPr/>
        </p:nvSpPr>
        <p:spPr>
          <a:xfrm>
            <a:off x="4251960" y="5742432"/>
            <a:ext cx="2016506" cy="274320"/>
          </a:xfrm>
          <a:prstGeom prst="rect">
            <a:avLst/>
          </a:prstGeom>
          <a:noFill/>
          <a:ln/>
        </p:spPr>
        <p:txBody>
          <a:bodyPr wrap="square" lIns="0" tIns="0" rIns="0" bIns="0" rtlCol="0" anchor="t"/>
          <a:lstStyle/>
          <a:p>
            <a:pPr algn="ctr" indent="0" marL="0">
              <a:lnSpc>
                <a:spcPct val="95000"/>
              </a:lnSpc>
              <a:buNone/>
            </a:pPr>
            <a:r>
              <a:rPr lang="en-US" altLang="en-US" sz="1100" dirty="0">
                <a:solidFill>
                  <a:srgbClr val="727274"/>
                </a:solidFill>
                <a:latin typeface="Calibri" pitchFamily="34" charset="0"/>
                <a:ea typeface="Calibri" pitchFamily="34" charset="-122"/>
                <a:cs typeface="Calibri" pitchFamily="34" charset="-120"/>
              </a:rPr>
              <a:t>0:00–0:50</a:t>
            </a:r>
            <a:endParaRPr lang="en-US" sz="1100" dirty="0"/>
          </a:p>
        </p:txBody>
      </p:sp>
      <p:sp>
        <p:nvSpPr>
          <p:cNvPr id="39" name="Shape 30"/>
          <p:cNvSpPr/>
          <p:nvPr/>
        </p:nvSpPr>
        <p:spPr>
          <a:xfrm>
            <a:off x="6305042" y="5239512"/>
            <a:ext cx="4274896" cy="457200"/>
          </a:xfrm>
          <a:prstGeom prst="rect">
            <a:avLst/>
          </a:prstGeom>
          <a:solidFill>
            <a:srgbClr val="4DB449"/>
          </a:solidFill>
          <a:ln w="12700">
            <a:solidFill>
              <a:srgbClr val="4DB449"/>
            </a:solidFill>
            <a:prstDash val="solid"/>
          </a:ln>
        </p:spPr>
      </p:sp>
      <p:sp>
        <p:nvSpPr>
          <p:cNvPr id="40" name="Text 31"/>
          <p:cNvSpPr txBox="1"/>
          <p:nvPr/>
        </p:nvSpPr>
        <p:spPr>
          <a:xfrm>
            <a:off x="6350762" y="5239512"/>
            <a:ext cx="4183456" cy="457200"/>
          </a:xfrm>
          <a:prstGeom prst="rect">
            <a:avLst/>
          </a:prstGeom>
          <a:noFill/>
          <a:ln/>
        </p:spPr>
        <p:txBody>
          <a:bodyPr wrap="square" lIns="0" tIns="0" rIns="0" bIns="0" rtlCol="0" anchor="ctr"/>
          <a:lstStyle/>
          <a:p>
            <a:pPr algn="ctr" indent="0" marL="0">
              <a:lnSpc>
                <a:spcPct val="95000"/>
              </a:lnSpc>
              <a:buNone/>
            </a:pPr>
            <a:r>
              <a:rPr lang="en-US" altLang="en-US" sz="1300" b="1" dirty="0">
                <a:solidFill>
                  <a:srgbClr val="000000"/>
                </a:solidFill>
                <a:latin typeface="Calibri" pitchFamily="34" charset="0"/>
                <a:ea typeface="Calibri" pitchFamily="34" charset="-122"/>
                <a:cs typeface="Calibri" pitchFamily="34" charset="-120"/>
              </a:rPr>
              <a:t>Hands-on build</a:t>
            </a:r>
            <a:endParaRPr lang="en-US" sz="1300" dirty="0"/>
          </a:p>
        </p:txBody>
      </p:sp>
      <p:sp>
        <p:nvSpPr>
          <p:cNvPr id="41" name="Text 32"/>
          <p:cNvSpPr txBox="1"/>
          <p:nvPr/>
        </p:nvSpPr>
        <p:spPr>
          <a:xfrm>
            <a:off x="6305042" y="5742432"/>
            <a:ext cx="4274896" cy="274320"/>
          </a:xfrm>
          <a:prstGeom prst="rect">
            <a:avLst/>
          </a:prstGeom>
          <a:noFill/>
          <a:ln/>
        </p:spPr>
        <p:txBody>
          <a:bodyPr wrap="square" lIns="0" tIns="0" rIns="0" bIns="0" rtlCol="0" anchor="t"/>
          <a:lstStyle/>
          <a:p>
            <a:pPr algn="ctr" indent="0" marL="0">
              <a:lnSpc>
                <a:spcPct val="95000"/>
              </a:lnSpc>
              <a:buNone/>
            </a:pPr>
            <a:r>
              <a:rPr lang="en-US" altLang="en-US" sz="1100" dirty="0">
                <a:solidFill>
                  <a:srgbClr val="727274"/>
                </a:solidFill>
                <a:latin typeface="Calibri" pitchFamily="34" charset="0"/>
                <a:ea typeface="Calibri" pitchFamily="34" charset="-122"/>
                <a:cs typeface="Calibri" pitchFamily="34" charset="-120"/>
              </a:rPr>
              <a:t>0:50–2:35</a:t>
            </a:r>
            <a:endParaRPr lang="en-US" sz="1100" dirty="0"/>
          </a:p>
        </p:txBody>
      </p:sp>
      <p:sp>
        <p:nvSpPr>
          <p:cNvPr id="42" name="Shape 33"/>
          <p:cNvSpPr/>
          <p:nvPr/>
        </p:nvSpPr>
        <p:spPr>
          <a:xfrm>
            <a:off x="10616514" y="5239512"/>
            <a:ext cx="989965" cy="457200"/>
          </a:xfrm>
          <a:prstGeom prst="rect">
            <a:avLst/>
          </a:prstGeom>
          <a:solidFill>
            <a:srgbClr val="000000"/>
          </a:solidFill>
          <a:ln w="12700">
            <a:solidFill>
              <a:srgbClr val="000000"/>
            </a:solidFill>
            <a:prstDash val="solid"/>
          </a:ln>
        </p:spPr>
      </p:sp>
      <p:sp>
        <p:nvSpPr>
          <p:cNvPr id="43" name="Text 34"/>
          <p:cNvSpPr txBox="1"/>
          <p:nvPr/>
        </p:nvSpPr>
        <p:spPr>
          <a:xfrm>
            <a:off x="10662234" y="5239512"/>
            <a:ext cx="898525" cy="457200"/>
          </a:xfrm>
          <a:prstGeom prst="rect">
            <a:avLst/>
          </a:prstGeom>
          <a:noFill/>
          <a:ln/>
        </p:spPr>
        <p:txBody>
          <a:bodyPr wrap="square" lIns="0" tIns="0" rIns="0" bIns="0" rtlCol="0" anchor="ctr"/>
          <a:lstStyle/>
          <a:p>
            <a:pPr algn="ctr" indent="0" marL="0">
              <a:lnSpc>
                <a:spcPct val="95000"/>
              </a:lnSpc>
              <a:buNone/>
            </a:pPr>
            <a:r>
              <a:rPr lang="en-US" altLang="en-US" sz="1100" b="1" dirty="0">
                <a:solidFill>
                  <a:srgbClr val="FFFFFF"/>
                </a:solidFill>
                <a:latin typeface="Calibri" pitchFamily="34" charset="0"/>
                <a:ea typeface="Calibri" pitchFamily="34" charset="-122"/>
                <a:cs typeface="Calibri" pitchFamily="34" charset="-120"/>
              </a:rPr>
              <a:t>Show &amp; feedback</a:t>
            </a:r>
            <a:endParaRPr lang="en-US" sz="1100" dirty="0"/>
          </a:p>
        </p:txBody>
      </p:sp>
      <p:sp>
        <p:nvSpPr>
          <p:cNvPr id="44" name="Text 35"/>
          <p:cNvSpPr txBox="1"/>
          <p:nvPr/>
        </p:nvSpPr>
        <p:spPr>
          <a:xfrm>
            <a:off x="10616514" y="5742432"/>
            <a:ext cx="989965" cy="274320"/>
          </a:xfrm>
          <a:prstGeom prst="rect">
            <a:avLst/>
          </a:prstGeom>
          <a:noFill/>
          <a:ln/>
        </p:spPr>
        <p:txBody>
          <a:bodyPr wrap="square" lIns="0" tIns="0" rIns="0" bIns="0" rtlCol="0" anchor="t"/>
          <a:lstStyle/>
          <a:p>
            <a:pPr algn="ctr" indent="0" marL="0">
              <a:lnSpc>
                <a:spcPct val="95000"/>
              </a:lnSpc>
              <a:buNone/>
            </a:pPr>
            <a:r>
              <a:rPr lang="en-US" altLang="en-US" sz="1100" dirty="0">
                <a:solidFill>
                  <a:srgbClr val="727274"/>
                </a:solidFill>
                <a:latin typeface="Calibri" pitchFamily="34" charset="0"/>
                <a:ea typeface="Calibri" pitchFamily="34" charset="-122"/>
                <a:cs typeface="Calibri" pitchFamily="34" charset="-120"/>
              </a:rPr>
              <a:t>2:35–3:00</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10356554" y="384048"/>
            <a:ext cx="1286501" cy="457200"/>
          </a:xfrm>
          <a:prstGeom prst="rect">
            <a:avLst/>
          </a:prstGeom>
        </p:spPr>
      </p:pic>
      <p:sp>
        <p:nvSpPr>
          <p:cNvPr id="3" name="Text 0"/>
          <p:cNvSpPr txBox="1"/>
          <p:nvPr/>
        </p:nvSpPr>
        <p:spPr>
          <a:xfrm>
            <a:off x="548640" y="6446520"/>
            <a:ext cx="6400800" cy="228600"/>
          </a:xfrm>
          <a:prstGeom prst="rect">
            <a:avLst/>
          </a:prstGeom>
          <a:noFill/>
          <a:ln/>
        </p:spPr>
        <p:txBody>
          <a:bodyPr wrap="square" lIns="0" tIns="0" rIns="0" bIns="0" rtlCol="0" anchor="t"/>
          <a:lstStyle/>
          <a:p>
            <a:pPr algn="l"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AI Creators Program · Training Concept Note</a:t>
            </a:r>
            <a:endParaRPr lang="en-US" sz="900" dirty="0"/>
          </a:p>
        </p:txBody>
      </p:sp>
      <p:sp>
        <p:nvSpPr>
          <p:cNvPr id="4" name="Text 1"/>
          <p:cNvSpPr txBox="1"/>
          <p:nvPr/>
        </p:nvSpPr>
        <p:spPr>
          <a:xfrm>
            <a:off x="11094415" y="6446520"/>
            <a:ext cx="548640" cy="228600"/>
          </a:xfrm>
          <a:prstGeom prst="rect">
            <a:avLst/>
          </a:prstGeom>
          <a:noFill/>
          <a:ln/>
        </p:spPr>
        <p:txBody>
          <a:bodyPr wrap="square" lIns="0" tIns="0" rIns="0" bIns="0" rtlCol="0" anchor="t"/>
          <a:lstStyle/>
          <a:p>
            <a:pPr algn="r"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13</a:t>
            </a:r>
            <a:endParaRPr lang="en-US" sz="900" dirty="0"/>
          </a:p>
        </p:txBody>
      </p:sp>
      <p:sp>
        <p:nvSpPr>
          <p:cNvPr id="5" name="Text 2"/>
          <p:cNvSpPr txBox="1"/>
          <p:nvPr/>
        </p:nvSpPr>
        <p:spPr>
          <a:xfrm>
            <a:off x="548640" y="384048"/>
            <a:ext cx="8961120" cy="274320"/>
          </a:xfrm>
          <a:prstGeom prst="rect">
            <a:avLst/>
          </a:prstGeom>
          <a:noFill/>
          <a:ln/>
        </p:spPr>
        <p:txBody>
          <a:bodyPr wrap="square" lIns="0" tIns="0" rIns="0" bIns="0" rtlCol="0" anchor="t"/>
          <a:lstStyle/>
          <a:p>
            <a:pPr algn="l" indent="0" marL="0">
              <a:lnSpc>
                <a:spcPct val="95000"/>
              </a:lnSpc>
              <a:buNone/>
            </a:pPr>
            <a:r>
              <a:rPr lang="en-US" altLang="en-US" sz="1100" b="1" spc="200" kern="0" dirty="0">
                <a:solidFill>
                  <a:srgbClr val="727274"/>
                </a:solidFill>
                <a:latin typeface="Calibri" pitchFamily="34" charset="0"/>
                <a:ea typeface="Calibri" pitchFamily="34" charset="-122"/>
                <a:cs typeface="Calibri" pitchFamily="34" charset="-120"/>
              </a:rPr>
              <a:t>12 · CAPSTONE PROJECT</a:t>
            </a:r>
            <a:endParaRPr lang="en-US" sz="1100" dirty="0"/>
          </a:p>
        </p:txBody>
      </p:sp>
      <p:sp>
        <p:nvSpPr>
          <p:cNvPr id="6" name="Text 3"/>
          <p:cNvSpPr txBox="1"/>
          <p:nvPr/>
        </p:nvSpPr>
        <p:spPr>
          <a:xfrm>
            <a:off x="548640" y="676656"/>
            <a:ext cx="9418320" cy="914400"/>
          </a:xfrm>
          <a:prstGeom prst="rect">
            <a:avLst/>
          </a:prstGeom>
          <a:noFill/>
          <a:ln/>
        </p:spPr>
        <p:txBody>
          <a:bodyPr wrap="square" lIns="0" tIns="0" rIns="0" bIns="0" rtlCol="0" anchor="t"/>
          <a:lstStyle/>
          <a:p>
            <a:pPr algn="l" indent="0" marL="0">
              <a:lnSpc>
                <a:spcPct val="90000"/>
              </a:lnSpc>
              <a:buNone/>
            </a:pPr>
            <a:r>
              <a:rPr lang="en-US" altLang="en-US" sz="2800" b="1" dirty="0">
                <a:solidFill>
                  <a:srgbClr val="1A1A1A"/>
                </a:solidFill>
                <a:latin typeface="Cairo" pitchFamily="34" charset="0"/>
                <a:ea typeface="Cairo" pitchFamily="34" charset="-122"/>
                <a:cs typeface="Cairo" pitchFamily="34" charset="-120"/>
              </a:rPr>
              <a:t>AI-Powered Mini Digital Agency</a:t>
            </a:r>
            <a:endParaRPr lang="en-US" sz="2800" dirty="0"/>
          </a:p>
        </p:txBody>
      </p:sp>
      <p:sp>
        <p:nvSpPr>
          <p:cNvPr id="7" name="Text 4"/>
          <p:cNvSpPr txBox="1"/>
          <p:nvPr/>
        </p:nvSpPr>
        <p:spPr>
          <a:xfrm>
            <a:off x="548640" y="1371600"/>
            <a:ext cx="9418320" cy="365760"/>
          </a:xfrm>
          <a:prstGeom prst="rect">
            <a:avLst/>
          </a:prstGeom>
          <a:noFill/>
          <a:ln/>
        </p:spPr>
        <p:txBody>
          <a:bodyPr wrap="square" lIns="0" tIns="0" rIns="0" bIns="0" rtlCol="0" anchor="t"/>
          <a:lstStyle/>
          <a:p>
            <a:pPr algn="l" indent="0" marL="0">
              <a:lnSpc>
                <a:spcPct val="95000"/>
              </a:lnSpc>
              <a:buNone/>
            </a:pPr>
            <a:r>
              <a:rPr lang="en-US" altLang="en-US" sz="1500" dirty="0">
                <a:solidFill>
                  <a:srgbClr val="3C3E3B"/>
                </a:solidFill>
                <a:latin typeface="Calibri" pitchFamily="34" charset="0"/>
                <a:ea typeface="Calibri" pitchFamily="34" charset="-122"/>
                <a:cs typeface="Calibri" pitchFamily="34" charset="-120"/>
              </a:rPr>
              <a:t>Teams of 3–4 choose a real or realistic client and deliver a complete campaign package.</a:t>
            </a:r>
            <a:endParaRPr lang="en-US" sz="1500" dirty="0"/>
          </a:p>
        </p:txBody>
      </p:sp>
      <p:sp>
        <p:nvSpPr>
          <p:cNvPr id="8" name="Shape 5"/>
          <p:cNvSpPr/>
          <p:nvPr/>
        </p:nvSpPr>
        <p:spPr>
          <a:xfrm>
            <a:off x="548640" y="1901952"/>
            <a:ext cx="1455725" cy="365760"/>
          </a:xfrm>
          <a:prstGeom prst="roundRect">
            <a:avLst>
              <a:gd name="adj" fmla="val 50000"/>
            </a:avLst>
          </a:prstGeom>
          <a:solidFill>
            <a:srgbClr val="F2F4F1"/>
          </a:solidFill>
          <a:ln w="9525">
            <a:solidFill>
              <a:srgbClr val="F2F4F1"/>
            </a:solidFill>
            <a:prstDash val="solid"/>
          </a:ln>
        </p:spPr>
      </p:sp>
      <p:sp>
        <p:nvSpPr>
          <p:cNvPr id="9" name="Text 6"/>
          <p:cNvSpPr txBox="1"/>
          <p:nvPr/>
        </p:nvSpPr>
        <p:spPr>
          <a:xfrm>
            <a:off x="658368" y="1901952"/>
            <a:ext cx="1236269" cy="365760"/>
          </a:xfrm>
          <a:prstGeom prst="rect">
            <a:avLst/>
          </a:prstGeom>
          <a:noFill/>
          <a:ln/>
        </p:spPr>
        <p:txBody>
          <a:bodyPr wrap="square" lIns="0" tIns="0" rIns="0" bIns="0" rtlCol="0" anchor="ctr"/>
          <a:lstStyle/>
          <a:p>
            <a:pPr algn="ctr" indent="0" marL="0">
              <a:lnSpc>
                <a:spcPct val="95000"/>
              </a:lnSpc>
              <a:buNone/>
            </a:pPr>
            <a:r>
              <a:rPr lang="en-US" altLang="en-US" sz="1200" dirty="0">
                <a:solidFill>
                  <a:srgbClr val="1A1A1A"/>
                </a:solidFill>
                <a:latin typeface="Calibri" pitchFamily="34" charset="0"/>
                <a:ea typeface="Calibri" pitchFamily="34" charset="-122"/>
                <a:cs typeface="Calibri" pitchFamily="34" charset="-120"/>
              </a:rPr>
              <a:t>Small business</a:t>
            </a:r>
            <a:endParaRPr lang="en-US" sz="1200" dirty="0"/>
          </a:p>
        </p:txBody>
      </p:sp>
      <p:sp>
        <p:nvSpPr>
          <p:cNvPr id="10" name="Shape 7"/>
          <p:cNvSpPr/>
          <p:nvPr/>
        </p:nvSpPr>
        <p:spPr>
          <a:xfrm>
            <a:off x="2114093" y="1901952"/>
            <a:ext cx="570586" cy="365760"/>
          </a:xfrm>
          <a:prstGeom prst="roundRect">
            <a:avLst>
              <a:gd name="adj" fmla="val 50000"/>
            </a:avLst>
          </a:prstGeom>
          <a:solidFill>
            <a:srgbClr val="F2F4F1"/>
          </a:solidFill>
          <a:ln w="9525">
            <a:solidFill>
              <a:srgbClr val="F2F4F1"/>
            </a:solidFill>
            <a:prstDash val="solid"/>
          </a:ln>
        </p:spPr>
      </p:sp>
      <p:sp>
        <p:nvSpPr>
          <p:cNvPr id="11" name="Text 8"/>
          <p:cNvSpPr txBox="1"/>
          <p:nvPr/>
        </p:nvSpPr>
        <p:spPr>
          <a:xfrm>
            <a:off x="2223821" y="1901952"/>
            <a:ext cx="351130" cy="365760"/>
          </a:xfrm>
          <a:prstGeom prst="rect">
            <a:avLst/>
          </a:prstGeom>
          <a:noFill/>
          <a:ln/>
        </p:spPr>
        <p:txBody>
          <a:bodyPr wrap="square" lIns="0" tIns="0" rIns="0" bIns="0" rtlCol="0" anchor="ctr"/>
          <a:lstStyle/>
          <a:p>
            <a:pPr algn="ctr" indent="0" marL="0">
              <a:lnSpc>
                <a:spcPct val="95000"/>
              </a:lnSpc>
              <a:buNone/>
            </a:pPr>
            <a:r>
              <a:rPr lang="en-US" altLang="en-US" sz="1200" dirty="0">
                <a:solidFill>
                  <a:srgbClr val="1A1A1A"/>
                </a:solidFill>
                <a:latin typeface="Calibri" pitchFamily="34" charset="0"/>
                <a:ea typeface="Calibri" pitchFamily="34" charset="-122"/>
                <a:cs typeface="Calibri" pitchFamily="34" charset="-120"/>
              </a:rPr>
              <a:t>NGO</a:t>
            </a:r>
            <a:endParaRPr lang="en-US" sz="1200" dirty="0"/>
          </a:p>
        </p:txBody>
      </p:sp>
      <p:sp>
        <p:nvSpPr>
          <p:cNvPr id="12" name="Shape 9"/>
          <p:cNvSpPr/>
          <p:nvPr/>
        </p:nvSpPr>
        <p:spPr>
          <a:xfrm>
            <a:off x="2794406" y="1901952"/>
            <a:ext cx="1938528" cy="365760"/>
          </a:xfrm>
          <a:prstGeom prst="roundRect">
            <a:avLst>
              <a:gd name="adj" fmla="val 50000"/>
            </a:avLst>
          </a:prstGeom>
          <a:solidFill>
            <a:srgbClr val="F2F4F1"/>
          </a:solidFill>
          <a:ln w="9525">
            <a:solidFill>
              <a:srgbClr val="F2F4F1"/>
            </a:solidFill>
            <a:prstDash val="solid"/>
          </a:ln>
        </p:spPr>
      </p:sp>
      <p:sp>
        <p:nvSpPr>
          <p:cNvPr id="13" name="Text 10"/>
          <p:cNvSpPr txBox="1"/>
          <p:nvPr/>
        </p:nvSpPr>
        <p:spPr>
          <a:xfrm>
            <a:off x="2904134" y="1901952"/>
            <a:ext cx="1719072" cy="365760"/>
          </a:xfrm>
          <a:prstGeom prst="rect">
            <a:avLst/>
          </a:prstGeom>
          <a:noFill/>
          <a:ln/>
        </p:spPr>
        <p:txBody>
          <a:bodyPr wrap="square" lIns="0" tIns="0" rIns="0" bIns="0" rtlCol="0" anchor="ctr"/>
          <a:lstStyle/>
          <a:p>
            <a:pPr algn="ctr" indent="0" marL="0">
              <a:lnSpc>
                <a:spcPct val="95000"/>
              </a:lnSpc>
              <a:buNone/>
            </a:pPr>
            <a:r>
              <a:rPr lang="en-US" altLang="en-US" sz="1200" dirty="0">
                <a:solidFill>
                  <a:srgbClr val="1A1A1A"/>
                </a:solidFill>
                <a:latin typeface="Calibri" pitchFamily="34" charset="0"/>
                <a:ea typeface="Calibri" pitchFamily="34" charset="-122"/>
                <a:cs typeface="Calibri" pitchFamily="34" charset="-120"/>
              </a:rPr>
              <a:t>Community initiative</a:t>
            </a:r>
            <a:endParaRPr lang="en-US" sz="1200" dirty="0"/>
          </a:p>
        </p:txBody>
      </p:sp>
      <p:sp>
        <p:nvSpPr>
          <p:cNvPr id="14" name="Shape 11"/>
          <p:cNvSpPr/>
          <p:nvPr/>
        </p:nvSpPr>
        <p:spPr>
          <a:xfrm>
            <a:off x="4842662" y="1901952"/>
            <a:ext cx="1133856" cy="365760"/>
          </a:xfrm>
          <a:prstGeom prst="roundRect">
            <a:avLst>
              <a:gd name="adj" fmla="val 50000"/>
            </a:avLst>
          </a:prstGeom>
          <a:solidFill>
            <a:srgbClr val="F2F4F1"/>
          </a:solidFill>
          <a:ln w="9525">
            <a:solidFill>
              <a:srgbClr val="F2F4F1"/>
            </a:solidFill>
            <a:prstDash val="solid"/>
          </a:ln>
        </p:spPr>
      </p:sp>
      <p:sp>
        <p:nvSpPr>
          <p:cNvPr id="15" name="Text 12"/>
          <p:cNvSpPr txBox="1"/>
          <p:nvPr/>
        </p:nvSpPr>
        <p:spPr>
          <a:xfrm>
            <a:off x="4952390" y="1901952"/>
            <a:ext cx="914400" cy="365760"/>
          </a:xfrm>
          <a:prstGeom prst="rect">
            <a:avLst/>
          </a:prstGeom>
          <a:noFill/>
          <a:ln/>
        </p:spPr>
        <p:txBody>
          <a:bodyPr wrap="square" lIns="0" tIns="0" rIns="0" bIns="0" rtlCol="0" anchor="ctr"/>
          <a:lstStyle/>
          <a:p>
            <a:pPr algn="ctr" indent="0" marL="0">
              <a:lnSpc>
                <a:spcPct val="95000"/>
              </a:lnSpc>
              <a:buNone/>
            </a:pPr>
            <a:r>
              <a:rPr lang="en-US" altLang="en-US" sz="1200" dirty="0">
                <a:solidFill>
                  <a:srgbClr val="1A1A1A"/>
                </a:solidFill>
                <a:latin typeface="Calibri" pitchFamily="34" charset="0"/>
                <a:ea typeface="Calibri" pitchFamily="34" charset="-122"/>
                <a:cs typeface="Calibri" pitchFamily="34" charset="-120"/>
              </a:rPr>
              <a:t>Local shop</a:t>
            </a:r>
            <a:endParaRPr lang="en-US" sz="1200" dirty="0"/>
          </a:p>
        </p:txBody>
      </p:sp>
      <p:sp>
        <p:nvSpPr>
          <p:cNvPr id="16" name="Shape 13"/>
          <p:cNvSpPr/>
          <p:nvPr/>
        </p:nvSpPr>
        <p:spPr>
          <a:xfrm>
            <a:off x="6086246" y="1901952"/>
            <a:ext cx="1133856" cy="365760"/>
          </a:xfrm>
          <a:prstGeom prst="roundRect">
            <a:avLst>
              <a:gd name="adj" fmla="val 50000"/>
            </a:avLst>
          </a:prstGeom>
          <a:solidFill>
            <a:srgbClr val="F2F4F1"/>
          </a:solidFill>
          <a:ln w="9525">
            <a:solidFill>
              <a:srgbClr val="F2F4F1"/>
            </a:solidFill>
            <a:prstDash val="solid"/>
          </a:ln>
        </p:spPr>
      </p:sp>
      <p:sp>
        <p:nvSpPr>
          <p:cNvPr id="17" name="Text 14"/>
          <p:cNvSpPr txBox="1"/>
          <p:nvPr/>
        </p:nvSpPr>
        <p:spPr>
          <a:xfrm>
            <a:off x="6195974" y="1901952"/>
            <a:ext cx="914400" cy="365760"/>
          </a:xfrm>
          <a:prstGeom prst="rect">
            <a:avLst/>
          </a:prstGeom>
          <a:noFill/>
          <a:ln/>
        </p:spPr>
        <p:txBody>
          <a:bodyPr wrap="square" lIns="0" tIns="0" rIns="0" bIns="0" rtlCol="0" anchor="ctr"/>
          <a:lstStyle/>
          <a:p>
            <a:pPr algn="ctr" indent="0" marL="0">
              <a:lnSpc>
                <a:spcPct val="95000"/>
              </a:lnSpc>
              <a:buNone/>
            </a:pPr>
            <a:r>
              <a:rPr lang="en-US" altLang="en-US" sz="1200" dirty="0">
                <a:solidFill>
                  <a:srgbClr val="1A1A1A"/>
                </a:solidFill>
                <a:latin typeface="Calibri" pitchFamily="34" charset="0"/>
                <a:ea typeface="Calibri" pitchFamily="34" charset="-122"/>
                <a:cs typeface="Calibri" pitchFamily="34" charset="-120"/>
              </a:rPr>
              <a:t>Restaurant</a:t>
            </a:r>
            <a:endParaRPr lang="en-US" sz="1200" dirty="0"/>
          </a:p>
        </p:txBody>
      </p:sp>
      <p:sp>
        <p:nvSpPr>
          <p:cNvPr id="18" name="Shape 15"/>
          <p:cNvSpPr/>
          <p:nvPr/>
        </p:nvSpPr>
        <p:spPr>
          <a:xfrm>
            <a:off x="7329830" y="1901952"/>
            <a:ext cx="1455725" cy="365760"/>
          </a:xfrm>
          <a:prstGeom prst="roundRect">
            <a:avLst>
              <a:gd name="adj" fmla="val 50000"/>
            </a:avLst>
          </a:prstGeom>
          <a:solidFill>
            <a:srgbClr val="F2F4F1"/>
          </a:solidFill>
          <a:ln w="9525">
            <a:solidFill>
              <a:srgbClr val="F2F4F1"/>
            </a:solidFill>
            <a:prstDash val="solid"/>
          </a:ln>
        </p:spPr>
      </p:sp>
      <p:sp>
        <p:nvSpPr>
          <p:cNvPr id="19" name="Text 16"/>
          <p:cNvSpPr txBox="1"/>
          <p:nvPr/>
        </p:nvSpPr>
        <p:spPr>
          <a:xfrm>
            <a:off x="7439558" y="1901952"/>
            <a:ext cx="1236269" cy="365760"/>
          </a:xfrm>
          <a:prstGeom prst="rect">
            <a:avLst/>
          </a:prstGeom>
          <a:noFill/>
          <a:ln/>
        </p:spPr>
        <p:txBody>
          <a:bodyPr wrap="square" lIns="0" tIns="0" rIns="0" bIns="0" rtlCol="0" anchor="ctr"/>
          <a:lstStyle/>
          <a:p>
            <a:pPr algn="ctr" indent="0" marL="0">
              <a:lnSpc>
                <a:spcPct val="95000"/>
              </a:lnSpc>
              <a:buNone/>
            </a:pPr>
            <a:r>
              <a:rPr lang="en-US" altLang="en-US" sz="1200" dirty="0">
                <a:solidFill>
                  <a:srgbClr val="1A1A1A"/>
                </a:solidFill>
                <a:latin typeface="Calibri" pitchFamily="34" charset="0"/>
                <a:ea typeface="Calibri" pitchFamily="34" charset="-122"/>
                <a:cs typeface="Calibri" pitchFamily="34" charset="-120"/>
              </a:rPr>
              <a:t>Personal brand</a:t>
            </a:r>
            <a:endParaRPr lang="en-US" sz="1200" dirty="0"/>
          </a:p>
        </p:txBody>
      </p:sp>
      <p:sp>
        <p:nvSpPr>
          <p:cNvPr id="20" name="Shape 17"/>
          <p:cNvSpPr/>
          <p:nvPr/>
        </p:nvSpPr>
        <p:spPr>
          <a:xfrm>
            <a:off x="8895283" y="1901952"/>
            <a:ext cx="1294790" cy="365760"/>
          </a:xfrm>
          <a:prstGeom prst="roundRect">
            <a:avLst>
              <a:gd name="adj" fmla="val 50000"/>
            </a:avLst>
          </a:prstGeom>
          <a:solidFill>
            <a:srgbClr val="F2F4F1"/>
          </a:solidFill>
          <a:ln w="9525">
            <a:solidFill>
              <a:srgbClr val="F2F4F1"/>
            </a:solidFill>
            <a:prstDash val="solid"/>
          </a:ln>
        </p:spPr>
      </p:sp>
      <p:sp>
        <p:nvSpPr>
          <p:cNvPr id="21" name="Text 18"/>
          <p:cNvSpPr txBox="1"/>
          <p:nvPr/>
        </p:nvSpPr>
        <p:spPr>
          <a:xfrm>
            <a:off x="9005011" y="1901952"/>
            <a:ext cx="1075334" cy="365760"/>
          </a:xfrm>
          <a:prstGeom prst="rect">
            <a:avLst/>
          </a:prstGeom>
          <a:noFill/>
          <a:ln/>
        </p:spPr>
        <p:txBody>
          <a:bodyPr wrap="square" lIns="0" tIns="0" rIns="0" bIns="0" rtlCol="0" anchor="ctr"/>
          <a:lstStyle/>
          <a:p>
            <a:pPr algn="ctr" indent="0" marL="0">
              <a:lnSpc>
                <a:spcPct val="95000"/>
              </a:lnSpc>
              <a:buNone/>
            </a:pPr>
            <a:r>
              <a:rPr lang="en-US" altLang="en-US" sz="1200" dirty="0">
                <a:solidFill>
                  <a:srgbClr val="1A1A1A"/>
                </a:solidFill>
                <a:latin typeface="Calibri" pitchFamily="34" charset="0"/>
                <a:ea typeface="Calibri" pitchFamily="34" charset="-122"/>
                <a:cs typeface="Calibri" pitchFamily="34" charset="-120"/>
              </a:rPr>
              <a:t>Social cause</a:t>
            </a:r>
            <a:endParaRPr lang="en-US" sz="1200" dirty="0"/>
          </a:p>
        </p:txBody>
      </p:sp>
      <p:sp>
        <p:nvSpPr>
          <p:cNvPr id="22" name="Shape 19"/>
          <p:cNvSpPr/>
          <p:nvPr/>
        </p:nvSpPr>
        <p:spPr>
          <a:xfrm>
            <a:off x="548640" y="2514600"/>
            <a:ext cx="2072579" cy="457200"/>
          </a:xfrm>
          <a:prstGeom prst="roundRect">
            <a:avLst>
              <a:gd name="adj" fmla="val 20000"/>
            </a:avLst>
          </a:prstGeom>
          <a:solidFill>
            <a:srgbClr val="000000"/>
          </a:solidFill>
          <a:ln w="12700">
            <a:solidFill>
              <a:srgbClr val="000000"/>
            </a:solidFill>
            <a:prstDash val="solid"/>
          </a:ln>
        </p:spPr>
      </p:sp>
      <p:sp>
        <p:nvSpPr>
          <p:cNvPr id="23" name="Text 20"/>
          <p:cNvSpPr txBox="1"/>
          <p:nvPr/>
        </p:nvSpPr>
        <p:spPr>
          <a:xfrm>
            <a:off x="685800" y="2514600"/>
            <a:ext cx="1798259" cy="45720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A6D04B"/>
                </a:solidFill>
                <a:latin typeface="Cairo" pitchFamily="34" charset="0"/>
                <a:ea typeface="Cairo" pitchFamily="34" charset="-122"/>
                <a:cs typeface="Cairo" pitchFamily="34" charset="-120"/>
              </a:rPr>
              <a:t>Discover</a:t>
            </a:r>
            <a:endParaRPr lang="en-US" sz="1500" dirty="0"/>
          </a:p>
        </p:txBody>
      </p:sp>
      <p:sp>
        <p:nvSpPr>
          <p:cNvPr id="24" name="Shape 21"/>
          <p:cNvSpPr/>
          <p:nvPr/>
        </p:nvSpPr>
        <p:spPr>
          <a:xfrm>
            <a:off x="548640" y="3063240"/>
            <a:ext cx="2072579" cy="2743200"/>
          </a:xfrm>
          <a:prstGeom prst="roundRect">
            <a:avLst>
              <a:gd name="adj" fmla="val 4412"/>
            </a:avLst>
          </a:prstGeom>
          <a:solidFill>
            <a:srgbClr val="F2F4F1"/>
          </a:solidFill>
          <a:ln w="12700">
            <a:solidFill>
              <a:srgbClr val="F2F4F1"/>
            </a:solidFill>
            <a:prstDash val="solid"/>
          </a:ln>
        </p:spPr>
      </p:sp>
      <p:sp>
        <p:nvSpPr>
          <p:cNvPr id="25" name="Shape 22"/>
          <p:cNvSpPr/>
          <p:nvPr/>
        </p:nvSpPr>
        <p:spPr>
          <a:xfrm>
            <a:off x="658368" y="3209544"/>
            <a:ext cx="246888" cy="246888"/>
          </a:xfrm>
          <a:prstGeom prst="ellipse">
            <a:avLst/>
          </a:prstGeom>
          <a:solidFill>
            <a:srgbClr val="4DB449"/>
          </a:solidFill>
          <a:ln w="6350">
            <a:solidFill>
              <a:srgbClr val="4DB449"/>
            </a:solidFill>
            <a:prstDash val="solid"/>
          </a:ln>
        </p:spPr>
      </p:sp>
      <p:sp>
        <p:nvSpPr>
          <p:cNvPr id="26" name="Text 23"/>
          <p:cNvSpPr txBox="1"/>
          <p:nvPr/>
        </p:nvSpPr>
        <p:spPr>
          <a:xfrm>
            <a:off x="658368" y="3209544"/>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1</a:t>
            </a:r>
            <a:endParaRPr lang="en-US" sz="900" dirty="0"/>
          </a:p>
        </p:txBody>
      </p:sp>
      <p:sp>
        <p:nvSpPr>
          <p:cNvPr id="27" name="Text 24"/>
          <p:cNvSpPr txBox="1"/>
          <p:nvPr/>
        </p:nvSpPr>
        <p:spPr>
          <a:xfrm>
            <a:off x="978408" y="3172968"/>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Research</a:t>
            </a:r>
            <a:endParaRPr lang="en-US" sz="1250" dirty="0"/>
          </a:p>
        </p:txBody>
      </p:sp>
      <p:sp>
        <p:nvSpPr>
          <p:cNvPr id="28" name="Shape 25"/>
          <p:cNvSpPr/>
          <p:nvPr/>
        </p:nvSpPr>
        <p:spPr>
          <a:xfrm>
            <a:off x="658368" y="3534156"/>
            <a:ext cx="246888" cy="246888"/>
          </a:xfrm>
          <a:prstGeom prst="ellipse">
            <a:avLst/>
          </a:prstGeom>
          <a:solidFill>
            <a:srgbClr val="4DB449"/>
          </a:solidFill>
          <a:ln w="6350">
            <a:solidFill>
              <a:srgbClr val="4DB449"/>
            </a:solidFill>
            <a:prstDash val="solid"/>
          </a:ln>
        </p:spPr>
      </p:sp>
      <p:sp>
        <p:nvSpPr>
          <p:cNvPr id="29" name="Text 26"/>
          <p:cNvSpPr txBox="1"/>
          <p:nvPr/>
        </p:nvSpPr>
        <p:spPr>
          <a:xfrm>
            <a:off x="658368" y="3534156"/>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2</a:t>
            </a:r>
            <a:endParaRPr lang="en-US" sz="900" dirty="0"/>
          </a:p>
        </p:txBody>
      </p:sp>
      <p:sp>
        <p:nvSpPr>
          <p:cNvPr id="30" name="Text 27"/>
          <p:cNvSpPr txBox="1"/>
          <p:nvPr/>
        </p:nvSpPr>
        <p:spPr>
          <a:xfrm>
            <a:off x="978408" y="3497580"/>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Client brief</a:t>
            </a:r>
            <a:endParaRPr lang="en-US" sz="1250" dirty="0"/>
          </a:p>
        </p:txBody>
      </p:sp>
      <p:sp>
        <p:nvSpPr>
          <p:cNvPr id="31" name="Shape 28"/>
          <p:cNvSpPr/>
          <p:nvPr/>
        </p:nvSpPr>
        <p:spPr>
          <a:xfrm>
            <a:off x="658368" y="3858768"/>
            <a:ext cx="246888" cy="246888"/>
          </a:xfrm>
          <a:prstGeom prst="ellipse">
            <a:avLst/>
          </a:prstGeom>
          <a:solidFill>
            <a:srgbClr val="4DB449"/>
          </a:solidFill>
          <a:ln w="6350">
            <a:solidFill>
              <a:srgbClr val="4DB449"/>
            </a:solidFill>
            <a:prstDash val="solid"/>
          </a:ln>
        </p:spPr>
      </p:sp>
      <p:sp>
        <p:nvSpPr>
          <p:cNvPr id="32" name="Text 29"/>
          <p:cNvSpPr txBox="1"/>
          <p:nvPr/>
        </p:nvSpPr>
        <p:spPr>
          <a:xfrm>
            <a:off x="658368" y="3858768"/>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3</a:t>
            </a:r>
            <a:endParaRPr lang="en-US" sz="900" dirty="0"/>
          </a:p>
        </p:txBody>
      </p:sp>
      <p:sp>
        <p:nvSpPr>
          <p:cNvPr id="33" name="Text 30"/>
          <p:cNvSpPr txBox="1"/>
          <p:nvPr/>
        </p:nvSpPr>
        <p:spPr>
          <a:xfrm>
            <a:off x="978408" y="3822192"/>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Audience persona</a:t>
            </a:r>
            <a:endParaRPr lang="en-US" sz="1250" dirty="0"/>
          </a:p>
        </p:txBody>
      </p:sp>
      <p:sp>
        <p:nvSpPr>
          <p:cNvPr id="34" name="Shape 31"/>
          <p:cNvSpPr/>
          <p:nvPr/>
        </p:nvSpPr>
        <p:spPr>
          <a:xfrm>
            <a:off x="658368" y="4183380"/>
            <a:ext cx="246888" cy="246888"/>
          </a:xfrm>
          <a:prstGeom prst="ellipse">
            <a:avLst/>
          </a:prstGeom>
          <a:solidFill>
            <a:srgbClr val="4DB449"/>
          </a:solidFill>
          <a:ln w="6350">
            <a:solidFill>
              <a:srgbClr val="4DB449"/>
            </a:solidFill>
            <a:prstDash val="solid"/>
          </a:ln>
        </p:spPr>
      </p:sp>
      <p:sp>
        <p:nvSpPr>
          <p:cNvPr id="35" name="Text 32"/>
          <p:cNvSpPr txBox="1"/>
          <p:nvPr/>
        </p:nvSpPr>
        <p:spPr>
          <a:xfrm>
            <a:off x="658368" y="4183380"/>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4</a:t>
            </a:r>
            <a:endParaRPr lang="en-US" sz="900" dirty="0"/>
          </a:p>
        </p:txBody>
      </p:sp>
      <p:sp>
        <p:nvSpPr>
          <p:cNvPr id="36" name="Text 33"/>
          <p:cNvSpPr txBox="1"/>
          <p:nvPr/>
        </p:nvSpPr>
        <p:spPr>
          <a:xfrm>
            <a:off x="978408" y="4146804"/>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Marketing objective</a:t>
            </a:r>
            <a:endParaRPr lang="en-US" sz="1250" dirty="0"/>
          </a:p>
        </p:txBody>
      </p:sp>
      <p:sp>
        <p:nvSpPr>
          <p:cNvPr id="37" name="Shape 34"/>
          <p:cNvSpPr/>
          <p:nvPr/>
        </p:nvSpPr>
        <p:spPr>
          <a:xfrm>
            <a:off x="2804099" y="2514600"/>
            <a:ext cx="2072579" cy="457200"/>
          </a:xfrm>
          <a:prstGeom prst="roundRect">
            <a:avLst>
              <a:gd name="adj" fmla="val 20000"/>
            </a:avLst>
          </a:prstGeom>
          <a:solidFill>
            <a:srgbClr val="000000"/>
          </a:solidFill>
          <a:ln w="12700">
            <a:solidFill>
              <a:srgbClr val="000000"/>
            </a:solidFill>
            <a:prstDash val="solid"/>
          </a:ln>
        </p:spPr>
      </p:sp>
      <p:sp>
        <p:nvSpPr>
          <p:cNvPr id="38" name="Text 35"/>
          <p:cNvSpPr txBox="1"/>
          <p:nvPr/>
        </p:nvSpPr>
        <p:spPr>
          <a:xfrm>
            <a:off x="2941259" y="2514600"/>
            <a:ext cx="1798259" cy="45720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A6D04B"/>
                </a:solidFill>
                <a:latin typeface="Cairo" pitchFamily="34" charset="0"/>
                <a:ea typeface="Cairo" pitchFamily="34" charset="-122"/>
                <a:cs typeface="Cairo" pitchFamily="34" charset="-120"/>
              </a:rPr>
              <a:t>Plan</a:t>
            </a:r>
            <a:endParaRPr lang="en-US" sz="1500" dirty="0"/>
          </a:p>
        </p:txBody>
      </p:sp>
      <p:sp>
        <p:nvSpPr>
          <p:cNvPr id="39" name="Shape 36"/>
          <p:cNvSpPr/>
          <p:nvPr/>
        </p:nvSpPr>
        <p:spPr>
          <a:xfrm>
            <a:off x="2804099" y="3063240"/>
            <a:ext cx="2072579" cy="2743200"/>
          </a:xfrm>
          <a:prstGeom prst="roundRect">
            <a:avLst>
              <a:gd name="adj" fmla="val 4412"/>
            </a:avLst>
          </a:prstGeom>
          <a:solidFill>
            <a:srgbClr val="F2F4F1"/>
          </a:solidFill>
          <a:ln w="12700">
            <a:solidFill>
              <a:srgbClr val="F2F4F1"/>
            </a:solidFill>
            <a:prstDash val="solid"/>
          </a:ln>
        </p:spPr>
      </p:sp>
      <p:sp>
        <p:nvSpPr>
          <p:cNvPr id="40" name="Shape 37"/>
          <p:cNvSpPr/>
          <p:nvPr/>
        </p:nvSpPr>
        <p:spPr>
          <a:xfrm>
            <a:off x="2913827" y="3209544"/>
            <a:ext cx="246888" cy="246888"/>
          </a:xfrm>
          <a:prstGeom prst="ellipse">
            <a:avLst/>
          </a:prstGeom>
          <a:solidFill>
            <a:srgbClr val="A6D04B"/>
          </a:solidFill>
          <a:ln w="6350">
            <a:solidFill>
              <a:srgbClr val="A6D04B"/>
            </a:solidFill>
            <a:prstDash val="solid"/>
          </a:ln>
        </p:spPr>
      </p:sp>
      <p:sp>
        <p:nvSpPr>
          <p:cNvPr id="41" name="Text 38"/>
          <p:cNvSpPr txBox="1"/>
          <p:nvPr/>
        </p:nvSpPr>
        <p:spPr>
          <a:xfrm>
            <a:off x="2913827" y="3209544"/>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5</a:t>
            </a:r>
            <a:endParaRPr lang="en-US" sz="900" dirty="0"/>
          </a:p>
        </p:txBody>
      </p:sp>
      <p:sp>
        <p:nvSpPr>
          <p:cNvPr id="42" name="Text 39"/>
          <p:cNvSpPr txBox="1"/>
          <p:nvPr/>
        </p:nvSpPr>
        <p:spPr>
          <a:xfrm>
            <a:off x="3233867" y="3172968"/>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Content strategy</a:t>
            </a:r>
            <a:endParaRPr lang="en-US" sz="1250" dirty="0"/>
          </a:p>
        </p:txBody>
      </p:sp>
      <p:sp>
        <p:nvSpPr>
          <p:cNvPr id="43" name="Shape 40"/>
          <p:cNvSpPr/>
          <p:nvPr/>
        </p:nvSpPr>
        <p:spPr>
          <a:xfrm>
            <a:off x="2913827" y="3534156"/>
            <a:ext cx="246888" cy="246888"/>
          </a:xfrm>
          <a:prstGeom prst="ellipse">
            <a:avLst/>
          </a:prstGeom>
          <a:solidFill>
            <a:srgbClr val="A6D04B"/>
          </a:solidFill>
          <a:ln w="6350">
            <a:solidFill>
              <a:srgbClr val="A6D04B"/>
            </a:solidFill>
            <a:prstDash val="solid"/>
          </a:ln>
        </p:spPr>
      </p:sp>
      <p:sp>
        <p:nvSpPr>
          <p:cNvPr id="44" name="Text 41"/>
          <p:cNvSpPr txBox="1"/>
          <p:nvPr/>
        </p:nvSpPr>
        <p:spPr>
          <a:xfrm>
            <a:off x="2913827" y="3534156"/>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6</a:t>
            </a:r>
            <a:endParaRPr lang="en-US" sz="900" dirty="0"/>
          </a:p>
        </p:txBody>
      </p:sp>
      <p:sp>
        <p:nvSpPr>
          <p:cNvPr id="45" name="Text 42"/>
          <p:cNvSpPr txBox="1"/>
          <p:nvPr/>
        </p:nvSpPr>
        <p:spPr>
          <a:xfrm>
            <a:off x="3233867" y="3497580"/>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Content calendar</a:t>
            </a:r>
            <a:endParaRPr lang="en-US" sz="1250" dirty="0"/>
          </a:p>
        </p:txBody>
      </p:sp>
      <p:sp>
        <p:nvSpPr>
          <p:cNvPr id="46" name="Shape 43"/>
          <p:cNvSpPr/>
          <p:nvPr/>
        </p:nvSpPr>
        <p:spPr>
          <a:xfrm>
            <a:off x="2913827" y="3858768"/>
            <a:ext cx="246888" cy="246888"/>
          </a:xfrm>
          <a:prstGeom prst="ellipse">
            <a:avLst/>
          </a:prstGeom>
          <a:solidFill>
            <a:srgbClr val="A6D04B"/>
          </a:solidFill>
          <a:ln w="6350">
            <a:solidFill>
              <a:srgbClr val="A6D04B"/>
            </a:solidFill>
            <a:prstDash val="solid"/>
          </a:ln>
        </p:spPr>
      </p:sp>
      <p:sp>
        <p:nvSpPr>
          <p:cNvPr id="47" name="Text 44"/>
          <p:cNvSpPr txBox="1"/>
          <p:nvPr/>
        </p:nvSpPr>
        <p:spPr>
          <a:xfrm>
            <a:off x="2913827" y="3858768"/>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7</a:t>
            </a:r>
            <a:endParaRPr lang="en-US" sz="900" dirty="0"/>
          </a:p>
        </p:txBody>
      </p:sp>
      <p:sp>
        <p:nvSpPr>
          <p:cNvPr id="48" name="Text 45"/>
          <p:cNvSpPr txBox="1"/>
          <p:nvPr/>
        </p:nvSpPr>
        <p:spPr>
          <a:xfrm>
            <a:off x="3233867" y="3822192"/>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Marketing campaign</a:t>
            </a:r>
            <a:endParaRPr lang="en-US" sz="1250" dirty="0"/>
          </a:p>
        </p:txBody>
      </p:sp>
      <p:sp>
        <p:nvSpPr>
          <p:cNvPr id="49" name="Shape 46"/>
          <p:cNvSpPr/>
          <p:nvPr/>
        </p:nvSpPr>
        <p:spPr>
          <a:xfrm>
            <a:off x="5059558" y="2514600"/>
            <a:ext cx="2072579" cy="457200"/>
          </a:xfrm>
          <a:prstGeom prst="roundRect">
            <a:avLst>
              <a:gd name="adj" fmla="val 20000"/>
            </a:avLst>
          </a:prstGeom>
          <a:solidFill>
            <a:srgbClr val="000000"/>
          </a:solidFill>
          <a:ln w="12700">
            <a:solidFill>
              <a:srgbClr val="000000"/>
            </a:solidFill>
            <a:prstDash val="solid"/>
          </a:ln>
        </p:spPr>
      </p:sp>
      <p:sp>
        <p:nvSpPr>
          <p:cNvPr id="50" name="Text 47"/>
          <p:cNvSpPr txBox="1"/>
          <p:nvPr/>
        </p:nvSpPr>
        <p:spPr>
          <a:xfrm>
            <a:off x="5196718" y="2514600"/>
            <a:ext cx="1798259" cy="45720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A6D04B"/>
                </a:solidFill>
                <a:latin typeface="Cairo" pitchFamily="34" charset="0"/>
                <a:ea typeface="Cairo" pitchFamily="34" charset="-122"/>
                <a:cs typeface="Cairo" pitchFamily="34" charset="-120"/>
              </a:rPr>
              <a:t>Create</a:t>
            </a:r>
            <a:endParaRPr lang="en-US" sz="1500" dirty="0"/>
          </a:p>
        </p:txBody>
      </p:sp>
      <p:sp>
        <p:nvSpPr>
          <p:cNvPr id="51" name="Shape 48"/>
          <p:cNvSpPr/>
          <p:nvPr/>
        </p:nvSpPr>
        <p:spPr>
          <a:xfrm>
            <a:off x="5059558" y="3063240"/>
            <a:ext cx="2072579" cy="2743200"/>
          </a:xfrm>
          <a:prstGeom prst="roundRect">
            <a:avLst>
              <a:gd name="adj" fmla="val 4412"/>
            </a:avLst>
          </a:prstGeom>
          <a:solidFill>
            <a:srgbClr val="F2F4F1"/>
          </a:solidFill>
          <a:ln w="12700">
            <a:solidFill>
              <a:srgbClr val="F2F4F1"/>
            </a:solidFill>
            <a:prstDash val="solid"/>
          </a:ln>
        </p:spPr>
      </p:sp>
      <p:sp>
        <p:nvSpPr>
          <p:cNvPr id="52" name="Shape 49"/>
          <p:cNvSpPr/>
          <p:nvPr/>
        </p:nvSpPr>
        <p:spPr>
          <a:xfrm>
            <a:off x="5169286" y="3209544"/>
            <a:ext cx="246888" cy="246888"/>
          </a:xfrm>
          <a:prstGeom prst="ellipse">
            <a:avLst/>
          </a:prstGeom>
          <a:solidFill>
            <a:srgbClr val="4DB449"/>
          </a:solidFill>
          <a:ln w="6350">
            <a:solidFill>
              <a:srgbClr val="4DB449"/>
            </a:solidFill>
            <a:prstDash val="solid"/>
          </a:ln>
        </p:spPr>
      </p:sp>
      <p:sp>
        <p:nvSpPr>
          <p:cNvPr id="53" name="Text 50"/>
          <p:cNvSpPr txBox="1"/>
          <p:nvPr/>
        </p:nvSpPr>
        <p:spPr>
          <a:xfrm>
            <a:off x="5169286" y="3209544"/>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8</a:t>
            </a:r>
            <a:endParaRPr lang="en-US" sz="900" dirty="0"/>
          </a:p>
        </p:txBody>
      </p:sp>
      <p:sp>
        <p:nvSpPr>
          <p:cNvPr id="54" name="Text 51"/>
          <p:cNvSpPr txBox="1"/>
          <p:nvPr/>
        </p:nvSpPr>
        <p:spPr>
          <a:xfrm>
            <a:off x="5489326" y="3172968"/>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AI character</a:t>
            </a:r>
            <a:endParaRPr lang="en-US" sz="1250" dirty="0"/>
          </a:p>
        </p:txBody>
      </p:sp>
      <p:sp>
        <p:nvSpPr>
          <p:cNvPr id="55" name="Shape 52"/>
          <p:cNvSpPr/>
          <p:nvPr/>
        </p:nvSpPr>
        <p:spPr>
          <a:xfrm>
            <a:off x="5169286" y="3534156"/>
            <a:ext cx="246888" cy="246888"/>
          </a:xfrm>
          <a:prstGeom prst="ellipse">
            <a:avLst/>
          </a:prstGeom>
          <a:solidFill>
            <a:srgbClr val="4DB449"/>
          </a:solidFill>
          <a:ln w="6350">
            <a:solidFill>
              <a:srgbClr val="4DB449"/>
            </a:solidFill>
            <a:prstDash val="solid"/>
          </a:ln>
        </p:spPr>
      </p:sp>
      <p:sp>
        <p:nvSpPr>
          <p:cNvPr id="56" name="Text 53"/>
          <p:cNvSpPr txBox="1"/>
          <p:nvPr/>
        </p:nvSpPr>
        <p:spPr>
          <a:xfrm>
            <a:off x="5169286" y="3534156"/>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9</a:t>
            </a:r>
            <a:endParaRPr lang="en-US" sz="900" dirty="0"/>
          </a:p>
        </p:txBody>
      </p:sp>
      <p:sp>
        <p:nvSpPr>
          <p:cNvPr id="57" name="Text 54"/>
          <p:cNvSpPr txBox="1"/>
          <p:nvPr/>
        </p:nvSpPr>
        <p:spPr>
          <a:xfrm>
            <a:off x="5489326" y="3497580"/>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Voice profile</a:t>
            </a:r>
            <a:endParaRPr lang="en-US" sz="1250" dirty="0"/>
          </a:p>
        </p:txBody>
      </p:sp>
      <p:sp>
        <p:nvSpPr>
          <p:cNvPr id="58" name="Shape 55"/>
          <p:cNvSpPr/>
          <p:nvPr/>
        </p:nvSpPr>
        <p:spPr>
          <a:xfrm>
            <a:off x="5169286" y="3858768"/>
            <a:ext cx="246888" cy="246888"/>
          </a:xfrm>
          <a:prstGeom prst="ellipse">
            <a:avLst/>
          </a:prstGeom>
          <a:solidFill>
            <a:srgbClr val="4DB449"/>
          </a:solidFill>
          <a:ln w="6350">
            <a:solidFill>
              <a:srgbClr val="4DB449"/>
            </a:solidFill>
            <a:prstDash val="solid"/>
          </a:ln>
        </p:spPr>
      </p:sp>
      <p:sp>
        <p:nvSpPr>
          <p:cNvPr id="59" name="Text 56"/>
          <p:cNvSpPr txBox="1"/>
          <p:nvPr/>
        </p:nvSpPr>
        <p:spPr>
          <a:xfrm>
            <a:off x="5169286" y="3858768"/>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10</a:t>
            </a:r>
            <a:endParaRPr lang="en-US" sz="900" dirty="0"/>
          </a:p>
        </p:txBody>
      </p:sp>
      <p:sp>
        <p:nvSpPr>
          <p:cNvPr id="60" name="Text 57"/>
          <p:cNvSpPr txBox="1"/>
          <p:nvPr/>
        </p:nvSpPr>
        <p:spPr>
          <a:xfrm>
            <a:off x="5489326" y="3822192"/>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Visual assets</a:t>
            </a:r>
            <a:endParaRPr lang="en-US" sz="1250" dirty="0"/>
          </a:p>
        </p:txBody>
      </p:sp>
      <p:sp>
        <p:nvSpPr>
          <p:cNvPr id="61" name="Shape 58"/>
          <p:cNvSpPr/>
          <p:nvPr/>
        </p:nvSpPr>
        <p:spPr>
          <a:xfrm>
            <a:off x="5169286" y="4183380"/>
            <a:ext cx="246888" cy="246888"/>
          </a:xfrm>
          <a:prstGeom prst="ellipse">
            <a:avLst/>
          </a:prstGeom>
          <a:solidFill>
            <a:srgbClr val="4DB449"/>
          </a:solidFill>
          <a:ln w="6350">
            <a:solidFill>
              <a:srgbClr val="4DB449"/>
            </a:solidFill>
            <a:prstDash val="solid"/>
          </a:ln>
        </p:spPr>
      </p:sp>
      <p:sp>
        <p:nvSpPr>
          <p:cNvPr id="62" name="Text 59"/>
          <p:cNvSpPr txBox="1"/>
          <p:nvPr/>
        </p:nvSpPr>
        <p:spPr>
          <a:xfrm>
            <a:off x="5169286" y="4183380"/>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11</a:t>
            </a:r>
            <a:endParaRPr lang="en-US" sz="900" dirty="0"/>
          </a:p>
        </p:txBody>
      </p:sp>
      <p:sp>
        <p:nvSpPr>
          <p:cNvPr id="63" name="Text 60"/>
          <p:cNvSpPr txBox="1"/>
          <p:nvPr/>
        </p:nvSpPr>
        <p:spPr>
          <a:xfrm>
            <a:off x="5489326" y="4146804"/>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Video scripts</a:t>
            </a:r>
            <a:endParaRPr lang="en-US" sz="1250" dirty="0"/>
          </a:p>
        </p:txBody>
      </p:sp>
      <p:sp>
        <p:nvSpPr>
          <p:cNvPr id="64" name="Shape 61"/>
          <p:cNvSpPr/>
          <p:nvPr/>
        </p:nvSpPr>
        <p:spPr>
          <a:xfrm>
            <a:off x="5169286" y="4507992"/>
            <a:ext cx="246888" cy="246888"/>
          </a:xfrm>
          <a:prstGeom prst="ellipse">
            <a:avLst/>
          </a:prstGeom>
          <a:solidFill>
            <a:srgbClr val="4DB449"/>
          </a:solidFill>
          <a:ln w="6350">
            <a:solidFill>
              <a:srgbClr val="4DB449"/>
            </a:solidFill>
            <a:prstDash val="solid"/>
          </a:ln>
        </p:spPr>
      </p:sp>
      <p:sp>
        <p:nvSpPr>
          <p:cNvPr id="65" name="Text 62"/>
          <p:cNvSpPr txBox="1"/>
          <p:nvPr/>
        </p:nvSpPr>
        <p:spPr>
          <a:xfrm>
            <a:off x="5169286" y="4507992"/>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12</a:t>
            </a:r>
            <a:endParaRPr lang="en-US" sz="900" dirty="0"/>
          </a:p>
        </p:txBody>
      </p:sp>
      <p:sp>
        <p:nvSpPr>
          <p:cNvPr id="66" name="Text 63"/>
          <p:cNvSpPr txBox="1"/>
          <p:nvPr/>
        </p:nvSpPr>
        <p:spPr>
          <a:xfrm>
            <a:off x="5489326" y="4471416"/>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Storyboard</a:t>
            </a:r>
            <a:endParaRPr lang="en-US" sz="1250" dirty="0"/>
          </a:p>
        </p:txBody>
      </p:sp>
      <p:sp>
        <p:nvSpPr>
          <p:cNvPr id="67" name="Shape 64"/>
          <p:cNvSpPr/>
          <p:nvPr/>
        </p:nvSpPr>
        <p:spPr>
          <a:xfrm>
            <a:off x="5169286" y="4832604"/>
            <a:ext cx="246888" cy="246888"/>
          </a:xfrm>
          <a:prstGeom prst="ellipse">
            <a:avLst/>
          </a:prstGeom>
          <a:solidFill>
            <a:srgbClr val="4DB449"/>
          </a:solidFill>
          <a:ln w="6350">
            <a:solidFill>
              <a:srgbClr val="4DB449"/>
            </a:solidFill>
            <a:prstDash val="solid"/>
          </a:ln>
        </p:spPr>
      </p:sp>
      <p:sp>
        <p:nvSpPr>
          <p:cNvPr id="68" name="Text 65"/>
          <p:cNvSpPr txBox="1"/>
          <p:nvPr/>
        </p:nvSpPr>
        <p:spPr>
          <a:xfrm>
            <a:off x="5169286" y="4832604"/>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13</a:t>
            </a:r>
            <a:endParaRPr lang="en-US" sz="900" dirty="0"/>
          </a:p>
        </p:txBody>
      </p:sp>
      <p:sp>
        <p:nvSpPr>
          <p:cNvPr id="69" name="Text 66"/>
          <p:cNvSpPr txBox="1"/>
          <p:nvPr/>
        </p:nvSpPr>
        <p:spPr>
          <a:xfrm>
            <a:off x="5489326" y="4796028"/>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AI video</a:t>
            </a:r>
            <a:endParaRPr lang="en-US" sz="1250" dirty="0"/>
          </a:p>
        </p:txBody>
      </p:sp>
      <p:sp>
        <p:nvSpPr>
          <p:cNvPr id="70" name="Shape 67"/>
          <p:cNvSpPr/>
          <p:nvPr/>
        </p:nvSpPr>
        <p:spPr>
          <a:xfrm>
            <a:off x="5169286" y="5157216"/>
            <a:ext cx="246888" cy="246888"/>
          </a:xfrm>
          <a:prstGeom prst="ellipse">
            <a:avLst/>
          </a:prstGeom>
          <a:solidFill>
            <a:srgbClr val="4DB449"/>
          </a:solidFill>
          <a:ln w="6350">
            <a:solidFill>
              <a:srgbClr val="4DB449"/>
            </a:solidFill>
            <a:prstDash val="solid"/>
          </a:ln>
        </p:spPr>
      </p:sp>
      <p:sp>
        <p:nvSpPr>
          <p:cNvPr id="71" name="Text 68"/>
          <p:cNvSpPr txBox="1"/>
          <p:nvPr/>
        </p:nvSpPr>
        <p:spPr>
          <a:xfrm>
            <a:off x="5169286" y="5157216"/>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14</a:t>
            </a:r>
            <a:endParaRPr lang="en-US" sz="900" dirty="0"/>
          </a:p>
        </p:txBody>
      </p:sp>
      <p:sp>
        <p:nvSpPr>
          <p:cNvPr id="72" name="Text 69"/>
          <p:cNvSpPr txBox="1"/>
          <p:nvPr/>
        </p:nvSpPr>
        <p:spPr>
          <a:xfrm>
            <a:off x="5489326" y="5120640"/>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Edited final video</a:t>
            </a:r>
            <a:endParaRPr lang="en-US" sz="1250" dirty="0"/>
          </a:p>
        </p:txBody>
      </p:sp>
      <p:sp>
        <p:nvSpPr>
          <p:cNvPr id="73" name="Shape 70"/>
          <p:cNvSpPr/>
          <p:nvPr/>
        </p:nvSpPr>
        <p:spPr>
          <a:xfrm>
            <a:off x="5169286" y="5481828"/>
            <a:ext cx="246888" cy="246888"/>
          </a:xfrm>
          <a:prstGeom prst="ellipse">
            <a:avLst/>
          </a:prstGeom>
          <a:solidFill>
            <a:srgbClr val="4DB449"/>
          </a:solidFill>
          <a:ln w="6350">
            <a:solidFill>
              <a:srgbClr val="4DB449"/>
            </a:solidFill>
            <a:prstDash val="solid"/>
          </a:ln>
        </p:spPr>
      </p:sp>
      <p:sp>
        <p:nvSpPr>
          <p:cNvPr id="74" name="Text 71"/>
          <p:cNvSpPr txBox="1"/>
          <p:nvPr/>
        </p:nvSpPr>
        <p:spPr>
          <a:xfrm>
            <a:off x="5169286" y="5481828"/>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15</a:t>
            </a:r>
            <a:endParaRPr lang="en-US" sz="900" dirty="0"/>
          </a:p>
        </p:txBody>
      </p:sp>
      <p:sp>
        <p:nvSpPr>
          <p:cNvPr id="75" name="Text 72"/>
          <p:cNvSpPr txBox="1"/>
          <p:nvPr/>
        </p:nvSpPr>
        <p:spPr>
          <a:xfrm>
            <a:off x="5489326" y="5445252"/>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Social posts</a:t>
            </a:r>
            <a:endParaRPr lang="en-US" sz="1250" dirty="0"/>
          </a:p>
        </p:txBody>
      </p:sp>
      <p:sp>
        <p:nvSpPr>
          <p:cNvPr id="76" name="Shape 73"/>
          <p:cNvSpPr/>
          <p:nvPr/>
        </p:nvSpPr>
        <p:spPr>
          <a:xfrm>
            <a:off x="7315017" y="2514600"/>
            <a:ext cx="2072579" cy="457200"/>
          </a:xfrm>
          <a:prstGeom prst="roundRect">
            <a:avLst>
              <a:gd name="adj" fmla="val 20000"/>
            </a:avLst>
          </a:prstGeom>
          <a:solidFill>
            <a:srgbClr val="000000"/>
          </a:solidFill>
          <a:ln w="12700">
            <a:solidFill>
              <a:srgbClr val="000000"/>
            </a:solidFill>
            <a:prstDash val="solid"/>
          </a:ln>
        </p:spPr>
      </p:sp>
      <p:sp>
        <p:nvSpPr>
          <p:cNvPr id="77" name="Text 74"/>
          <p:cNvSpPr txBox="1"/>
          <p:nvPr/>
        </p:nvSpPr>
        <p:spPr>
          <a:xfrm>
            <a:off x="7452177" y="2514600"/>
            <a:ext cx="1798259" cy="45720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A6D04B"/>
                </a:solidFill>
                <a:latin typeface="Cairo" pitchFamily="34" charset="0"/>
                <a:ea typeface="Cairo" pitchFamily="34" charset="-122"/>
                <a:cs typeface="Cairo" pitchFamily="34" charset="-120"/>
              </a:rPr>
              <a:t>Automate &amp; launch</a:t>
            </a:r>
            <a:endParaRPr lang="en-US" sz="1500" dirty="0"/>
          </a:p>
        </p:txBody>
      </p:sp>
      <p:sp>
        <p:nvSpPr>
          <p:cNvPr id="78" name="Shape 75"/>
          <p:cNvSpPr/>
          <p:nvPr/>
        </p:nvSpPr>
        <p:spPr>
          <a:xfrm>
            <a:off x="7315017" y="3063240"/>
            <a:ext cx="2072579" cy="2743200"/>
          </a:xfrm>
          <a:prstGeom prst="roundRect">
            <a:avLst>
              <a:gd name="adj" fmla="val 4412"/>
            </a:avLst>
          </a:prstGeom>
          <a:solidFill>
            <a:srgbClr val="F2F4F1"/>
          </a:solidFill>
          <a:ln w="12700">
            <a:solidFill>
              <a:srgbClr val="F2F4F1"/>
            </a:solidFill>
            <a:prstDash val="solid"/>
          </a:ln>
        </p:spPr>
      </p:sp>
      <p:sp>
        <p:nvSpPr>
          <p:cNvPr id="79" name="Shape 76"/>
          <p:cNvSpPr/>
          <p:nvPr/>
        </p:nvSpPr>
        <p:spPr>
          <a:xfrm>
            <a:off x="7424745" y="3209544"/>
            <a:ext cx="246888" cy="246888"/>
          </a:xfrm>
          <a:prstGeom prst="ellipse">
            <a:avLst/>
          </a:prstGeom>
          <a:solidFill>
            <a:srgbClr val="A6D04B"/>
          </a:solidFill>
          <a:ln w="6350">
            <a:solidFill>
              <a:srgbClr val="A6D04B"/>
            </a:solidFill>
            <a:prstDash val="solid"/>
          </a:ln>
        </p:spPr>
      </p:sp>
      <p:sp>
        <p:nvSpPr>
          <p:cNvPr id="80" name="Text 77"/>
          <p:cNvSpPr txBox="1"/>
          <p:nvPr/>
        </p:nvSpPr>
        <p:spPr>
          <a:xfrm>
            <a:off x="7424745" y="3209544"/>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16</a:t>
            </a:r>
            <a:endParaRPr lang="en-US" sz="900" dirty="0"/>
          </a:p>
        </p:txBody>
      </p:sp>
      <p:sp>
        <p:nvSpPr>
          <p:cNvPr id="81" name="Text 78"/>
          <p:cNvSpPr txBox="1"/>
          <p:nvPr/>
        </p:nvSpPr>
        <p:spPr>
          <a:xfrm>
            <a:off x="7744785" y="3172968"/>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n8n automation</a:t>
            </a:r>
            <a:endParaRPr lang="en-US" sz="1250" dirty="0"/>
          </a:p>
        </p:txBody>
      </p:sp>
      <p:sp>
        <p:nvSpPr>
          <p:cNvPr id="82" name="Shape 79"/>
          <p:cNvSpPr/>
          <p:nvPr/>
        </p:nvSpPr>
        <p:spPr>
          <a:xfrm>
            <a:off x="7424745" y="3534156"/>
            <a:ext cx="246888" cy="246888"/>
          </a:xfrm>
          <a:prstGeom prst="ellipse">
            <a:avLst/>
          </a:prstGeom>
          <a:solidFill>
            <a:srgbClr val="A6D04B"/>
          </a:solidFill>
          <a:ln w="6350">
            <a:solidFill>
              <a:srgbClr val="A6D04B"/>
            </a:solidFill>
            <a:prstDash val="solid"/>
          </a:ln>
        </p:spPr>
      </p:sp>
      <p:sp>
        <p:nvSpPr>
          <p:cNvPr id="83" name="Text 80"/>
          <p:cNvSpPr txBox="1"/>
          <p:nvPr/>
        </p:nvSpPr>
        <p:spPr>
          <a:xfrm>
            <a:off x="7424745" y="3534156"/>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17</a:t>
            </a:r>
            <a:endParaRPr lang="en-US" sz="900" dirty="0"/>
          </a:p>
        </p:txBody>
      </p:sp>
      <p:sp>
        <p:nvSpPr>
          <p:cNvPr id="84" name="Text 81"/>
          <p:cNvSpPr txBox="1"/>
          <p:nvPr/>
        </p:nvSpPr>
        <p:spPr>
          <a:xfrm>
            <a:off x="7744785" y="3497580"/>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Landing page</a:t>
            </a:r>
            <a:endParaRPr lang="en-US" sz="1250" dirty="0"/>
          </a:p>
        </p:txBody>
      </p:sp>
      <p:sp>
        <p:nvSpPr>
          <p:cNvPr id="85" name="Shape 82"/>
          <p:cNvSpPr/>
          <p:nvPr/>
        </p:nvSpPr>
        <p:spPr>
          <a:xfrm>
            <a:off x="9570476" y="2514600"/>
            <a:ext cx="2072579" cy="457200"/>
          </a:xfrm>
          <a:prstGeom prst="roundRect">
            <a:avLst>
              <a:gd name="adj" fmla="val 20000"/>
            </a:avLst>
          </a:prstGeom>
          <a:solidFill>
            <a:srgbClr val="000000"/>
          </a:solidFill>
          <a:ln w="12700">
            <a:solidFill>
              <a:srgbClr val="000000"/>
            </a:solidFill>
            <a:prstDash val="solid"/>
          </a:ln>
        </p:spPr>
      </p:sp>
      <p:sp>
        <p:nvSpPr>
          <p:cNvPr id="86" name="Text 83"/>
          <p:cNvSpPr txBox="1"/>
          <p:nvPr/>
        </p:nvSpPr>
        <p:spPr>
          <a:xfrm>
            <a:off x="9707636" y="2514600"/>
            <a:ext cx="1798259" cy="457200"/>
          </a:xfrm>
          <a:prstGeom prst="rect">
            <a:avLst/>
          </a:prstGeom>
          <a:noFill/>
          <a:ln/>
        </p:spPr>
        <p:txBody>
          <a:bodyPr wrap="square" lIns="0" tIns="0" rIns="0" bIns="0" rtlCol="0" anchor="ctr"/>
          <a:lstStyle/>
          <a:p>
            <a:pPr algn="ctr" indent="0" marL="0">
              <a:lnSpc>
                <a:spcPct val="95000"/>
              </a:lnSpc>
              <a:buNone/>
            </a:pPr>
            <a:r>
              <a:rPr lang="en-US" altLang="en-US" sz="1500" b="1" dirty="0">
                <a:solidFill>
                  <a:srgbClr val="A6D04B"/>
                </a:solidFill>
                <a:latin typeface="Cairo" pitchFamily="34" charset="0"/>
                <a:ea typeface="Cairo" pitchFamily="34" charset="-122"/>
                <a:cs typeface="Cairo" pitchFamily="34" charset="-120"/>
              </a:rPr>
              <a:t>Present</a:t>
            </a:r>
            <a:endParaRPr lang="en-US" sz="1500" dirty="0"/>
          </a:p>
        </p:txBody>
      </p:sp>
      <p:sp>
        <p:nvSpPr>
          <p:cNvPr id="87" name="Shape 84"/>
          <p:cNvSpPr/>
          <p:nvPr/>
        </p:nvSpPr>
        <p:spPr>
          <a:xfrm>
            <a:off x="9570476" y="3063240"/>
            <a:ext cx="2072579" cy="2743200"/>
          </a:xfrm>
          <a:prstGeom prst="roundRect">
            <a:avLst>
              <a:gd name="adj" fmla="val 4412"/>
            </a:avLst>
          </a:prstGeom>
          <a:solidFill>
            <a:srgbClr val="F2F4F1"/>
          </a:solidFill>
          <a:ln w="12700">
            <a:solidFill>
              <a:srgbClr val="F2F4F1"/>
            </a:solidFill>
            <a:prstDash val="solid"/>
          </a:ln>
        </p:spPr>
      </p:sp>
      <p:sp>
        <p:nvSpPr>
          <p:cNvPr id="88" name="Shape 85"/>
          <p:cNvSpPr/>
          <p:nvPr/>
        </p:nvSpPr>
        <p:spPr>
          <a:xfrm>
            <a:off x="9680204" y="3209544"/>
            <a:ext cx="246888" cy="246888"/>
          </a:xfrm>
          <a:prstGeom prst="ellipse">
            <a:avLst/>
          </a:prstGeom>
          <a:solidFill>
            <a:srgbClr val="4DB449"/>
          </a:solidFill>
          <a:ln w="6350">
            <a:solidFill>
              <a:srgbClr val="4DB449"/>
            </a:solidFill>
            <a:prstDash val="solid"/>
          </a:ln>
        </p:spPr>
      </p:sp>
      <p:sp>
        <p:nvSpPr>
          <p:cNvPr id="89" name="Text 86"/>
          <p:cNvSpPr txBox="1"/>
          <p:nvPr/>
        </p:nvSpPr>
        <p:spPr>
          <a:xfrm>
            <a:off x="9680204" y="3209544"/>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18</a:t>
            </a:r>
            <a:endParaRPr lang="en-US" sz="900" dirty="0"/>
          </a:p>
        </p:txBody>
      </p:sp>
      <p:sp>
        <p:nvSpPr>
          <p:cNvPr id="90" name="Text 87"/>
          <p:cNvSpPr txBox="1"/>
          <p:nvPr/>
        </p:nvSpPr>
        <p:spPr>
          <a:xfrm>
            <a:off x="10000244" y="3172968"/>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Portfolio case study</a:t>
            </a:r>
            <a:endParaRPr lang="en-US" sz="1250" dirty="0"/>
          </a:p>
        </p:txBody>
      </p:sp>
      <p:sp>
        <p:nvSpPr>
          <p:cNvPr id="91" name="Shape 88"/>
          <p:cNvSpPr/>
          <p:nvPr/>
        </p:nvSpPr>
        <p:spPr>
          <a:xfrm>
            <a:off x="9680204" y="3534156"/>
            <a:ext cx="246888" cy="246888"/>
          </a:xfrm>
          <a:prstGeom prst="ellipse">
            <a:avLst/>
          </a:prstGeom>
          <a:solidFill>
            <a:srgbClr val="4DB449"/>
          </a:solidFill>
          <a:ln w="6350">
            <a:solidFill>
              <a:srgbClr val="4DB449"/>
            </a:solidFill>
            <a:prstDash val="solid"/>
          </a:ln>
        </p:spPr>
      </p:sp>
      <p:sp>
        <p:nvSpPr>
          <p:cNvPr id="92" name="Text 89"/>
          <p:cNvSpPr txBox="1"/>
          <p:nvPr/>
        </p:nvSpPr>
        <p:spPr>
          <a:xfrm>
            <a:off x="9680204" y="3534156"/>
            <a:ext cx="246888" cy="246888"/>
          </a:xfrm>
          <a:prstGeom prst="rect">
            <a:avLst/>
          </a:prstGeom>
          <a:noFill/>
          <a:ln/>
        </p:spPr>
        <p:txBody>
          <a:bodyPr wrap="square" lIns="0" tIns="0" rIns="0" bIns="0" rtlCol="0" anchor="ctr"/>
          <a:lstStyle/>
          <a:p>
            <a:pPr algn="ctr" indent="0" marL="0">
              <a:lnSpc>
                <a:spcPct val="95000"/>
              </a:lnSpc>
              <a:buNone/>
            </a:pPr>
            <a:r>
              <a:rPr lang="en-US" altLang="en-US" sz="900" b="1" dirty="0">
                <a:solidFill>
                  <a:srgbClr val="000000"/>
                </a:solidFill>
                <a:latin typeface="Calibri" pitchFamily="34" charset="0"/>
                <a:ea typeface="Calibri" pitchFamily="34" charset="-122"/>
                <a:cs typeface="Calibri" pitchFamily="34" charset="-120"/>
              </a:rPr>
              <a:t>19</a:t>
            </a:r>
            <a:endParaRPr lang="en-US" sz="900" dirty="0"/>
          </a:p>
        </p:txBody>
      </p:sp>
      <p:sp>
        <p:nvSpPr>
          <p:cNvPr id="93" name="Text 90"/>
          <p:cNvSpPr txBox="1"/>
          <p:nvPr/>
        </p:nvSpPr>
        <p:spPr>
          <a:xfrm>
            <a:off x="10000244" y="3497580"/>
            <a:ext cx="1569659" cy="320040"/>
          </a:xfrm>
          <a:prstGeom prst="rect">
            <a:avLst/>
          </a:prstGeom>
          <a:noFill/>
          <a:ln/>
        </p:spPr>
        <p:txBody>
          <a:bodyPr wrap="square" lIns="0" tIns="0" rIns="0" bIns="0" rtlCol="0" anchor="ctr"/>
          <a:lstStyle/>
          <a:p>
            <a:pPr algn="l" indent="0" marL="0">
              <a:lnSpc>
                <a:spcPct val="95000"/>
              </a:lnSpc>
              <a:buNone/>
            </a:pPr>
            <a:r>
              <a:rPr lang="en-US" altLang="en-US" sz="1250" dirty="0">
                <a:solidFill>
                  <a:srgbClr val="1A1A1A"/>
                </a:solidFill>
                <a:latin typeface="Calibri" pitchFamily="34" charset="0"/>
                <a:ea typeface="Calibri" pitchFamily="34" charset="-122"/>
                <a:cs typeface="Calibri" pitchFamily="34" charset="-120"/>
              </a:rPr>
              <a:t>Final presentation</a:t>
            </a:r>
            <a:endParaRPr lang="en-US" sz="1250" dirty="0"/>
          </a:p>
        </p:txBody>
      </p:sp>
      <p:pic>
        <p:nvPicPr>
          <p:cNvPr id="94" name="Image 1" descr="preencoded.png">    </p:cNvPr>
          <p:cNvPicPr>
            <a:picLocks noChangeAspect="1"/>
          </p:cNvPicPr>
          <p:nvPr/>
        </p:nvPicPr>
        <p:blipFill>
          <a:blip r:embed="rId2"/>
          <a:stretch>
            <a:fillRect/>
          </a:stretch>
        </p:blipFill>
        <p:spPr>
          <a:xfrm>
            <a:off x="548640" y="5916168"/>
            <a:ext cx="329184" cy="329184"/>
          </a:xfrm>
          <a:prstGeom prst="rect">
            <a:avLst/>
          </a:prstGeom>
        </p:spPr>
      </p:pic>
      <p:sp>
        <p:nvSpPr>
          <p:cNvPr id="95" name="Text 91"/>
          <p:cNvSpPr txBox="1"/>
          <p:nvPr/>
        </p:nvSpPr>
        <p:spPr>
          <a:xfrm>
            <a:off x="1005840" y="5897880"/>
            <a:ext cx="10515600" cy="365760"/>
          </a:xfrm>
          <a:prstGeom prst="rect">
            <a:avLst/>
          </a:prstGeom>
          <a:noFill/>
          <a:ln/>
        </p:spPr>
        <p:txBody>
          <a:bodyPr wrap="square" lIns="0" tIns="0" rIns="0" bIns="0" rtlCol="0" anchor="ctr"/>
          <a:lstStyle/>
          <a:p>
            <a:pPr algn="l" indent="0" marL="0">
              <a:lnSpc>
                <a:spcPct val="95000"/>
              </a:lnSpc>
              <a:buNone/>
            </a:pPr>
            <a:r>
              <a:rPr lang="en-US" altLang="en-US" sz="1300" b="1" dirty="0">
                <a:solidFill>
                  <a:srgbClr val="3C3E3B"/>
                </a:solidFill>
                <a:latin typeface="Calibri" pitchFamily="34" charset="0"/>
                <a:ea typeface="Calibri" pitchFamily="34" charset="-122"/>
                <a:cs typeface="Calibri" pitchFamily="34" charset="-120"/>
              </a:rPr>
              <a:t>Team roles rotate: Strategist · Content lead · Visual &amp; video lead · Automation lead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10356554" y="384048"/>
            <a:ext cx="1286501" cy="457200"/>
          </a:xfrm>
          <a:prstGeom prst="rect">
            <a:avLst/>
          </a:prstGeom>
        </p:spPr>
      </p:pic>
      <p:sp>
        <p:nvSpPr>
          <p:cNvPr id="3" name="Text 0"/>
          <p:cNvSpPr txBox="1"/>
          <p:nvPr/>
        </p:nvSpPr>
        <p:spPr>
          <a:xfrm>
            <a:off x="548640" y="6446520"/>
            <a:ext cx="6400800" cy="228600"/>
          </a:xfrm>
          <a:prstGeom prst="rect">
            <a:avLst/>
          </a:prstGeom>
          <a:noFill/>
          <a:ln/>
        </p:spPr>
        <p:txBody>
          <a:bodyPr wrap="square" lIns="0" tIns="0" rIns="0" bIns="0" rtlCol="0" anchor="t"/>
          <a:lstStyle/>
          <a:p>
            <a:pPr algn="l"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AI Creators Program · Training Concept Note</a:t>
            </a:r>
            <a:endParaRPr lang="en-US" sz="900" dirty="0"/>
          </a:p>
        </p:txBody>
      </p:sp>
      <p:sp>
        <p:nvSpPr>
          <p:cNvPr id="4" name="Text 1"/>
          <p:cNvSpPr txBox="1"/>
          <p:nvPr/>
        </p:nvSpPr>
        <p:spPr>
          <a:xfrm>
            <a:off x="11094415" y="6446520"/>
            <a:ext cx="548640" cy="228600"/>
          </a:xfrm>
          <a:prstGeom prst="rect">
            <a:avLst/>
          </a:prstGeom>
          <a:noFill/>
          <a:ln/>
        </p:spPr>
        <p:txBody>
          <a:bodyPr wrap="square" lIns="0" tIns="0" rIns="0" bIns="0" rtlCol="0" anchor="t"/>
          <a:lstStyle/>
          <a:p>
            <a:pPr algn="r"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14</a:t>
            </a:r>
            <a:endParaRPr lang="en-US" sz="900" dirty="0"/>
          </a:p>
        </p:txBody>
      </p:sp>
      <p:sp>
        <p:nvSpPr>
          <p:cNvPr id="5" name="Text 2"/>
          <p:cNvSpPr txBox="1"/>
          <p:nvPr/>
        </p:nvSpPr>
        <p:spPr>
          <a:xfrm>
            <a:off x="548640" y="384048"/>
            <a:ext cx="8961120" cy="274320"/>
          </a:xfrm>
          <a:prstGeom prst="rect">
            <a:avLst/>
          </a:prstGeom>
          <a:noFill/>
          <a:ln/>
        </p:spPr>
        <p:txBody>
          <a:bodyPr wrap="square" lIns="0" tIns="0" rIns="0" bIns="0" rtlCol="0" anchor="t"/>
          <a:lstStyle/>
          <a:p>
            <a:pPr algn="l" indent="0" marL="0">
              <a:lnSpc>
                <a:spcPct val="95000"/>
              </a:lnSpc>
              <a:buNone/>
            </a:pPr>
            <a:r>
              <a:rPr lang="en-US" altLang="en-US" sz="1100" b="1" spc="200" kern="0" dirty="0">
                <a:solidFill>
                  <a:srgbClr val="727274"/>
                </a:solidFill>
                <a:latin typeface="Calibri" pitchFamily="34" charset="0"/>
                <a:ea typeface="Calibri" pitchFamily="34" charset="-122"/>
                <a:cs typeface="Calibri" pitchFamily="34" charset="-120"/>
              </a:rPr>
              <a:t>13 · WHAT EACH STUDENT LEAVES WITH</a:t>
            </a:r>
            <a:endParaRPr lang="en-US" sz="1100" dirty="0"/>
          </a:p>
        </p:txBody>
      </p:sp>
      <p:sp>
        <p:nvSpPr>
          <p:cNvPr id="6" name="Text 3"/>
          <p:cNvSpPr txBox="1"/>
          <p:nvPr/>
        </p:nvSpPr>
        <p:spPr>
          <a:xfrm>
            <a:off x="548640" y="676656"/>
            <a:ext cx="9418320" cy="914400"/>
          </a:xfrm>
          <a:prstGeom prst="rect">
            <a:avLst/>
          </a:prstGeom>
          <a:noFill/>
          <a:ln/>
        </p:spPr>
        <p:txBody>
          <a:bodyPr wrap="square" lIns="0" tIns="0" rIns="0" bIns="0" rtlCol="0" anchor="t"/>
          <a:lstStyle/>
          <a:p>
            <a:pPr algn="l" indent="0" marL="0">
              <a:lnSpc>
                <a:spcPct val="90000"/>
              </a:lnSpc>
              <a:buNone/>
            </a:pPr>
            <a:r>
              <a:rPr lang="en-US" altLang="en-US" sz="2800" b="1" dirty="0">
                <a:solidFill>
                  <a:srgbClr val="1A1A1A"/>
                </a:solidFill>
                <a:latin typeface="Cairo" pitchFamily="34" charset="0"/>
                <a:ea typeface="Cairo" pitchFamily="34" charset="-122"/>
                <a:cs typeface="Cairo" pitchFamily="34" charset="-120"/>
              </a:rPr>
              <a:t>A portfolio of eight pieces of real work</a:t>
            </a:r>
            <a:endParaRPr lang="en-US" sz="2800" dirty="0"/>
          </a:p>
        </p:txBody>
      </p:sp>
      <p:sp>
        <p:nvSpPr>
          <p:cNvPr id="7" name="Shape 4"/>
          <p:cNvSpPr/>
          <p:nvPr/>
        </p:nvSpPr>
        <p:spPr>
          <a:xfrm>
            <a:off x="548640" y="1783080"/>
            <a:ext cx="2602154" cy="1965960"/>
          </a:xfrm>
          <a:prstGeom prst="roundRect">
            <a:avLst>
              <a:gd name="adj" fmla="val 5581"/>
            </a:avLst>
          </a:prstGeom>
          <a:solidFill>
            <a:srgbClr val="EAF5E8"/>
          </a:solidFill>
          <a:ln w="12700">
            <a:solidFill>
              <a:srgbClr val="EAF5E8"/>
            </a:solidFill>
            <a:prstDash val="solid"/>
          </a:ln>
        </p:spPr>
      </p:sp>
      <p:sp>
        <p:nvSpPr>
          <p:cNvPr id="8" name="Shape 5"/>
          <p:cNvSpPr/>
          <p:nvPr/>
        </p:nvSpPr>
        <p:spPr>
          <a:xfrm>
            <a:off x="822960" y="2057400"/>
            <a:ext cx="640080" cy="640080"/>
          </a:xfrm>
          <a:prstGeom prst="ellipse">
            <a:avLst/>
          </a:prstGeom>
          <a:solidFill>
            <a:srgbClr val="4DB449"/>
          </a:solidFill>
          <a:ln w="6350">
            <a:solidFill>
              <a:srgbClr val="4DB449"/>
            </a:solidFill>
            <a:prstDash val="solid"/>
          </a:ln>
        </p:spPr>
      </p:sp>
      <p:pic>
        <p:nvPicPr>
          <p:cNvPr id="9" name="Image 1" descr="preencoded.png">    </p:cNvPr>
          <p:cNvPicPr>
            <a:picLocks noChangeAspect="1"/>
          </p:cNvPicPr>
          <p:nvPr/>
        </p:nvPicPr>
        <p:blipFill>
          <a:blip r:embed="rId2"/>
          <a:stretch>
            <a:fillRect/>
          </a:stretch>
        </p:blipFill>
        <p:spPr>
          <a:xfrm>
            <a:off x="978408" y="2212848"/>
            <a:ext cx="329184" cy="329184"/>
          </a:xfrm>
          <a:prstGeom prst="rect">
            <a:avLst/>
          </a:prstGeom>
        </p:spPr>
      </p:pic>
      <p:sp>
        <p:nvSpPr>
          <p:cNvPr id="10" name="Text 6"/>
          <p:cNvSpPr txBox="1"/>
          <p:nvPr/>
        </p:nvSpPr>
        <p:spPr>
          <a:xfrm>
            <a:off x="2327834" y="2103120"/>
            <a:ext cx="548640" cy="365760"/>
          </a:xfrm>
          <a:prstGeom prst="rect">
            <a:avLst/>
          </a:prstGeom>
          <a:noFill/>
          <a:ln/>
        </p:spPr>
        <p:txBody>
          <a:bodyPr wrap="square" lIns="0" tIns="0" rIns="0" bIns="0" rtlCol="0" anchor="t"/>
          <a:lstStyle/>
          <a:p>
            <a:pPr algn="r" indent="0" marL="0">
              <a:lnSpc>
                <a:spcPct val="95000"/>
              </a:lnSpc>
              <a:buNone/>
            </a:pPr>
            <a:r>
              <a:rPr lang="en-US" altLang="en-US" sz="1400" b="1" dirty="0">
                <a:solidFill>
                  <a:srgbClr val="727274"/>
                </a:solidFill>
                <a:latin typeface="Calibri" pitchFamily="34" charset="0"/>
                <a:ea typeface="Calibri" pitchFamily="34" charset="-122"/>
                <a:cs typeface="Calibri" pitchFamily="34" charset="-120"/>
              </a:rPr>
              <a:t>01</a:t>
            </a:r>
            <a:endParaRPr lang="en-US" sz="1400" dirty="0"/>
          </a:p>
        </p:txBody>
      </p:sp>
      <p:sp>
        <p:nvSpPr>
          <p:cNvPr id="11" name="Text 7"/>
          <p:cNvSpPr txBox="1"/>
          <p:nvPr/>
        </p:nvSpPr>
        <p:spPr>
          <a:xfrm>
            <a:off x="822960" y="2807208"/>
            <a:ext cx="2053514" cy="384048"/>
          </a:xfrm>
          <a:prstGeom prst="rect">
            <a:avLst/>
          </a:prstGeom>
          <a:noFill/>
          <a:ln/>
        </p:spPr>
        <p:txBody>
          <a:bodyPr wrap="square" lIns="0" tIns="0" rIns="0" bIns="0" rtlCol="0" anchor="t"/>
          <a:lstStyle/>
          <a:p>
            <a:pPr algn="l" indent="0" marL="0">
              <a:lnSpc>
                <a:spcPct val="95000"/>
              </a:lnSpc>
              <a:buNone/>
            </a:pPr>
            <a:r>
              <a:rPr lang="en-US" altLang="en-US" sz="1700" b="1" dirty="0">
                <a:solidFill>
                  <a:srgbClr val="1A1A1A"/>
                </a:solidFill>
                <a:latin typeface="Cairo" pitchFamily="34" charset="0"/>
                <a:ea typeface="Cairo" pitchFamily="34" charset="-122"/>
                <a:cs typeface="Cairo" pitchFamily="34" charset="-120"/>
              </a:rPr>
              <a:t>Prompt library</a:t>
            </a:r>
            <a:endParaRPr lang="en-US" sz="1700" dirty="0"/>
          </a:p>
        </p:txBody>
      </p:sp>
      <p:sp>
        <p:nvSpPr>
          <p:cNvPr id="12" name="Text 8"/>
          <p:cNvSpPr txBox="1"/>
          <p:nvPr/>
        </p:nvSpPr>
        <p:spPr>
          <a:xfrm>
            <a:off x="822960" y="3172968"/>
            <a:ext cx="2053514" cy="502920"/>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10+ tested prompts and a context pack</a:t>
            </a:r>
            <a:endParaRPr lang="en-US" sz="1300" dirty="0"/>
          </a:p>
        </p:txBody>
      </p:sp>
      <p:sp>
        <p:nvSpPr>
          <p:cNvPr id="13" name="Shape 9"/>
          <p:cNvSpPr/>
          <p:nvPr/>
        </p:nvSpPr>
        <p:spPr>
          <a:xfrm>
            <a:off x="3379394" y="1783080"/>
            <a:ext cx="2602154" cy="1965960"/>
          </a:xfrm>
          <a:prstGeom prst="roundRect">
            <a:avLst>
              <a:gd name="adj" fmla="val 5581"/>
            </a:avLst>
          </a:prstGeom>
          <a:solidFill>
            <a:srgbClr val="EAF5E8"/>
          </a:solidFill>
          <a:ln w="12700">
            <a:solidFill>
              <a:srgbClr val="EAF5E8"/>
            </a:solidFill>
            <a:prstDash val="solid"/>
          </a:ln>
        </p:spPr>
      </p:sp>
      <p:sp>
        <p:nvSpPr>
          <p:cNvPr id="14" name="Shape 10"/>
          <p:cNvSpPr/>
          <p:nvPr/>
        </p:nvSpPr>
        <p:spPr>
          <a:xfrm>
            <a:off x="3653714" y="2057400"/>
            <a:ext cx="640080" cy="640080"/>
          </a:xfrm>
          <a:prstGeom prst="ellipse">
            <a:avLst/>
          </a:prstGeom>
          <a:solidFill>
            <a:srgbClr val="4DB449"/>
          </a:solidFill>
          <a:ln w="6350">
            <a:solidFill>
              <a:srgbClr val="4DB449"/>
            </a:solidFill>
            <a:prstDash val="solid"/>
          </a:ln>
        </p:spPr>
      </p:sp>
      <p:pic>
        <p:nvPicPr>
          <p:cNvPr id="15" name="Image 2" descr="preencoded.png">    </p:cNvPr>
          <p:cNvPicPr>
            <a:picLocks noChangeAspect="1"/>
          </p:cNvPicPr>
          <p:nvPr/>
        </p:nvPicPr>
        <p:blipFill>
          <a:blip r:embed="rId3"/>
          <a:stretch>
            <a:fillRect/>
          </a:stretch>
        </p:blipFill>
        <p:spPr>
          <a:xfrm>
            <a:off x="3809162" y="2212848"/>
            <a:ext cx="329184" cy="329184"/>
          </a:xfrm>
          <a:prstGeom prst="rect">
            <a:avLst/>
          </a:prstGeom>
        </p:spPr>
      </p:pic>
      <p:sp>
        <p:nvSpPr>
          <p:cNvPr id="16" name="Text 11"/>
          <p:cNvSpPr txBox="1"/>
          <p:nvPr/>
        </p:nvSpPr>
        <p:spPr>
          <a:xfrm>
            <a:off x="5158588" y="2103120"/>
            <a:ext cx="548640" cy="365760"/>
          </a:xfrm>
          <a:prstGeom prst="rect">
            <a:avLst/>
          </a:prstGeom>
          <a:noFill/>
          <a:ln/>
        </p:spPr>
        <p:txBody>
          <a:bodyPr wrap="square" lIns="0" tIns="0" rIns="0" bIns="0" rtlCol="0" anchor="t"/>
          <a:lstStyle/>
          <a:p>
            <a:pPr algn="r" indent="0" marL="0">
              <a:lnSpc>
                <a:spcPct val="95000"/>
              </a:lnSpc>
              <a:buNone/>
            </a:pPr>
            <a:r>
              <a:rPr lang="en-US" altLang="en-US" sz="1400" b="1" dirty="0">
                <a:solidFill>
                  <a:srgbClr val="727274"/>
                </a:solidFill>
                <a:latin typeface="Calibri" pitchFamily="34" charset="0"/>
                <a:ea typeface="Calibri" pitchFamily="34" charset="-122"/>
                <a:cs typeface="Calibri" pitchFamily="34" charset="-120"/>
              </a:rPr>
              <a:t>02</a:t>
            </a:r>
            <a:endParaRPr lang="en-US" sz="1400" dirty="0"/>
          </a:p>
        </p:txBody>
      </p:sp>
      <p:sp>
        <p:nvSpPr>
          <p:cNvPr id="17" name="Text 12"/>
          <p:cNvSpPr txBox="1"/>
          <p:nvPr/>
        </p:nvSpPr>
        <p:spPr>
          <a:xfrm>
            <a:off x="3653714" y="2807208"/>
            <a:ext cx="2053514" cy="384048"/>
          </a:xfrm>
          <a:prstGeom prst="rect">
            <a:avLst/>
          </a:prstGeom>
          <a:noFill/>
          <a:ln/>
        </p:spPr>
        <p:txBody>
          <a:bodyPr wrap="square" lIns="0" tIns="0" rIns="0" bIns="0" rtlCol="0" anchor="t"/>
          <a:lstStyle/>
          <a:p>
            <a:pPr algn="l" indent="0" marL="0">
              <a:lnSpc>
                <a:spcPct val="95000"/>
              </a:lnSpc>
              <a:buNone/>
            </a:pPr>
            <a:r>
              <a:rPr lang="en-US" altLang="en-US" sz="1700" b="1" dirty="0">
                <a:solidFill>
                  <a:srgbClr val="1A1A1A"/>
                </a:solidFill>
                <a:latin typeface="Cairo" pitchFamily="34" charset="0"/>
                <a:ea typeface="Cairo" pitchFamily="34" charset="-122"/>
                <a:cs typeface="Cairo" pitchFamily="34" charset="-120"/>
              </a:rPr>
              <a:t>Creative brief</a:t>
            </a:r>
            <a:endParaRPr lang="en-US" sz="1700" dirty="0"/>
          </a:p>
        </p:txBody>
      </p:sp>
      <p:sp>
        <p:nvSpPr>
          <p:cNvPr id="18" name="Text 13"/>
          <p:cNvSpPr txBox="1"/>
          <p:nvPr/>
        </p:nvSpPr>
        <p:spPr>
          <a:xfrm>
            <a:off x="3653714" y="3172968"/>
            <a:ext cx="2053514" cy="502920"/>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A one-page brief from a client interview</a:t>
            </a:r>
            <a:endParaRPr lang="en-US" sz="1300" dirty="0"/>
          </a:p>
        </p:txBody>
      </p:sp>
      <p:sp>
        <p:nvSpPr>
          <p:cNvPr id="19" name="Shape 14"/>
          <p:cNvSpPr/>
          <p:nvPr/>
        </p:nvSpPr>
        <p:spPr>
          <a:xfrm>
            <a:off x="6210148" y="1783080"/>
            <a:ext cx="2602154" cy="1965960"/>
          </a:xfrm>
          <a:prstGeom prst="roundRect">
            <a:avLst>
              <a:gd name="adj" fmla="val 5581"/>
            </a:avLst>
          </a:prstGeom>
          <a:solidFill>
            <a:srgbClr val="EAF5E8"/>
          </a:solidFill>
          <a:ln w="12700">
            <a:solidFill>
              <a:srgbClr val="EAF5E8"/>
            </a:solidFill>
            <a:prstDash val="solid"/>
          </a:ln>
        </p:spPr>
      </p:sp>
      <p:sp>
        <p:nvSpPr>
          <p:cNvPr id="20" name="Shape 15"/>
          <p:cNvSpPr/>
          <p:nvPr/>
        </p:nvSpPr>
        <p:spPr>
          <a:xfrm>
            <a:off x="6484468" y="2057400"/>
            <a:ext cx="640080" cy="640080"/>
          </a:xfrm>
          <a:prstGeom prst="ellipse">
            <a:avLst/>
          </a:prstGeom>
          <a:solidFill>
            <a:srgbClr val="4DB449"/>
          </a:solidFill>
          <a:ln w="6350">
            <a:solidFill>
              <a:srgbClr val="4DB449"/>
            </a:solidFill>
            <a:prstDash val="solid"/>
          </a:ln>
        </p:spPr>
      </p:sp>
      <p:pic>
        <p:nvPicPr>
          <p:cNvPr id="21" name="Image 3" descr="preencoded.png">    </p:cNvPr>
          <p:cNvPicPr>
            <a:picLocks noChangeAspect="1"/>
          </p:cNvPicPr>
          <p:nvPr/>
        </p:nvPicPr>
        <p:blipFill>
          <a:blip r:embed="rId4"/>
          <a:stretch>
            <a:fillRect/>
          </a:stretch>
        </p:blipFill>
        <p:spPr>
          <a:xfrm>
            <a:off x="6639916" y="2212848"/>
            <a:ext cx="329184" cy="329184"/>
          </a:xfrm>
          <a:prstGeom prst="rect">
            <a:avLst/>
          </a:prstGeom>
        </p:spPr>
      </p:pic>
      <p:sp>
        <p:nvSpPr>
          <p:cNvPr id="22" name="Text 16"/>
          <p:cNvSpPr txBox="1"/>
          <p:nvPr/>
        </p:nvSpPr>
        <p:spPr>
          <a:xfrm>
            <a:off x="7989341" y="2103120"/>
            <a:ext cx="548640" cy="365760"/>
          </a:xfrm>
          <a:prstGeom prst="rect">
            <a:avLst/>
          </a:prstGeom>
          <a:noFill/>
          <a:ln/>
        </p:spPr>
        <p:txBody>
          <a:bodyPr wrap="square" lIns="0" tIns="0" rIns="0" bIns="0" rtlCol="0" anchor="t"/>
          <a:lstStyle/>
          <a:p>
            <a:pPr algn="r" indent="0" marL="0">
              <a:lnSpc>
                <a:spcPct val="95000"/>
              </a:lnSpc>
              <a:buNone/>
            </a:pPr>
            <a:r>
              <a:rPr lang="en-US" altLang="en-US" sz="1400" b="1" dirty="0">
                <a:solidFill>
                  <a:srgbClr val="727274"/>
                </a:solidFill>
                <a:latin typeface="Calibri" pitchFamily="34" charset="0"/>
                <a:ea typeface="Calibri" pitchFamily="34" charset="-122"/>
                <a:cs typeface="Calibri" pitchFamily="34" charset="-120"/>
              </a:rPr>
              <a:t>03</a:t>
            </a:r>
            <a:endParaRPr lang="en-US" sz="1400" dirty="0"/>
          </a:p>
        </p:txBody>
      </p:sp>
      <p:sp>
        <p:nvSpPr>
          <p:cNvPr id="23" name="Text 17"/>
          <p:cNvSpPr txBox="1"/>
          <p:nvPr/>
        </p:nvSpPr>
        <p:spPr>
          <a:xfrm>
            <a:off x="6484468" y="2807208"/>
            <a:ext cx="2053514" cy="384048"/>
          </a:xfrm>
          <a:prstGeom prst="rect">
            <a:avLst/>
          </a:prstGeom>
          <a:noFill/>
          <a:ln/>
        </p:spPr>
        <p:txBody>
          <a:bodyPr wrap="square" lIns="0" tIns="0" rIns="0" bIns="0" rtlCol="0" anchor="t"/>
          <a:lstStyle/>
          <a:p>
            <a:pPr algn="l" indent="0" marL="0">
              <a:lnSpc>
                <a:spcPct val="95000"/>
              </a:lnSpc>
              <a:buNone/>
            </a:pPr>
            <a:r>
              <a:rPr lang="en-US" altLang="en-US" sz="1700" b="1" dirty="0">
                <a:solidFill>
                  <a:srgbClr val="1A1A1A"/>
                </a:solidFill>
                <a:latin typeface="Cairo" pitchFamily="34" charset="0"/>
                <a:ea typeface="Cairo" pitchFamily="34" charset="-122"/>
                <a:cs typeface="Cairo" pitchFamily="34" charset="-120"/>
              </a:rPr>
              <a:t>Social content</a:t>
            </a:r>
            <a:endParaRPr lang="en-US" sz="1700" dirty="0"/>
          </a:p>
        </p:txBody>
      </p:sp>
      <p:sp>
        <p:nvSpPr>
          <p:cNvPr id="24" name="Text 18"/>
          <p:cNvSpPr txBox="1"/>
          <p:nvPr/>
        </p:nvSpPr>
        <p:spPr>
          <a:xfrm>
            <a:off x="6484468" y="3172968"/>
            <a:ext cx="2053514" cy="502920"/>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A carousel and five captions with CTAs</a:t>
            </a:r>
            <a:endParaRPr lang="en-US" sz="1300" dirty="0"/>
          </a:p>
        </p:txBody>
      </p:sp>
      <p:sp>
        <p:nvSpPr>
          <p:cNvPr id="25" name="Shape 19"/>
          <p:cNvSpPr/>
          <p:nvPr/>
        </p:nvSpPr>
        <p:spPr>
          <a:xfrm>
            <a:off x="9040901" y="1783080"/>
            <a:ext cx="2602154" cy="1965960"/>
          </a:xfrm>
          <a:prstGeom prst="roundRect">
            <a:avLst>
              <a:gd name="adj" fmla="val 5581"/>
            </a:avLst>
          </a:prstGeom>
          <a:solidFill>
            <a:srgbClr val="EAF5E8"/>
          </a:solidFill>
          <a:ln w="12700">
            <a:solidFill>
              <a:srgbClr val="EAF5E8"/>
            </a:solidFill>
            <a:prstDash val="solid"/>
          </a:ln>
        </p:spPr>
      </p:sp>
      <p:sp>
        <p:nvSpPr>
          <p:cNvPr id="26" name="Shape 20"/>
          <p:cNvSpPr/>
          <p:nvPr/>
        </p:nvSpPr>
        <p:spPr>
          <a:xfrm>
            <a:off x="9315221" y="2057400"/>
            <a:ext cx="640080" cy="640080"/>
          </a:xfrm>
          <a:prstGeom prst="ellipse">
            <a:avLst/>
          </a:prstGeom>
          <a:solidFill>
            <a:srgbClr val="4DB449"/>
          </a:solidFill>
          <a:ln w="6350">
            <a:solidFill>
              <a:srgbClr val="4DB449"/>
            </a:solidFill>
            <a:prstDash val="solid"/>
          </a:ln>
        </p:spPr>
      </p:sp>
      <p:pic>
        <p:nvPicPr>
          <p:cNvPr id="27" name="Image 4" descr="preencoded.png">    </p:cNvPr>
          <p:cNvPicPr>
            <a:picLocks noChangeAspect="1"/>
          </p:cNvPicPr>
          <p:nvPr/>
        </p:nvPicPr>
        <p:blipFill>
          <a:blip r:embed="rId5"/>
          <a:stretch>
            <a:fillRect/>
          </a:stretch>
        </p:blipFill>
        <p:spPr>
          <a:xfrm>
            <a:off x="9470669" y="2212848"/>
            <a:ext cx="329184" cy="329184"/>
          </a:xfrm>
          <a:prstGeom prst="rect">
            <a:avLst/>
          </a:prstGeom>
        </p:spPr>
      </p:pic>
      <p:sp>
        <p:nvSpPr>
          <p:cNvPr id="28" name="Text 21"/>
          <p:cNvSpPr txBox="1"/>
          <p:nvPr/>
        </p:nvSpPr>
        <p:spPr>
          <a:xfrm>
            <a:off x="10820095" y="2103120"/>
            <a:ext cx="548640" cy="365760"/>
          </a:xfrm>
          <a:prstGeom prst="rect">
            <a:avLst/>
          </a:prstGeom>
          <a:noFill/>
          <a:ln/>
        </p:spPr>
        <p:txBody>
          <a:bodyPr wrap="square" lIns="0" tIns="0" rIns="0" bIns="0" rtlCol="0" anchor="t"/>
          <a:lstStyle/>
          <a:p>
            <a:pPr algn="r" indent="0" marL="0">
              <a:lnSpc>
                <a:spcPct val="95000"/>
              </a:lnSpc>
              <a:buNone/>
            </a:pPr>
            <a:r>
              <a:rPr lang="en-US" altLang="en-US" sz="1400" b="1" dirty="0">
                <a:solidFill>
                  <a:srgbClr val="727274"/>
                </a:solidFill>
                <a:latin typeface="Calibri" pitchFamily="34" charset="0"/>
                <a:ea typeface="Calibri" pitchFamily="34" charset="-122"/>
                <a:cs typeface="Calibri" pitchFamily="34" charset="-120"/>
              </a:rPr>
              <a:t>04</a:t>
            </a:r>
            <a:endParaRPr lang="en-US" sz="1400" dirty="0"/>
          </a:p>
        </p:txBody>
      </p:sp>
      <p:sp>
        <p:nvSpPr>
          <p:cNvPr id="29" name="Text 22"/>
          <p:cNvSpPr txBox="1"/>
          <p:nvPr/>
        </p:nvSpPr>
        <p:spPr>
          <a:xfrm>
            <a:off x="9315221" y="2807208"/>
            <a:ext cx="2053514" cy="384048"/>
          </a:xfrm>
          <a:prstGeom prst="rect">
            <a:avLst/>
          </a:prstGeom>
          <a:noFill/>
          <a:ln/>
        </p:spPr>
        <p:txBody>
          <a:bodyPr wrap="square" lIns="0" tIns="0" rIns="0" bIns="0" rtlCol="0" anchor="t"/>
          <a:lstStyle/>
          <a:p>
            <a:pPr algn="l" indent="0" marL="0">
              <a:lnSpc>
                <a:spcPct val="95000"/>
              </a:lnSpc>
              <a:buNone/>
            </a:pPr>
            <a:r>
              <a:rPr lang="en-US" altLang="en-US" sz="1700" b="1" dirty="0">
                <a:solidFill>
                  <a:srgbClr val="1A1A1A"/>
                </a:solidFill>
                <a:latin typeface="Cairo" pitchFamily="34" charset="0"/>
                <a:ea typeface="Cairo" pitchFamily="34" charset="-122"/>
                <a:cs typeface="Cairo" pitchFamily="34" charset="-120"/>
              </a:rPr>
              <a:t>Character &amp; visuals</a:t>
            </a:r>
            <a:endParaRPr lang="en-US" sz="1700" dirty="0"/>
          </a:p>
        </p:txBody>
      </p:sp>
      <p:sp>
        <p:nvSpPr>
          <p:cNvPr id="30" name="Text 23"/>
          <p:cNvSpPr txBox="1"/>
          <p:nvPr/>
        </p:nvSpPr>
        <p:spPr>
          <a:xfrm>
            <a:off x="9315221" y="3172968"/>
            <a:ext cx="2053514" cy="502920"/>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Character sheet and six-image set</a:t>
            </a:r>
            <a:endParaRPr lang="en-US" sz="1300" dirty="0"/>
          </a:p>
        </p:txBody>
      </p:sp>
      <p:sp>
        <p:nvSpPr>
          <p:cNvPr id="31" name="Shape 24"/>
          <p:cNvSpPr/>
          <p:nvPr/>
        </p:nvSpPr>
        <p:spPr>
          <a:xfrm>
            <a:off x="548640" y="3977640"/>
            <a:ext cx="2602154" cy="1965960"/>
          </a:xfrm>
          <a:prstGeom prst="roundRect">
            <a:avLst>
              <a:gd name="adj" fmla="val 5581"/>
            </a:avLst>
          </a:prstGeom>
          <a:solidFill>
            <a:srgbClr val="000000"/>
          </a:solidFill>
          <a:ln w="12700">
            <a:solidFill>
              <a:srgbClr val="000000"/>
            </a:solidFill>
            <a:prstDash val="solid"/>
          </a:ln>
        </p:spPr>
      </p:sp>
      <p:sp>
        <p:nvSpPr>
          <p:cNvPr id="32" name="Shape 25"/>
          <p:cNvSpPr/>
          <p:nvPr/>
        </p:nvSpPr>
        <p:spPr>
          <a:xfrm>
            <a:off x="822960" y="4251960"/>
            <a:ext cx="640080" cy="640080"/>
          </a:xfrm>
          <a:prstGeom prst="ellipse">
            <a:avLst/>
          </a:prstGeom>
          <a:solidFill>
            <a:srgbClr val="A6D04B"/>
          </a:solidFill>
          <a:ln w="6350">
            <a:solidFill>
              <a:srgbClr val="A6D04B"/>
            </a:solidFill>
            <a:prstDash val="solid"/>
          </a:ln>
        </p:spPr>
      </p:sp>
      <p:pic>
        <p:nvPicPr>
          <p:cNvPr id="33" name="Image 5" descr="preencoded.png">    </p:cNvPr>
          <p:cNvPicPr>
            <a:picLocks noChangeAspect="1"/>
          </p:cNvPicPr>
          <p:nvPr/>
        </p:nvPicPr>
        <p:blipFill>
          <a:blip r:embed="rId6"/>
          <a:stretch>
            <a:fillRect/>
          </a:stretch>
        </p:blipFill>
        <p:spPr>
          <a:xfrm>
            <a:off x="978408" y="4407408"/>
            <a:ext cx="329184" cy="329184"/>
          </a:xfrm>
          <a:prstGeom prst="rect">
            <a:avLst/>
          </a:prstGeom>
        </p:spPr>
      </p:pic>
      <p:sp>
        <p:nvSpPr>
          <p:cNvPr id="34" name="Text 26"/>
          <p:cNvSpPr txBox="1"/>
          <p:nvPr/>
        </p:nvSpPr>
        <p:spPr>
          <a:xfrm>
            <a:off x="2327834" y="4297680"/>
            <a:ext cx="548640" cy="365760"/>
          </a:xfrm>
          <a:prstGeom prst="rect">
            <a:avLst/>
          </a:prstGeom>
          <a:noFill/>
          <a:ln/>
        </p:spPr>
        <p:txBody>
          <a:bodyPr wrap="square" lIns="0" tIns="0" rIns="0" bIns="0" rtlCol="0" anchor="t"/>
          <a:lstStyle/>
          <a:p>
            <a:pPr algn="r" indent="0" marL="0">
              <a:lnSpc>
                <a:spcPct val="95000"/>
              </a:lnSpc>
              <a:buNone/>
            </a:pPr>
            <a:r>
              <a:rPr lang="en-US" altLang="en-US" sz="1400" b="1" dirty="0">
                <a:solidFill>
                  <a:srgbClr val="A6D04B"/>
                </a:solidFill>
                <a:latin typeface="Calibri" pitchFamily="34" charset="0"/>
                <a:ea typeface="Calibri" pitchFamily="34" charset="-122"/>
                <a:cs typeface="Calibri" pitchFamily="34" charset="-120"/>
              </a:rPr>
              <a:t>05</a:t>
            </a:r>
            <a:endParaRPr lang="en-US" sz="1400" dirty="0"/>
          </a:p>
        </p:txBody>
      </p:sp>
      <p:sp>
        <p:nvSpPr>
          <p:cNvPr id="35" name="Text 27"/>
          <p:cNvSpPr txBox="1"/>
          <p:nvPr/>
        </p:nvSpPr>
        <p:spPr>
          <a:xfrm>
            <a:off x="822960" y="5001768"/>
            <a:ext cx="2053514" cy="384048"/>
          </a:xfrm>
          <a:prstGeom prst="rect">
            <a:avLst/>
          </a:prstGeom>
          <a:noFill/>
          <a:ln/>
        </p:spPr>
        <p:txBody>
          <a:bodyPr wrap="square" lIns="0" tIns="0" rIns="0" bIns="0" rtlCol="0" anchor="t"/>
          <a:lstStyle/>
          <a:p>
            <a:pPr algn="l" indent="0" marL="0">
              <a:lnSpc>
                <a:spcPct val="95000"/>
              </a:lnSpc>
              <a:buNone/>
            </a:pPr>
            <a:r>
              <a:rPr lang="en-US" altLang="en-US" sz="1700" b="1" dirty="0">
                <a:solidFill>
                  <a:srgbClr val="FFFFFF"/>
                </a:solidFill>
                <a:latin typeface="Cairo" pitchFamily="34" charset="0"/>
                <a:ea typeface="Cairo" pitchFamily="34" charset="-122"/>
                <a:cs typeface="Cairo" pitchFamily="34" charset="-120"/>
              </a:rPr>
              <a:t>Short video</a:t>
            </a:r>
            <a:endParaRPr lang="en-US" sz="1700" dirty="0"/>
          </a:p>
        </p:txBody>
      </p:sp>
      <p:sp>
        <p:nvSpPr>
          <p:cNvPr id="36" name="Text 28"/>
          <p:cNvSpPr txBox="1"/>
          <p:nvPr/>
        </p:nvSpPr>
        <p:spPr>
          <a:xfrm>
            <a:off x="822960" y="5367528"/>
            <a:ext cx="2053514" cy="502920"/>
          </a:xfrm>
          <a:prstGeom prst="rect">
            <a:avLst/>
          </a:prstGeom>
          <a:noFill/>
          <a:ln/>
        </p:spPr>
        <p:txBody>
          <a:bodyPr wrap="square" lIns="0" tIns="0" rIns="0" bIns="0" rtlCol="0" anchor="t"/>
          <a:lstStyle/>
          <a:p>
            <a:pPr algn="l" indent="0" marL="0">
              <a:lnSpc>
                <a:spcPct val="100000"/>
              </a:lnSpc>
              <a:buNone/>
            </a:pPr>
            <a:r>
              <a:rPr lang="en-US" altLang="en-US" sz="1300" dirty="0">
                <a:solidFill>
                  <a:srgbClr val="D6D8D4"/>
                </a:solidFill>
                <a:latin typeface="Calibri" pitchFamily="34" charset="0"/>
                <a:ea typeface="Calibri" pitchFamily="34" charset="-122"/>
                <a:cs typeface="Calibri" pitchFamily="34" charset="-120"/>
              </a:rPr>
              <a:t>An edited 30–45 second video</a:t>
            </a:r>
            <a:endParaRPr lang="en-US" sz="1300" dirty="0"/>
          </a:p>
        </p:txBody>
      </p:sp>
      <p:sp>
        <p:nvSpPr>
          <p:cNvPr id="37" name="Shape 29"/>
          <p:cNvSpPr/>
          <p:nvPr/>
        </p:nvSpPr>
        <p:spPr>
          <a:xfrm>
            <a:off x="3379394" y="3977640"/>
            <a:ext cx="2602154" cy="1965960"/>
          </a:xfrm>
          <a:prstGeom prst="roundRect">
            <a:avLst>
              <a:gd name="adj" fmla="val 5581"/>
            </a:avLst>
          </a:prstGeom>
          <a:solidFill>
            <a:srgbClr val="EAF5E8"/>
          </a:solidFill>
          <a:ln w="12700">
            <a:solidFill>
              <a:srgbClr val="EAF5E8"/>
            </a:solidFill>
            <a:prstDash val="solid"/>
          </a:ln>
        </p:spPr>
      </p:sp>
      <p:sp>
        <p:nvSpPr>
          <p:cNvPr id="38" name="Shape 30"/>
          <p:cNvSpPr/>
          <p:nvPr/>
        </p:nvSpPr>
        <p:spPr>
          <a:xfrm>
            <a:off x="3653714" y="4251960"/>
            <a:ext cx="640080" cy="640080"/>
          </a:xfrm>
          <a:prstGeom prst="ellipse">
            <a:avLst/>
          </a:prstGeom>
          <a:solidFill>
            <a:srgbClr val="4DB449"/>
          </a:solidFill>
          <a:ln w="6350">
            <a:solidFill>
              <a:srgbClr val="4DB449"/>
            </a:solidFill>
            <a:prstDash val="solid"/>
          </a:ln>
        </p:spPr>
      </p:sp>
      <p:pic>
        <p:nvPicPr>
          <p:cNvPr id="39" name="Image 6" descr="preencoded.png">    </p:cNvPr>
          <p:cNvPicPr>
            <a:picLocks noChangeAspect="1"/>
          </p:cNvPicPr>
          <p:nvPr/>
        </p:nvPicPr>
        <p:blipFill>
          <a:blip r:embed="rId7"/>
          <a:stretch>
            <a:fillRect/>
          </a:stretch>
        </p:blipFill>
        <p:spPr>
          <a:xfrm>
            <a:off x="3809162" y="4407408"/>
            <a:ext cx="329184" cy="329184"/>
          </a:xfrm>
          <a:prstGeom prst="rect">
            <a:avLst/>
          </a:prstGeom>
        </p:spPr>
      </p:pic>
      <p:sp>
        <p:nvSpPr>
          <p:cNvPr id="40" name="Text 31"/>
          <p:cNvSpPr txBox="1"/>
          <p:nvPr/>
        </p:nvSpPr>
        <p:spPr>
          <a:xfrm>
            <a:off x="5158588" y="4297680"/>
            <a:ext cx="548640" cy="365760"/>
          </a:xfrm>
          <a:prstGeom prst="rect">
            <a:avLst/>
          </a:prstGeom>
          <a:noFill/>
          <a:ln/>
        </p:spPr>
        <p:txBody>
          <a:bodyPr wrap="square" lIns="0" tIns="0" rIns="0" bIns="0" rtlCol="0" anchor="t"/>
          <a:lstStyle/>
          <a:p>
            <a:pPr algn="r" indent="0" marL="0">
              <a:lnSpc>
                <a:spcPct val="95000"/>
              </a:lnSpc>
              <a:buNone/>
            </a:pPr>
            <a:r>
              <a:rPr lang="en-US" altLang="en-US" sz="1400" b="1" dirty="0">
                <a:solidFill>
                  <a:srgbClr val="727274"/>
                </a:solidFill>
                <a:latin typeface="Calibri" pitchFamily="34" charset="0"/>
                <a:ea typeface="Calibri" pitchFamily="34" charset="-122"/>
                <a:cs typeface="Calibri" pitchFamily="34" charset="-120"/>
              </a:rPr>
              <a:t>06</a:t>
            </a:r>
            <a:endParaRPr lang="en-US" sz="1400" dirty="0"/>
          </a:p>
        </p:txBody>
      </p:sp>
      <p:sp>
        <p:nvSpPr>
          <p:cNvPr id="41" name="Text 32"/>
          <p:cNvSpPr txBox="1"/>
          <p:nvPr/>
        </p:nvSpPr>
        <p:spPr>
          <a:xfrm>
            <a:off x="3653714" y="5001768"/>
            <a:ext cx="2053514" cy="384048"/>
          </a:xfrm>
          <a:prstGeom prst="rect">
            <a:avLst/>
          </a:prstGeom>
          <a:noFill/>
          <a:ln/>
        </p:spPr>
        <p:txBody>
          <a:bodyPr wrap="square" lIns="0" tIns="0" rIns="0" bIns="0" rtlCol="0" anchor="t"/>
          <a:lstStyle/>
          <a:p>
            <a:pPr algn="l" indent="0" marL="0">
              <a:lnSpc>
                <a:spcPct val="95000"/>
              </a:lnSpc>
              <a:buNone/>
            </a:pPr>
            <a:r>
              <a:rPr lang="en-US" altLang="en-US" sz="1700" b="1" dirty="0">
                <a:solidFill>
                  <a:srgbClr val="1A1A1A"/>
                </a:solidFill>
                <a:latin typeface="Cairo" pitchFamily="34" charset="0"/>
                <a:ea typeface="Cairo" pitchFamily="34" charset="-122"/>
                <a:cs typeface="Cairo" pitchFamily="34" charset="-120"/>
              </a:rPr>
              <a:t>Marketing plan</a:t>
            </a:r>
            <a:endParaRPr lang="en-US" sz="1700" dirty="0"/>
          </a:p>
        </p:txBody>
      </p:sp>
      <p:sp>
        <p:nvSpPr>
          <p:cNvPr id="42" name="Text 33"/>
          <p:cNvSpPr txBox="1"/>
          <p:nvPr/>
        </p:nvSpPr>
        <p:spPr>
          <a:xfrm>
            <a:off x="3653714" y="5367528"/>
            <a:ext cx="2053514" cy="502920"/>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Persona, calendar and campaign</a:t>
            </a:r>
            <a:endParaRPr lang="en-US" sz="1300" dirty="0"/>
          </a:p>
        </p:txBody>
      </p:sp>
      <p:sp>
        <p:nvSpPr>
          <p:cNvPr id="43" name="Shape 34"/>
          <p:cNvSpPr/>
          <p:nvPr/>
        </p:nvSpPr>
        <p:spPr>
          <a:xfrm>
            <a:off x="6210148" y="3977640"/>
            <a:ext cx="2602154" cy="1965960"/>
          </a:xfrm>
          <a:prstGeom prst="roundRect">
            <a:avLst>
              <a:gd name="adj" fmla="val 5581"/>
            </a:avLst>
          </a:prstGeom>
          <a:solidFill>
            <a:srgbClr val="000000"/>
          </a:solidFill>
          <a:ln w="12700">
            <a:solidFill>
              <a:srgbClr val="000000"/>
            </a:solidFill>
            <a:prstDash val="solid"/>
          </a:ln>
        </p:spPr>
      </p:sp>
      <p:sp>
        <p:nvSpPr>
          <p:cNvPr id="44" name="Shape 35"/>
          <p:cNvSpPr/>
          <p:nvPr/>
        </p:nvSpPr>
        <p:spPr>
          <a:xfrm>
            <a:off x="6484468" y="4251960"/>
            <a:ext cx="640080" cy="640080"/>
          </a:xfrm>
          <a:prstGeom prst="ellipse">
            <a:avLst/>
          </a:prstGeom>
          <a:solidFill>
            <a:srgbClr val="A6D04B"/>
          </a:solidFill>
          <a:ln w="6350">
            <a:solidFill>
              <a:srgbClr val="A6D04B"/>
            </a:solidFill>
            <a:prstDash val="solid"/>
          </a:ln>
        </p:spPr>
      </p:sp>
      <p:pic>
        <p:nvPicPr>
          <p:cNvPr id="45" name="Image 7" descr="preencoded.png">    </p:cNvPr>
          <p:cNvPicPr>
            <a:picLocks noChangeAspect="1"/>
          </p:cNvPicPr>
          <p:nvPr/>
        </p:nvPicPr>
        <p:blipFill>
          <a:blip r:embed="rId8"/>
          <a:stretch>
            <a:fillRect/>
          </a:stretch>
        </p:blipFill>
        <p:spPr>
          <a:xfrm>
            <a:off x="6639916" y="4407408"/>
            <a:ext cx="329184" cy="329184"/>
          </a:xfrm>
          <a:prstGeom prst="rect">
            <a:avLst/>
          </a:prstGeom>
        </p:spPr>
      </p:pic>
      <p:sp>
        <p:nvSpPr>
          <p:cNvPr id="46" name="Text 36"/>
          <p:cNvSpPr txBox="1"/>
          <p:nvPr/>
        </p:nvSpPr>
        <p:spPr>
          <a:xfrm>
            <a:off x="7989341" y="4297680"/>
            <a:ext cx="548640" cy="365760"/>
          </a:xfrm>
          <a:prstGeom prst="rect">
            <a:avLst/>
          </a:prstGeom>
          <a:noFill/>
          <a:ln/>
        </p:spPr>
        <p:txBody>
          <a:bodyPr wrap="square" lIns="0" tIns="0" rIns="0" bIns="0" rtlCol="0" anchor="t"/>
          <a:lstStyle/>
          <a:p>
            <a:pPr algn="r" indent="0" marL="0">
              <a:lnSpc>
                <a:spcPct val="95000"/>
              </a:lnSpc>
              <a:buNone/>
            </a:pPr>
            <a:r>
              <a:rPr lang="en-US" altLang="en-US" sz="1400" b="1" dirty="0">
                <a:solidFill>
                  <a:srgbClr val="A6D04B"/>
                </a:solidFill>
                <a:latin typeface="Calibri" pitchFamily="34" charset="0"/>
                <a:ea typeface="Calibri" pitchFamily="34" charset="-122"/>
                <a:cs typeface="Calibri" pitchFamily="34" charset="-120"/>
              </a:rPr>
              <a:t>07</a:t>
            </a:r>
            <a:endParaRPr lang="en-US" sz="1400" dirty="0"/>
          </a:p>
        </p:txBody>
      </p:sp>
      <p:sp>
        <p:nvSpPr>
          <p:cNvPr id="47" name="Text 37"/>
          <p:cNvSpPr txBox="1"/>
          <p:nvPr/>
        </p:nvSpPr>
        <p:spPr>
          <a:xfrm>
            <a:off x="6484468" y="5001768"/>
            <a:ext cx="2053514" cy="384048"/>
          </a:xfrm>
          <a:prstGeom prst="rect">
            <a:avLst/>
          </a:prstGeom>
          <a:noFill/>
          <a:ln/>
        </p:spPr>
        <p:txBody>
          <a:bodyPr wrap="square" lIns="0" tIns="0" rIns="0" bIns="0" rtlCol="0" anchor="t"/>
          <a:lstStyle/>
          <a:p>
            <a:pPr algn="l" indent="0" marL="0">
              <a:lnSpc>
                <a:spcPct val="95000"/>
              </a:lnSpc>
              <a:buNone/>
            </a:pPr>
            <a:r>
              <a:rPr lang="en-US" altLang="en-US" sz="1700" b="1" dirty="0">
                <a:solidFill>
                  <a:srgbClr val="FFFFFF"/>
                </a:solidFill>
                <a:latin typeface="Cairo" pitchFamily="34" charset="0"/>
                <a:ea typeface="Cairo" pitchFamily="34" charset="-122"/>
                <a:cs typeface="Cairo" pitchFamily="34" charset="-120"/>
              </a:rPr>
              <a:t>Automation</a:t>
            </a:r>
            <a:endParaRPr lang="en-US" sz="1700" dirty="0"/>
          </a:p>
        </p:txBody>
      </p:sp>
      <p:sp>
        <p:nvSpPr>
          <p:cNvPr id="48" name="Text 38"/>
          <p:cNvSpPr txBox="1"/>
          <p:nvPr/>
        </p:nvSpPr>
        <p:spPr>
          <a:xfrm>
            <a:off x="6484468" y="5367528"/>
            <a:ext cx="2053514" cy="502920"/>
          </a:xfrm>
          <a:prstGeom prst="rect">
            <a:avLst/>
          </a:prstGeom>
          <a:noFill/>
          <a:ln/>
        </p:spPr>
        <p:txBody>
          <a:bodyPr wrap="square" lIns="0" tIns="0" rIns="0" bIns="0" rtlCol="0" anchor="t"/>
          <a:lstStyle/>
          <a:p>
            <a:pPr algn="l" indent="0" marL="0">
              <a:lnSpc>
                <a:spcPct val="100000"/>
              </a:lnSpc>
              <a:buNone/>
            </a:pPr>
            <a:r>
              <a:rPr lang="en-US" altLang="en-US" sz="1300" dirty="0">
                <a:solidFill>
                  <a:srgbClr val="D6D8D4"/>
                </a:solidFill>
                <a:latin typeface="Calibri" pitchFamily="34" charset="0"/>
                <a:ea typeface="Calibri" pitchFamily="34" charset="-122"/>
                <a:cs typeface="Calibri" pitchFamily="34" charset="-120"/>
              </a:rPr>
              <a:t>A working n8n content workflow</a:t>
            </a:r>
            <a:endParaRPr lang="en-US" sz="1300" dirty="0"/>
          </a:p>
        </p:txBody>
      </p:sp>
      <p:sp>
        <p:nvSpPr>
          <p:cNvPr id="49" name="Shape 39"/>
          <p:cNvSpPr/>
          <p:nvPr/>
        </p:nvSpPr>
        <p:spPr>
          <a:xfrm>
            <a:off x="9040901" y="3977640"/>
            <a:ext cx="2602154" cy="1965960"/>
          </a:xfrm>
          <a:prstGeom prst="roundRect">
            <a:avLst>
              <a:gd name="adj" fmla="val 5581"/>
            </a:avLst>
          </a:prstGeom>
          <a:solidFill>
            <a:srgbClr val="EAF5E8"/>
          </a:solidFill>
          <a:ln w="12700">
            <a:solidFill>
              <a:srgbClr val="EAF5E8"/>
            </a:solidFill>
            <a:prstDash val="solid"/>
          </a:ln>
        </p:spPr>
      </p:sp>
      <p:sp>
        <p:nvSpPr>
          <p:cNvPr id="50" name="Shape 40"/>
          <p:cNvSpPr/>
          <p:nvPr/>
        </p:nvSpPr>
        <p:spPr>
          <a:xfrm>
            <a:off x="9315221" y="4251960"/>
            <a:ext cx="640080" cy="640080"/>
          </a:xfrm>
          <a:prstGeom prst="ellipse">
            <a:avLst/>
          </a:prstGeom>
          <a:solidFill>
            <a:srgbClr val="4DB449"/>
          </a:solidFill>
          <a:ln w="6350">
            <a:solidFill>
              <a:srgbClr val="4DB449"/>
            </a:solidFill>
            <a:prstDash val="solid"/>
          </a:ln>
        </p:spPr>
      </p:sp>
      <p:pic>
        <p:nvPicPr>
          <p:cNvPr id="51" name="Image 8" descr="preencoded.png">    </p:cNvPr>
          <p:cNvPicPr>
            <a:picLocks noChangeAspect="1"/>
          </p:cNvPicPr>
          <p:nvPr/>
        </p:nvPicPr>
        <p:blipFill>
          <a:blip r:embed="rId9"/>
          <a:stretch>
            <a:fillRect/>
          </a:stretch>
        </p:blipFill>
        <p:spPr>
          <a:xfrm>
            <a:off x="9470669" y="4407408"/>
            <a:ext cx="329184" cy="329184"/>
          </a:xfrm>
          <a:prstGeom prst="rect">
            <a:avLst/>
          </a:prstGeom>
        </p:spPr>
      </p:pic>
      <p:sp>
        <p:nvSpPr>
          <p:cNvPr id="52" name="Text 41"/>
          <p:cNvSpPr txBox="1"/>
          <p:nvPr/>
        </p:nvSpPr>
        <p:spPr>
          <a:xfrm>
            <a:off x="10820095" y="4297680"/>
            <a:ext cx="548640" cy="365760"/>
          </a:xfrm>
          <a:prstGeom prst="rect">
            <a:avLst/>
          </a:prstGeom>
          <a:noFill/>
          <a:ln/>
        </p:spPr>
        <p:txBody>
          <a:bodyPr wrap="square" lIns="0" tIns="0" rIns="0" bIns="0" rtlCol="0" anchor="t"/>
          <a:lstStyle/>
          <a:p>
            <a:pPr algn="r" indent="0" marL="0">
              <a:lnSpc>
                <a:spcPct val="95000"/>
              </a:lnSpc>
              <a:buNone/>
            </a:pPr>
            <a:r>
              <a:rPr lang="en-US" altLang="en-US" sz="1400" b="1" dirty="0">
                <a:solidFill>
                  <a:srgbClr val="727274"/>
                </a:solidFill>
                <a:latin typeface="Calibri" pitchFamily="34" charset="0"/>
                <a:ea typeface="Calibri" pitchFamily="34" charset="-122"/>
                <a:cs typeface="Calibri" pitchFamily="34" charset="-120"/>
              </a:rPr>
              <a:t>08</a:t>
            </a:r>
            <a:endParaRPr lang="en-US" sz="1400" dirty="0"/>
          </a:p>
        </p:txBody>
      </p:sp>
      <p:sp>
        <p:nvSpPr>
          <p:cNvPr id="53" name="Text 42"/>
          <p:cNvSpPr txBox="1"/>
          <p:nvPr/>
        </p:nvSpPr>
        <p:spPr>
          <a:xfrm>
            <a:off x="9315221" y="5001768"/>
            <a:ext cx="2053514" cy="384048"/>
          </a:xfrm>
          <a:prstGeom prst="rect">
            <a:avLst/>
          </a:prstGeom>
          <a:noFill/>
          <a:ln/>
        </p:spPr>
        <p:txBody>
          <a:bodyPr wrap="square" lIns="0" tIns="0" rIns="0" bIns="0" rtlCol="0" anchor="t"/>
          <a:lstStyle/>
          <a:p>
            <a:pPr algn="l" indent="0" marL="0">
              <a:lnSpc>
                <a:spcPct val="95000"/>
              </a:lnSpc>
              <a:buNone/>
            </a:pPr>
            <a:r>
              <a:rPr lang="en-US" altLang="en-US" sz="1700" b="1" dirty="0">
                <a:solidFill>
                  <a:srgbClr val="1A1A1A"/>
                </a:solidFill>
                <a:latin typeface="Cairo" pitchFamily="34" charset="0"/>
                <a:ea typeface="Cairo" pitchFamily="34" charset="-122"/>
                <a:cs typeface="Cairo" pitchFamily="34" charset="-120"/>
              </a:rPr>
              <a:t>Portfolio page</a:t>
            </a:r>
            <a:endParaRPr lang="en-US" sz="1700" dirty="0"/>
          </a:p>
        </p:txBody>
      </p:sp>
      <p:sp>
        <p:nvSpPr>
          <p:cNvPr id="54" name="Text 43"/>
          <p:cNvSpPr txBox="1"/>
          <p:nvPr/>
        </p:nvSpPr>
        <p:spPr>
          <a:xfrm>
            <a:off x="9315221" y="5367528"/>
            <a:ext cx="2053514" cy="502920"/>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A published page and case study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10356554" y="384048"/>
            <a:ext cx="1286501" cy="457200"/>
          </a:xfrm>
          <a:prstGeom prst="rect">
            <a:avLst/>
          </a:prstGeom>
        </p:spPr>
      </p:pic>
      <p:sp>
        <p:nvSpPr>
          <p:cNvPr id="3" name="Text 0"/>
          <p:cNvSpPr txBox="1"/>
          <p:nvPr/>
        </p:nvSpPr>
        <p:spPr>
          <a:xfrm>
            <a:off x="548640" y="6446520"/>
            <a:ext cx="6400800" cy="228600"/>
          </a:xfrm>
          <a:prstGeom prst="rect">
            <a:avLst/>
          </a:prstGeom>
          <a:noFill/>
          <a:ln/>
        </p:spPr>
        <p:txBody>
          <a:bodyPr wrap="square" lIns="0" tIns="0" rIns="0" bIns="0" rtlCol="0" anchor="t"/>
          <a:lstStyle/>
          <a:p>
            <a:pPr algn="l"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AI Creators Program · Training Concept Note</a:t>
            </a:r>
            <a:endParaRPr lang="en-US" sz="900" dirty="0"/>
          </a:p>
        </p:txBody>
      </p:sp>
      <p:sp>
        <p:nvSpPr>
          <p:cNvPr id="4" name="Text 1"/>
          <p:cNvSpPr txBox="1"/>
          <p:nvPr/>
        </p:nvSpPr>
        <p:spPr>
          <a:xfrm>
            <a:off x="11094415" y="6446520"/>
            <a:ext cx="548640" cy="228600"/>
          </a:xfrm>
          <a:prstGeom prst="rect">
            <a:avLst/>
          </a:prstGeom>
          <a:noFill/>
          <a:ln/>
        </p:spPr>
        <p:txBody>
          <a:bodyPr wrap="square" lIns="0" tIns="0" rIns="0" bIns="0" rtlCol="0" anchor="t"/>
          <a:lstStyle/>
          <a:p>
            <a:pPr algn="r"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15</a:t>
            </a:r>
            <a:endParaRPr lang="en-US" sz="900" dirty="0"/>
          </a:p>
        </p:txBody>
      </p:sp>
      <p:sp>
        <p:nvSpPr>
          <p:cNvPr id="5" name="Text 2"/>
          <p:cNvSpPr txBox="1"/>
          <p:nvPr/>
        </p:nvSpPr>
        <p:spPr>
          <a:xfrm>
            <a:off x="548640" y="384048"/>
            <a:ext cx="8961120" cy="274320"/>
          </a:xfrm>
          <a:prstGeom prst="rect">
            <a:avLst/>
          </a:prstGeom>
          <a:noFill/>
          <a:ln/>
        </p:spPr>
        <p:txBody>
          <a:bodyPr wrap="square" lIns="0" tIns="0" rIns="0" bIns="0" rtlCol="0" anchor="t"/>
          <a:lstStyle/>
          <a:p>
            <a:pPr algn="l" indent="0" marL="0">
              <a:lnSpc>
                <a:spcPct val="95000"/>
              </a:lnSpc>
              <a:buNone/>
            </a:pPr>
            <a:r>
              <a:rPr lang="en-US" altLang="en-US" sz="1100" b="1" spc="200" kern="0" dirty="0">
                <a:solidFill>
                  <a:srgbClr val="727274"/>
                </a:solidFill>
                <a:latin typeface="Calibri" pitchFamily="34" charset="0"/>
                <a:ea typeface="Calibri" pitchFamily="34" charset="-122"/>
                <a:cs typeface="Calibri" pitchFamily="34" charset="-120"/>
              </a:rPr>
              <a:t>14 · MEASURING SUCCESS</a:t>
            </a:r>
            <a:endParaRPr lang="en-US" sz="1100" dirty="0"/>
          </a:p>
        </p:txBody>
      </p:sp>
      <p:sp>
        <p:nvSpPr>
          <p:cNvPr id="6" name="Text 3"/>
          <p:cNvSpPr txBox="1"/>
          <p:nvPr/>
        </p:nvSpPr>
        <p:spPr>
          <a:xfrm>
            <a:off x="548640" y="676656"/>
            <a:ext cx="9418320" cy="914400"/>
          </a:xfrm>
          <a:prstGeom prst="rect">
            <a:avLst/>
          </a:prstGeom>
          <a:noFill/>
          <a:ln/>
        </p:spPr>
        <p:txBody>
          <a:bodyPr wrap="square" lIns="0" tIns="0" rIns="0" bIns="0" rtlCol="0" anchor="t"/>
          <a:lstStyle/>
          <a:p>
            <a:pPr algn="l" indent="0" marL="0">
              <a:lnSpc>
                <a:spcPct val="90000"/>
              </a:lnSpc>
              <a:buNone/>
            </a:pPr>
            <a:r>
              <a:rPr lang="en-US" altLang="en-US" sz="2800" b="1" dirty="0">
                <a:solidFill>
                  <a:srgbClr val="1A1A1A"/>
                </a:solidFill>
                <a:latin typeface="Cairo" pitchFamily="34" charset="0"/>
                <a:ea typeface="Cairo" pitchFamily="34" charset="-122"/>
                <a:cs typeface="Cairo" pitchFamily="34" charset="-120"/>
              </a:rPr>
              <a:t>Success means skills, finished work and readiness, not only income</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3291840"/>
                <a:gridCol w="4690872"/>
                <a:gridCol w="3108960"/>
              </a:tblGrid>
              <a:tr h="429768">
                <a:tc>
                  <a:txBody>
                    <a:bodyPr/>
                    <a:lstStyle/>
                    <a:p>
                      <a:pPr algn="l" indent="0" marL="0">
                        <a:buNone/>
                      </a:pPr>
                      <a:r>
                        <a:rPr lang="en-US" altLang="en-US" sz="1400" b="1" dirty="0">
                          <a:solidFill>
                            <a:srgbClr val="A6D04B"/>
                          </a:solidFill>
                          <a:latin typeface="Cairo" pitchFamily="34" charset="0"/>
                          <a:ea typeface="Cairo" pitchFamily="34" charset="-122"/>
                          <a:cs typeface="Cairo" pitchFamily="34" charset="-120"/>
                        </a:rPr>
                        <a:t>Indicator</a:t>
                      </a:r>
                      <a:endParaRPr lang="en-US" sz="1400" dirty="0">
                        <a:latin typeface="Cairo" charset="0"/>
                        <a:ea typeface="Cairo" charset="0"/>
                        <a:cs typeface="Cairo"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00000"/>
                    </a:solidFill>
                  </a:tcPr>
                </a:tc>
                <a:tc>
                  <a:txBody>
                    <a:bodyPr/>
                    <a:lstStyle/>
                    <a:p>
                      <a:pPr algn="l" indent="0" marL="0">
                        <a:buNone/>
                      </a:pPr>
                      <a:r>
                        <a:rPr lang="en-US" altLang="en-US" sz="1400" b="1" dirty="0">
                          <a:solidFill>
                            <a:srgbClr val="A6D04B"/>
                          </a:solidFill>
                          <a:latin typeface="Cairo" pitchFamily="34" charset="0"/>
                          <a:ea typeface="Cairo" pitchFamily="34" charset="-122"/>
                          <a:cs typeface="Cairo" pitchFamily="34" charset="-120"/>
                        </a:rPr>
                        <a:t>How it is measured</a:t>
                      </a:r>
                      <a:endParaRPr lang="en-US" sz="1400" dirty="0">
                        <a:latin typeface="Cairo" charset="0"/>
                        <a:ea typeface="Cairo" charset="0"/>
                        <a:cs typeface="Cairo"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00000"/>
                    </a:solidFill>
                  </a:tcPr>
                </a:tc>
                <a:tc>
                  <a:txBody>
                    <a:bodyPr/>
                    <a:lstStyle/>
                    <a:p>
                      <a:pPr algn="l" indent="0" marL="0">
                        <a:buNone/>
                      </a:pPr>
                      <a:r>
                        <a:rPr lang="en-US" altLang="en-US" sz="1400" b="1" dirty="0">
                          <a:solidFill>
                            <a:srgbClr val="A6D04B"/>
                          </a:solidFill>
                          <a:latin typeface="Cairo" pitchFamily="34" charset="0"/>
                          <a:ea typeface="Cairo" pitchFamily="34" charset="-122"/>
                          <a:cs typeface="Cairo" pitchFamily="34" charset="-120"/>
                        </a:rPr>
                        <a:t>Proposed target</a:t>
                      </a:r>
                      <a:endParaRPr lang="en-US" sz="1400" dirty="0">
                        <a:latin typeface="Cairo" charset="0"/>
                        <a:ea typeface="Cairo" charset="0"/>
                        <a:cs typeface="Cairo"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000000"/>
                    </a:solidFill>
                  </a:tcPr>
                </a:tc>
              </a:tr>
              <a:tr h="429768">
                <a:tc>
                  <a:txBody>
                    <a:bodyPr/>
                    <a:lstStyle/>
                    <a:p>
                      <a:pPr algn="l" indent="0" marL="0">
                        <a:buNone/>
                      </a:pPr>
                      <a:r>
                        <a:rPr lang="en-US" altLang="en-US" sz="1350" b="1" dirty="0">
                          <a:solidFill>
                            <a:srgbClr val="1A1A1A"/>
                          </a:solidFill>
                          <a:latin typeface="Calibri" pitchFamily="34" charset="0"/>
                          <a:ea typeface="Calibri" pitchFamily="34" charset="-122"/>
                          <a:cs typeface="Calibri" pitchFamily="34" charset="-120"/>
                        </a:rPr>
                        <a:t>Program completion</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c>
                  <a:txBody>
                    <a:bodyPr/>
                    <a:lstStyle/>
                    <a:p>
                      <a:pPr algn="l" indent="0" marL="0">
                        <a:buNone/>
                      </a:pPr>
                      <a:r>
                        <a:rPr lang="en-US" altLang="en-US" sz="1350" dirty="0">
                          <a:solidFill>
                            <a:srgbClr val="3C3E3B"/>
                          </a:solidFill>
                          <a:latin typeface="Calibri" pitchFamily="34" charset="0"/>
                          <a:ea typeface="Calibri" pitchFamily="34" charset="-122"/>
                          <a:cs typeface="Calibri" pitchFamily="34" charset="-120"/>
                        </a:rPr>
                        <a:t>Attendance at 80%+ of sessions</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c>
                  <a:txBody>
                    <a:bodyPr/>
                    <a:lstStyle/>
                    <a:p>
                      <a:pPr algn="l" indent="0" marL="0">
                        <a:buNone/>
                      </a:pPr>
                      <a:r>
                        <a:rPr lang="en-US" altLang="en-US" sz="1350" b="1" dirty="0">
                          <a:solidFill>
                            <a:srgbClr val="1A1A1A"/>
                          </a:solidFill>
                          <a:latin typeface="Calibri" pitchFamily="34" charset="0"/>
                          <a:ea typeface="Calibri" pitchFamily="34" charset="-122"/>
                          <a:cs typeface="Calibri" pitchFamily="34" charset="-120"/>
                        </a:rPr>
                        <a:t>85% of students</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r>
              <a:tr h="429768">
                <a:tc>
                  <a:txBody>
                    <a:bodyPr/>
                    <a:lstStyle/>
                    <a:p>
                      <a:pPr algn="l" indent="0" marL="0">
                        <a:buNone/>
                      </a:pPr>
                      <a:r>
                        <a:rPr lang="en-US" altLang="en-US" sz="1350" b="1" dirty="0">
                          <a:solidFill>
                            <a:srgbClr val="1A1A1A"/>
                          </a:solidFill>
                          <a:latin typeface="Calibri" pitchFamily="34" charset="0"/>
                          <a:ea typeface="Calibri" pitchFamily="34" charset="-122"/>
                          <a:cs typeface="Calibri" pitchFamily="34" charset="-120"/>
                        </a:rPr>
                        <a:t>Pre/post improvement</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c>
                  <a:txBody>
                    <a:bodyPr/>
                    <a:lstStyle/>
                    <a:p>
                      <a:pPr algn="l" indent="0" marL="0">
                        <a:buNone/>
                      </a:pPr>
                      <a:r>
                        <a:rPr lang="en-US" altLang="en-US" sz="1350" dirty="0">
                          <a:solidFill>
                            <a:srgbClr val="3C3E3B"/>
                          </a:solidFill>
                          <a:latin typeface="Calibri" pitchFamily="34" charset="0"/>
                          <a:ea typeface="Calibri" pitchFamily="34" charset="-122"/>
                          <a:cs typeface="Calibri" pitchFamily="34" charset="-120"/>
                        </a:rPr>
                        <a:t>Same assessment at start and end</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c>
                  <a:txBody>
                    <a:bodyPr/>
                    <a:lstStyle/>
                    <a:p>
                      <a:pPr algn="l" indent="0" marL="0">
                        <a:buNone/>
                      </a:pPr>
                      <a:r>
                        <a:rPr lang="en-US" altLang="en-US" sz="1350" b="1" dirty="0">
                          <a:solidFill>
                            <a:srgbClr val="1A1A1A"/>
                          </a:solidFill>
                          <a:latin typeface="Calibri" pitchFamily="34" charset="0"/>
                          <a:ea typeface="Calibri" pitchFamily="34" charset="-122"/>
                          <a:cs typeface="Calibri" pitchFamily="34" charset="-120"/>
                        </a:rPr>
                        <a:t>+25 points average gain</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r>
              <a:tr h="429768">
                <a:tc>
                  <a:txBody>
                    <a:bodyPr/>
                    <a:lstStyle/>
                    <a:p>
                      <a:pPr algn="l" indent="0" marL="0">
                        <a:buNone/>
                      </a:pPr>
                      <a:r>
                        <a:rPr lang="en-US" altLang="en-US" sz="1350" b="1" dirty="0">
                          <a:solidFill>
                            <a:srgbClr val="1A1A1A"/>
                          </a:solidFill>
                          <a:latin typeface="Calibri" pitchFamily="34" charset="0"/>
                          <a:ea typeface="Calibri" pitchFamily="34" charset="-122"/>
                          <a:cs typeface="Calibri" pitchFamily="34" charset="-120"/>
                        </a:rPr>
                        <a:t>Practical assignments</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c>
                  <a:txBody>
                    <a:bodyPr/>
                    <a:lstStyle/>
                    <a:p>
                      <a:pPr algn="l" indent="0" marL="0">
                        <a:buNone/>
                      </a:pPr>
                      <a:r>
                        <a:rPr lang="en-US" altLang="en-US" sz="1350" dirty="0">
                          <a:solidFill>
                            <a:srgbClr val="3C3E3B"/>
                          </a:solidFill>
                          <a:latin typeface="Calibri" pitchFamily="34" charset="0"/>
                          <a:ea typeface="Calibri" pitchFamily="34" charset="-122"/>
                          <a:cs typeface="Calibri" pitchFamily="34" charset="-120"/>
                        </a:rPr>
                        <a:t>Module deliverables submitted</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c>
                  <a:txBody>
                    <a:bodyPr/>
                    <a:lstStyle/>
                    <a:p>
                      <a:pPr algn="l" indent="0" marL="0">
                        <a:buNone/>
                      </a:pPr>
                      <a:r>
                        <a:rPr lang="en-US" altLang="en-US" sz="1350" b="1" dirty="0">
                          <a:solidFill>
                            <a:srgbClr val="1A1A1A"/>
                          </a:solidFill>
                          <a:latin typeface="Calibri" pitchFamily="34" charset="0"/>
                          <a:ea typeface="Calibri" pitchFamily="34" charset="-122"/>
                          <a:cs typeface="Calibri" pitchFamily="34" charset="-120"/>
                        </a:rPr>
                        <a:t>90% submitted</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r>
              <a:tr h="429768">
                <a:tc>
                  <a:txBody>
                    <a:bodyPr/>
                    <a:lstStyle/>
                    <a:p>
                      <a:pPr algn="l" indent="0" marL="0">
                        <a:buNone/>
                      </a:pPr>
                      <a:r>
                        <a:rPr lang="en-US" altLang="en-US" sz="1350" b="1" dirty="0">
                          <a:solidFill>
                            <a:srgbClr val="1A1A1A"/>
                          </a:solidFill>
                          <a:latin typeface="Calibri" pitchFamily="34" charset="0"/>
                          <a:ea typeface="Calibri" pitchFamily="34" charset="-122"/>
                          <a:cs typeface="Calibri" pitchFamily="34" charset="-120"/>
                        </a:rPr>
                        <a:t>Video project</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c>
                  <a:txBody>
                    <a:bodyPr/>
                    <a:lstStyle/>
                    <a:p>
                      <a:pPr algn="l" indent="0" marL="0">
                        <a:buNone/>
                      </a:pPr>
                      <a:r>
                        <a:rPr lang="en-US" altLang="en-US" sz="1350" dirty="0">
                          <a:solidFill>
                            <a:srgbClr val="3C3E3B"/>
                          </a:solidFill>
                          <a:latin typeface="Calibri" pitchFamily="34" charset="0"/>
                          <a:ea typeface="Calibri" pitchFamily="34" charset="-122"/>
                          <a:cs typeface="Calibri" pitchFamily="34" charset="-120"/>
                        </a:rPr>
                        <a:t>Edited video meets rubric</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c>
                  <a:txBody>
                    <a:bodyPr/>
                    <a:lstStyle/>
                    <a:p>
                      <a:pPr algn="l" indent="0" marL="0">
                        <a:buNone/>
                      </a:pPr>
                      <a:r>
                        <a:rPr lang="en-US" altLang="en-US" sz="1350" b="1" dirty="0">
                          <a:solidFill>
                            <a:srgbClr val="1A1A1A"/>
                          </a:solidFill>
                          <a:latin typeface="Calibri" pitchFamily="34" charset="0"/>
                          <a:ea typeface="Calibri" pitchFamily="34" charset="-122"/>
                          <a:cs typeface="Calibri" pitchFamily="34" charset="-120"/>
                        </a:rPr>
                        <a:t>85% of students</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r>
              <a:tr h="429768">
                <a:tc>
                  <a:txBody>
                    <a:bodyPr/>
                    <a:lstStyle/>
                    <a:p>
                      <a:pPr algn="l" indent="0" marL="0">
                        <a:buNone/>
                      </a:pPr>
                      <a:r>
                        <a:rPr lang="en-US" altLang="en-US" sz="1350" b="1" dirty="0">
                          <a:solidFill>
                            <a:srgbClr val="1A1A1A"/>
                          </a:solidFill>
                          <a:latin typeface="Calibri" pitchFamily="34" charset="0"/>
                          <a:ea typeface="Calibri" pitchFamily="34" charset="-122"/>
                          <a:cs typeface="Calibri" pitchFamily="34" charset="-120"/>
                        </a:rPr>
                        <a:t>Automation project</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c>
                  <a:txBody>
                    <a:bodyPr/>
                    <a:lstStyle/>
                    <a:p>
                      <a:pPr algn="l" indent="0" marL="0">
                        <a:buNone/>
                      </a:pPr>
                      <a:r>
                        <a:rPr lang="en-US" altLang="en-US" sz="1350" dirty="0">
                          <a:solidFill>
                            <a:srgbClr val="3C3E3B"/>
                          </a:solidFill>
                          <a:latin typeface="Calibri" pitchFamily="34" charset="0"/>
                          <a:ea typeface="Calibri" pitchFamily="34" charset="-122"/>
                          <a:cs typeface="Calibri" pitchFamily="34" charset="-120"/>
                        </a:rPr>
                        <a:t>Workflow runs end to end</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c>
                  <a:txBody>
                    <a:bodyPr/>
                    <a:lstStyle/>
                    <a:p>
                      <a:pPr algn="l" indent="0" marL="0">
                        <a:buNone/>
                      </a:pPr>
                      <a:r>
                        <a:rPr lang="en-US" altLang="en-US" sz="1350" b="1" dirty="0">
                          <a:solidFill>
                            <a:srgbClr val="1A1A1A"/>
                          </a:solidFill>
                          <a:latin typeface="Calibri" pitchFamily="34" charset="0"/>
                          <a:ea typeface="Calibri" pitchFamily="34" charset="-122"/>
                          <a:cs typeface="Calibri" pitchFamily="34" charset="-120"/>
                        </a:rPr>
                        <a:t>80% of students</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r>
              <a:tr h="429768">
                <a:tc>
                  <a:txBody>
                    <a:bodyPr/>
                    <a:lstStyle/>
                    <a:p>
                      <a:pPr algn="l" indent="0" marL="0">
                        <a:buNone/>
                      </a:pPr>
                      <a:r>
                        <a:rPr lang="en-US" altLang="en-US" sz="1350" b="1" dirty="0">
                          <a:solidFill>
                            <a:srgbClr val="1A1A1A"/>
                          </a:solidFill>
                          <a:latin typeface="Calibri" pitchFamily="34" charset="0"/>
                          <a:ea typeface="Calibri" pitchFamily="34" charset="-122"/>
                          <a:cs typeface="Calibri" pitchFamily="34" charset="-120"/>
                        </a:rPr>
                        <a:t>Capstone &amp; presentation</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c>
                  <a:txBody>
                    <a:bodyPr/>
                    <a:lstStyle/>
                    <a:p>
                      <a:pPr algn="l" indent="0" marL="0">
                        <a:buNone/>
                      </a:pPr>
                      <a:r>
                        <a:rPr lang="en-US" altLang="en-US" sz="1350" dirty="0">
                          <a:solidFill>
                            <a:srgbClr val="3C3E3B"/>
                          </a:solidFill>
                          <a:latin typeface="Calibri" pitchFamily="34" charset="0"/>
                          <a:ea typeface="Calibri" pitchFamily="34" charset="-122"/>
                          <a:cs typeface="Calibri" pitchFamily="34" charset="-120"/>
                        </a:rPr>
                        <a:t>Rubric score of 3/4 or higher</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c>
                  <a:txBody>
                    <a:bodyPr/>
                    <a:lstStyle/>
                    <a:p>
                      <a:pPr algn="l" indent="0" marL="0">
                        <a:buNone/>
                      </a:pPr>
                      <a:r>
                        <a:rPr lang="en-US" altLang="en-US" sz="1350" b="1" dirty="0">
                          <a:solidFill>
                            <a:srgbClr val="1A1A1A"/>
                          </a:solidFill>
                          <a:latin typeface="Calibri" pitchFamily="34" charset="0"/>
                          <a:ea typeface="Calibri" pitchFamily="34" charset="-122"/>
                          <a:cs typeface="Calibri" pitchFamily="34" charset="-120"/>
                        </a:rPr>
                        <a:t>80% of teams</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r>
              <a:tr h="429768">
                <a:tc>
                  <a:txBody>
                    <a:bodyPr/>
                    <a:lstStyle/>
                    <a:p>
                      <a:pPr algn="l" indent="0" marL="0">
                        <a:buNone/>
                      </a:pPr>
                      <a:r>
                        <a:rPr lang="en-US" altLang="en-US" sz="1350" b="1" dirty="0">
                          <a:solidFill>
                            <a:srgbClr val="1A1A1A"/>
                          </a:solidFill>
                          <a:latin typeface="Calibri" pitchFamily="34" charset="0"/>
                          <a:ea typeface="Calibri" pitchFamily="34" charset="-122"/>
                          <a:cs typeface="Calibri" pitchFamily="34" charset="-120"/>
                        </a:rPr>
                        <a:t>Portfolio completion</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c>
                  <a:txBody>
                    <a:bodyPr/>
                    <a:lstStyle/>
                    <a:p>
                      <a:pPr algn="l" indent="0" marL="0">
                        <a:buNone/>
                      </a:pPr>
                      <a:r>
                        <a:rPr lang="en-US" altLang="en-US" sz="1350" dirty="0">
                          <a:solidFill>
                            <a:srgbClr val="3C3E3B"/>
                          </a:solidFill>
                          <a:latin typeface="Calibri" pitchFamily="34" charset="0"/>
                          <a:ea typeface="Calibri" pitchFamily="34" charset="-122"/>
                          <a:cs typeface="Calibri" pitchFamily="34" charset="-120"/>
                        </a:rPr>
                        <a:t>Published page with 3+ pieces</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c>
                  <a:txBody>
                    <a:bodyPr/>
                    <a:lstStyle/>
                    <a:p>
                      <a:pPr algn="l" indent="0" marL="0">
                        <a:buNone/>
                      </a:pPr>
                      <a:r>
                        <a:rPr lang="en-US" altLang="en-US" sz="1350" b="1" dirty="0">
                          <a:solidFill>
                            <a:srgbClr val="1A1A1A"/>
                          </a:solidFill>
                          <a:latin typeface="Calibri" pitchFamily="34" charset="0"/>
                          <a:ea typeface="Calibri" pitchFamily="34" charset="-122"/>
                          <a:cs typeface="Calibri" pitchFamily="34" charset="-120"/>
                        </a:rPr>
                        <a:t>80% of students</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2F4F1"/>
                    </a:solidFill>
                  </a:tcPr>
                </a:tc>
              </a:tr>
              <a:tr h="429768">
                <a:tc>
                  <a:txBody>
                    <a:bodyPr/>
                    <a:lstStyle/>
                    <a:p>
                      <a:pPr algn="l" indent="0" marL="0">
                        <a:buNone/>
                      </a:pPr>
                      <a:r>
                        <a:rPr lang="en-US" altLang="en-US" sz="1350" b="1" dirty="0">
                          <a:solidFill>
                            <a:srgbClr val="1A1A1A"/>
                          </a:solidFill>
                          <a:latin typeface="Calibri" pitchFamily="34" charset="0"/>
                          <a:ea typeface="Calibri" pitchFamily="34" charset="-122"/>
                          <a:cs typeface="Calibri" pitchFamily="34" charset="-120"/>
                        </a:rPr>
                        <a:t>Freelance readiness</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c>
                  <a:txBody>
                    <a:bodyPr/>
                    <a:lstStyle/>
                    <a:p>
                      <a:pPr algn="l" indent="0" marL="0">
                        <a:buNone/>
                      </a:pPr>
                      <a:r>
                        <a:rPr lang="en-US" altLang="en-US" sz="1350" dirty="0">
                          <a:solidFill>
                            <a:srgbClr val="3C3E3B"/>
                          </a:solidFill>
                          <a:latin typeface="Calibri" pitchFamily="34" charset="0"/>
                          <a:ea typeface="Calibri" pitchFamily="34" charset="-122"/>
                          <a:cs typeface="Calibri" pitchFamily="34" charset="-120"/>
                        </a:rPr>
                        <a:t>Readiness checklist completed</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c>
                  <a:txBody>
                    <a:bodyPr/>
                    <a:lstStyle/>
                    <a:p>
                      <a:pPr algn="l" indent="0" marL="0">
                        <a:buNone/>
                      </a:pPr>
                      <a:r>
                        <a:rPr lang="en-US" altLang="en-US" sz="1350" b="1" dirty="0">
                          <a:solidFill>
                            <a:srgbClr val="1A1A1A"/>
                          </a:solidFill>
                          <a:latin typeface="Calibri" pitchFamily="34" charset="0"/>
                          <a:ea typeface="Calibri" pitchFamily="34" charset="-122"/>
                          <a:cs typeface="Calibri" pitchFamily="34" charset="-120"/>
                        </a:rPr>
                        <a:t>75% of students</a:t>
                      </a:r>
                      <a:endParaRPr lang="en-US" sz="1350" dirty="0">
                        <a:latin typeface="Calibri" charset="0"/>
                        <a:ea typeface="Calibri" charset="0"/>
                        <a:cs typeface="Calibri" charset="0"/>
                      </a:endParaRPr>
                    </a:p>
                  </a:txBody>
                  <a:tcPr marL="137160" marR="137160" marT="36576" marB="36576" anchor="ctr">
                    <a:lnL w="6350" cap="flat" cmpd="sng" algn="ctr">
                      <a:solidFill>
                        <a:srgbClr val="D9DDD8"/>
                      </a:solidFill>
                      <a:prstDash val="solid"/>
                      <a:round/>
                      <a:headEnd type="none" w="med" len="med"/>
                      <a:tailEnd type="none" w="med" len="med"/>
                    </a:lnL>
                    <a:lnR w="6350" cap="flat" cmpd="sng" algn="ctr">
                      <a:solidFill>
                        <a:srgbClr val="D9DDD8"/>
                      </a:solidFill>
                      <a:prstDash val="solid"/>
                      <a:round/>
                      <a:headEnd type="none" w="med" len="med"/>
                      <a:tailEnd type="none" w="med" len="med"/>
                    </a:lnR>
                    <a:lnT w="6350" cap="flat" cmpd="sng" algn="ctr">
                      <a:solidFill>
                        <a:srgbClr val="D9DDD8"/>
                      </a:solidFill>
                      <a:prstDash val="solid"/>
                      <a:round/>
                      <a:headEnd type="none" w="med" len="med"/>
                      <a:tailEnd type="none" w="med" len="med"/>
                    </a:lnT>
                    <a:lnB w="6350" cap="flat" cmpd="sng" algn="ctr">
                      <a:solidFill>
                        <a:srgbClr val="D9DDD8"/>
                      </a:solidFill>
                      <a:prstDash val="solid"/>
                      <a:round/>
                      <a:headEnd type="none" w="med" len="med"/>
                      <a:tailEnd type="none" w="med" len="med"/>
                    </a:lnB>
                    <a:solidFill>
                      <a:srgbClr val="FFFFFF"/>
                    </a:solidFill>
                  </a:tcPr>
                </a:tc>
              </a:tr>
            </a:tbl>
          </a:graphicData>
        </a:graphic>
      </p:graphicFrame>
      <p:sp>
        <p:nvSpPr>
          <p:cNvPr id="8" name="Shape 4"/>
          <p:cNvSpPr/>
          <p:nvPr/>
        </p:nvSpPr>
        <p:spPr>
          <a:xfrm>
            <a:off x="10500055" y="2313432"/>
            <a:ext cx="1033272" cy="237744"/>
          </a:xfrm>
          <a:prstGeom prst="roundRect">
            <a:avLst>
              <a:gd name="adj" fmla="val 50000"/>
            </a:avLst>
          </a:prstGeom>
          <a:solidFill>
            <a:srgbClr val="EAF5E8"/>
          </a:solidFill>
          <a:ln w="9525">
            <a:solidFill>
              <a:srgbClr val="4DB449"/>
            </a:solidFill>
            <a:prstDash val="solid"/>
          </a:ln>
        </p:spPr>
      </p:sp>
      <p:sp>
        <p:nvSpPr>
          <p:cNvPr id="9" name="Text 5"/>
          <p:cNvSpPr txBox="1"/>
          <p:nvPr/>
        </p:nvSpPr>
        <p:spPr>
          <a:xfrm>
            <a:off x="10500055" y="2313432"/>
            <a:ext cx="1033272" cy="237744"/>
          </a:xfrm>
          <a:prstGeom prst="rect">
            <a:avLst/>
          </a:prstGeom>
          <a:noFill/>
          <a:ln/>
        </p:spPr>
        <p:txBody>
          <a:bodyPr wrap="square" lIns="0" tIns="0" rIns="0" bIns="0" rtlCol="0" anchor="ctr"/>
          <a:lstStyle/>
          <a:p>
            <a:pPr algn="ctr" indent="0" marL="0">
              <a:buNone/>
            </a:pPr>
            <a:r>
              <a:rPr lang="en-US" altLang="en-US" sz="950" b="1" dirty="0">
                <a:solidFill>
                  <a:srgbClr val="1A1A1A"/>
                </a:solidFill>
                <a:latin typeface="Calibri" pitchFamily="34" charset="0"/>
                <a:ea typeface="Calibri" pitchFamily="34" charset="-122"/>
                <a:cs typeface="Calibri" pitchFamily="34" charset="-120"/>
              </a:rPr>
              <a:t>Proposed</a:t>
            </a:r>
            <a:endParaRPr lang="en-US" sz="950" dirty="0"/>
          </a:p>
        </p:txBody>
      </p:sp>
      <p:sp>
        <p:nvSpPr>
          <p:cNvPr id="10" name="Shape 6"/>
          <p:cNvSpPr/>
          <p:nvPr/>
        </p:nvSpPr>
        <p:spPr>
          <a:xfrm>
            <a:off x="10500055" y="2743200"/>
            <a:ext cx="1033272" cy="237744"/>
          </a:xfrm>
          <a:prstGeom prst="roundRect">
            <a:avLst>
              <a:gd name="adj" fmla="val 50000"/>
            </a:avLst>
          </a:prstGeom>
          <a:solidFill>
            <a:srgbClr val="EAF5E8"/>
          </a:solidFill>
          <a:ln w="9525">
            <a:solidFill>
              <a:srgbClr val="4DB449"/>
            </a:solidFill>
            <a:prstDash val="solid"/>
          </a:ln>
        </p:spPr>
      </p:sp>
      <p:sp>
        <p:nvSpPr>
          <p:cNvPr id="11" name="Text 7"/>
          <p:cNvSpPr txBox="1"/>
          <p:nvPr/>
        </p:nvSpPr>
        <p:spPr>
          <a:xfrm>
            <a:off x="10500055" y="2743200"/>
            <a:ext cx="1033272" cy="237744"/>
          </a:xfrm>
          <a:prstGeom prst="rect">
            <a:avLst/>
          </a:prstGeom>
          <a:noFill/>
          <a:ln/>
        </p:spPr>
        <p:txBody>
          <a:bodyPr wrap="square" lIns="0" tIns="0" rIns="0" bIns="0" rtlCol="0" anchor="ctr"/>
          <a:lstStyle/>
          <a:p>
            <a:pPr algn="ctr" indent="0" marL="0">
              <a:buNone/>
            </a:pPr>
            <a:r>
              <a:rPr lang="en-US" altLang="en-US" sz="950" b="1" dirty="0">
                <a:solidFill>
                  <a:srgbClr val="1A1A1A"/>
                </a:solidFill>
                <a:latin typeface="Calibri" pitchFamily="34" charset="0"/>
                <a:ea typeface="Calibri" pitchFamily="34" charset="-122"/>
                <a:cs typeface="Calibri" pitchFamily="34" charset="-120"/>
              </a:rPr>
              <a:t>Proposed</a:t>
            </a:r>
            <a:endParaRPr lang="en-US" sz="950" dirty="0"/>
          </a:p>
        </p:txBody>
      </p:sp>
      <p:sp>
        <p:nvSpPr>
          <p:cNvPr id="12" name="Shape 8"/>
          <p:cNvSpPr/>
          <p:nvPr/>
        </p:nvSpPr>
        <p:spPr>
          <a:xfrm>
            <a:off x="10500055" y="3172968"/>
            <a:ext cx="1033272" cy="237744"/>
          </a:xfrm>
          <a:prstGeom prst="roundRect">
            <a:avLst>
              <a:gd name="adj" fmla="val 50000"/>
            </a:avLst>
          </a:prstGeom>
          <a:solidFill>
            <a:srgbClr val="EAF5E8"/>
          </a:solidFill>
          <a:ln w="9525">
            <a:solidFill>
              <a:srgbClr val="4DB449"/>
            </a:solidFill>
            <a:prstDash val="solid"/>
          </a:ln>
        </p:spPr>
      </p:sp>
      <p:sp>
        <p:nvSpPr>
          <p:cNvPr id="13" name="Text 9"/>
          <p:cNvSpPr txBox="1"/>
          <p:nvPr/>
        </p:nvSpPr>
        <p:spPr>
          <a:xfrm>
            <a:off x="10500055" y="3172968"/>
            <a:ext cx="1033272" cy="237744"/>
          </a:xfrm>
          <a:prstGeom prst="rect">
            <a:avLst/>
          </a:prstGeom>
          <a:noFill/>
          <a:ln/>
        </p:spPr>
        <p:txBody>
          <a:bodyPr wrap="square" lIns="0" tIns="0" rIns="0" bIns="0" rtlCol="0" anchor="ctr"/>
          <a:lstStyle/>
          <a:p>
            <a:pPr algn="ctr" indent="0" marL="0">
              <a:buNone/>
            </a:pPr>
            <a:r>
              <a:rPr lang="en-US" altLang="en-US" sz="950" b="1" dirty="0">
                <a:solidFill>
                  <a:srgbClr val="1A1A1A"/>
                </a:solidFill>
                <a:latin typeface="Calibri" pitchFamily="34" charset="0"/>
                <a:ea typeface="Calibri" pitchFamily="34" charset="-122"/>
                <a:cs typeface="Calibri" pitchFamily="34" charset="-120"/>
              </a:rPr>
              <a:t>Proposed</a:t>
            </a:r>
            <a:endParaRPr lang="en-US" sz="950" dirty="0"/>
          </a:p>
        </p:txBody>
      </p:sp>
      <p:sp>
        <p:nvSpPr>
          <p:cNvPr id="14" name="Shape 10"/>
          <p:cNvSpPr/>
          <p:nvPr/>
        </p:nvSpPr>
        <p:spPr>
          <a:xfrm>
            <a:off x="10500055" y="3602736"/>
            <a:ext cx="1033272" cy="237744"/>
          </a:xfrm>
          <a:prstGeom prst="roundRect">
            <a:avLst>
              <a:gd name="adj" fmla="val 50000"/>
            </a:avLst>
          </a:prstGeom>
          <a:solidFill>
            <a:srgbClr val="EAF5E8"/>
          </a:solidFill>
          <a:ln w="9525">
            <a:solidFill>
              <a:srgbClr val="4DB449"/>
            </a:solidFill>
            <a:prstDash val="solid"/>
          </a:ln>
        </p:spPr>
      </p:sp>
      <p:sp>
        <p:nvSpPr>
          <p:cNvPr id="15" name="Text 11"/>
          <p:cNvSpPr txBox="1"/>
          <p:nvPr/>
        </p:nvSpPr>
        <p:spPr>
          <a:xfrm>
            <a:off x="10500055" y="3602736"/>
            <a:ext cx="1033272" cy="237744"/>
          </a:xfrm>
          <a:prstGeom prst="rect">
            <a:avLst/>
          </a:prstGeom>
          <a:noFill/>
          <a:ln/>
        </p:spPr>
        <p:txBody>
          <a:bodyPr wrap="square" lIns="0" tIns="0" rIns="0" bIns="0" rtlCol="0" anchor="ctr"/>
          <a:lstStyle/>
          <a:p>
            <a:pPr algn="ctr" indent="0" marL="0">
              <a:buNone/>
            </a:pPr>
            <a:r>
              <a:rPr lang="en-US" altLang="en-US" sz="950" b="1" dirty="0">
                <a:solidFill>
                  <a:srgbClr val="1A1A1A"/>
                </a:solidFill>
                <a:latin typeface="Calibri" pitchFamily="34" charset="0"/>
                <a:ea typeface="Calibri" pitchFamily="34" charset="-122"/>
                <a:cs typeface="Calibri" pitchFamily="34" charset="-120"/>
              </a:rPr>
              <a:t>Proposed</a:t>
            </a:r>
            <a:endParaRPr lang="en-US" sz="950" dirty="0"/>
          </a:p>
        </p:txBody>
      </p:sp>
      <p:sp>
        <p:nvSpPr>
          <p:cNvPr id="16" name="Shape 12"/>
          <p:cNvSpPr/>
          <p:nvPr/>
        </p:nvSpPr>
        <p:spPr>
          <a:xfrm>
            <a:off x="10500055" y="4032504"/>
            <a:ext cx="1033272" cy="237744"/>
          </a:xfrm>
          <a:prstGeom prst="roundRect">
            <a:avLst>
              <a:gd name="adj" fmla="val 50000"/>
            </a:avLst>
          </a:prstGeom>
          <a:solidFill>
            <a:srgbClr val="EAF5E8"/>
          </a:solidFill>
          <a:ln w="9525">
            <a:solidFill>
              <a:srgbClr val="4DB449"/>
            </a:solidFill>
            <a:prstDash val="solid"/>
          </a:ln>
        </p:spPr>
      </p:sp>
      <p:sp>
        <p:nvSpPr>
          <p:cNvPr id="17" name="Text 13"/>
          <p:cNvSpPr txBox="1"/>
          <p:nvPr/>
        </p:nvSpPr>
        <p:spPr>
          <a:xfrm>
            <a:off x="10500055" y="4032504"/>
            <a:ext cx="1033272" cy="237744"/>
          </a:xfrm>
          <a:prstGeom prst="rect">
            <a:avLst/>
          </a:prstGeom>
          <a:noFill/>
          <a:ln/>
        </p:spPr>
        <p:txBody>
          <a:bodyPr wrap="square" lIns="0" tIns="0" rIns="0" bIns="0" rtlCol="0" anchor="ctr"/>
          <a:lstStyle/>
          <a:p>
            <a:pPr algn="ctr" indent="0" marL="0">
              <a:buNone/>
            </a:pPr>
            <a:r>
              <a:rPr lang="en-US" altLang="en-US" sz="950" b="1" dirty="0">
                <a:solidFill>
                  <a:srgbClr val="1A1A1A"/>
                </a:solidFill>
                <a:latin typeface="Calibri" pitchFamily="34" charset="0"/>
                <a:ea typeface="Calibri" pitchFamily="34" charset="-122"/>
                <a:cs typeface="Calibri" pitchFamily="34" charset="-120"/>
              </a:rPr>
              <a:t>Proposed</a:t>
            </a:r>
            <a:endParaRPr lang="en-US" sz="950" dirty="0"/>
          </a:p>
        </p:txBody>
      </p:sp>
      <p:sp>
        <p:nvSpPr>
          <p:cNvPr id="18" name="Shape 14"/>
          <p:cNvSpPr/>
          <p:nvPr/>
        </p:nvSpPr>
        <p:spPr>
          <a:xfrm>
            <a:off x="10500055" y="4462272"/>
            <a:ext cx="1033272" cy="237744"/>
          </a:xfrm>
          <a:prstGeom prst="roundRect">
            <a:avLst>
              <a:gd name="adj" fmla="val 50000"/>
            </a:avLst>
          </a:prstGeom>
          <a:solidFill>
            <a:srgbClr val="EAF5E8"/>
          </a:solidFill>
          <a:ln w="9525">
            <a:solidFill>
              <a:srgbClr val="4DB449"/>
            </a:solidFill>
            <a:prstDash val="solid"/>
          </a:ln>
        </p:spPr>
      </p:sp>
      <p:sp>
        <p:nvSpPr>
          <p:cNvPr id="19" name="Text 15"/>
          <p:cNvSpPr txBox="1"/>
          <p:nvPr/>
        </p:nvSpPr>
        <p:spPr>
          <a:xfrm>
            <a:off x="10500055" y="4462272"/>
            <a:ext cx="1033272" cy="237744"/>
          </a:xfrm>
          <a:prstGeom prst="rect">
            <a:avLst/>
          </a:prstGeom>
          <a:noFill/>
          <a:ln/>
        </p:spPr>
        <p:txBody>
          <a:bodyPr wrap="square" lIns="0" tIns="0" rIns="0" bIns="0" rtlCol="0" anchor="ctr"/>
          <a:lstStyle/>
          <a:p>
            <a:pPr algn="ctr" indent="0" marL="0">
              <a:buNone/>
            </a:pPr>
            <a:r>
              <a:rPr lang="en-US" altLang="en-US" sz="950" b="1" dirty="0">
                <a:solidFill>
                  <a:srgbClr val="1A1A1A"/>
                </a:solidFill>
                <a:latin typeface="Calibri" pitchFamily="34" charset="0"/>
                <a:ea typeface="Calibri" pitchFamily="34" charset="-122"/>
                <a:cs typeface="Calibri" pitchFamily="34" charset="-120"/>
              </a:rPr>
              <a:t>Proposed</a:t>
            </a:r>
            <a:endParaRPr lang="en-US" sz="950" dirty="0"/>
          </a:p>
        </p:txBody>
      </p:sp>
      <p:sp>
        <p:nvSpPr>
          <p:cNvPr id="20" name="Shape 16"/>
          <p:cNvSpPr/>
          <p:nvPr/>
        </p:nvSpPr>
        <p:spPr>
          <a:xfrm>
            <a:off x="10500055" y="4892040"/>
            <a:ext cx="1033272" cy="237744"/>
          </a:xfrm>
          <a:prstGeom prst="roundRect">
            <a:avLst>
              <a:gd name="adj" fmla="val 50000"/>
            </a:avLst>
          </a:prstGeom>
          <a:solidFill>
            <a:srgbClr val="EAF5E8"/>
          </a:solidFill>
          <a:ln w="9525">
            <a:solidFill>
              <a:srgbClr val="4DB449"/>
            </a:solidFill>
            <a:prstDash val="solid"/>
          </a:ln>
        </p:spPr>
      </p:sp>
      <p:sp>
        <p:nvSpPr>
          <p:cNvPr id="21" name="Text 17"/>
          <p:cNvSpPr txBox="1"/>
          <p:nvPr/>
        </p:nvSpPr>
        <p:spPr>
          <a:xfrm>
            <a:off x="10500055" y="4892040"/>
            <a:ext cx="1033272" cy="237744"/>
          </a:xfrm>
          <a:prstGeom prst="rect">
            <a:avLst/>
          </a:prstGeom>
          <a:noFill/>
          <a:ln/>
        </p:spPr>
        <p:txBody>
          <a:bodyPr wrap="square" lIns="0" tIns="0" rIns="0" bIns="0" rtlCol="0" anchor="ctr"/>
          <a:lstStyle/>
          <a:p>
            <a:pPr algn="ctr" indent="0" marL="0">
              <a:buNone/>
            </a:pPr>
            <a:r>
              <a:rPr lang="en-US" altLang="en-US" sz="950" b="1" dirty="0">
                <a:solidFill>
                  <a:srgbClr val="1A1A1A"/>
                </a:solidFill>
                <a:latin typeface="Calibri" pitchFamily="34" charset="0"/>
                <a:ea typeface="Calibri" pitchFamily="34" charset="-122"/>
                <a:cs typeface="Calibri" pitchFamily="34" charset="-120"/>
              </a:rPr>
              <a:t>Proposed</a:t>
            </a:r>
            <a:endParaRPr lang="en-US" sz="950" dirty="0"/>
          </a:p>
        </p:txBody>
      </p:sp>
      <p:sp>
        <p:nvSpPr>
          <p:cNvPr id="22" name="Shape 18"/>
          <p:cNvSpPr/>
          <p:nvPr/>
        </p:nvSpPr>
        <p:spPr>
          <a:xfrm>
            <a:off x="10500055" y="5321808"/>
            <a:ext cx="1033272" cy="237744"/>
          </a:xfrm>
          <a:prstGeom prst="roundRect">
            <a:avLst>
              <a:gd name="adj" fmla="val 50000"/>
            </a:avLst>
          </a:prstGeom>
          <a:solidFill>
            <a:srgbClr val="EAF5E8"/>
          </a:solidFill>
          <a:ln w="9525">
            <a:solidFill>
              <a:srgbClr val="4DB449"/>
            </a:solidFill>
            <a:prstDash val="solid"/>
          </a:ln>
        </p:spPr>
      </p:sp>
      <p:sp>
        <p:nvSpPr>
          <p:cNvPr id="23" name="Text 19"/>
          <p:cNvSpPr txBox="1"/>
          <p:nvPr/>
        </p:nvSpPr>
        <p:spPr>
          <a:xfrm>
            <a:off x="10500055" y="5321808"/>
            <a:ext cx="1033272" cy="237744"/>
          </a:xfrm>
          <a:prstGeom prst="rect">
            <a:avLst/>
          </a:prstGeom>
          <a:noFill/>
          <a:ln/>
        </p:spPr>
        <p:txBody>
          <a:bodyPr wrap="square" lIns="0" tIns="0" rIns="0" bIns="0" rtlCol="0" anchor="ctr"/>
          <a:lstStyle/>
          <a:p>
            <a:pPr algn="ctr" indent="0" marL="0">
              <a:buNone/>
            </a:pPr>
            <a:r>
              <a:rPr lang="en-US" altLang="en-US" sz="950" b="1" dirty="0">
                <a:solidFill>
                  <a:srgbClr val="1A1A1A"/>
                </a:solidFill>
                <a:latin typeface="Calibri" pitchFamily="34" charset="0"/>
                <a:ea typeface="Calibri" pitchFamily="34" charset="-122"/>
                <a:cs typeface="Calibri" pitchFamily="34" charset="-120"/>
              </a:rPr>
              <a:t>Proposed</a:t>
            </a:r>
            <a:endParaRPr lang="en-US" sz="950" dirty="0"/>
          </a:p>
        </p:txBody>
      </p:sp>
      <p:sp>
        <p:nvSpPr>
          <p:cNvPr id="24" name="Text 20"/>
          <p:cNvSpPr txBox="1"/>
          <p:nvPr/>
        </p:nvSpPr>
        <p:spPr>
          <a:xfrm>
            <a:off x="548640" y="5760720"/>
            <a:ext cx="11094415" cy="320040"/>
          </a:xfrm>
          <a:prstGeom prst="rect">
            <a:avLst/>
          </a:prstGeom>
          <a:noFill/>
          <a:ln/>
        </p:spPr>
        <p:txBody>
          <a:bodyPr wrap="square" lIns="0" tIns="0" rIns="0" bIns="0" rtlCol="0" anchor="t"/>
          <a:lstStyle/>
          <a:p>
            <a:pPr algn="l" indent="0" marL="0">
              <a:lnSpc>
                <a:spcPct val="95000"/>
              </a:lnSpc>
              <a:buNone/>
            </a:pPr>
            <a:r>
              <a:rPr lang="en-US" altLang="en-US" sz="1100" i="1" dirty="0">
                <a:solidFill>
                  <a:srgbClr val="727274"/>
                </a:solidFill>
                <a:latin typeface="Calibri" pitchFamily="34" charset="0"/>
                <a:ea typeface="Calibri" pitchFamily="34" charset="-122"/>
                <a:cs typeface="Calibri" pitchFamily="34" charset="-120"/>
              </a:rPr>
              <a:t>All targets are proposed and should be confirmed with the program team before launch.</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10356554" y="384048"/>
            <a:ext cx="1286501" cy="457200"/>
          </a:xfrm>
          <a:prstGeom prst="rect">
            <a:avLst/>
          </a:prstGeom>
        </p:spPr>
      </p:pic>
      <p:sp>
        <p:nvSpPr>
          <p:cNvPr id="3" name="Text 0"/>
          <p:cNvSpPr txBox="1"/>
          <p:nvPr/>
        </p:nvSpPr>
        <p:spPr>
          <a:xfrm>
            <a:off x="548640" y="6446520"/>
            <a:ext cx="6400800" cy="228600"/>
          </a:xfrm>
          <a:prstGeom prst="rect">
            <a:avLst/>
          </a:prstGeom>
          <a:noFill/>
          <a:ln/>
        </p:spPr>
        <p:txBody>
          <a:bodyPr wrap="square" lIns="0" tIns="0" rIns="0" bIns="0" rtlCol="0" anchor="t"/>
          <a:lstStyle/>
          <a:p>
            <a:pPr algn="l"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AI Creators Program · Training Concept Note</a:t>
            </a:r>
            <a:endParaRPr lang="en-US" sz="900" dirty="0"/>
          </a:p>
        </p:txBody>
      </p:sp>
      <p:sp>
        <p:nvSpPr>
          <p:cNvPr id="4" name="Text 1"/>
          <p:cNvSpPr txBox="1"/>
          <p:nvPr/>
        </p:nvSpPr>
        <p:spPr>
          <a:xfrm>
            <a:off x="11094415" y="6446520"/>
            <a:ext cx="548640" cy="228600"/>
          </a:xfrm>
          <a:prstGeom prst="rect">
            <a:avLst/>
          </a:prstGeom>
          <a:noFill/>
          <a:ln/>
        </p:spPr>
        <p:txBody>
          <a:bodyPr wrap="square" lIns="0" tIns="0" rIns="0" bIns="0" rtlCol="0" anchor="t"/>
          <a:lstStyle/>
          <a:p>
            <a:pPr algn="r"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16</a:t>
            </a:r>
            <a:endParaRPr lang="en-US" sz="900" dirty="0"/>
          </a:p>
        </p:txBody>
      </p:sp>
      <p:sp>
        <p:nvSpPr>
          <p:cNvPr id="5" name="Text 2"/>
          <p:cNvSpPr txBox="1"/>
          <p:nvPr/>
        </p:nvSpPr>
        <p:spPr>
          <a:xfrm>
            <a:off x="548640" y="384048"/>
            <a:ext cx="8961120" cy="274320"/>
          </a:xfrm>
          <a:prstGeom prst="rect">
            <a:avLst/>
          </a:prstGeom>
          <a:noFill/>
          <a:ln/>
        </p:spPr>
        <p:txBody>
          <a:bodyPr wrap="square" lIns="0" tIns="0" rIns="0" bIns="0" rtlCol="0" anchor="t"/>
          <a:lstStyle/>
          <a:p>
            <a:pPr algn="l" indent="0" marL="0">
              <a:lnSpc>
                <a:spcPct val="95000"/>
              </a:lnSpc>
              <a:buNone/>
            </a:pPr>
            <a:r>
              <a:rPr lang="en-US" altLang="en-US" sz="1100" b="1" spc="200" kern="0" dirty="0">
                <a:solidFill>
                  <a:srgbClr val="727274"/>
                </a:solidFill>
                <a:latin typeface="Calibri" pitchFamily="34" charset="0"/>
                <a:ea typeface="Calibri" pitchFamily="34" charset="-122"/>
                <a:cs typeface="Calibri" pitchFamily="34" charset="-120"/>
              </a:rPr>
              <a:t>15 · DELIVERY MODEL</a:t>
            </a:r>
            <a:endParaRPr lang="en-US" sz="1100" dirty="0"/>
          </a:p>
        </p:txBody>
      </p:sp>
      <p:sp>
        <p:nvSpPr>
          <p:cNvPr id="6" name="Text 3"/>
          <p:cNvSpPr txBox="1"/>
          <p:nvPr/>
        </p:nvSpPr>
        <p:spPr>
          <a:xfrm>
            <a:off x="548640" y="676656"/>
            <a:ext cx="9418320" cy="914400"/>
          </a:xfrm>
          <a:prstGeom prst="rect">
            <a:avLst/>
          </a:prstGeom>
          <a:noFill/>
          <a:ln/>
        </p:spPr>
        <p:txBody>
          <a:bodyPr wrap="square" lIns="0" tIns="0" rIns="0" bIns="0" rtlCol="0" anchor="t"/>
          <a:lstStyle/>
          <a:p>
            <a:pPr algn="l" indent="0" marL="0">
              <a:lnSpc>
                <a:spcPct val="90000"/>
              </a:lnSpc>
              <a:buNone/>
            </a:pPr>
            <a:r>
              <a:rPr lang="en-US" altLang="en-US" sz="2800" b="1" dirty="0">
                <a:solidFill>
                  <a:srgbClr val="1A1A1A"/>
                </a:solidFill>
                <a:latin typeface="Cairo" pitchFamily="34" charset="0"/>
                <a:ea typeface="Cairo" pitchFamily="34" charset="-122"/>
                <a:cs typeface="Cairo" pitchFamily="34" charset="-120"/>
              </a:rPr>
              <a:t>Twelve weeks, three sessions a week</a:t>
            </a:r>
            <a:endParaRPr lang="en-US" sz="2800" dirty="0"/>
          </a:p>
        </p:txBody>
      </p:sp>
      <p:sp>
        <p:nvSpPr>
          <p:cNvPr id="7" name="Text 4"/>
          <p:cNvSpPr txBox="1"/>
          <p:nvPr/>
        </p:nvSpPr>
        <p:spPr>
          <a:xfrm>
            <a:off x="2971800" y="1828800"/>
            <a:ext cx="43815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727274"/>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2980944" y="2148840"/>
            <a:ext cx="419862" cy="3712464"/>
          </a:xfrm>
          <a:prstGeom prst="rect">
            <a:avLst/>
          </a:prstGeom>
          <a:solidFill>
            <a:srgbClr val="F7F8F6"/>
          </a:solidFill>
          <a:ln w="12700">
            <a:solidFill>
              <a:srgbClr val="F7F8F6"/>
            </a:solidFill>
            <a:prstDash val="solid"/>
          </a:ln>
        </p:spPr>
      </p:sp>
      <p:sp>
        <p:nvSpPr>
          <p:cNvPr id="9" name="Text 6"/>
          <p:cNvSpPr txBox="1"/>
          <p:nvPr/>
        </p:nvSpPr>
        <p:spPr>
          <a:xfrm>
            <a:off x="3409950" y="1828800"/>
            <a:ext cx="43815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727274"/>
                </a:solidFill>
                <a:latin typeface="Calibri" pitchFamily="34" charset="0"/>
                <a:ea typeface="Calibri" pitchFamily="34" charset="-122"/>
                <a:cs typeface="Calibri" pitchFamily="34" charset="-120"/>
              </a:rPr>
              <a:t>2</a:t>
            </a:r>
            <a:endParaRPr lang="en-US" sz="1100" dirty="0"/>
          </a:p>
        </p:txBody>
      </p:sp>
      <p:sp>
        <p:nvSpPr>
          <p:cNvPr id="10" name="Shape 7"/>
          <p:cNvSpPr/>
          <p:nvPr/>
        </p:nvSpPr>
        <p:spPr>
          <a:xfrm>
            <a:off x="3419094" y="2148840"/>
            <a:ext cx="419862" cy="3712464"/>
          </a:xfrm>
          <a:prstGeom prst="rect">
            <a:avLst/>
          </a:prstGeom>
          <a:solidFill>
            <a:srgbClr val="FFFFFF"/>
          </a:solidFill>
          <a:ln w="12700">
            <a:solidFill>
              <a:srgbClr val="FFFFFF"/>
            </a:solidFill>
            <a:prstDash val="solid"/>
          </a:ln>
        </p:spPr>
      </p:sp>
      <p:sp>
        <p:nvSpPr>
          <p:cNvPr id="11" name="Text 8"/>
          <p:cNvSpPr txBox="1"/>
          <p:nvPr/>
        </p:nvSpPr>
        <p:spPr>
          <a:xfrm>
            <a:off x="3848100" y="1828800"/>
            <a:ext cx="43815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727274"/>
                </a:solidFill>
                <a:latin typeface="Calibri" pitchFamily="34" charset="0"/>
                <a:ea typeface="Calibri" pitchFamily="34" charset="-122"/>
                <a:cs typeface="Calibri" pitchFamily="34" charset="-120"/>
              </a:rPr>
              <a:t>3</a:t>
            </a:r>
            <a:endParaRPr lang="en-US" sz="1100" dirty="0"/>
          </a:p>
        </p:txBody>
      </p:sp>
      <p:sp>
        <p:nvSpPr>
          <p:cNvPr id="12" name="Shape 9"/>
          <p:cNvSpPr/>
          <p:nvPr/>
        </p:nvSpPr>
        <p:spPr>
          <a:xfrm>
            <a:off x="3857244" y="2148840"/>
            <a:ext cx="419862" cy="3712464"/>
          </a:xfrm>
          <a:prstGeom prst="rect">
            <a:avLst/>
          </a:prstGeom>
          <a:solidFill>
            <a:srgbClr val="F7F8F6"/>
          </a:solidFill>
          <a:ln w="12700">
            <a:solidFill>
              <a:srgbClr val="F7F8F6"/>
            </a:solidFill>
            <a:prstDash val="solid"/>
          </a:ln>
        </p:spPr>
      </p:sp>
      <p:sp>
        <p:nvSpPr>
          <p:cNvPr id="13" name="Text 10"/>
          <p:cNvSpPr txBox="1"/>
          <p:nvPr/>
        </p:nvSpPr>
        <p:spPr>
          <a:xfrm>
            <a:off x="4286250" y="1828800"/>
            <a:ext cx="43815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727274"/>
                </a:solidFill>
                <a:latin typeface="Calibri" pitchFamily="34" charset="0"/>
                <a:ea typeface="Calibri" pitchFamily="34" charset="-122"/>
                <a:cs typeface="Calibri" pitchFamily="34" charset="-120"/>
              </a:rPr>
              <a:t>4</a:t>
            </a:r>
            <a:endParaRPr lang="en-US" sz="1100" dirty="0"/>
          </a:p>
        </p:txBody>
      </p:sp>
      <p:sp>
        <p:nvSpPr>
          <p:cNvPr id="14" name="Shape 11"/>
          <p:cNvSpPr/>
          <p:nvPr/>
        </p:nvSpPr>
        <p:spPr>
          <a:xfrm>
            <a:off x="4295394" y="2148840"/>
            <a:ext cx="419862" cy="3712464"/>
          </a:xfrm>
          <a:prstGeom prst="rect">
            <a:avLst/>
          </a:prstGeom>
          <a:solidFill>
            <a:srgbClr val="FFFFFF"/>
          </a:solidFill>
          <a:ln w="12700">
            <a:solidFill>
              <a:srgbClr val="FFFFFF"/>
            </a:solidFill>
            <a:prstDash val="solid"/>
          </a:ln>
        </p:spPr>
      </p:sp>
      <p:sp>
        <p:nvSpPr>
          <p:cNvPr id="15" name="Text 12"/>
          <p:cNvSpPr txBox="1"/>
          <p:nvPr/>
        </p:nvSpPr>
        <p:spPr>
          <a:xfrm>
            <a:off x="4724400" y="1828800"/>
            <a:ext cx="43815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727274"/>
                </a:solidFill>
                <a:latin typeface="Calibri" pitchFamily="34" charset="0"/>
                <a:ea typeface="Calibri" pitchFamily="34" charset="-122"/>
                <a:cs typeface="Calibri" pitchFamily="34" charset="-120"/>
              </a:rPr>
              <a:t>5</a:t>
            </a:r>
            <a:endParaRPr lang="en-US" sz="1100" dirty="0"/>
          </a:p>
        </p:txBody>
      </p:sp>
      <p:sp>
        <p:nvSpPr>
          <p:cNvPr id="16" name="Shape 13"/>
          <p:cNvSpPr/>
          <p:nvPr/>
        </p:nvSpPr>
        <p:spPr>
          <a:xfrm>
            <a:off x="4733544" y="2148840"/>
            <a:ext cx="419862" cy="3712464"/>
          </a:xfrm>
          <a:prstGeom prst="rect">
            <a:avLst/>
          </a:prstGeom>
          <a:solidFill>
            <a:srgbClr val="F7F8F6"/>
          </a:solidFill>
          <a:ln w="12700">
            <a:solidFill>
              <a:srgbClr val="F7F8F6"/>
            </a:solidFill>
            <a:prstDash val="solid"/>
          </a:ln>
        </p:spPr>
      </p:sp>
      <p:sp>
        <p:nvSpPr>
          <p:cNvPr id="17" name="Text 14"/>
          <p:cNvSpPr txBox="1"/>
          <p:nvPr/>
        </p:nvSpPr>
        <p:spPr>
          <a:xfrm>
            <a:off x="5162550" y="1828800"/>
            <a:ext cx="43815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727274"/>
                </a:solidFill>
                <a:latin typeface="Calibri" pitchFamily="34" charset="0"/>
                <a:ea typeface="Calibri" pitchFamily="34" charset="-122"/>
                <a:cs typeface="Calibri" pitchFamily="34" charset="-120"/>
              </a:rPr>
              <a:t>6</a:t>
            </a:r>
            <a:endParaRPr lang="en-US" sz="1100" dirty="0"/>
          </a:p>
        </p:txBody>
      </p:sp>
      <p:sp>
        <p:nvSpPr>
          <p:cNvPr id="18" name="Shape 15"/>
          <p:cNvSpPr/>
          <p:nvPr/>
        </p:nvSpPr>
        <p:spPr>
          <a:xfrm>
            <a:off x="5171694" y="2148840"/>
            <a:ext cx="419862" cy="3712464"/>
          </a:xfrm>
          <a:prstGeom prst="rect">
            <a:avLst/>
          </a:prstGeom>
          <a:solidFill>
            <a:srgbClr val="FFFFFF"/>
          </a:solidFill>
          <a:ln w="12700">
            <a:solidFill>
              <a:srgbClr val="FFFFFF"/>
            </a:solidFill>
            <a:prstDash val="solid"/>
          </a:ln>
        </p:spPr>
      </p:sp>
      <p:sp>
        <p:nvSpPr>
          <p:cNvPr id="19" name="Text 16"/>
          <p:cNvSpPr txBox="1"/>
          <p:nvPr/>
        </p:nvSpPr>
        <p:spPr>
          <a:xfrm>
            <a:off x="5600700" y="1828800"/>
            <a:ext cx="43815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727274"/>
                </a:solidFill>
                <a:latin typeface="Calibri" pitchFamily="34" charset="0"/>
                <a:ea typeface="Calibri" pitchFamily="34" charset="-122"/>
                <a:cs typeface="Calibri" pitchFamily="34" charset="-120"/>
              </a:rPr>
              <a:t>7</a:t>
            </a:r>
            <a:endParaRPr lang="en-US" sz="1100" dirty="0"/>
          </a:p>
        </p:txBody>
      </p:sp>
      <p:sp>
        <p:nvSpPr>
          <p:cNvPr id="20" name="Shape 17"/>
          <p:cNvSpPr/>
          <p:nvPr/>
        </p:nvSpPr>
        <p:spPr>
          <a:xfrm>
            <a:off x="5609844" y="2148840"/>
            <a:ext cx="419862" cy="3712464"/>
          </a:xfrm>
          <a:prstGeom prst="rect">
            <a:avLst/>
          </a:prstGeom>
          <a:solidFill>
            <a:srgbClr val="F7F8F6"/>
          </a:solidFill>
          <a:ln w="12700">
            <a:solidFill>
              <a:srgbClr val="F7F8F6"/>
            </a:solidFill>
            <a:prstDash val="solid"/>
          </a:ln>
        </p:spPr>
      </p:sp>
      <p:sp>
        <p:nvSpPr>
          <p:cNvPr id="21" name="Text 18"/>
          <p:cNvSpPr txBox="1"/>
          <p:nvPr/>
        </p:nvSpPr>
        <p:spPr>
          <a:xfrm>
            <a:off x="6038850" y="1828800"/>
            <a:ext cx="43815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727274"/>
                </a:solidFill>
                <a:latin typeface="Calibri" pitchFamily="34" charset="0"/>
                <a:ea typeface="Calibri" pitchFamily="34" charset="-122"/>
                <a:cs typeface="Calibri" pitchFamily="34" charset="-120"/>
              </a:rPr>
              <a:t>8</a:t>
            </a:r>
            <a:endParaRPr lang="en-US" sz="1100" dirty="0"/>
          </a:p>
        </p:txBody>
      </p:sp>
      <p:sp>
        <p:nvSpPr>
          <p:cNvPr id="22" name="Shape 19"/>
          <p:cNvSpPr/>
          <p:nvPr/>
        </p:nvSpPr>
        <p:spPr>
          <a:xfrm>
            <a:off x="6047994" y="2148840"/>
            <a:ext cx="419862" cy="3712464"/>
          </a:xfrm>
          <a:prstGeom prst="rect">
            <a:avLst/>
          </a:prstGeom>
          <a:solidFill>
            <a:srgbClr val="FFFFFF"/>
          </a:solidFill>
          <a:ln w="12700">
            <a:solidFill>
              <a:srgbClr val="FFFFFF"/>
            </a:solidFill>
            <a:prstDash val="solid"/>
          </a:ln>
        </p:spPr>
      </p:sp>
      <p:sp>
        <p:nvSpPr>
          <p:cNvPr id="23" name="Text 20"/>
          <p:cNvSpPr txBox="1"/>
          <p:nvPr/>
        </p:nvSpPr>
        <p:spPr>
          <a:xfrm>
            <a:off x="6477000" y="1828800"/>
            <a:ext cx="43815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727274"/>
                </a:solidFill>
                <a:latin typeface="Calibri" pitchFamily="34" charset="0"/>
                <a:ea typeface="Calibri" pitchFamily="34" charset="-122"/>
                <a:cs typeface="Calibri" pitchFamily="34" charset="-120"/>
              </a:rPr>
              <a:t>9</a:t>
            </a:r>
            <a:endParaRPr lang="en-US" sz="1100" dirty="0"/>
          </a:p>
        </p:txBody>
      </p:sp>
      <p:sp>
        <p:nvSpPr>
          <p:cNvPr id="24" name="Shape 21"/>
          <p:cNvSpPr/>
          <p:nvPr/>
        </p:nvSpPr>
        <p:spPr>
          <a:xfrm>
            <a:off x="6486144" y="2148840"/>
            <a:ext cx="419862" cy="3712464"/>
          </a:xfrm>
          <a:prstGeom prst="rect">
            <a:avLst/>
          </a:prstGeom>
          <a:solidFill>
            <a:srgbClr val="F7F8F6"/>
          </a:solidFill>
          <a:ln w="12700">
            <a:solidFill>
              <a:srgbClr val="F7F8F6"/>
            </a:solidFill>
            <a:prstDash val="solid"/>
          </a:ln>
        </p:spPr>
      </p:sp>
      <p:sp>
        <p:nvSpPr>
          <p:cNvPr id="25" name="Text 22"/>
          <p:cNvSpPr txBox="1"/>
          <p:nvPr/>
        </p:nvSpPr>
        <p:spPr>
          <a:xfrm>
            <a:off x="6915150" y="1828800"/>
            <a:ext cx="43815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727274"/>
                </a:solidFill>
                <a:latin typeface="Calibri" pitchFamily="34" charset="0"/>
                <a:ea typeface="Calibri" pitchFamily="34" charset="-122"/>
                <a:cs typeface="Calibri" pitchFamily="34" charset="-120"/>
              </a:rPr>
              <a:t>10</a:t>
            </a:r>
            <a:endParaRPr lang="en-US" sz="1100" dirty="0"/>
          </a:p>
        </p:txBody>
      </p:sp>
      <p:sp>
        <p:nvSpPr>
          <p:cNvPr id="26" name="Shape 23"/>
          <p:cNvSpPr/>
          <p:nvPr/>
        </p:nvSpPr>
        <p:spPr>
          <a:xfrm>
            <a:off x="6924294" y="2148840"/>
            <a:ext cx="419862" cy="3712464"/>
          </a:xfrm>
          <a:prstGeom prst="rect">
            <a:avLst/>
          </a:prstGeom>
          <a:solidFill>
            <a:srgbClr val="FFFFFF"/>
          </a:solidFill>
          <a:ln w="12700">
            <a:solidFill>
              <a:srgbClr val="FFFFFF"/>
            </a:solidFill>
            <a:prstDash val="solid"/>
          </a:ln>
        </p:spPr>
      </p:sp>
      <p:sp>
        <p:nvSpPr>
          <p:cNvPr id="27" name="Text 24"/>
          <p:cNvSpPr txBox="1"/>
          <p:nvPr/>
        </p:nvSpPr>
        <p:spPr>
          <a:xfrm>
            <a:off x="7353300" y="1828800"/>
            <a:ext cx="43815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727274"/>
                </a:solidFill>
                <a:latin typeface="Calibri" pitchFamily="34" charset="0"/>
                <a:ea typeface="Calibri" pitchFamily="34" charset="-122"/>
                <a:cs typeface="Calibri" pitchFamily="34" charset="-120"/>
              </a:rPr>
              <a:t>11</a:t>
            </a:r>
            <a:endParaRPr lang="en-US" sz="1100" dirty="0"/>
          </a:p>
        </p:txBody>
      </p:sp>
      <p:sp>
        <p:nvSpPr>
          <p:cNvPr id="28" name="Shape 25"/>
          <p:cNvSpPr/>
          <p:nvPr/>
        </p:nvSpPr>
        <p:spPr>
          <a:xfrm>
            <a:off x="7362444" y="2148840"/>
            <a:ext cx="419862" cy="3712464"/>
          </a:xfrm>
          <a:prstGeom prst="rect">
            <a:avLst/>
          </a:prstGeom>
          <a:solidFill>
            <a:srgbClr val="F7F8F6"/>
          </a:solidFill>
          <a:ln w="12700">
            <a:solidFill>
              <a:srgbClr val="F7F8F6"/>
            </a:solidFill>
            <a:prstDash val="solid"/>
          </a:ln>
        </p:spPr>
      </p:sp>
      <p:sp>
        <p:nvSpPr>
          <p:cNvPr id="29" name="Text 26"/>
          <p:cNvSpPr txBox="1"/>
          <p:nvPr/>
        </p:nvSpPr>
        <p:spPr>
          <a:xfrm>
            <a:off x="7791450" y="1828800"/>
            <a:ext cx="438150" cy="274320"/>
          </a:xfrm>
          <a:prstGeom prst="rect">
            <a:avLst/>
          </a:prstGeom>
          <a:noFill/>
          <a:ln/>
        </p:spPr>
        <p:txBody>
          <a:bodyPr wrap="square" lIns="0" tIns="0" rIns="0" bIns="0" rtlCol="0" anchor="t"/>
          <a:lstStyle/>
          <a:p>
            <a:pPr algn="ctr" indent="0" marL="0">
              <a:lnSpc>
                <a:spcPct val="95000"/>
              </a:lnSpc>
              <a:buNone/>
            </a:pPr>
            <a:r>
              <a:rPr lang="en-US" altLang="en-US" sz="1100" b="1" dirty="0">
                <a:solidFill>
                  <a:srgbClr val="727274"/>
                </a:solidFill>
                <a:latin typeface="Calibri" pitchFamily="34" charset="0"/>
                <a:ea typeface="Calibri" pitchFamily="34" charset="-122"/>
                <a:cs typeface="Calibri" pitchFamily="34" charset="-120"/>
              </a:rPr>
              <a:t>12</a:t>
            </a:r>
            <a:endParaRPr lang="en-US" sz="1100" dirty="0"/>
          </a:p>
        </p:txBody>
      </p:sp>
      <p:sp>
        <p:nvSpPr>
          <p:cNvPr id="30" name="Shape 27"/>
          <p:cNvSpPr/>
          <p:nvPr/>
        </p:nvSpPr>
        <p:spPr>
          <a:xfrm>
            <a:off x="7800594" y="2148840"/>
            <a:ext cx="419862" cy="3712464"/>
          </a:xfrm>
          <a:prstGeom prst="rect">
            <a:avLst/>
          </a:prstGeom>
          <a:solidFill>
            <a:srgbClr val="EAF5E8"/>
          </a:solidFill>
          <a:ln w="12700">
            <a:solidFill>
              <a:srgbClr val="EAF5E8"/>
            </a:solidFill>
            <a:prstDash val="solid"/>
          </a:ln>
        </p:spPr>
      </p:sp>
      <p:sp>
        <p:nvSpPr>
          <p:cNvPr id="31" name="Text 28"/>
          <p:cNvSpPr txBox="1"/>
          <p:nvPr/>
        </p:nvSpPr>
        <p:spPr>
          <a:xfrm>
            <a:off x="7608570" y="5907024"/>
            <a:ext cx="803910" cy="274320"/>
          </a:xfrm>
          <a:prstGeom prst="rect">
            <a:avLst/>
          </a:prstGeom>
          <a:noFill/>
          <a:ln/>
        </p:spPr>
        <p:txBody>
          <a:bodyPr wrap="square" lIns="0" tIns="0" rIns="0" bIns="0" rtlCol="0" anchor="t"/>
          <a:lstStyle/>
          <a:p>
            <a:pPr algn="ctr" indent="0" marL="0">
              <a:lnSpc>
                <a:spcPct val="95000"/>
              </a:lnSpc>
              <a:buNone/>
            </a:pPr>
            <a:r>
              <a:rPr lang="en-US" altLang="en-US" sz="1000" dirty="0">
                <a:solidFill>
                  <a:srgbClr val="727274"/>
                </a:solidFill>
                <a:latin typeface="Calibri" pitchFamily="34" charset="0"/>
                <a:ea typeface="Calibri" pitchFamily="34" charset="-122"/>
                <a:cs typeface="Calibri" pitchFamily="34" charset="-120"/>
              </a:rPr>
              <a:t>Buffer</a:t>
            </a:r>
            <a:endParaRPr lang="en-US" sz="1000" dirty="0"/>
          </a:p>
        </p:txBody>
      </p:sp>
      <p:sp>
        <p:nvSpPr>
          <p:cNvPr id="32" name="Text 29"/>
          <p:cNvSpPr txBox="1"/>
          <p:nvPr/>
        </p:nvSpPr>
        <p:spPr>
          <a:xfrm>
            <a:off x="548640" y="1828800"/>
            <a:ext cx="2331720" cy="274320"/>
          </a:xfrm>
          <a:prstGeom prst="rect">
            <a:avLst/>
          </a:prstGeom>
          <a:noFill/>
          <a:ln/>
        </p:spPr>
        <p:txBody>
          <a:bodyPr wrap="square" lIns="0" tIns="0" rIns="0" bIns="0" rtlCol="0" anchor="t"/>
          <a:lstStyle/>
          <a:p>
            <a:pPr algn="l" indent="0" marL="0">
              <a:lnSpc>
                <a:spcPct val="95000"/>
              </a:lnSpc>
              <a:buNone/>
            </a:pPr>
            <a:r>
              <a:rPr lang="en-US" altLang="en-US" sz="1100" b="1" dirty="0">
                <a:solidFill>
                  <a:srgbClr val="727274"/>
                </a:solidFill>
                <a:latin typeface="Calibri" pitchFamily="34" charset="0"/>
                <a:ea typeface="Calibri" pitchFamily="34" charset="-122"/>
                <a:cs typeface="Calibri" pitchFamily="34" charset="-120"/>
              </a:rPr>
              <a:t>Week</a:t>
            </a:r>
            <a:endParaRPr lang="en-US" sz="1100" dirty="0"/>
          </a:p>
        </p:txBody>
      </p:sp>
      <p:sp>
        <p:nvSpPr>
          <p:cNvPr id="33" name="Text 30"/>
          <p:cNvSpPr txBox="1"/>
          <p:nvPr/>
        </p:nvSpPr>
        <p:spPr>
          <a:xfrm>
            <a:off x="548640" y="2194560"/>
            <a:ext cx="2331720" cy="292608"/>
          </a:xfrm>
          <a:prstGeom prst="rect">
            <a:avLst/>
          </a:prstGeom>
          <a:noFill/>
          <a:ln/>
        </p:spPr>
        <p:txBody>
          <a:bodyPr wrap="square" lIns="0" tIns="0" rIns="0" bIns="0" rtlCol="0" anchor="ctr"/>
          <a:lstStyle/>
          <a:p>
            <a:pPr algn="l" indent="0" marL="0">
              <a:lnSpc>
                <a:spcPct val="95000"/>
              </a:lnSpc>
              <a:buNone/>
            </a:pPr>
            <a:r>
              <a:rPr lang="en-US" altLang="en-US" sz="1100" dirty="0">
                <a:solidFill>
                  <a:srgbClr val="1A1A1A"/>
                </a:solidFill>
                <a:latin typeface="Calibri" pitchFamily="34" charset="0"/>
                <a:ea typeface="Calibri" pitchFamily="34" charset="-122"/>
                <a:cs typeface="Calibri" pitchFamily="34" charset="-120"/>
              </a:rPr>
              <a:t>M1 Orientation &amp; AI Literacy</a:t>
            </a:r>
            <a:endParaRPr lang="en-US" sz="1100" dirty="0"/>
          </a:p>
        </p:txBody>
      </p:sp>
      <p:sp>
        <p:nvSpPr>
          <p:cNvPr id="34" name="Shape 31"/>
          <p:cNvSpPr/>
          <p:nvPr/>
        </p:nvSpPr>
        <p:spPr>
          <a:xfrm>
            <a:off x="2990088" y="2240280"/>
            <a:ext cx="255524" cy="219456"/>
          </a:xfrm>
          <a:prstGeom prst="roundRect">
            <a:avLst>
              <a:gd name="adj" fmla="val 20833"/>
            </a:avLst>
          </a:prstGeom>
          <a:solidFill>
            <a:srgbClr val="727274"/>
          </a:solidFill>
          <a:ln w="12700">
            <a:solidFill>
              <a:srgbClr val="727274"/>
            </a:solidFill>
            <a:prstDash val="solid"/>
          </a:ln>
        </p:spPr>
      </p:sp>
      <p:sp>
        <p:nvSpPr>
          <p:cNvPr id="35" name="Text 32"/>
          <p:cNvSpPr txBox="1"/>
          <p:nvPr/>
        </p:nvSpPr>
        <p:spPr>
          <a:xfrm>
            <a:off x="548640" y="2523744"/>
            <a:ext cx="2331720" cy="292608"/>
          </a:xfrm>
          <a:prstGeom prst="rect">
            <a:avLst/>
          </a:prstGeom>
          <a:noFill/>
          <a:ln/>
        </p:spPr>
        <p:txBody>
          <a:bodyPr wrap="square" lIns="0" tIns="0" rIns="0" bIns="0" rtlCol="0" anchor="ctr"/>
          <a:lstStyle/>
          <a:p>
            <a:pPr algn="l" indent="0" marL="0">
              <a:lnSpc>
                <a:spcPct val="95000"/>
              </a:lnSpc>
              <a:buNone/>
            </a:pPr>
            <a:r>
              <a:rPr lang="en-US" altLang="en-US" sz="1100" dirty="0">
                <a:solidFill>
                  <a:srgbClr val="1A1A1A"/>
                </a:solidFill>
                <a:latin typeface="Calibri" pitchFamily="34" charset="0"/>
                <a:ea typeface="Calibri" pitchFamily="34" charset="-122"/>
                <a:cs typeface="Calibri" pitchFamily="34" charset="-120"/>
              </a:rPr>
              <a:t>M2 Prompt &amp; Context</a:t>
            </a:r>
            <a:endParaRPr lang="en-US" sz="1100" dirty="0"/>
          </a:p>
        </p:txBody>
      </p:sp>
      <p:sp>
        <p:nvSpPr>
          <p:cNvPr id="36" name="Shape 33"/>
          <p:cNvSpPr/>
          <p:nvPr/>
        </p:nvSpPr>
        <p:spPr>
          <a:xfrm>
            <a:off x="3282188" y="2569464"/>
            <a:ext cx="255524" cy="219456"/>
          </a:xfrm>
          <a:prstGeom prst="roundRect">
            <a:avLst>
              <a:gd name="adj" fmla="val 20833"/>
            </a:avLst>
          </a:prstGeom>
          <a:solidFill>
            <a:srgbClr val="727274"/>
          </a:solidFill>
          <a:ln w="12700">
            <a:solidFill>
              <a:srgbClr val="727274"/>
            </a:solidFill>
            <a:prstDash val="solid"/>
          </a:ln>
        </p:spPr>
      </p:sp>
      <p:sp>
        <p:nvSpPr>
          <p:cNvPr id="37" name="Text 34"/>
          <p:cNvSpPr txBox="1"/>
          <p:nvPr/>
        </p:nvSpPr>
        <p:spPr>
          <a:xfrm>
            <a:off x="548640" y="2852928"/>
            <a:ext cx="2331720" cy="292608"/>
          </a:xfrm>
          <a:prstGeom prst="rect">
            <a:avLst/>
          </a:prstGeom>
          <a:noFill/>
          <a:ln/>
        </p:spPr>
        <p:txBody>
          <a:bodyPr wrap="square" lIns="0" tIns="0" rIns="0" bIns="0" rtlCol="0" anchor="ctr"/>
          <a:lstStyle/>
          <a:p>
            <a:pPr algn="l" indent="0" marL="0">
              <a:lnSpc>
                <a:spcPct val="95000"/>
              </a:lnSpc>
              <a:buNone/>
            </a:pPr>
            <a:r>
              <a:rPr lang="en-US" altLang="en-US" sz="1100" dirty="0">
                <a:solidFill>
                  <a:srgbClr val="1A1A1A"/>
                </a:solidFill>
                <a:latin typeface="Calibri" pitchFamily="34" charset="0"/>
                <a:ea typeface="Calibri" pitchFamily="34" charset="-122"/>
                <a:cs typeface="Calibri" pitchFamily="34" charset="-120"/>
              </a:rPr>
              <a:t>M3 Research &amp; Briefs</a:t>
            </a:r>
            <a:endParaRPr lang="en-US" sz="1100" dirty="0"/>
          </a:p>
        </p:txBody>
      </p:sp>
      <p:sp>
        <p:nvSpPr>
          <p:cNvPr id="38" name="Shape 35"/>
          <p:cNvSpPr/>
          <p:nvPr/>
        </p:nvSpPr>
        <p:spPr>
          <a:xfrm>
            <a:off x="3574288" y="2898648"/>
            <a:ext cx="255524" cy="219456"/>
          </a:xfrm>
          <a:prstGeom prst="roundRect">
            <a:avLst>
              <a:gd name="adj" fmla="val 20833"/>
            </a:avLst>
          </a:prstGeom>
          <a:solidFill>
            <a:srgbClr val="727274"/>
          </a:solidFill>
          <a:ln w="12700">
            <a:solidFill>
              <a:srgbClr val="727274"/>
            </a:solidFill>
            <a:prstDash val="solid"/>
          </a:ln>
        </p:spPr>
      </p:sp>
      <p:sp>
        <p:nvSpPr>
          <p:cNvPr id="39" name="Text 36"/>
          <p:cNvSpPr txBox="1"/>
          <p:nvPr/>
        </p:nvSpPr>
        <p:spPr>
          <a:xfrm>
            <a:off x="548640" y="3182112"/>
            <a:ext cx="2331720" cy="292608"/>
          </a:xfrm>
          <a:prstGeom prst="rect">
            <a:avLst/>
          </a:prstGeom>
          <a:noFill/>
          <a:ln/>
        </p:spPr>
        <p:txBody>
          <a:bodyPr wrap="square" lIns="0" tIns="0" rIns="0" bIns="0" rtlCol="0" anchor="ctr"/>
          <a:lstStyle/>
          <a:p>
            <a:pPr algn="l" indent="0" marL="0">
              <a:lnSpc>
                <a:spcPct val="95000"/>
              </a:lnSpc>
              <a:buNone/>
            </a:pPr>
            <a:r>
              <a:rPr lang="en-US" altLang="en-US" sz="1100" dirty="0">
                <a:solidFill>
                  <a:srgbClr val="1A1A1A"/>
                </a:solidFill>
                <a:latin typeface="Calibri" pitchFamily="34" charset="0"/>
                <a:ea typeface="Calibri" pitchFamily="34" charset="-122"/>
                <a:cs typeface="Calibri" pitchFamily="34" charset="-120"/>
              </a:rPr>
              <a:t>M4 Content &amp; Copywriting</a:t>
            </a:r>
            <a:endParaRPr lang="en-US" sz="1100" dirty="0"/>
          </a:p>
        </p:txBody>
      </p:sp>
      <p:sp>
        <p:nvSpPr>
          <p:cNvPr id="40" name="Shape 37"/>
          <p:cNvSpPr/>
          <p:nvPr/>
        </p:nvSpPr>
        <p:spPr>
          <a:xfrm>
            <a:off x="3866388" y="3227832"/>
            <a:ext cx="401574" cy="219456"/>
          </a:xfrm>
          <a:prstGeom prst="roundRect">
            <a:avLst>
              <a:gd name="adj" fmla="val 20833"/>
            </a:avLst>
          </a:prstGeom>
          <a:solidFill>
            <a:srgbClr val="4DB449"/>
          </a:solidFill>
          <a:ln w="12700">
            <a:solidFill>
              <a:srgbClr val="4DB449"/>
            </a:solidFill>
            <a:prstDash val="solid"/>
          </a:ln>
        </p:spPr>
      </p:sp>
      <p:sp>
        <p:nvSpPr>
          <p:cNvPr id="41" name="Text 38"/>
          <p:cNvSpPr txBox="1"/>
          <p:nvPr/>
        </p:nvSpPr>
        <p:spPr>
          <a:xfrm>
            <a:off x="548640" y="3511296"/>
            <a:ext cx="2331720" cy="292608"/>
          </a:xfrm>
          <a:prstGeom prst="rect">
            <a:avLst/>
          </a:prstGeom>
          <a:noFill/>
          <a:ln/>
        </p:spPr>
        <p:txBody>
          <a:bodyPr wrap="square" lIns="0" tIns="0" rIns="0" bIns="0" rtlCol="0" anchor="ctr"/>
          <a:lstStyle/>
          <a:p>
            <a:pPr algn="l" indent="0" marL="0">
              <a:lnSpc>
                <a:spcPct val="95000"/>
              </a:lnSpc>
              <a:buNone/>
            </a:pPr>
            <a:r>
              <a:rPr lang="en-US" altLang="en-US" sz="1100" dirty="0">
                <a:solidFill>
                  <a:srgbClr val="1A1A1A"/>
                </a:solidFill>
                <a:latin typeface="Calibri" pitchFamily="34" charset="0"/>
                <a:ea typeface="Calibri" pitchFamily="34" charset="-122"/>
                <a:cs typeface="Calibri" pitchFamily="34" charset="-120"/>
              </a:rPr>
              <a:t>M5 Character, Voice &amp; Visuals</a:t>
            </a:r>
            <a:endParaRPr lang="en-US" sz="1100" dirty="0"/>
          </a:p>
        </p:txBody>
      </p:sp>
      <p:sp>
        <p:nvSpPr>
          <p:cNvPr id="42" name="Shape 39"/>
          <p:cNvSpPr/>
          <p:nvPr/>
        </p:nvSpPr>
        <p:spPr>
          <a:xfrm>
            <a:off x="4304538" y="3557016"/>
            <a:ext cx="547624" cy="219456"/>
          </a:xfrm>
          <a:prstGeom prst="roundRect">
            <a:avLst>
              <a:gd name="adj" fmla="val 20833"/>
            </a:avLst>
          </a:prstGeom>
          <a:solidFill>
            <a:srgbClr val="A6D04B"/>
          </a:solidFill>
          <a:ln w="12700">
            <a:solidFill>
              <a:srgbClr val="A6D04B"/>
            </a:solidFill>
            <a:prstDash val="solid"/>
          </a:ln>
        </p:spPr>
      </p:sp>
      <p:sp>
        <p:nvSpPr>
          <p:cNvPr id="43" name="Text 40"/>
          <p:cNvSpPr txBox="1"/>
          <p:nvPr/>
        </p:nvSpPr>
        <p:spPr>
          <a:xfrm>
            <a:off x="548640" y="3840480"/>
            <a:ext cx="2331720" cy="292608"/>
          </a:xfrm>
          <a:prstGeom prst="rect">
            <a:avLst/>
          </a:prstGeom>
          <a:noFill/>
          <a:ln/>
        </p:spPr>
        <p:txBody>
          <a:bodyPr wrap="square" lIns="0" tIns="0" rIns="0" bIns="0" rtlCol="0" anchor="ctr"/>
          <a:lstStyle/>
          <a:p>
            <a:pPr algn="l" indent="0" marL="0">
              <a:lnSpc>
                <a:spcPct val="95000"/>
              </a:lnSpc>
              <a:buNone/>
            </a:pPr>
            <a:r>
              <a:rPr lang="en-US" altLang="en-US" sz="1100" dirty="0">
                <a:solidFill>
                  <a:srgbClr val="1A1A1A"/>
                </a:solidFill>
                <a:latin typeface="Calibri" pitchFamily="34" charset="0"/>
                <a:ea typeface="Calibri" pitchFamily="34" charset="-122"/>
                <a:cs typeface="Calibri" pitchFamily="34" charset="-120"/>
              </a:rPr>
              <a:t>M6 Script &amp; Storyboard</a:t>
            </a:r>
            <a:endParaRPr lang="en-US" sz="1100" dirty="0"/>
          </a:p>
        </p:txBody>
      </p:sp>
      <p:sp>
        <p:nvSpPr>
          <p:cNvPr id="44" name="Shape 41"/>
          <p:cNvSpPr/>
          <p:nvPr/>
        </p:nvSpPr>
        <p:spPr>
          <a:xfrm>
            <a:off x="4888738" y="3886200"/>
            <a:ext cx="401574" cy="219456"/>
          </a:xfrm>
          <a:prstGeom prst="roundRect">
            <a:avLst>
              <a:gd name="adj" fmla="val 20833"/>
            </a:avLst>
          </a:prstGeom>
          <a:solidFill>
            <a:srgbClr val="A6D04B"/>
          </a:solidFill>
          <a:ln w="12700">
            <a:solidFill>
              <a:srgbClr val="A6D04B"/>
            </a:solidFill>
            <a:prstDash val="solid"/>
          </a:ln>
        </p:spPr>
      </p:sp>
      <p:sp>
        <p:nvSpPr>
          <p:cNvPr id="45" name="Text 42"/>
          <p:cNvSpPr txBox="1"/>
          <p:nvPr/>
        </p:nvSpPr>
        <p:spPr>
          <a:xfrm>
            <a:off x="548640" y="4169664"/>
            <a:ext cx="2331720" cy="292608"/>
          </a:xfrm>
          <a:prstGeom prst="rect">
            <a:avLst/>
          </a:prstGeom>
          <a:noFill/>
          <a:ln/>
        </p:spPr>
        <p:txBody>
          <a:bodyPr wrap="square" lIns="0" tIns="0" rIns="0" bIns="0" rtlCol="0" anchor="ctr"/>
          <a:lstStyle/>
          <a:p>
            <a:pPr algn="l" indent="0" marL="0">
              <a:lnSpc>
                <a:spcPct val="95000"/>
              </a:lnSpc>
              <a:buNone/>
            </a:pPr>
            <a:r>
              <a:rPr lang="en-US" altLang="en-US" sz="1100" dirty="0">
                <a:solidFill>
                  <a:srgbClr val="1A1A1A"/>
                </a:solidFill>
                <a:latin typeface="Calibri" pitchFamily="34" charset="0"/>
                <a:ea typeface="Calibri" pitchFamily="34" charset="-122"/>
                <a:cs typeface="Calibri" pitchFamily="34" charset="-120"/>
              </a:rPr>
              <a:t>M7 AI Video &amp; Editing</a:t>
            </a:r>
            <a:endParaRPr lang="en-US" sz="1100" dirty="0"/>
          </a:p>
        </p:txBody>
      </p:sp>
      <p:sp>
        <p:nvSpPr>
          <p:cNvPr id="46" name="Shape 43"/>
          <p:cNvSpPr/>
          <p:nvPr/>
        </p:nvSpPr>
        <p:spPr>
          <a:xfrm>
            <a:off x="5326888" y="4215384"/>
            <a:ext cx="547624" cy="219456"/>
          </a:xfrm>
          <a:prstGeom prst="roundRect">
            <a:avLst>
              <a:gd name="adj" fmla="val 20833"/>
            </a:avLst>
          </a:prstGeom>
          <a:solidFill>
            <a:srgbClr val="A6D04B"/>
          </a:solidFill>
          <a:ln w="12700">
            <a:solidFill>
              <a:srgbClr val="A6D04B"/>
            </a:solidFill>
            <a:prstDash val="solid"/>
          </a:ln>
        </p:spPr>
      </p:sp>
      <p:sp>
        <p:nvSpPr>
          <p:cNvPr id="47" name="Text 44"/>
          <p:cNvSpPr txBox="1"/>
          <p:nvPr/>
        </p:nvSpPr>
        <p:spPr>
          <a:xfrm>
            <a:off x="548640" y="4498848"/>
            <a:ext cx="2331720" cy="292608"/>
          </a:xfrm>
          <a:prstGeom prst="rect">
            <a:avLst/>
          </a:prstGeom>
          <a:noFill/>
          <a:ln/>
        </p:spPr>
        <p:txBody>
          <a:bodyPr wrap="square" lIns="0" tIns="0" rIns="0" bIns="0" rtlCol="0" anchor="ctr"/>
          <a:lstStyle/>
          <a:p>
            <a:pPr algn="l" indent="0" marL="0">
              <a:lnSpc>
                <a:spcPct val="95000"/>
              </a:lnSpc>
              <a:buNone/>
            </a:pPr>
            <a:r>
              <a:rPr lang="en-US" altLang="en-US" sz="1100" dirty="0">
                <a:solidFill>
                  <a:srgbClr val="1A1A1A"/>
                </a:solidFill>
                <a:latin typeface="Calibri" pitchFamily="34" charset="0"/>
                <a:ea typeface="Calibri" pitchFamily="34" charset="-122"/>
                <a:cs typeface="Calibri" pitchFamily="34" charset="-120"/>
              </a:rPr>
              <a:t>M8 Digital Marketing</a:t>
            </a:r>
            <a:endParaRPr lang="en-US" sz="1100" dirty="0"/>
          </a:p>
        </p:txBody>
      </p:sp>
      <p:sp>
        <p:nvSpPr>
          <p:cNvPr id="48" name="Shape 45"/>
          <p:cNvSpPr/>
          <p:nvPr/>
        </p:nvSpPr>
        <p:spPr>
          <a:xfrm>
            <a:off x="5911088" y="4544568"/>
            <a:ext cx="401574" cy="219456"/>
          </a:xfrm>
          <a:prstGeom prst="roundRect">
            <a:avLst>
              <a:gd name="adj" fmla="val 20833"/>
            </a:avLst>
          </a:prstGeom>
          <a:solidFill>
            <a:srgbClr val="000000"/>
          </a:solidFill>
          <a:ln w="12700">
            <a:solidFill>
              <a:srgbClr val="000000"/>
            </a:solidFill>
            <a:prstDash val="solid"/>
          </a:ln>
        </p:spPr>
      </p:sp>
      <p:sp>
        <p:nvSpPr>
          <p:cNvPr id="49" name="Text 46"/>
          <p:cNvSpPr txBox="1"/>
          <p:nvPr/>
        </p:nvSpPr>
        <p:spPr>
          <a:xfrm>
            <a:off x="548640" y="4828032"/>
            <a:ext cx="2331720" cy="292608"/>
          </a:xfrm>
          <a:prstGeom prst="rect">
            <a:avLst/>
          </a:prstGeom>
          <a:noFill/>
          <a:ln/>
        </p:spPr>
        <p:txBody>
          <a:bodyPr wrap="square" lIns="0" tIns="0" rIns="0" bIns="0" rtlCol="0" anchor="ctr"/>
          <a:lstStyle/>
          <a:p>
            <a:pPr algn="l" indent="0" marL="0">
              <a:lnSpc>
                <a:spcPct val="95000"/>
              </a:lnSpc>
              <a:buNone/>
            </a:pPr>
            <a:r>
              <a:rPr lang="en-US" altLang="en-US" sz="1100" dirty="0">
                <a:solidFill>
                  <a:srgbClr val="1A1A1A"/>
                </a:solidFill>
                <a:latin typeface="Calibri" pitchFamily="34" charset="0"/>
                <a:ea typeface="Calibri" pitchFamily="34" charset="-122"/>
                <a:cs typeface="Calibri" pitchFamily="34" charset="-120"/>
              </a:rPr>
              <a:t>M9 n8n Automation</a:t>
            </a:r>
            <a:endParaRPr lang="en-US" sz="1100" dirty="0"/>
          </a:p>
        </p:txBody>
      </p:sp>
      <p:sp>
        <p:nvSpPr>
          <p:cNvPr id="50" name="Shape 47"/>
          <p:cNvSpPr/>
          <p:nvPr/>
        </p:nvSpPr>
        <p:spPr>
          <a:xfrm>
            <a:off x="6349238" y="4873752"/>
            <a:ext cx="547624" cy="219456"/>
          </a:xfrm>
          <a:prstGeom prst="roundRect">
            <a:avLst>
              <a:gd name="adj" fmla="val 20833"/>
            </a:avLst>
          </a:prstGeom>
          <a:solidFill>
            <a:srgbClr val="4DB449"/>
          </a:solidFill>
          <a:ln w="12700">
            <a:solidFill>
              <a:srgbClr val="4DB449"/>
            </a:solidFill>
            <a:prstDash val="solid"/>
          </a:ln>
        </p:spPr>
      </p:sp>
      <p:sp>
        <p:nvSpPr>
          <p:cNvPr id="51" name="Text 48"/>
          <p:cNvSpPr txBox="1"/>
          <p:nvPr/>
        </p:nvSpPr>
        <p:spPr>
          <a:xfrm>
            <a:off x="548640" y="5157216"/>
            <a:ext cx="2331720" cy="292608"/>
          </a:xfrm>
          <a:prstGeom prst="rect">
            <a:avLst/>
          </a:prstGeom>
          <a:noFill/>
          <a:ln/>
        </p:spPr>
        <p:txBody>
          <a:bodyPr wrap="square" lIns="0" tIns="0" rIns="0" bIns="0" rtlCol="0" anchor="ctr"/>
          <a:lstStyle/>
          <a:p>
            <a:pPr algn="l" indent="0" marL="0">
              <a:lnSpc>
                <a:spcPct val="95000"/>
              </a:lnSpc>
              <a:buNone/>
            </a:pPr>
            <a:r>
              <a:rPr lang="en-US" altLang="en-US" sz="1100" dirty="0">
                <a:solidFill>
                  <a:srgbClr val="1A1A1A"/>
                </a:solidFill>
                <a:latin typeface="Calibri" pitchFamily="34" charset="0"/>
                <a:ea typeface="Calibri" pitchFamily="34" charset="-122"/>
                <a:cs typeface="Calibri" pitchFamily="34" charset="-120"/>
              </a:rPr>
              <a:t>M10 Portfolio &amp; Freelancing</a:t>
            </a:r>
            <a:endParaRPr lang="en-US" sz="1100" dirty="0"/>
          </a:p>
        </p:txBody>
      </p:sp>
      <p:sp>
        <p:nvSpPr>
          <p:cNvPr id="52" name="Shape 49"/>
          <p:cNvSpPr/>
          <p:nvPr/>
        </p:nvSpPr>
        <p:spPr>
          <a:xfrm>
            <a:off x="6933438" y="5202936"/>
            <a:ext cx="255524" cy="219456"/>
          </a:xfrm>
          <a:prstGeom prst="roundRect">
            <a:avLst>
              <a:gd name="adj" fmla="val 20833"/>
            </a:avLst>
          </a:prstGeom>
          <a:solidFill>
            <a:srgbClr val="A6D04B"/>
          </a:solidFill>
          <a:ln w="12700">
            <a:solidFill>
              <a:srgbClr val="A6D04B"/>
            </a:solidFill>
            <a:prstDash val="solid"/>
          </a:ln>
        </p:spPr>
      </p:sp>
      <p:sp>
        <p:nvSpPr>
          <p:cNvPr id="53" name="Text 50"/>
          <p:cNvSpPr txBox="1"/>
          <p:nvPr/>
        </p:nvSpPr>
        <p:spPr>
          <a:xfrm>
            <a:off x="548640" y="5486400"/>
            <a:ext cx="2331720" cy="292608"/>
          </a:xfrm>
          <a:prstGeom prst="rect">
            <a:avLst/>
          </a:prstGeom>
          <a:noFill/>
          <a:ln/>
        </p:spPr>
        <p:txBody>
          <a:bodyPr wrap="square" lIns="0" tIns="0" rIns="0" bIns="0" rtlCol="0" anchor="ctr"/>
          <a:lstStyle/>
          <a:p>
            <a:pPr algn="l" indent="0" marL="0">
              <a:lnSpc>
                <a:spcPct val="95000"/>
              </a:lnSpc>
              <a:buNone/>
            </a:pPr>
            <a:r>
              <a:rPr lang="en-US" altLang="en-US" sz="1100" dirty="0">
                <a:solidFill>
                  <a:srgbClr val="1A1A1A"/>
                </a:solidFill>
                <a:latin typeface="Calibri" pitchFamily="34" charset="0"/>
                <a:ea typeface="Calibri" pitchFamily="34" charset="-122"/>
                <a:cs typeface="Calibri" pitchFamily="34" charset="-120"/>
              </a:rPr>
              <a:t>M11 Capstone &amp; Demo Day</a:t>
            </a:r>
            <a:endParaRPr lang="en-US" sz="1100" dirty="0"/>
          </a:p>
        </p:txBody>
      </p:sp>
      <p:sp>
        <p:nvSpPr>
          <p:cNvPr id="54" name="Shape 51"/>
          <p:cNvSpPr/>
          <p:nvPr/>
        </p:nvSpPr>
        <p:spPr>
          <a:xfrm>
            <a:off x="7225538" y="5532120"/>
            <a:ext cx="401574" cy="219456"/>
          </a:xfrm>
          <a:prstGeom prst="roundRect">
            <a:avLst>
              <a:gd name="adj" fmla="val 20833"/>
            </a:avLst>
          </a:prstGeom>
          <a:solidFill>
            <a:srgbClr val="000000"/>
          </a:solidFill>
          <a:ln w="12700">
            <a:solidFill>
              <a:srgbClr val="000000"/>
            </a:solidFill>
            <a:prstDash val="solid"/>
          </a:ln>
        </p:spPr>
      </p:sp>
      <p:sp>
        <p:nvSpPr>
          <p:cNvPr id="55" name="Shape 52"/>
          <p:cNvSpPr/>
          <p:nvPr/>
        </p:nvSpPr>
        <p:spPr>
          <a:xfrm>
            <a:off x="8275320" y="1847088"/>
            <a:ext cx="457200" cy="457200"/>
          </a:xfrm>
          <a:prstGeom prst="ellipse">
            <a:avLst/>
          </a:prstGeom>
          <a:solidFill>
            <a:srgbClr val="4DB449"/>
          </a:solidFill>
          <a:ln w="6350">
            <a:solidFill>
              <a:srgbClr val="4DB449"/>
            </a:solidFill>
            <a:prstDash val="solid"/>
          </a:ln>
        </p:spPr>
      </p:sp>
      <p:pic>
        <p:nvPicPr>
          <p:cNvPr id="56" name="Image 1" descr="preencoded.png">    </p:cNvPr>
          <p:cNvPicPr>
            <a:picLocks noChangeAspect="1"/>
          </p:cNvPicPr>
          <p:nvPr/>
        </p:nvPicPr>
        <p:blipFill>
          <a:blip r:embed="rId2"/>
          <a:stretch>
            <a:fillRect/>
          </a:stretch>
        </p:blipFill>
        <p:spPr>
          <a:xfrm>
            <a:off x="8385048" y="1956816"/>
            <a:ext cx="237744" cy="237744"/>
          </a:xfrm>
          <a:prstGeom prst="rect">
            <a:avLst/>
          </a:prstGeom>
        </p:spPr>
      </p:pic>
      <p:sp>
        <p:nvSpPr>
          <p:cNvPr id="57" name="Text 53"/>
          <p:cNvSpPr txBox="1"/>
          <p:nvPr/>
        </p:nvSpPr>
        <p:spPr>
          <a:xfrm>
            <a:off x="8869680" y="1792224"/>
            <a:ext cx="2773375" cy="274320"/>
          </a:xfrm>
          <a:prstGeom prst="rect">
            <a:avLst/>
          </a:prstGeom>
          <a:noFill/>
          <a:ln/>
        </p:spPr>
        <p:txBody>
          <a:bodyPr wrap="square" lIns="0" tIns="0" rIns="0" bIns="0" rtlCol="0" anchor="t"/>
          <a:lstStyle/>
          <a:p>
            <a:pPr algn="l" indent="0" marL="0">
              <a:lnSpc>
                <a:spcPct val="95000"/>
              </a:lnSpc>
              <a:buNone/>
            </a:pPr>
            <a:r>
              <a:rPr lang="en-US" altLang="en-US" sz="1300" b="1" dirty="0">
                <a:solidFill>
                  <a:srgbClr val="1A1A1A"/>
                </a:solidFill>
                <a:latin typeface="Cairo" pitchFamily="34" charset="0"/>
                <a:ea typeface="Cairo" pitchFamily="34" charset="-122"/>
                <a:cs typeface="Cairo" pitchFamily="34" charset="-120"/>
              </a:rPr>
              <a:t>Format</a:t>
            </a:r>
            <a:endParaRPr lang="en-US" sz="1300" dirty="0"/>
          </a:p>
        </p:txBody>
      </p:sp>
      <p:sp>
        <p:nvSpPr>
          <p:cNvPr id="58" name="Text 54"/>
          <p:cNvSpPr txBox="1"/>
          <p:nvPr/>
        </p:nvSpPr>
        <p:spPr>
          <a:xfrm>
            <a:off x="8869680" y="2075688"/>
            <a:ext cx="2773375" cy="411480"/>
          </a:xfrm>
          <a:prstGeom prst="rect">
            <a:avLst/>
          </a:prstGeom>
          <a:noFill/>
          <a:ln/>
        </p:spPr>
        <p:txBody>
          <a:bodyPr wrap="square" lIns="0" tIns="0" rIns="0" bIns="0" rtlCol="0" anchor="t"/>
          <a:lstStyle/>
          <a:p>
            <a:pPr algn="l" indent="0" marL="0">
              <a:lnSpc>
                <a:spcPct val="95000"/>
              </a:lnSpc>
              <a:buNone/>
            </a:pPr>
            <a:r>
              <a:rPr lang="en-US" altLang="en-US" sz="1200" dirty="0">
                <a:solidFill>
                  <a:srgbClr val="3C3E3B"/>
                </a:solidFill>
                <a:latin typeface="Calibri" pitchFamily="34" charset="0"/>
                <a:ea typeface="Calibri" pitchFamily="34" charset="-122"/>
                <a:cs typeface="Calibri" pitchFamily="34" charset="-120"/>
              </a:rPr>
              <a:t>In-person, computer lab (Proposed)</a:t>
            </a:r>
            <a:endParaRPr lang="en-US" sz="1200" dirty="0"/>
          </a:p>
        </p:txBody>
      </p:sp>
      <p:sp>
        <p:nvSpPr>
          <p:cNvPr id="59" name="Shape 55"/>
          <p:cNvSpPr/>
          <p:nvPr/>
        </p:nvSpPr>
        <p:spPr>
          <a:xfrm>
            <a:off x="8275320" y="2560320"/>
            <a:ext cx="457200" cy="457200"/>
          </a:xfrm>
          <a:prstGeom prst="ellipse">
            <a:avLst/>
          </a:prstGeom>
          <a:solidFill>
            <a:srgbClr val="4DB449"/>
          </a:solidFill>
          <a:ln w="6350">
            <a:solidFill>
              <a:srgbClr val="4DB449"/>
            </a:solidFill>
            <a:prstDash val="solid"/>
          </a:ln>
        </p:spPr>
      </p:sp>
      <p:pic>
        <p:nvPicPr>
          <p:cNvPr id="60" name="Image 2" descr="preencoded.png">    </p:cNvPr>
          <p:cNvPicPr>
            <a:picLocks noChangeAspect="1"/>
          </p:cNvPicPr>
          <p:nvPr/>
        </p:nvPicPr>
        <p:blipFill>
          <a:blip r:embed="rId3"/>
          <a:stretch>
            <a:fillRect/>
          </a:stretch>
        </p:blipFill>
        <p:spPr>
          <a:xfrm>
            <a:off x="8385048" y="2670048"/>
            <a:ext cx="237744" cy="237744"/>
          </a:xfrm>
          <a:prstGeom prst="rect">
            <a:avLst/>
          </a:prstGeom>
        </p:spPr>
      </p:pic>
      <p:sp>
        <p:nvSpPr>
          <p:cNvPr id="61" name="Text 56"/>
          <p:cNvSpPr txBox="1"/>
          <p:nvPr/>
        </p:nvSpPr>
        <p:spPr>
          <a:xfrm>
            <a:off x="8869680" y="2505456"/>
            <a:ext cx="2773375" cy="274320"/>
          </a:xfrm>
          <a:prstGeom prst="rect">
            <a:avLst/>
          </a:prstGeom>
          <a:noFill/>
          <a:ln/>
        </p:spPr>
        <p:txBody>
          <a:bodyPr wrap="square" lIns="0" tIns="0" rIns="0" bIns="0" rtlCol="0" anchor="t"/>
          <a:lstStyle/>
          <a:p>
            <a:pPr algn="l" indent="0" marL="0">
              <a:lnSpc>
                <a:spcPct val="95000"/>
              </a:lnSpc>
              <a:buNone/>
            </a:pPr>
            <a:r>
              <a:rPr lang="en-US" altLang="en-US" sz="1300" b="1" dirty="0">
                <a:solidFill>
                  <a:srgbClr val="1A1A1A"/>
                </a:solidFill>
                <a:latin typeface="Cairo" pitchFamily="34" charset="0"/>
                <a:ea typeface="Cairo" pitchFamily="34" charset="-122"/>
                <a:cs typeface="Cairo" pitchFamily="34" charset="-120"/>
              </a:rPr>
              <a:t>Rhythm</a:t>
            </a:r>
            <a:endParaRPr lang="en-US" sz="1300" dirty="0"/>
          </a:p>
        </p:txBody>
      </p:sp>
      <p:sp>
        <p:nvSpPr>
          <p:cNvPr id="62" name="Text 57"/>
          <p:cNvSpPr txBox="1"/>
          <p:nvPr/>
        </p:nvSpPr>
        <p:spPr>
          <a:xfrm>
            <a:off x="8869680" y="2788920"/>
            <a:ext cx="2773375" cy="411480"/>
          </a:xfrm>
          <a:prstGeom prst="rect">
            <a:avLst/>
          </a:prstGeom>
          <a:noFill/>
          <a:ln/>
        </p:spPr>
        <p:txBody>
          <a:bodyPr wrap="square" lIns="0" tIns="0" rIns="0" bIns="0" rtlCol="0" anchor="t"/>
          <a:lstStyle/>
          <a:p>
            <a:pPr algn="l" indent="0" marL="0">
              <a:lnSpc>
                <a:spcPct val="95000"/>
              </a:lnSpc>
              <a:buNone/>
            </a:pPr>
            <a:r>
              <a:rPr lang="en-US" altLang="en-US" sz="1200" dirty="0">
                <a:solidFill>
                  <a:srgbClr val="3C3E3B"/>
                </a:solidFill>
                <a:latin typeface="Calibri" pitchFamily="34" charset="0"/>
                <a:ea typeface="Calibri" pitchFamily="34" charset="-122"/>
                <a:cs typeface="Calibri" pitchFamily="34" charset="-120"/>
              </a:rPr>
              <a:t>3 sessions × 3 hours per week</a:t>
            </a:r>
            <a:endParaRPr lang="en-US" sz="1200" dirty="0"/>
          </a:p>
        </p:txBody>
      </p:sp>
      <p:sp>
        <p:nvSpPr>
          <p:cNvPr id="63" name="Shape 58"/>
          <p:cNvSpPr/>
          <p:nvPr/>
        </p:nvSpPr>
        <p:spPr>
          <a:xfrm>
            <a:off x="8275320" y="3273552"/>
            <a:ext cx="457200" cy="457200"/>
          </a:xfrm>
          <a:prstGeom prst="ellipse">
            <a:avLst/>
          </a:prstGeom>
          <a:solidFill>
            <a:srgbClr val="4DB449"/>
          </a:solidFill>
          <a:ln w="6350">
            <a:solidFill>
              <a:srgbClr val="4DB449"/>
            </a:solidFill>
            <a:prstDash val="solid"/>
          </a:ln>
        </p:spPr>
      </p:sp>
      <p:pic>
        <p:nvPicPr>
          <p:cNvPr id="64" name="Image 3" descr="preencoded.png">    </p:cNvPr>
          <p:cNvPicPr>
            <a:picLocks noChangeAspect="1"/>
          </p:cNvPicPr>
          <p:nvPr/>
        </p:nvPicPr>
        <p:blipFill>
          <a:blip r:embed="rId4"/>
          <a:stretch>
            <a:fillRect/>
          </a:stretch>
        </p:blipFill>
        <p:spPr>
          <a:xfrm>
            <a:off x="8385048" y="3383280"/>
            <a:ext cx="237744" cy="237744"/>
          </a:xfrm>
          <a:prstGeom prst="rect">
            <a:avLst/>
          </a:prstGeom>
        </p:spPr>
      </p:pic>
      <p:sp>
        <p:nvSpPr>
          <p:cNvPr id="65" name="Text 59"/>
          <p:cNvSpPr txBox="1"/>
          <p:nvPr/>
        </p:nvSpPr>
        <p:spPr>
          <a:xfrm>
            <a:off x="8869680" y="3218688"/>
            <a:ext cx="2773375" cy="274320"/>
          </a:xfrm>
          <a:prstGeom prst="rect">
            <a:avLst/>
          </a:prstGeom>
          <a:noFill/>
          <a:ln/>
        </p:spPr>
        <p:txBody>
          <a:bodyPr wrap="square" lIns="0" tIns="0" rIns="0" bIns="0" rtlCol="0" anchor="t"/>
          <a:lstStyle/>
          <a:p>
            <a:pPr algn="l" indent="0" marL="0">
              <a:lnSpc>
                <a:spcPct val="95000"/>
              </a:lnSpc>
              <a:buNone/>
            </a:pPr>
            <a:r>
              <a:rPr lang="en-US" altLang="en-US" sz="1300" b="1" dirty="0">
                <a:solidFill>
                  <a:srgbClr val="1A1A1A"/>
                </a:solidFill>
                <a:latin typeface="Cairo" pitchFamily="34" charset="0"/>
                <a:ea typeface="Cairo" pitchFamily="34" charset="-122"/>
                <a:cs typeface="Cairo" pitchFamily="34" charset="-120"/>
              </a:rPr>
              <a:t>Team</a:t>
            </a:r>
            <a:endParaRPr lang="en-US" sz="1300" dirty="0"/>
          </a:p>
        </p:txBody>
      </p:sp>
      <p:sp>
        <p:nvSpPr>
          <p:cNvPr id="66" name="Text 60"/>
          <p:cNvSpPr txBox="1"/>
          <p:nvPr/>
        </p:nvSpPr>
        <p:spPr>
          <a:xfrm>
            <a:off x="8869680" y="3502152"/>
            <a:ext cx="2773375" cy="411480"/>
          </a:xfrm>
          <a:prstGeom prst="rect">
            <a:avLst/>
          </a:prstGeom>
          <a:noFill/>
          <a:ln/>
        </p:spPr>
        <p:txBody>
          <a:bodyPr wrap="square" lIns="0" tIns="0" rIns="0" bIns="0" rtlCol="0" anchor="t"/>
          <a:lstStyle/>
          <a:p>
            <a:pPr algn="l" indent="0" marL="0">
              <a:lnSpc>
                <a:spcPct val="95000"/>
              </a:lnSpc>
              <a:buNone/>
            </a:pPr>
            <a:r>
              <a:rPr lang="en-US" altLang="en-US" sz="1200" dirty="0">
                <a:solidFill>
                  <a:srgbClr val="3C3E3B"/>
                </a:solidFill>
                <a:latin typeface="Calibri" pitchFamily="34" charset="0"/>
                <a:ea typeface="Calibri" pitchFamily="34" charset="-122"/>
                <a:cs typeface="Calibri" pitchFamily="34" charset="-120"/>
              </a:rPr>
              <a:t>1 lead trainer + 1 assistant per cohort</a:t>
            </a:r>
            <a:endParaRPr lang="en-US" sz="1200" dirty="0"/>
          </a:p>
        </p:txBody>
      </p:sp>
      <p:sp>
        <p:nvSpPr>
          <p:cNvPr id="67" name="Shape 61"/>
          <p:cNvSpPr/>
          <p:nvPr/>
        </p:nvSpPr>
        <p:spPr>
          <a:xfrm>
            <a:off x="8275320" y="3986784"/>
            <a:ext cx="457200" cy="457200"/>
          </a:xfrm>
          <a:prstGeom prst="ellipse">
            <a:avLst/>
          </a:prstGeom>
          <a:solidFill>
            <a:srgbClr val="4DB449"/>
          </a:solidFill>
          <a:ln w="6350">
            <a:solidFill>
              <a:srgbClr val="4DB449"/>
            </a:solidFill>
            <a:prstDash val="solid"/>
          </a:ln>
        </p:spPr>
      </p:sp>
      <p:pic>
        <p:nvPicPr>
          <p:cNvPr id="68" name="Image 4" descr="preencoded.png">    </p:cNvPr>
          <p:cNvPicPr>
            <a:picLocks noChangeAspect="1"/>
          </p:cNvPicPr>
          <p:nvPr/>
        </p:nvPicPr>
        <p:blipFill>
          <a:blip r:embed="rId5"/>
          <a:stretch>
            <a:fillRect/>
          </a:stretch>
        </p:blipFill>
        <p:spPr>
          <a:xfrm>
            <a:off x="8385048" y="4096512"/>
            <a:ext cx="237744" cy="237744"/>
          </a:xfrm>
          <a:prstGeom prst="rect">
            <a:avLst/>
          </a:prstGeom>
        </p:spPr>
      </p:pic>
      <p:sp>
        <p:nvSpPr>
          <p:cNvPr id="69" name="Text 62"/>
          <p:cNvSpPr txBox="1"/>
          <p:nvPr/>
        </p:nvSpPr>
        <p:spPr>
          <a:xfrm>
            <a:off x="8869680" y="3931920"/>
            <a:ext cx="2773375" cy="274320"/>
          </a:xfrm>
          <a:prstGeom prst="rect">
            <a:avLst/>
          </a:prstGeom>
          <a:noFill/>
          <a:ln/>
        </p:spPr>
        <p:txBody>
          <a:bodyPr wrap="square" lIns="0" tIns="0" rIns="0" bIns="0" rtlCol="0" anchor="t"/>
          <a:lstStyle/>
          <a:p>
            <a:pPr algn="l" indent="0" marL="0">
              <a:lnSpc>
                <a:spcPct val="95000"/>
              </a:lnSpc>
              <a:buNone/>
            </a:pPr>
            <a:r>
              <a:rPr lang="en-US" altLang="en-US" sz="1300" b="1" dirty="0">
                <a:solidFill>
                  <a:srgbClr val="1A1A1A"/>
                </a:solidFill>
                <a:latin typeface="Cairo" pitchFamily="34" charset="0"/>
                <a:ea typeface="Cairo" pitchFamily="34" charset="-122"/>
                <a:cs typeface="Cairo" pitchFamily="34" charset="-120"/>
              </a:rPr>
              <a:t>Cohort</a:t>
            </a:r>
            <a:endParaRPr lang="en-US" sz="1300" dirty="0"/>
          </a:p>
        </p:txBody>
      </p:sp>
      <p:sp>
        <p:nvSpPr>
          <p:cNvPr id="70" name="Text 63"/>
          <p:cNvSpPr txBox="1"/>
          <p:nvPr/>
        </p:nvSpPr>
        <p:spPr>
          <a:xfrm>
            <a:off x="8869680" y="4215384"/>
            <a:ext cx="2773375" cy="411480"/>
          </a:xfrm>
          <a:prstGeom prst="rect">
            <a:avLst/>
          </a:prstGeom>
          <a:noFill/>
          <a:ln/>
        </p:spPr>
        <p:txBody>
          <a:bodyPr wrap="square" lIns="0" tIns="0" rIns="0" bIns="0" rtlCol="0" anchor="t"/>
          <a:lstStyle/>
          <a:p>
            <a:pPr algn="l" indent="0" marL="0">
              <a:lnSpc>
                <a:spcPct val="95000"/>
              </a:lnSpc>
              <a:buNone/>
            </a:pPr>
            <a:r>
              <a:rPr lang="en-US" altLang="en-US" sz="1200" dirty="0">
                <a:solidFill>
                  <a:srgbClr val="3C3E3B"/>
                </a:solidFill>
                <a:latin typeface="Calibri" pitchFamily="34" charset="0"/>
                <a:ea typeface="Calibri" pitchFamily="34" charset="-122"/>
                <a:cs typeface="Calibri" pitchFamily="34" charset="-120"/>
              </a:rPr>
              <a:t>20 students (Proposed)</a:t>
            </a:r>
            <a:endParaRPr lang="en-US" sz="1200" dirty="0"/>
          </a:p>
        </p:txBody>
      </p:sp>
      <p:sp>
        <p:nvSpPr>
          <p:cNvPr id="71" name="Shape 64"/>
          <p:cNvSpPr/>
          <p:nvPr/>
        </p:nvSpPr>
        <p:spPr>
          <a:xfrm>
            <a:off x="8275320" y="4700016"/>
            <a:ext cx="457200" cy="457200"/>
          </a:xfrm>
          <a:prstGeom prst="ellipse">
            <a:avLst/>
          </a:prstGeom>
          <a:solidFill>
            <a:srgbClr val="4DB449"/>
          </a:solidFill>
          <a:ln w="6350">
            <a:solidFill>
              <a:srgbClr val="4DB449"/>
            </a:solidFill>
            <a:prstDash val="solid"/>
          </a:ln>
        </p:spPr>
      </p:sp>
      <p:pic>
        <p:nvPicPr>
          <p:cNvPr id="72" name="Image 5" descr="preencoded.png">    </p:cNvPr>
          <p:cNvPicPr>
            <a:picLocks noChangeAspect="1"/>
          </p:cNvPicPr>
          <p:nvPr/>
        </p:nvPicPr>
        <p:blipFill>
          <a:blip r:embed="rId6"/>
          <a:stretch>
            <a:fillRect/>
          </a:stretch>
        </p:blipFill>
        <p:spPr>
          <a:xfrm>
            <a:off x="8385048" y="4809744"/>
            <a:ext cx="237744" cy="237744"/>
          </a:xfrm>
          <a:prstGeom prst="rect">
            <a:avLst/>
          </a:prstGeom>
        </p:spPr>
      </p:pic>
      <p:sp>
        <p:nvSpPr>
          <p:cNvPr id="73" name="Text 65"/>
          <p:cNvSpPr txBox="1"/>
          <p:nvPr/>
        </p:nvSpPr>
        <p:spPr>
          <a:xfrm>
            <a:off x="8869680" y="4645152"/>
            <a:ext cx="2773375" cy="274320"/>
          </a:xfrm>
          <a:prstGeom prst="rect">
            <a:avLst/>
          </a:prstGeom>
          <a:noFill/>
          <a:ln/>
        </p:spPr>
        <p:txBody>
          <a:bodyPr wrap="square" lIns="0" tIns="0" rIns="0" bIns="0" rtlCol="0" anchor="t"/>
          <a:lstStyle/>
          <a:p>
            <a:pPr algn="l" indent="0" marL="0">
              <a:lnSpc>
                <a:spcPct val="95000"/>
              </a:lnSpc>
              <a:buNone/>
            </a:pPr>
            <a:r>
              <a:rPr lang="en-US" altLang="en-US" sz="1300" b="1" dirty="0">
                <a:solidFill>
                  <a:srgbClr val="1A1A1A"/>
                </a:solidFill>
                <a:latin typeface="Cairo" pitchFamily="34" charset="0"/>
                <a:ea typeface="Cairo" pitchFamily="34" charset="-122"/>
                <a:cs typeface="Cairo" pitchFamily="34" charset="-120"/>
              </a:rPr>
              <a:t>Setup</a:t>
            </a:r>
            <a:endParaRPr lang="en-US" sz="1300" dirty="0"/>
          </a:p>
        </p:txBody>
      </p:sp>
      <p:sp>
        <p:nvSpPr>
          <p:cNvPr id="74" name="Text 66"/>
          <p:cNvSpPr txBox="1"/>
          <p:nvPr/>
        </p:nvSpPr>
        <p:spPr>
          <a:xfrm>
            <a:off x="8869680" y="4928616"/>
            <a:ext cx="2773375" cy="411480"/>
          </a:xfrm>
          <a:prstGeom prst="rect">
            <a:avLst/>
          </a:prstGeom>
          <a:noFill/>
          <a:ln/>
        </p:spPr>
        <p:txBody>
          <a:bodyPr wrap="square" lIns="0" tIns="0" rIns="0" bIns="0" rtlCol="0" anchor="t"/>
          <a:lstStyle/>
          <a:p>
            <a:pPr algn="l" indent="0" marL="0">
              <a:lnSpc>
                <a:spcPct val="95000"/>
              </a:lnSpc>
              <a:buNone/>
            </a:pPr>
            <a:r>
              <a:rPr lang="en-US" altLang="en-US" sz="1200" dirty="0">
                <a:solidFill>
                  <a:srgbClr val="3C3E3B"/>
                </a:solidFill>
                <a:latin typeface="Calibri" pitchFamily="34" charset="0"/>
                <a:ea typeface="Calibri" pitchFamily="34" charset="-122"/>
                <a:cs typeface="Calibri" pitchFamily="34" charset="-120"/>
              </a:rPr>
              <a:t>Laptop per student, stable internet, headsets, recording corner</a:t>
            </a:r>
            <a:endParaRPr lang="en-US" sz="1200" dirty="0"/>
          </a:p>
        </p:txBody>
      </p:sp>
      <p:sp>
        <p:nvSpPr>
          <p:cNvPr id="75" name="Shape 67"/>
          <p:cNvSpPr/>
          <p:nvPr/>
        </p:nvSpPr>
        <p:spPr>
          <a:xfrm>
            <a:off x="8275320" y="5413248"/>
            <a:ext cx="457200" cy="457200"/>
          </a:xfrm>
          <a:prstGeom prst="ellipse">
            <a:avLst/>
          </a:prstGeom>
          <a:solidFill>
            <a:srgbClr val="000000"/>
          </a:solidFill>
          <a:ln w="6350">
            <a:solidFill>
              <a:srgbClr val="000000"/>
            </a:solidFill>
            <a:prstDash val="solid"/>
          </a:ln>
        </p:spPr>
      </p:sp>
      <p:pic>
        <p:nvPicPr>
          <p:cNvPr id="76" name="Image 6" descr="preencoded.png">    </p:cNvPr>
          <p:cNvPicPr>
            <a:picLocks noChangeAspect="1"/>
          </p:cNvPicPr>
          <p:nvPr/>
        </p:nvPicPr>
        <p:blipFill>
          <a:blip r:embed="rId7"/>
          <a:stretch>
            <a:fillRect/>
          </a:stretch>
        </p:blipFill>
        <p:spPr>
          <a:xfrm>
            <a:off x="8385048" y="5522976"/>
            <a:ext cx="237744" cy="237744"/>
          </a:xfrm>
          <a:prstGeom prst="rect">
            <a:avLst/>
          </a:prstGeom>
        </p:spPr>
      </p:pic>
      <p:sp>
        <p:nvSpPr>
          <p:cNvPr id="77" name="Text 68"/>
          <p:cNvSpPr txBox="1"/>
          <p:nvPr/>
        </p:nvSpPr>
        <p:spPr>
          <a:xfrm>
            <a:off x="8869680" y="5358384"/>
            <a:ext cx="2773375" cy="274320"/>
          </a:xfrm>
          <a:prstGeom prst="rect">
            <a:avLst/>
          </a:prstGeom>
          <a:noFill/>
          <a:ln/>
        </p:spPr>
        <p:txBody>
          <a:bodyPr wrap="square" lIns="0" tIns="0" rIns="0" bIns="0" rtlCol="0" anchor="t"/>
          <a:lstStyle/>
          <a:p>
            <a:pPr algn="l" indent="0" marL="0">
              <a:lnSpc>
                <a:spcPct val="95000"/>
              </a:lnSpc>
              <a:buNone/>
            </a:pPr>
            <a:r>
              <a:rPr lang="en-US" altLang="en-US" sz="1300" b="1" dirty="0">
                <a:solidFill>
                  <a:srgbClr val="1A1A1A"/>
                </a:solidFill>
                <a:latin typeface="Cairo" pitchFamily="34" charset="0"/>
                <a:ea typeface="Cairo" pitchFamily="34" charset="-122"/>
                <a:cs typeface="Cairo" pitchFamily="34" charset="-120"/>
              </a:rPr>
              <a:t>Location &amp; dates</a:t>
            </a:r>
            <a:endParaRPr lang="en-US" sz="1300" dirty="0"/>
          </a:p>
        </p:txBody>
      </p:sp>
      <p:sp>
        <p:nvSpPr>
          <p:cNvPr id="78" name="Text 69"/>
          <p:cNvSpPr txBox="1"/>
          <p:nvPr/>
        </p:nvSpPr>
        <p:spPr>
          <a:xfrm>
            <a:off x="8869680" y="5641848"/>
            <a:ext cx="2773375" cy="411480"/>
          </a:xfrm>
          <a:prstGeom prst="rect">
            <a:avLst/>
          </a:prstGeom>
          <a:noFill/>
          <a:ln/>
        </p:spPr>
        <p:txBody>
          <a:bodyPr wrap="square" lIns="0" tIns="0" rIns="0" bIns="0" rtlCol="0" anchor="t"/>
          <a:lstStyle/>
          <a:p>
            <a:pPr algn="l" indent="0" marL="0">
              <a:lnSpc>
                <a:spcPct val="95000"/>
              </a:lnSpc>
              <a:buNone/>
            </a:pPr>
            <a:r>
              <a:rPr lang="en-US" altLang="en-US" sz="1200" dirty="0">
                <a:solidFill>
                  <a:srgbClr val="3C3E3B"/>
                </a:solidFill>
                <a:latin typeface="Calibri" pitchFamily="34" charset="0"/>
                <a:ea typeface="Calibri" pitchFamily="34" charset="-122"/>
                <a:cs typeface="Calibri" pitchFamily="34" charset="-120"/>
              </a:rPr>
              <a:t>TBD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6446520"/>
            <a:ext cx="6400800" cy="228600"/>
          </a:xfrm>
          <a:prstGeom prst="rect">
            <a:avLst/>
          </a:prstGeom>
          <a:noFill/>
          <a:ln/>
        </p:spPr>
        <p:txBody>
          <a:bodyPr wrap="square" lIns="0" tIns="0" rIns="0" bIns="0" rtlCol="0" anchor="t"/>
          <a:lstStyle/>
          <a:p>
            <a:pPr algn="l"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AI Creators Program · Training Concept Note</a:t>
            </a:r>
            <a:endParaRPr lang="en-US" sz="900" dirty="0"/>
          </a:p>
        </p:txBody>
      </p:sp>
      <p:sp>
        <p:nvSpPr>
          <p:cNvPr id="3" name="Text 1"/>
          <p:cNvSpPr txBox="1"/>
          <p:nvPr/>
        </p:nvSpPr>
        <p:spPr>
          <a:xfrm>
            <a:off x="11094415" y="6446520"/>
            <a:ext cx="548640" cy="228600"/>
          </a:xfrm>
          <a:prstGeom prst="rect">
            <a:avLst/>
          </a:prstGeom>
          <a:noFill/>
          <a:ln/>
        </p:spPr>
        <p:txBody>
          <a:bodyPr wrap="square" lIns="0" tIns="0" rIns="0" bIns="0" rtlCol="0" anchor="t"/>
          <a:lstStyle/>
          <a:p>
            <a:pPr algn="r" indent="0" marL="0">
              <a:lnSpc>
                <a:spcPct val="95000"/>
              </a:lnSpc>
              <a:buNone/>
            </a:pPr>
            <a:r>
              <a:rPr lang="en-US" altLang="en-US" sz="900" dirty="0">
                <a:solidFill>
                  <a:srgbClr val="727274"/>
                </a:solidFill>
                <a:latin typeface="Calibri" pitchFamily="34" charset="0"/>
                <a:ea typeface="Calibri" pitchFamily="34" charset="-122"/>
                <a:cs typeface="Calibri" pitchFamily="34" charset="-120"/>
              </a:rPr>
              <a:t>17</a:t>
            </a:r>
            <a:endParaRPr lang="en-US" sz="900" dirty="0"/>
          </a:p>
        </p:txBody>
      </p:sp>
      <p:sp>
        <p:nvSpPr>
          <p:cNvPr id="4" name="Text 2"/>
          <p:cNvSpPr txBox="1"/>
          <p:nvPr/>
        </p:nvSpPr>
        <p:spPr>
          <a:xfrm>
            <a:off x="548640" y="384048"/>
            <a:ext cx="8961120" cy="274320"/>
          </a:xfrm>
          <a:prstGeom prst="rect">
            <a:avLst/>
          </a:prstGeom>
          <a:noFill/>
          <a:ln/>
        </p:spPr>
        <p:txBody>
          <a:bodyPr wrap="square" lIns="0" tIns="0" rIns="0" bIns="0" rtlCol="0" anchor="t"/>
          <a:lstStyle/>
          <a:p>
            <a:pPr algn="l" indent="0" marL="0">
              <a:lnSpc>
                <a:spcPct val="95000"/>
              </a:lnSpc>
              <a:buNone/>
            </a:pPr>
            <a:r>
              <a:rPr lang="en-US" altLang="en-US" sz="1100" b="1" spc="200" kern="0" dirty="0">
                <a:solidFill>
                  <a:srgbClr val="727274"/>
                </a:solidFill>
                <a:latin typeface="Calibri" pitchFamily="34" charset="0"/>
                <a:ea typeface="Calibri" pitchFamily="34" charset="-122"/>
                <a:cs typeface="Calibri" pitchFamily="34" charset="-120"/>
              </a:rPr>
              <a:t>16 · SAFE BY DESIGN</a:t>
            </a:r>
            <a:endParaRPr lang="en-US" sz="1100" dirty="0"/>
          </a:p>
        </p:txBody>
      </p:sp>
      <p:sp>
        <p:nvSpPr>
          <p:cNvPr id="5" name="Text 3"/>
          <p:cNvSpPr txBox="1"/>
          <p:nvPr/>
        </p:nvSpPr>
        <p:spPr>
          <a:xfrm>
            <a:off x="548640" y="676656"/>
            <a:ext cx="9418320" cy="914400"/>
          </a:xfrm>
          <a:prstGeom prst="rect">
            <a:avLst/>
          </a:prstGeom>
          <a:noFill/>
          <a:ln/>
        </p:spPr>
        <p:txBody>
          <a:bodyPr wrap="square" lIns="0" tIns="0" rIns="0" bIns="0" rtlCol="0" anchor="t"/>
          <a:lstStyle/>
          <a:p>
            <a:pPr algn="l" indent="0" marL="0">
              <a:lnSpc>
                <a:spcPct val="90000"/>
              </a:lnSpc>
              <a:buNone/>
            </a:pPr>
            <a:r>
              <a:rPr lang="en-US" altLang="en-US" sz="2800" b="1" dirty="0">
                <a:solidFill>
                  <a:srgbClr val="1A1A1A"/>
                </a:solidFill>
                <a:latin typeface="Cairo" pitchFamily="34" charset="0"/>
                <a:ea typeface="Cairo" pitchFamily="34" charset="-122"/>
                <a:cs typeface="Cairo" pitchFamily="34" charset="-120"/>
              </a:rPr>
              <a:t>Responsible AI is built into every module, not added at the end</a:t>
            </a:r>
            <a:endParaRPr lang="en-US" sz="2800" dirty="0"/>
          </a:p>
        </p:txBody>
      </p:sp>
      <p:sp>
        <p:nvSpPr>
          <p:cNvPr id="6" name="Shape 4"/>
          <p:cNvSpPr/>
          <p:nvPr/>
        </p:nvSpPr>
        <p:spPr>
          <a:xfrm>
            <a:off x="548640" y="1783080"/>
            <a:ext cx="3017520" cy="4389120"/>
          </a:xfrm>
          <a:prstGeom prst="roundRect">
            <a:avLst>
              <a:gd name="adj" fmla="val 3636"/>
            </a:avLst>
          </a:prstGeom>
          <a:solidFill>
            <a:srgbClr val="000000"/>
          </a:solidFill>
          <a:ln w="12700">
            <a:solidFill>
              <a:srgbClr val="000000"/>
            </a:solidFill>
            <a:prstDash val="solid"/>
          </a:ln>
        </p:spPr>
      </p:sp>
      <p:pic>
        <p:nvPicPr>
          <p:cNvPr id="7" name="Image 0" descr="Green Circle logo">    </p:cNvPr>
          <p:cNvPicPr>
            <a:picLocks noChangeAspect="1"/>
          </p:cNvPicPr>
          <p:nvPr/>
        </p:nvPicPr>
        <p:blipFill>
          <a:blip r:embed="rId1"/>
          <a:stretch>
            <a:fillRect/>
          </a:stretch>
        </p:blipFill>
        <p:spPr>
          <a:xfrm>
            <a:off x="777240" y="2057400"/>
            <a:ext cx="2560320" cy="909893"/>
          </a:xfrm>
          <a:prstGeom prst="rect">
            <a:avLst/>
          </a:prstGeom>
        </p:spPr>
      </p:pic>
      <p:sp>
        <p:nvSpPr>
          <p:cNvPr id="8" name="Text 5"/>
          <p:cNvSpPr txBox="1"/>
          <p:nvPr/>
        </p:nvSpPr>
        <p:spPr>
          <a:xfrm>
            <a:off x="822960" y="3154680"/>
            <a:ext cx="2468880" cy="365760"/>
          </a:xfrm>
          <a:prstGeom prst="rect">
            <a:avLst/>
          </a:prstGeom>
          <a:noFill/>
          <a:ln/>
        </p:spPr>
        <p:txBody>
          <a:bodyPr wrap="square" lIns="0" tIns="0" rIns="0" bIns="0" rtlCol="0" anchor="t"/>
          <a:lstStyle/>
          <a:p>
            <a:pPr algn="l" indent="0" marL="0">
              <a:lnSpc>
                <a:spcPct val="95000"/>
              </a:lnSpc>
              <a:buNone/>
            </a:pPr>
            <a:r>
              <a:rPr lang="en-US" altLang="en-US" sz="1700" b="1" dirty="0">
                <a:solidFill>
                  <a:srgbClr val="A6D04B"/>
                </a:solidFill>
                <a:latin typeface="Cairo" pitchFamily="34" charset="0"/>
                <a:ea typeface="Cairo" pitchFamily="34" charset="-122"/>
                <a:cs typeface="Cairo" pitchFamily="34" charset="-120"/>
              </a:rPr>
              <a:t>be aware..be secure</a:t>
            </a:r>
            <a:endParaRPr lang="en-US" sz="1700" dirty="0"/>
          </a:p>
        </p:txBody>
      </p:sp>
      <p:sp>
        <p:nvSpPr>
          <p:cNvPr id="9" name="Text 6"/>
          <p:cNvSpPr txBox="1"/>
          <p:nvPr/>
        </p:nvSpPr>
        <p:spPr>
          <a:xfrm>
            <a:off x="822960" y="3611880"/>
            <a:ext cx="2468880" cy="914400"/>
          </a:xfrm>
          <a:prstGeom prst="rect">
            <a:avLst/>
          </a:prstGeom>
          <a:noFill/>
          <a:ln/>
        </p:spPr>
        <p:txBody>
          <a:bodyPr wrap="square" lIns="0" tIns="0" rIns="0" bIns="0" rtlCol="0" anchor="t"/>
          <a:lstStyle/>
          <a:p>
            <a:pPr algn="l" indent="0" marL="0">
              <a:lnSpc>
                <a:spcPct val="105000"/>
              </a:lnSpc>
              <a:buNone/>
            </a:pPr>
            <a:r>
              <a:rPr lang="en-US" altLang="en-US" sz="1500" dirty="0">
                <a:solidFill>
                  <a:srgbClr val="FFFFFF"/>
                </a:solidFill>
                <a:latin typeface="Calibri" pitchFamily="34" charset="0"/>
                <a:ea typeface="Calibri" pitchFamily="34" charset="-122"/>
                <a:cs typeface="Calibri" pitchFamily="34" charset="-120"/>
              </a:rPr>
              <a:t>Green Circle's line becomes a set of working rules in the training room.</a:t>
            </a:r>
            <a:endParaRPr lang="en-US" sz="1500" dirty="0"/>
          </a:p>
        </p:txBody>
      </p:sp>
      <p:sp>
        <p:nvSpPr>
          <p:cNvPr id="10" name="Text 7"/>
          <p:cNvSpPr txBox="1"/>
          <p:nvPr/>
        </p:nvSpPr>
        <p:spPr>
          <a:xfrm>
            <a:off x="822960" y="4617720"/>
            <a:ext cx="2468880" cy="320040"/>
          </a:xfrm>
          <a:prstGeom prst="rect">
            <a:avLst/>
          </a:prstGeom>
          <a:noFill/>
          <a:ln/>
        </p:spPr>
        <p:txBody>
          <a:bodyPr wrap="square" lIns="0" tIns="0" rIns="0" bIns="0" rtlCol="0" anchor="t"/>
          <a:lstStyle/>
          <a:p>
            <a:pPr algn="l" indent="0" marL="0">
              <a:lnSpc>
                <a:spcPct val="95000"/>
              </a:lnSpc>
              <a:buNone/>
            </a:pPr>
            <a:r>
              <a:rPr lang="en-US" altLang="en-US" sz="1200" b="1" dirty="0">
                <a:solidFill>
                  <a:srgbClr val="A6D04B"/>
                </a:solidFill>
                <a:latin typeface="Calibri" pitchFamily="34" charset="0"/>
                <a:ea typeface="Calibri" pitchFamily="34" charset="-122"/>
                <a:cs typeface="Calibri" pitchFamily="34" charset="-120"/>
              </a:rPr>
              <a:t>Where the rules live</a:t>
            </a:r>
            <a:endParaRPr lang="en-US" sz="1200" dirty="0"/>
          </a:p>
        </p:txBody>
      </p:sp>
      <p:sp>
        <p:nvSpPr>
          <p:cNvPr id="11" name="Text 8"/>
          <p:cNvSpPr txBox="1"/>
          <p:nvPr/>
        </p:nvSpPr>
        <p:spPr>
          <a:xfrm>
            <a:off x="822960" y="4956048"/>
            <a:ext cx="2468880" cy="1051560"/>
          </a:xfrm>
          <a:prstGeom prst="rect">
            <a:avLst/>
          </a:prstGeom>
          <a:noFill/>
          <a:ln/>
        </p:spPr>
        <p:txBody>
          <a:bodyPr wrap="square" lIns="0" tIns="0" rIns="0" bIns="0" rtlCol="0" anchor="t"/>
          <a:lstStyle/>
          <a:p>
            <a:pPr algn="l" marL="177800" indent="-177800">
              <a:lnSpc>
                <a:spcPct val="95000"/>
              </a:lnSpc>
              <a:spcAft>
                <a:spcPts val="400"/>
              </a:spcAft>
              <a:buSzPct val="100000"/>
              <a:buChar char="•"/>
            </a:pPr>
            <a:r>
              <a:rPr lang="en-US" altLang="en-US" sz="1350" dirty="0">
                <a:solidFill>
                  <a:srgbClr val="D6D8D4"/>
                </a:solidFill>
                <a:latin typeface="Calibri" pitchFamily="34" charset="0"/>
                <a:ea typeface="Calibri" pitchFamily="34" charset="-122"/>
                <a:cs typeface="Calibri" pitchFamily="34" charset="-120"/>
              </a:rPr>
              <a:t>Code of conduct</a:t>
            </a:r>
            <a:endParaRPr lang="en-US" sz="1350" dirty="0"/>
          </a:p>
          <a:p>
            <a:pPr algn="l" marL="177800" indent="-177800">
              <a:lnSpc>
                <a:spcPct val="95000"/>
              </a:lnSpc>
              <a:spcAft>
                <a:spcPts val="400"/>
              </a:spcAft>
              <a:buSzPct val="100000"/>
              <a:buChar char="•"/>
            </a:pPr>
            <a:r>
              <a:rPr lang="en-US" altLang="en-US" sz="1350" dirty="0">
                <a:solidFill>
                  <a:srgbClr val="D6D8D4"/>
                </a:solidFill>
                <a:latin typeface="Calibri" pitchFamily="34" charset="0"/>
                <a:ea typeface="Calibri" pitchFamily="34" charset="-122"/>
                <a:cs typeface="Calibri" pitchFamily="34" charset="-120"/>
              </a:rPr>
              <a:t>Guardian consent form</a:t>
            </a:r>
            <a:endParaRPr lang="en-US" sz="1350" dirty="0"/>
          </a:p>
          <a:p>
            <a:pPr algn="l" marL="177800" indent="-177800">
              <a:lnSpc>
                <a:spcPct val="95000"/>
              </a:lnSpc>
              <a:spcAft>
                <a:spcPts val="400"/>
              </a:spcAft>
              <a:buSzPct val="100000"/>
              <a:buChar char="•"/>
            </a:pPr>
            <a:r>
              <a:rPr lang="en-US" altLang="en-US" sz="1350" dirty="0">
                <a:solidFill>
                  <a:srgbClr val="D6D8D4"/>
                </a:solidFill>
                <a:latin typeface="Calibri" pitchFamily="34" charset="0"/>
                <a:ea typeface="Calibri" pitchFamily="34" charset="-122"/>
                <a:cs typeface="Calibri" pitchFamily="34" charset="-120"/>
              </a:rPr>
              <a:t>Checklist in every module</a:t>
            </a:r>
            <a:endParaRPr lang="en-US" sz="1350" dirty="0"/>
          </a:p>
        </p:txBody>
      </p:sp>
      <p:sp>
        <p:nvSpPr>
          <p:cNvPr id="12" name="Shape 9"/>
          <p:cNvSpPr/>
          <p:nvPr/>
        </p:nvSpPr>
        <p:spPr>
          <a:xfrm>
            <a:off x="3840480" y="1783080"/>
            <a:ext cx="3786988" cy="1325880"/>
          </a:xfrm>
          <a:prstGeom prst="roundRect">
            <a:avLst>
              <a:gd name="adj" fmla="val 6897"/>
            </a:avLst>
          </a:prstGeom>
          <a:solidFill>
            <a:srgbClr val="F2F4F1"/>
          </a:solidFill>
          <a:ln w="12700">
            <a:solidFill>
              <a:srgbClr val="F2F4F1"/>
            </a:solidFill>
            <a:prstDash val="solid"/>
          </a:ln>
        </p:spPr>
      </p:sp>
      <p:sp>
        <p:nvSpPr>
          <p:cNvPr id="13" name="Shape 10"/>
          <p:cNvSpPr/>
          <p:nvPr/>
        </p:nvSpPr>
        <p:spPr>
          <a:xfrm>
            <a:off x="4041648" y="2011680"/>
            <a:ext cx="502920" cy="502920"/>
          </a:xfrm>
          <a:prstGeom prst="ellipse">
            <a:avLst/>
          </a:prstGeom>
          <a:solidFill>
            <a:srgbClr val="000000"/>
          </a:solidFill>
          <a:ln w="6350">
            <a:solidFill>
              <a:srgbClr val="000000"/>
            </a:solidFill>
            <a:prstDash val="solid"/>
          </a:ln>
        </p:spPr>
      </p:sp>
      <p:pic>
        <p:nvPicPr>
          <p:cNvPr id="14" name="Image 1" descr="preencoded.png">    </p:cNvPr>
          <p:cNvPicPr>
            <a:picLocks noChangeAspect="1"/>
          </p:cNvPicPr>
          <p:nvPr/>
        </p:nvPicPr>
        <p:blipFill>
          <a:blip r:embed="rId2"/>
          <a:stretch>
            <a:fillRect/>
          </a:stretch>
        </p:blipFill>
        <p:spPr>
          <a:xfrm>
            <a:off x="4151376" y="2121408"/>
            <a:ext cx="283464" cy="283464"/>
          </a:xfrm>
          <a:prstGeom prst="rect">
            <a:avLst/>
          </a:prstGeom>
        </p:spPr>
      </p:pic>
      <p:sp>
        <p:nvSpPr>
          <p:cNvPr id="15" name="Text 11"/>
          <p:cNvSpPr txBox="1"/>
          <p:nvPr/>
        </p:nvSpPr>
        <p:spPr>
          <a:xfrm>
            <a:off x="4709160" y="1947672"/>
            <a:ext cx="2735428" cy="365760"/>
          </a:xfrm>
          <a:prstGeom prst="rect">
            <a:avLst/>
          </a:prstGeom>
          <a:noFill/>
          <a:ln/>
        </p:spPr>
        <p:txBody>
          <a:bodyPr wrap="square" lIns="0" tIns="0" rIns="0" bIns="0" rtlCol="0" anchor="t"/>
          <a:lstStyle/>
          <a:p>
            <a:pPr algn="l" indent="0" marL="0">
              <a:lnSpc>
                <a:spcPct val="95000"/>
              </a:lnSpc>
              <a:buNone/>
            </a:pPr>
            <a:r>
              <a:rPr lang="en-US" altLang="en-US" sz="1600" b="1" dirty="0">
                <a:solidFill>
                  <a:srgbClr val="1A1A1A"/>
                </a:solidFill>
                <a:latin typeface="Cairo" pitchFamily="34" charset="0"/>
                <a:ea typeface="Cairo" pitchFamily="34" charset="-122"/>
                <a:cs typeface="Cairo" pitchFamily="34" charset="-120"/>
              </a:rPr>
              <a:t>Age-checked tools</a:t>
            </a:r>
            <a:endParaRPr lang="en-US" sz="1600" dirty="0"/>
          </a:p>
        </p:txBody>
      </p:sp>
      <p:sp>
        <p:nvSpPr>
          <p:cNvPr id="16" name="Text 12"/>
          <p:cNvSpPr txBox="1"/>
          <p:nvPr/>
        </p:nvSpPr>
        <p:spPr>
          <a:xfrm>
            <a:off x="4709160" y="2313432"/>
            <a:ext cx="2735428" cy="749808"/>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Every tool is checked against its own age rules before use. 18+ tools are demo-only for under-18s.</a:t>
            </a:r>
            <a:endParaRPr lang="en-US" sz="1300" dirty="0"/>
          </a:p>
        </p:txBody>
      </p:sp>
      <p:sp>
        <p:nvSpPr>
          <p:cNvPr id="17" name="Shape 13"/>
          <p:cNvSpPr/>
          <p:nvPr/>
        </p:nvSpPr>
        <p:spPr>
          <a:xfrm>
            <a:off x="7856068" y="1783080"/>
            <a:ext cx="3786988" cy="1325880"/>
          </a:xfrm>
          <a:prstGeom prst="roundRect">
            <a:avLst>
              <a:gd name="adj" fmla="val 6897"/>
            </a:avLst>
          </a:prstGeom>
          <a:solidFill>
            <a:srgbClr val="F2F4F1"/>
          </a:solidFill>
          <a:ln w="12700">
            <a:solidFill>
              <a:srgbClr val="F2F4F1"/>
            </a:solidFill>
            <a:prstDash val="solid"/>
          </a:ln>
        </p:spPr>
      </p:sp>
      <p:sp>
        <p:nvSpPr>
          <p:cNvPr id="18" name="Shape 14"/>
          <p:cNvSpPr/>
          <p:nvPr/>
        </p:nvSpPr>
        <p:spPr>
          <a:xfrm>
            <a:off x="8057236" y="2011680"/>
            <a:ext cx="502920" cy="502920"/>
          </a:xfrm>
          <a:prstGeom prst="ellipse">
            <a:avLst/>
          </a:prstGeom>
          <a:solidFill>
            <a:srgbClr val="000000"/>
          </a:solidFill>
          <a:ln w="6350">
            <a:solidFill>
              <a:srgbClr val="000000"/>
            </a:solidFill>
            <a:prstDash val="solid"/>
          </a:ln>
        </p:spPr>
      </p:sp>
      <p:pic>
        <p:nvPicPr>
          <p:cNvPr id="19" name="Image 2" descr="preencoded.png">    </p:cNvPr>
          <p:cNvPicPr>
            <a:picLocks noChangeAspect="1"/>
          </p:cNvPicPr>
          <p:nvPr/>
        </p:nvPicPr>
        <p:blipFill>
          <a:blip r:embed="rId3"/>
          <a:stretch>
            <a:fillRect/>
          </a:stretch>
        </p:blipFill>
        <p:spPr>
          <a:xfrm>
            <a:off x="8166964" y="2121408"/>
            <a:ext cx="283464" cy="283464"/>
          </a:xfrm>
          <a:prstGeom prst="rect">
            <a:avLst/>
          </a:prstGeom>
        </p:spPr>
      </p:pic>
      <p:sp>
        <p:nvSpPr>
          <p:cNvPr id="20" name="Text 15"/>
          <p:cNvSpPr txBox="1"/>
          <p:nvPr/>
        </p:nvSpPr>
        <p:spPr>
          <a:xfrm>
            <a:off x="8724748" y="1947672"/>
            <a:ext cx="2735428" cy="365760"/>
          </a:xfrm>
          <a:prstGeom prst="rect">
            <a:avLst/>
          </a:prstGeom>
          <a:noFill/>
          <a:ln/>
        </p:spPr>
        <p:txBody>
          <a:bodyPr wrap="square" lIns="0" tIns="0" rIns="0" bIns="0" rtlCol="0" anchor="t"/>
          <a:lstStyle/>
          <a:p>
            <a:pPr algn="l" indent="0" marL="0">
              <a:lnSpc>
                <a:spcPct val="95000"/>
              </a:lnSpc>
              <a:buNone/>
            </a:pPr>
            <a:r>
              <a:rPr lang="en-US" altLang="en-US" sz="1600" b="1" dirty="0">
                <a:solidFill>
                  <a:srgbClr val="1A1A1A"/>
                </a:solidFill>
                <a:latin typeface="Cairo" pitchFamily="34" charset="0"/>
                <a:ea typeface="Cairo" pitchFamily="34" charset="-122"/>
                <a:cs typeface="Cairo" pitchFamily="34" charset="-120"/>
              </a:rPr>
              <a:t>Guardian consent</a:t>
            </a:r>
            <a:endParaRPr lang="en-US" sz="1600" dirty="0"/>
          </a:p>
        </p:txBody>
      </p:sp>
      <p:sp>
        <p:nvSpPr>
          <p:cNvPr id="21" name="Text 16"/>
          <p:cNvSpPr txBox="1"/>
          <p:nvPr/>
        </p:nvSpPr>
        <p:spPr>
          <a:xfrm>
            <a:off x="8724748" y="2313432"/>
            <a:ext cx="2735428" cy="749808"/>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Signed consent for all students under 18, covering accounts and content.</a:t>
            </a:r>
            <a:endParaRPr lang="en-US" sz="1300" dirty="0"/>
          </a:p>
        </p:txBody>
      </p:sp>
      <p:sp>
        <p:nvSpPr>
          <p:cNvPr id="22" name="Shape 17"/>
          <p:cNvSpPr/>
          <p:nvPr/>
        </p:nvSpPr>
        <p:spPr>
          <a:xfrm>
            <a:off x="3840480" y="3310128"/>
            <a:ext cx="3786988" cy="1325880"/>
          </a:xfrm>
          <a:prstGeom prst="roundRect">
            <a:avLst>
              <a:gd name="adj" fmla="val 6897"/>
            </a:avLst>
          </a:prstGeom>
          <a:solidFill>
            <a:srgbClr val="F2F4F1"/>
          </a:solidFill>
          <a:ln w="12700">
            <a:solidFill>
              <a:srgbClr val="F2F4F1"/>
            </a:solidFill>
            <a:prstDash val="solid"/>
          </a:ln>
        </p:spPr>
      </p:sp>
      <p:sp>
        <p:nvSpPr>
          <p:cNvPr id="23" name="Shape 18"/>
          <p:cNvSpPr/>
          <p:nvPr/>
        </p:nvSpPr>
        <p:spPr>
          <a:xfrm>
            <a:off x="4041648" y="3538728"/>
            <a:ext cx="502920" cy="502920"/>
          </a:xfrm>
          <a:prstGeom prst="ellipse">
            <a:avLst/>
          </a:prstGeom>
          <a:solidFill>
            <a:srgbClr val="000000"/>
          </a:solidFill>
          <a:ln w="6350">
            <a:solidFill>
              <a:srgbClr val="000000"/>
            </a:solidFill>
            <a:prstDash val="solid"/>
          </a:ln>
        </p:spPr>
      </p:sp>
      <p:pic>
        <p:nvPicPr>
          <p:cNvPr id="24" name="Image 3" descr="preencoded.png">    </p:cNvPr>
          <p:cNvPicPr>
            <a:picLocks noChangeAspect="1"/>
          </p:cNvPicPr>
          <p:nvPr/>
        </p:nvPicPr>
        <p:blipFill>
          <a:blip r:embed="rId4"/>
          <a:stretch>
            <a:fillRect/>
          </a:stretch>
        </p:blipFill>
        <p:spPr>
          <a:xfrm>
            <a:off x="4151376" y="3648456"/>
            <a:ext cx="283464" cy="283464"/>
          </a:xfrm>
          <a:prstGeom prst="rect">
            <a:avLst/>
          </a:prstGeom>
        </p:spPr>
      </p:pic>
      <p:sp>
        <p:nvSpPr>
          <p:cNvPr id="25" name="Text 19"/>
          <p:cNvSpPr txBox="1"/>
          <p:nvPr/>
        </p:nvSpPr>
        <p:spPr>
          <a:xfrm>
            <a:off x="4709160" y="3474720"/>
            <a:ext cx="2735428" cy="365760"/>
          </a:xfrm>
          <a:prstGeom prst="rect">
            <a:avLst/>
          </a:prstGeom>
          <a:noFill/>
          <a:ln/>
        </p:spPr>
        <p:txBody>
          <a:bodyPr wrap="square" lIns="0" tIns="0" rIns="0" bIns="0" rtlCol="0" anchor="t"/>
          <a:lstStyle/>
          <a:p>
            <a:pPr algn="l" indent="0" marL="0">
              <a:lnSpc>
                <a:spcPct val="95000"/>
              </a:lnSpc>
              <a:buNone/>
            </a:pPr>
            <a:r>
              <a:rPr lang="en-US" altLang="en-US" sz="1600" b="1" dirty="0">
                <a:solidFill>
                  <a:srgbClr val="1A1A1A"/>
                </a:solidFill>
                <a:latin typeface="Cairo" pitchFamily="34" charset="0"/>
                <a:ea typeface="Cairo" pitchFamily="34" charset="-122"/>
                <a:cs typeface="Cairo" pitchFamily="34" charset="-120"/>
              </a:rPr>
              <a:t>No real likeness</a:t>
            </a:r>
            <a:endParaRPr lang="en-US" sz="1600" dirty="0"/>
          </a:p>
        </p:txBody>
      </p:sp>
      <p:sp>
        <p:nvSpPr>
          <p:cNvPr id="26" name="Text 20"/>
          <p:cNvSpPr txBox="1"/>
          <p:nvPr/>
        </p:nvSpPr>
        <p:spPr>
          <a:xfrm>
            <a:off x="4709160" y="3840480"/>
            <a:ext cx="2735428" cy="749808"/>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No real person's face or voice is generated or cloned without consent.</a:t>
            </a:r>
            <a:endParaRPr lang="en-US" sz="1300" dirty="0"/>
          </a:p>
        </p:txBody>
      </p:sp>
      <p:sp>
        <p:nvSpPr>
          <p:cNvPr id="27" name="Shape 21"/>
          <p:cNvSpPr/>
          <p:nvPr/>
        </p:nvSpPr>
        <p:spPr>
          <a:xfrm>
            <a:off x="7856068" y="3310128"/>
            <a:ext cx="3786988" cy="1325880"/>
          </a:xfrm>
          <a:prstGeom prst="roundRect">
            <a:avLst>
              <a:gd name="adj" fmla="val 6897"/>
            </a:avLst>
          </a:prstGeom>
          <a:solidFill>
            <a:srgbClr val="F2F4F1"/>
          </a:solidFill>
          <a:ln w="12700">
            <a:solidFill>
              <a:srgbClr val="F2F4F1"/>
            </a:solidFill>
            <a:prstDash val="solid"/>
          </a:ln>
        </p:spPr>
      </p:sp>
      <p:sp>
        <p:nvSpPr>
          <p:cNvPr id="28" name="Shape 22"/>
          <p:cNvSpPr/>
          <p:nvPr/>
        </p:nvSpPr>
        <p:spPr>
          <a:xfrm>
            <a:off x="8057236" y="3538728"/>
            <a:ext cx="502920" cy="502920"/>
          </a:xfrm>
          <a:prstGeom prst="ellipse">
            <a:avLst/>
          </a:prstGeom>
          <a:solidFill>
            <a:srgbClr val="000000"/>
          </a:solidFill>
          <a:ln w="6350">
            <a:solidFill>
              <a:srgbClr val="000000"/>
            </a:solidFill>
            <a:prstDash val="solid"/>
          </a:ln>
        </p:spPr>
      </p:sp>
      <p:pic>
        <p:nvPicPr>
          <p:cNvPr id="29" name="Image 4" descr="preencoded.png">    </p:cNvPr>
          <p:cNvPicPr>
            <a:picLocks noChangeAspect="1"/>
          </p:cNvPicPr>
          <p:nvPr/>
        </p:nvPicPr>
        <p:blipFill>
          <a:blip r:embed="rId5"/>
          <a:stretch>
            <a:fillRect/>
          </a:stretch>
        </p:blipFill>
        <p:spPr>
          <a:xfrm>
            <a:off x="8166964" y="3648456"/>
            <a:ext cx="283464" cy="283464"/>
          </a:xfrm>
          <a:prstGeom prst="rect">
            <a:avLst/>
          </a:prstGeom>
        </p:spPr>
      </p:pic>
      <p:sp>
        <p:nvSpPr>
          <p:cNvPr id="30" name="Text 23"/>
          <p:cNvSpPr txBox="1"/>
          <p:nvPr/>
        </p:nvSpPr>
        <p:spPr>
          <a:xfrm>
            <a:off x="8724748" y="3474720"/>
            <a:ext cx="2735428" cy="365760"/>
          </a:xfrm>
          <a:prstGeom prst="rect">
            <a:avLst/>
          </a:prstGeom>
          <a:noFill/>
          <a:ln/>
        </p:spPr>
        <p:txBody>
          <a:bodyPr wrap="square" lIns="0" tIns="0" rIns="0" bIns="0" rtlCol="0" anchor="t"/>
          <a:lstStyle/>
          <a:p>
            <a:pPr algn="l" indent="0" marL="0">
              <a:lnSpc>
                <a:spcPct val="95000"/>
              </a:lnSpc>
              <a:buNone/>
            </a:pPr>
            <a:r>
              <a:rPr lang="en-US" altLang="en-US" sz="1600" b="1" dirty="0">
                <a:solidFill>
                  <a:srgbClr val="1A1A1A"/>
                </a:solidFill>
                <a:latin typeface="Cairo" pitchFamily="34" charset="0"/>
                <a:ea typeface="Cairo" pitchFamily="34" charset="-122"/>
                <a:cs typeface="Cairo" pitchFamily="34" charset="-120"/>
              </a:rPr>
              <a:t>Protected credentials</a:t>
            </a:r>
            <a:endParaRPr lang="en-US" sz="1600" dirty="0"/>
          </a:p>
        </p:txBody>
      </p:sp>
      <p:sp>
        <p:nvSpPr>
          <p:cNvPr id="31" name="Text 24"/>
          <p:cNvSpPr txBox="1"/>
          <p:nvPr/>
        </p:nvSpPr>
        <p:spPr>
          <a:xfrm>
            <a:off x="8724748" y="3840480"/>
            <a:ext cx="2735428" cy="749808"/>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API keys and logins are owned and managed by the program, never shared with students.</a:t>
            </a:r>
            <a:endParaRPr lang="en-US" sz="1300" dirty="0"/>
          </a:p>
        </p:txBody>
      </p:sp>
      <p:sp>
        <p:nvSpPr>
          <p:cNvPr id="32" name="Shape 25"/>
          <p:cNvSpPr/>
          <p:nvPr/>
        </p:nvSpPr>
        <p:spPr>
          <a:xfrm>
            <a:off x="3840480" y="4837176"/>
            <a:ext cx="3786988" cy="1325880"/>
          </a:xfrm>
          <a:prstGeom prst="roundRect">
            <a:avLst>
              <a:gd name="adj" fmla="val 6897"/>
            </a:avLst>
          </a:prstGeom>
          <a:solidFill>
            <a:srgbClr val="F2F4F1"/>
          </a:solidFill>
          <a:ln w="12700">
            <a:solidFill>
              <a:srgbClr val="F2F4F1"/>
            </a:solidFill>
            <a:prstDash val="solid"/>
          </a:ln>
        </p:spPr>
      </p:sp>
      <p:sp>
        <p:nvSpPr>
          <p:cNvPr id="33" name="Shape 26"/>
          <p:cNvSpPr/>
          <p:nvPr/>
        </p:nvSpPr>
        <p:spPr>
          <a:xfrm>
            <a:off x="4041648" y="5065776"/>
            <a:ext cx="502920" cy="502920"/>
          </a:xfrm>
          <a:prstGeom prst="ellipse">
            <a:avLst/>
          </a:prstGeom>
          <a:solidFill>
            <a:srgbClr val="000000"/>
          </a:solidFill>
          <a:ln w="6350">
            <a:solidFill>
              <a:srgbClr val="000000"/>
            </a:solidFill>
            <a:prstDash val="solid"/>
          </a:ln>
        </p:spPr>
      </p:sp>
      <p:pic>
        <p:nvPicPr>
          <p:cNvPr id="34" name="Image 5" descr="preencoded.png">    </p:cNvPr>
          <p:cNvPicPr>
            <a:picLocks noChangeAspect="1"/>
          </p:cNvPicPr>
          <p:nvPr/>
        </p:nvPicPr>
        <p:blipFill>
          <a:blip r:embed="rId6"/>
          <a:stretch>
            <a:fillRect/>
          </a:stretch>
        </p:blipFill>
        <p:spPr>
          <a:xfrm>
            <a:off x="4151376" y="5175504"/>
            <a:ext cx="283464" cy="283464"/>
          </a:xfrm>
          <a:prstGeom prst="rect">
            <a:avLst/>
          </a:prstGeom>
        </p:spPr>
      </p:pic>
      <p:sp>
        <p:nvSpPr>
          <p:cNvPr id="35" name="Text 27"/>
          <p:cNvSpPr txBox="1"/>
          <p:nvPr/>
        </p:nvSpPr>
        <p:spPr>
          <a:xfrm>
            <a:off x="4709160" y="5001768"/>
            <a:ext cx="2735428" cy="365760"/>
          </a:xfrm>
          <a:prstGeom prst="rect">
            <a:avLst/>
          </a:prstGeom>
          <a:noFill/>
          <a:ln/>
        </p:spPr>
        <p:txBody>
          <a:bodyPr wrap="square" lIns="0" tIns="0" rIns="0" bIns="0" rtlCol="0" anchor="t"/>
          <a:lstStyle/>
          <a:p>
            <a:pPr algn="l" indent="0" marL="0">
              <a:lnSpc>
                <a:spcPct val="95000"/>
              </a:lnSpc>
              <a:buNone/>
            </a:pPr>
            <a:r>
              <a:rPr lang="en-US" altLang="en-US" sz="1600" b="1" dirty="0">
                <a:solidFill>
                  <a:srgbClr val="1A1A1A"/>
                </a:solidFill>
                <a:latin typeface="Cairo" pitchFamily="34" charset="0"/>
                <a:ea typeface="Cairo" pitchFamily="34" charset="-122"/>
                <a:cs typeface="Cairo" pitchFamily="34" charset="-120"/>
              </a:rPr>
              <a:t>Verify before publishing</a:t>
            </a:r>
            <a:endParaRPr lang="en-US" sz="1600" dirty="0"/>
          </a:p>
        </p:txBody>
      </p:sp>
      <p:sp>
        <p:nvSpPr>
          <p:cNvPr id="36" name="Text 28"/>
          <p:cNvSpPr txBox="1"/>
          <p:nvPr/>
        </p:nvSpPr>
        <p:spPr>
          <a:xfrm>
            <a:off x="4709160" y="5367528"/>
            <a:ext cx="2735428" cy="749808"/>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Facts are checked against sources; AI-made content is labelled.</a:t>
            </a:r>
            <a:endParaRPr lang="en-US" sz="1300" dirty="0"/>
          </a:p>
        </p:txBody>
      </p:sp>
      <p:sp>
        <p:nvSpPr>
          <p:cNvPr id="37" name="Shape 29"/>
          <p:cNvSpPr/>
          <p:nvPr/>
        </p:nvSpPr>
        <p:spPr>
          <a:xfrm>
            <a:off x="7856068" y="4837176"/>
            <a:ext cx="3786988" cy="1325880"/>
          </a:xfrm>
          <a:prstGeom prst="roundRect">
            <a:avLst>
              <a:gd name="adj" fmla="val 6897"/>
            </a:avLst>
          </a:prstGeom>
          <a:solidFill>
            <a:srgbClr val="F2F4F1"/>
          </a:solidFill>
          <a:ln w="12700">
            <a:solidFill>
              <a:srgbClr val="F2F4F1"/>
            </a:solidFill>
            <a:prstDash val="solid"/>
          </a:ln>
        </p:spPr>
      </p:sp>
      <p:sp>
        <p:nvSpPr>
          <p:cNvPr id="38" name="Shape 30"/>
          <p:cNvSpPr/>
          <p:nvPr/>
        </p:nvSpPr>
        <p:spPr>
          <a:xfrm>
            <a:off x="8057236" y="5065776"/>
            <a:ext cx="502920" cy="502920"/>
          </a:xfrm>
          <a:prstGeom prst="ellipse">
            <a:avLst/>
          </a:prstGeom>
          <a:solidFill>
            <a:srgbClr val="000000"/>
          </a:solidFill>
          <a:ln w="6350">
            <a:solidFill>
              <a:srgbClr val="000000"/>
            </a:solidFill>
            <a:prstDash val="solid"/>
          </a:ln>
        </p:spPr>
      </p:sp>
      <p:pic>
        <p:nvPicPr>
          <p:cNvPr id="39" name="Image 6" descr="preencoded.png">    </p:cNvPr>
          <p:cNvPicPr>
            <a:picLocks noChangeAspect="1"/>
          </p:cNvPicPr>
          <p:nvPr/>
        </p:nvPicPr>
        <p:blipFill>
          <a:blip r:embed="rId7"/>
          <a:stretch>
            <a:fillRect/>
          </a:stretch>
        </p:blipFill>
        <p:spPr>
          <a:xfrm>
            <a:off x="8166964" y="5175504"/>
            <a:ext cx="283464" cy="283464"/>
          </a:xfrm>
          <a:prstGeom prst="rect">
            <a:avLst/>
          </a:prstGeom>
        </p:spPr>
      </p:pic>
      <p:sp>
        <p:nvSpPr>
          <p:cNvPr id="40" name="Text 31"/>
          <p:cNvSpPr txBox="1"/>
          <p:nvPr/>
        </p:nvSpPr>
        <p:spPr>
          <a:xfrm>
            <a:off x="8724748" y="5001768"/>
            <a:ext cx="2735428" cy="365760"/>
          </a:xfrm>
          <a:prstGeom prst="rect">
            <a:avLst/>
          </a:prstGeom>
          <a:noFill/>
          <a:ln/>
        </p:spPr>
        <p:txBody>
          <a:bodyPr wrap="square" lIns="0" tIns="0" rIns="0" bIns="0" rtlCol="0" anchor="t"/>
          <a:lstStyle/>
          <a:p>
            <a:pPr algn="l" indent="0" marL="0">
              <a:lnSpc>
                <a:spcPct val="95000"/>
              </a:lnSpc>
              <a:buNone/>
            </a:pPr>
            <a:r>
              <a:rPr lang="en-US" altLang="en-US" sz="1600" b="1" dirty="0">
                <a:solidFill>
                  <a:srgbClr val="1A1A1A"/>
                </a:solidFill>
                <a:latin typeface="Cairo" pitchFamily="34" charset="0"/>
                <a:ea typeface="Cairo" pitchFamily="34" charset="-122"/>
                <a:cs typeface="Cairo" pitchFamily="34" charset="-120"/>
              </a:rPr>
              <a:t>Privacy first</a:t>
            </a:r>
            <a:endParaRPr lang="en-US" sz="1600" dirty="0"/>
          </a:p>
        </p:txBody>
      </p:sp>
      <p:sp>
        <p:nvSpPr>
          <p:cNvPr id="41" name="Text 32"/>
          <p:cNvSpPr txBox="1"/>
          <p:nvPr/>
        </p:nvSpPr>
        <p:spPr>
          <a:xfrm>
            <a:off x="8724748" y="5367528"/>
            <a:ext cx="2735428" cy="749808"/>
          </a:xfrm>
          <a:prstGeom prst="rect">
            <a:avLst/>
          </a:prstGeom>
          <a:noFill/>
          <a:ln/>
        </p:spPr>
        <p:txBody>
          <a:bodyPr wrap="square" lIns="0" tIns="0" rIns="0" bIns="0" rtlCol="0" anchor="t"/>
          <a:lstStyle/>
          <a:p>
            <a:pPr algn="l" indent="0" marL="0">
              <a:lnSpc>
                <a:spcPct val="100000"/>
              </a:lnSpc>
              <a:buNone/>
            </a:pPr>
            <a:r>
              <a:rPr lang="en-US" altLang="en-US" sz="1300" dirty="0">
                <a:solidFill>
                  <a:srgbClr val="3C3E3B"/>
                </a:solidFill>
                <a:latin typeface="Calibri" pitchFamily="34" charset="0"/>
                <a:ea typeface="Calibri" pitchFamily="34" charset="-122"/>
                <a:cs typeface="Calibri" pitchFamily="34" charset="-120"/>
              </a:rPr>
              <a:t>No personal data of students or clients goes into AI tools.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6446520"/>
            <a:ext cx="6400800" cy="228600"/>
          </a:xfrm>
          <a:prstGeom prst="rect">
            <a:avLst/>
          </a:prstGeom>
          <a:noFill/>
          <a:ln/>
        </p:spPr>
        <p:txBody>
          <a:bodyPr wrap="square" lIns="0" tIns="0" rIns="0" bIns="0" rtlCol="0" anchor="t"/>
          <a:lstStyle/>
          <a:p>
            <a:pPr algn="l" indent="0" marL="0">
              <a:lnSpc>
                <a:spcPct val="95000"/>
              </a:lnSpc>
              <a:buNone/>
            </a:pPr>
            <a:r>
              <a:rPr lang="en-US" altLang="en-US" sz="900" dirty="0">
                <a:solidFill>
                  <a:srgbClr val="8A8C88"/>
                </a:solidFill>
                <a:latin typeface="Calibri" pitchFamily="34" charset="0"/>
                <a:ea typeface="Calibri" pitchFamily="34" charset="-122"/>
                <a:cs typeface="Calibri" pitchFamily="34" charset="-120"/>
              </a:rPr>
              <a:t>AI Creators Program · Training Concept Note</a:t>
            </a:r>
            <a:endParaRPr lang="en-US" sz="900" dirty="0"/>
          </a:p>
        </p:txBody>
      </p:sp>
      <p:sp>
        <p:nvSpPr>
          <p:cNvPr id="3" name="Text 1"/>
          <p:cNvSpPr txBox="1"/>
          <p:nvPr/>
        </p:nvSpPr>
        <p:spPr>
          <a:xfrm>
            <a:off x="11094415" y="6446520"/>
            <a:ext cx="548640" cy="228600"/>
          </a:xfrm>
          <a:prstGeom prst="rect">
            <a:avLst/>
          </a:prstGeom>
          <a:noFill/>
          <a:ln/>
        </p:spPr>
        <p:txBody>
          <a:bodyPr wrap="square" lIns="0" tIns="0" rIns="0" bIns="0" rtlCol="0" anchor="t"/>
          <a:lstStyle/>
          <a:p>
            <a:pPr algn="r" indent="0" marL="0">
              <a:lnSpc>
                <a:spcPct val="95000"/>
              </a:lnSpc>
              <a:buNone/>
            </a:pPr>
            <a:r>
              <a:rPr lang="en-US" altLang="en-US" sz="900" dirty="0">
                <a:solidFill>
                  <a:srgbClr val="8A8C88"/>
                </a:solidFill>
                <a:latin typeface="Calibri" pitchFamily="34" charset="0"/>
                <a:ea typeface="Calibri" pitchFamily="34" charset="-122"/>
                <a:cs typeface="Calibri" pitchFamily="34" charset="-120"/>
              </a:rPr>
              <a:t>18</a:t>
            </a:r>
            <a:endParaRPr lang="en-US" sz="900" dirty="0"/>
          </a:p>
        </p:txBody>
      </p:sp>
      <p:pic>
        <p:nvPicPr>
          <p:cNvPr id="4" name="Image 0" descr="Green Circle logo">    </p:cNvPr>
          <p:cNvPicPr>
            <a:picLocks noChangeAspect="1"/>
          </p:cNvPicPr>
          <p:nvPr/>
        </p:nvPicPr>
        <p:blipFill>
          <a:blip r:embed="rId1"/>
          <a:stretch>
            <a:fillRect/>
          </a:stretch>
        </p:blipFill>
        <p:spPr>
          <a:xfrm>
            <a:off x="475488" y="457200"/>
            <a:ext cx="2743200" cy="974886"/>
          </a:xfrm>
          <a:prstGeom prst="rect">
            <a:avLst/>
          </a:prstGeom>
        </p:spPr>
      </p:pic>
      <p:sp>
        <p:nvSpPr>
          <p:cNvPr id="5" name="Text 2"/>
          <p:cNvSpPr txBox="1"/>
          <p:nvPr/>
        </p:nvSpPr>
        <p:spPr>
          <a:xfrm>
            <a:off x="548640" y="1600200"/>
            <a:ext cx="5943600" cy="274320"/>
          </a:xfrm>
          <a:prstGeom prst="rect">
            <a:avLst/>
          </a:prstGeom>
          <a:noFill/>
          <a:ln/>
        </p:spPr>
        <p:txBody>
          <a:bodyPr wrap="square" lIns="0" tIns="0" rIns="0" bIns="0" rtlCol="0" anchor="t"/>
          <a:lstStyle/>
          <a:p>
            <a:pPr algn="l" indent="0" marL="0">
              <a:lnSpc>
                <a:spcPct val="95000"/>
              </a:lnSpc>
              <a:buNone/>
            </a:pPr>
            <a:r>
              <a:rPr lang="en-US" altLang="en-US" sz="1200" b="1" spc="200" kern="0" dirty="0">
                <a:solidFill>
                  <a:srgbClr val="A6D04B"/>
                </a:solidFill>
                <a:latin typeface="Calibri" pitchFamily="34" charset="0"/>
                <a:ea typeface="Calibri" pitchFamily="34" charset="-122"/>
                <a:cs typeface="Calibri" pitchFamily="34" charset="-120"/>
              </a:rPr>
              <a:t>NEXT STEPS</a:t>
            </a:r>
            <a:endParaRPr lang="en-US" sz="1200" dirty="0"/>
          </a:p>
        </p:txBody>
      </p:sp>
      <p:sp>
        <p:nvSpPr>
          <p:cNvPr id="6" name="Text 3"/>
          <p:cNvSpPr txBox="1"/>
          <p:nvPr/>
        </p:nvSpPr>
        <p:spPr>
          <a:xfrm>
            <a:off x="548640" y="1920240"/>
            <a:ext cx="5943600" cy="685800"/>
          </a:xfrm>
          <a:prstGeom prst="rect">
            <a:avLst/>
          </a:prstGeom>
          <a:noFill/>
          <a:ln/>
        </p:spPr>
        <p:txBody>
          <a:bodyPr wrap="square" lIns="0" tIns="0" rIns="0" bIns="0" rtlCol="0" anchor="t"/>
          <a:lstStyle/>
          <a:p>
            <a:pPr algn="l" indent="0" marL="0">
              <a:lnSpc>
                <a:spcPct val="95000"/>
              </a:lnSpc>
              <a:buNone/>
            </a:pPr>
            <a:r>
              <a:rPr lang="en-US" altLang="en-US" sz="3000" b="1" dirty="0">
                <a:solidFill>
                  <a:srgbClr val="FFFFFF"/>
                </a:solidFill>
                <a:latin typeface="Cairo" pitchFamily="34" charset="0"/>
                <a:ea typeface="Cairo" pitchFamily="34" charset="-122"/>
                <a:cs typeface="Cairo" pitchFamily="34" charset="-120"/>
              </a:rPr>
              <a:t>What this program leaves behind</a:t>
            </a:r>
            <a:endParaRPr lang="en-US" sz="3000" dirty="0"/>
          </a:p>
        </p:txBody>
      </p:sp>
      <p:sp>
        <p:nvSpPr>
          <p:cNvPr id="7" name="Text 4"/>
          <p:cNvSpPr txBox="1"/>
          <p:nvPr/>
        </p:nvSpPr>
        <p:spPr>
          <a:xfrm>
            <a:off x="548640" y="2880360"/>
            <a:ext cx="5852160" cy="457200"/>
          </a:xfrm>
          <a:prstGeom prst="rect">
            <a:avLst/>
          </a:prstGeom>
          <a:noFill/>
          <a:ln/>
        </p:spPr>
        <p:txBody>
          <a:bodyPr wrap="square" lIns="0" tIns="0" rIns="0" bIns="0" rtlCol="0" anchor="t"/>
          <a:lstStyle/>
          <a:p>
            <a:pPr algn="l" indent="0" marL="0">
              <a:lnSpc>
                <a:spcPct val="95000"/>
              </a:lnSpc>
              <a:buNone/>
            </a:pPr>
            <a:r>
              <a:rPr lang="en-US" altLang="en-US" sz="2400" b="1" dirty="0">
                <a:solidFill>
                  <a:srgbClr val="A6D04B"/>
                </a:solidFill>
                <a:latin typeface="Cairo" pitchFamily="34" charset="0"/>
                <a:ea typeface="Cairo" pitchFamily="34" charset="-122"/>
                <a:cs typeface="Cairo" pitchFamily="34" charset="-120"/>
              </a:rPr>
              <a:t>Skills</a:t>
            </a:r>
            <a:endParaRPr lang="en-US" sz="2400" dirty="0"/>
          </a:p>
        </p:txBody>
      </p:sp>
      <p:sp>
        <p:nvSpPr>
          <p:cNvPr id="8" name="Text 5"/>
          <p:cNvSpPr txBox="1"/>
          <p:nvPr/>
        </p:nvSpPr>
        <p:spPr>
          <a:xfrm>
            <a:off x="548640" y="3337560"/>
            <a:ext cx="5852160" cy="411480"/>
          </a:xfrm>
          <a:prstGeom prst="rect">
            <a:avLst/>
          </a:prstGeom>
          <a:noFill/>
          <a:ln/>
        </p:spPr>
        <p:txBody>
          <a:bodyPr wrap="square" lIns="0" tIns="0" rIns="0" bIns="0" rtlCol="0" anchor="t"/>
          <a:lstStyle/>
          <a:p>
            <a:pPr algn="l" indent="0" marL="0">
              <a:lnSpc>
                <a:spcPct val="95000"/>
              </a:lnSpc>
              <a:buNone/>
            </a:pPr>
            <a:r>
              <a:rPr lang="en-US" altLang="en-US" sz="1500" dirty="0">
                <a:solidFill>
                  <a:srgbClr val="D6D8D4"/>
                </a:solidFill>
                <a:latin typeface="Calibri" pitchFamily="34" charset="0"/>
                <a:ea typeface="Calibri" pitchFamily="34" charset="-122"/>
                <a:cs typeface="Calibri" pitchFamily="34" charset="-120"/>
              </a:rPr>
              <a:t>Young people who can take a brief and deliver a campaign</a:t>
            </a:r>
            <a:endParaRPr lang="en-US" sz="1500" dirty="0"/>
          </a:p>
        </p:txBody>
      </p:sp>
      <p:sp>
        <p:nvSpPr>
          <p:cNvPr id="9" name="Text 6"/>
          <p:cNvSpPr txBox="1"/>
          <p:nvPr/>
        </p:nvSpPr>
        <p:spPr>
          <a:xfrm>
            <a:off x="548640" y="3904488"/>
            <a:ext cx="5852160" cy="457200"/>
          </a:xfrm>
          <a:prstGeom prst="rect">
            <a:avLst/>
          </a:prstGeom>
          <a:noFill/>
          <a:ln/>
        </p:spPr>
        <p:txBody>
          <a:bodyPr wrap="square" lIns="0" tIns="0" rIns="0" bIns="0" rtlCol="0" anchor="t"/>
          <a:lstStyle/>
          <a:p>
            <a:pPr algn="l" indent="0" marL="0">
              <a:lnSpc>
                <a:spcPct val="95000"/>
              </a:lnSpc>
              <a:buNone/>
            </a:pPr>
            <a:r>
              <a:rPr lang="en-US" altLang="en-US" sz="2400" b="1" dirty="0">
                <a:solidFill>
                  <a:srgbClr val="4DB449"/>
                </a:solidFill>
                <a:latin typeface="Cairo" pitchFamily="34" charset="0"/>
                <a:ea typeface="Cairo" pitchFamily="34" charset="-122"/>
                <a:cs typeface="Cairo" pitchFamily="34" charset="-120"/>
              </a:rPr>
              <a:t>Proof</a:t>
            </a:r>
            <a:endParaRPr lang="en-US" sz="2400" dirty="0"/>
          </a:p>
        </p:txBody>
      </p:sp>
      <p:sp>
        <p:nvSpPr>
          <p:cNvPr id="10" name="Text 7"/>
          <p:cNvSpPr txBox="1"/>
          <p:nvPr/>
        </p:nvSpPr>
        <p:spPr>
          <a:xfrm>
            <a:off x="548640" y="4361688"/>
            <a:ext cx="5852160" cy="411480"/>
          </a:xfrm>
          <a:prstGeom prst="rect">
            <a:avLst/>
          </a:prstGeom>
          <a:noFill/>
          <a:ln/>
        </p:spPr>
        <p:txBody>
          <a:bodyPr wrap="square" lIns="0" tIns="0" rIns="0" bIns="0" rtlCol="0" anchor="t"/>
          <a:lstStyle/>
          <a:p>
            <a:pPr algn="l" indent="0" marL="0">
              <a:lnSpc>
                <a:spcPct val="95000"/>
              </a:lnSpc>
              <a:buNone/>
            </a:pPr>
            <a:r>
              <a:rPr lang="en-US" altLang="en-US" sz="1500" dirty="0">
                <a:solidFill>
                  <a:srgbClr val="D6D8D4"/>
                </a:solidFill>
                <a:latin typeface="Calibri" pitchFamily="34" charset="0"/>
                <a:ea typeface="Calibri" pitchFamily="34" charset="-122"/>
                <a:cs typeface="Calibri" pitchFamily="34" charset="-120"/>
              </a:rPr>
              <a:t>Portfolios and capstone work that others can see</a:t>
            </a:r>
            <a:endParaRPr lang="en-US" sz="1500" dirty="0"/>
          </a:p>
        </p:txBody>
      </p:sp>
      <p:sp>
        <p:nvSpPr>
          <p:cNvPr id="11" name="Text 8"/>
          <p:cNvSpPr txBox="1"/>
          <p:nvPr/>
        </p:nvSpPr>
        <p:spPr>
          <a:xfrm>
            <a:off x="548640" y="4928616"/>
            <a:ext cx="5852160" cy="457200"/>
          </a:xfrm>
          <a:prstGeom prst="rect">
            <a:avLst/>
          </a:prstGeom>
          <a:noFill/>
          <a:ln/>
        </p:spPr>
        <p:txBody>
          <a:bodyPr wrap="square" lIns="0" tIns="0" rIns="0" bIns="0" rtlCol="0" anchor="t"/>
          <a:lstStyle/>
          <a:p>
            <a:pPr algn="l" indent="0" marL="0">
              <a:lnSpc>
                <a:spcPct val="95000"/>
              </a:lnSpc>
              <a:buNone/>
            </a:pPr>
            <a:r>
              <a:rPr lang="en-US" altLang="en-US" sz="2400" b="1" dirty="0">
                <a:solidFill>
                  <a:srgbClr val="A6D04B"/>
                </a:solidFill>
                <a:latin typeface="Cairo" pitchFamily="34" charset="0"/>
                <a:ea typeface="Cairo" pitchFamily="34" charset="-122"/>
                <a:cs typeface="Cairo" pitchFamily="34" charset="-120"/>
              </a:rPr>
              <a:t>Habits</a:t>
            </a:r>
            <a:endParaRPr lang="en-US" sz="2400" dirty="0"/>
          </a:p>
        </p:txBody>
      </p:sp>
      <p:sp>
        <p:nvSpPr>
          <p:cNvPr id="12" name="Text 9"/>
          <p:cNvSpPr txBox="1"/>
          <p:nvPr/>
        </p:nvSpPr>
        <p:spPr>
          <a:xfrm>
            <a:off x="548640" y="5385816"/>
            <a:ext cx="5852160" cy="411480"/>
          </a:xfrm>
          <a:prstGeom prst="rect">
            <a:avLst/>
          </a:prstGeom>
          <a:noFill/>
          <a:ln/>
        </p:spPr>
        <p:txBody>
          <a:bodyPr wrap="square" lIns="0" tIns="0" rIns="0" bIns="0" rtlCol="0" anchor="t"/>
          <a:lstStyle/>
          <a:p>
            <a:pPr algn="l" indent="0" marL="0">
              <a:lnSpc>
                <a:spcPct val="95000"/>
              </a:lnSpc>
              <a:buNone/>
            </a:pPr>
            <a:r>
              <a:rPr lang="en-US" altLang="en-US" sz="1500" dirty="0">
                <a:solidFill>
                  <a:srgbClr val="D6D8D4"/>
                </a:solidFill>
                <a:latin typeface="Calibri" pitchFamily="34" charset="0"/>
                <a:ea typeface="Calibri" pitchFamily="34" charset="-122"/>
                <a:cs typeface="Calibri" pitchFamily="34" charset="-120"/>
              </a:rPr>
              <a:t>Responsible, secure and honest use of AI</a:t>
            </a:r>
            <a:endParaRPr lang="en-US" sz="1500" dirty="0"/>
          </a:p>
        </p:txBody>
      </p:sp>
      <p:sp>
        <p:nvSpPr>
          <p:cNvPr id="13" name="Shape 10"/>
          <p:cNvSpPr/>
          <p:nvPr/>
        </p:nvSpPr>
        <p:spPr>
          <a:xfrm>
            <a:off x="6949440" y="1600200"/>
            <a:ext cx="4693615" cy="4526280"/>
          </a:xfrm>
          <a:prstGeom prst="roundRect">
            <a:avLst>
              <a:gd name="adj" fmla="val 2424"/>
            </a:avLst>
          </a:prstGeom>
          <a:solidFill>
            <a:srgbClr val="161816"/>
          </a:solidFill>
          <a:ln w="9525">
            <a:solidFill>
              <a:srgbClr val="3A3D39"/>
            </a:solidFill>
            <a:prstDash val="solid"/>
          </a:ln>
        </p:spPr>
      </p:sp>
      <p:sp>
        <p:nvSpPr>
          <p:cNvPr id="14" name="Text 11"/>
          <p:cNvSpPr txBox="1"/>
          <p:nvPr/>
        </p:nvSpPr>
        <p:spPr>
          <a:xfrm>
            <a:off x="7269480" y="1828800"/>
            <a:ext cx="4053535" cy="457200"/>
          </a:xfrm>
          <a:prstGeom prst="rect">
            <a:avLst/>
          </a:prstGeom>
          <a:noFill/>
          <a:ln/>
        </p:spPr>
        <p:txBody>
          <a:bodyPr wrap="square" lIns="0" tIns="0" rIns="0" bIns="0" rtlCol="0" anchor="t"/>
          <a:lstStyle/>
          <a:p>
            <a:pPr algn="l" indent="0" marL="0">
              <a:lnSpc>
                <a:spcPct val="95000"/>
              </a:lnSpc>
              <a:buNone/>
            </a:pPr>
            <a:r>
              <a:rPr lang="en-US" altLang="en-US" sz="1800" b="1" dirty="0">
                <a:solidFill>
                  <a:srgbClr val="FFFFFF"/>
                </a:solidFill>
                <a:latin typeface="Cairo" pitchFamily="34" charset="0"/>
                <a:ea typeface="Cairo" pitchFamily="34" charset="-122"/>
                <a:cs typeface="Cairo" pitchFamily="34" charset="-120"/>
              </a:rPr>
              <a:t>Decisions needed before launch</a:t>
            </a:r>
            <a:endParaRPr lang="en-US" sz="1800" dirty="0"/>
          </a:p>
        </p:txBody>
      </p:sp>
      <p:pic>
        <p:nvPicPr>
          <p:cNvPr id="15" name="Image 1" descr="preencoded.png">    </p:cNvPr>
          <p:cNvPicPr>
            <a:picLocks noChangeAspect="1"/>
          </p:cNvPicPr>
          <p:nvPr/>
        </p:nvPicPr>
        <p:blipFill>
          <a:blip r:embed="rId2"/>
          <a:stretch>
            <a:fillRect/>
          </a:stretch>
        </p:blipFill>
        <p:spPr>
          <a:xfrm>
            <a:off x="7269480" y="2505456"/>
            <a:ext cx="329184" cy="329184"/>
          </a:xfrm>
          <a:prstGeom prst="rect">
            <a:avLst/>
          </a:prstGeom>
        </p:spPr>
      </p:pic>
      <p:sp>
        <p:nvSpPr>
          <p:cNvPr id="16" name="Text 12"/>
          <p:cNvSpPr txBox="1"/>
          <p:nvPr/>
        </p:nvSpPr>
        <p:spPr>
          <a:xfrm>
            <a:off x="7772400" y="2468880"/>
            <a:ext cx="3550615" cy="548640"/>
          </a:xfrm>
          <a:prstGeom prst="rect">
            <a:avLst/>
          </a:prstGeom>
          <a:noFill/>
          <a:ln/>
        </p:spPr>
        <p:txBody>
          <a:bodyPr wrap="square" lIns="0" tIns="0" rIns="0" bIns="0" rtlCol="0" anchor="t"/>
          <a:lstStyle/>
          <a:p>
            <a:pPr algn="l" indent="0" marL="0">
              <a:lnSpc>
                <a:spcPct val="100000"/>
              </a:lnSpc>
              <a:buNone/>
            </a:pPr>
            <a:r>
              <a:rPr lang="en-US" altLang="en-US" sz="1450" dirty="0">
                <a:solidFill>
                  <a:srgbClr val="FFFFFF"/>
                </a:solidFill>
                <a:latin typeface="Calibri" pitchFamily="34" charset="0"/>
                <a:ea typeface="Calibri" pitchFamily="34" charset="-122"/>
                <a:cs typeface="Calibri" pitchFamily="34" charset="-120"/>
              </a:rPr>
              <a:t>Delivery location, dates and cohort size</a:t>
            </a:r>
            <a:endParaRPr lang="en-US" sz="1450" dirty="0"/>
          </a:p>
        </p:txBody>
      </p:sp>
      <p:pic>
        <p:nvPicPr>
          <p:cNvPr id="17" name="Image 2" descr="preencoded.png">    </p:cNvPr>
          <p:cNvPicPr>
            <a:picLocks noChangeAspect="1"/>
          </p:cNvPicPr>
          <p:nvPr/>
        </p:nvPicPr>
        <p:blipFill>
          <a:blip r:embed="rId3"/>
          <a:stretch>
            <a:fillRect/>
          </a:stretch>
        </p:blipFill>
        <p:spPr>
          <a:xfrm>
            <a:off x="7269480" y="3191256"/>
            <a:ext cx="329184" cy="329184"/>
          </a:xfrm>
          <a:prstGeom prst="rect">
            <a:avLst/>
          </a:prstGeom>
        </p:spPr>
      </p:pic>
      <p:sp>
        <p:nvSpPr>
          <p:cNvPr id="18" name="Text 13"/>
          <p:cNvSpPr txBox="1"/>
          <p:nvPr/>
        </p:nvSpPr>
        <p:spPr>
          <a:xfrm>
            <a:off x="7772400" y="3154680"/>
            <a:ext cx="3550615" cy="548640"/>
          </a:xfrm>
          <a:prstGeom prst="rect">
            <a:avLst/>
          </a:prstGeom>
          <a:noFill/>
          <a:ln/>
        </p:spPr>
        <p:txBody>
          <a:bodyPr wrap="square" lIns="0" tIns="0" rIns="0" bIns="0" rtlCol="0" anchor="t"/>
          <a:lstStyle/>
          <a:p>
            <a:pPr algn="l" indent="0" marL="0">
              <a:lnSpc>
                <a:spcPct val="100000"/>
              </a:lnSpc>
              <a:buNone/>
            </a:pPr>
            <a:r>
              <a:rPr lang="en-US" altLang="en-US" sz="1450" dirty="0">
                <a:solidFill>
                  <a:srgbClr val="FFFFFF"/>
                </a:solidFill>
                <a:latin typeface="Calibri" pitchFamily="34" charset="0"/>
                <a:ea typeface="Calibri" pitchFamily="34" charset="-122"/>
                <a:cs typeface="Calibri" pitchFamily="34" charset="-120"/>
              </a:rPr>
              <a:t>n8n hosting model and AI provider</a:t>
            </a:r>
            <a:endParaRPr lang="en-US" sz="1450" dirty="0"/>
          </a:p>
        </p:txBody>
      </p:sp>
      <p:pic>
        <p:nvPicPr>
          <p:cNvPr id="19" name="Image 3" descr="preencoded.png">    </p:cNvPr>
          <p:cNvPicPr>
            <a:picLocks noChangeAspect="1"/>
          </p:cNvPicPr>
          <p:nvPr/>
        </p:nvPicPr>
        <p:blipFill>
          <a:blip r:embed="rId4"/>
          <a:stretch>
            <a:fillRect/>
          </a:stretch>
        </p:blipFill>
        <p:spPr>
          <a:xfrm>
            <a:off x="7269480" y="3877056"/>
            <a:ext cx="329184" cy="329184"/>
          </a:xfrm>
          <a:prstGeom prst="rect">
            <a:avLst/>
          </a:prstGeom>
        </p:spPr>
      </p:pic>
      <p:sp>
        <p:nvSpPr>
          <p:cNvPr id="20" name="Text 14"/>
          <p:cNvSpPr txBox="1"/>
          <p:nvPr/>
        </p:nvSpPr>
        <p:spPr>
          <a:xfrm>
            <a:off x="7772400" y="3840480"/>
            <a:ext cx="3550615" cy="548640"/>
          </a:xfrm>
          <a:prstGeom prst="rect">
            <a:avLst/>
          </a:prstGeom>
          <a:noFill/>
          <a:ln/>
        </p:spPr>
        <p:txBody>
          <a:bodyPr wrap="square" lIns="0" tIns="0" rIns="0" bIns="0" rtlCol="0" anchor="t"/>
          <a:lstStyle/>
          <a:p>
            <a:pPr algn="l" indent="0" marL="0">
              <a:lnSpc>
                <a:spcPct val="100000"/>
              </a:lnSpc>
              <a:buNone/>
            </a:pPr>
            <a:r>
              <a:rPr lang="en-US" altLang="en-US" sz="1450" dirty="0">
                <a:solidFill>
                  <a:srgbClr val="FFFFFF"/>
                </a:solidFill>
                <a:latin typeface="Calibri" pitchFamily="34" charset="0"/>
                <a:ea typeface="Calibri" pitchFamily="34" charset="-122"/>
                <a:cs typeface="Calibri" pitchFamily="34" charset="-120"/>
              </a:rPr>
              <a:t>Access plan for 18+ tools (Google Flow, AI voice)</a:t>
            </a:r>
            <a:endParaRPr lang="en-US" sz="1450" dirty="0"/>
          </a:p>
        </p:txBody>
      </p:sp>
      <p:pic>
        <p:nvPicPr>
          <p:cNvPr id="21" name="Image 4" descr="preencoded.png">    </p:cNvPr>
          <p:cNvPicPr>
            <a:picLocks noChangeAspect="1"/>
          </p:cNvPicPr>
          <p:nvPr/>
        </p:nvPicPr>
        <p:blipFill>
          <a:blip r:embed="rId5"/>
          <a:stretch>
            <a:fillRect/>
          </a:stretch>
        </p:blipFill>
        <p:spPr>
          <a:xfrm>
            <a:off x="7269480" y="4562856"/>
            <a:ext cx="329184" cy="329184"/>
          </a:xfrm>
          <a:prstGeom prst="rect">
            <a:avLst/>
          </a:prstGeom>
        </p:spPr>
      </p:pic>
      <p:sp>
        <p:nvSpPr>
          <p:cNvPr id="22" name="Text 15"/>
          <p:cNvSpPr txBox="1"/>
          <p:nvPr/>
        </p:nvSpPr>
        <p:spPr>
          <a:xfrm>
            <a:off x="7772400" y="4526280"/>
            <a:ext cx="3550615" cy="548640"/>
          </a:xfrm>
          <a:prstGeom prst="rect">
            <a:avLst/>
          </a:prstGeom>
          <a:noFill/>
          <a:ln/>
        </p:spPr>
        <p:txBody>
          <a:bodyPr wrap="square" lIns="0" tIns="0" rIns="0" bIns="0" rtlCol="0" anchor="t"/>
          <a:lstStyle/>
          <a:p>
            <a:pPr algn="l" indent="0" marL="0">
              <a:lnSpc>
                <a:spcPct val="100000"/>
              </a:lnSpc>
              <a:buNone/>
            </a:pPr>
            <a:r>
              <a:rPr lang="en-US" altLang="en-US" sz="1450" dirty="0">
                <a:solidFill>
                  <a:srgbClr val="FFFFFF"/>
                </a:solidFill>
                <a:latin typeface="Calibri" pitchFamily="34" charset="0"/>
                <a:ea typeface="Calibri" pitchFamily="34" charset="-122"/>
                <a:cs typeface="Calibri" pitchFamily="34" charset="-120"/>
              </a:rPr>
              <a:t>Community partners for real-client practice</a:t>
            </a:r>
            <a:endParaRPr lang="en-US" sz="1450" dirty="0"/>
          </a:p>
        </p:txBody>
      </p:sp>
      <p:pic>
        <p:nvPicPr>
          <p:cNvPr id="23" name="Image 5" descr="preencoded.png">    </p:cNvPr>
          <p:cNvPicPr>
            <a:picLocks noChangeAspect="1"/>
          </p:cNvPicPr>
          <p:nvPr/>
        </p:nvPicPr>
        <p:blipFill>
          <a:blip r:embed="rId6"/>
          <a:stretch>
            <a:fillRect/>
          </a:stretch>
        </p:blipFill>
        <p:spPr>
          <a:xfrm>
            <a:off x="7269480" y="5248656"/>
            <a:ext cx="329184" cy="329184"/>
          </a:xfrm>
          <a:prstGeom prst="rect">
            <a:avLst/>
          </a:prstGeom>
        </p:spPr>
      </p:pic>
      <p:sp>
        <p:nvSpPr>
          <p:cNvPr id="24" name="Text 16"/>
          <p:cNvSpPr txBox="1"/>
          <p:nvPr/>
        </p:nvSpPr>
        <p:spPr>
          <a:xfrm>
            <a:off x="7772400" y="5212080"/>
            <a:ext cx="3550615" cy="548640"/>
          </a:xfrm>
          <a:prstGeom prst="rect">
            <a:avLst/>
          </a:prstGeom>
          <a:noFill/>
          <a:ln/>
        </p:spPr>
        <p:txBody>
          <a:bodyPr wrap="square" lIns="0" tIns="0" rIns="0" bIns="0" rtlCol="0" anchor="t"/>
          <a:lstStyle/>
          <a:p>
            <a:pPr algn="l" indent="0" marL="0">
              <a:lnSpc>
                <a:spcPct val="100000"/>
              </a:lnSpc>
              <a:buNone/>
            </a:pPr>
            <a:r>
              <a:rPr lang="en-US" altLang="en-US" sz="1450" dirty="0">
                <a:solidFill>
                  <a:srgbClr val="FFFFFF"/>
                </a:solidFill>
                <a:latin typeface="Calibri" pitchFamily="34" charset="0"/>
                <a:ea typeface="Calibri" pitchFamily="34" charset="-122"/>
                <a:cs typeface="Calibri" pitchFamily="34" charset="-120"/>
              </a:rPr>
              <a:t>Demo Day guests and certificate format</a:t>
            </a:r>
            <a:endParaRPr lang="en-US" sz="1450" dirty="0"/>
          </a:p>
        </p:txBody>
      </p:sp>
    </p:spTree>
  </p:cSld>
  <p:clrMapOvr>
    <a:masterClrMapping/>
  </p:clrMapOvr>
</p:sld>
</file>

<file path=ppt/theme/theme1.xml><?xml version="1.0" encoding="utf-8"?>
<a:theme xmlns:a="http://schemas.openxmlformats.org/drawingml/2006/main" name="Green Circle Training">
  <a:themeElements>
    <a:clrScheme name="Green Circle Training">
      <a:dk1>
        <a:srgbClr val="000000"/>
      </a:dk1>
      <a:lt1>
        <a:srgbClr val="FFFFFF"/>
      </a:lt1>
      <a:dk2>
        <a:srgbClr val="727274"/>
      </a:dk2>
      <a:lt2>
        <a:srgbClr val="EAF5E8"/>
      </a:lt2>
      <a:accent1>
        <a:srgbClr val="4DB449"/>
      </a:accent1>
      <a:accent2>
        <a:srgbClr val="A6D04B"/>
      </a:accent2>
      <a:accent3>
        <a:srgbClr val="727274"/>
      </a:accent3>
      <a:accent4>
        <a:srgbClr val="1A1A1A"/>
      </a:accent4>
      <a:accent5>
        <a:srgbClr val="4DB449"/>
      </a:accent5>
      <a:accent6>
        <a:srgbClr val="A6D04B"/>
      </a:accent6>
      <a:hlink>
        <a:srgbClr val="4DB449"/>
      </a:hlink>
      <a:folHlink>
        <a:srgbClr val="727274"/>
      </a:folHlink>
    </a:clrScheme>
    <a:fontScheme name="Green Circle Training">
      <a:majorFont>
        <a:latin typeface="Cai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Green Circle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Content Creation, Digital Marketing, Automation &amp; Freelancing</dc:title>
  <dc:subject>PptxGenJS Presentation</dc:subject>
  <dc:creator>Green Circle</dc:creator>
  <cp:lastModifiedBy>Green Circle</cp:lastModifiedBy>
  <cp:revision>1</cp:revision>
  <dcterms:created xsi:type="dcterms:W3CDTF">2026-10-20T11:51:54Z</dcterms:created>
  <dcterms:modified xsi:type="dcterms:W3CDTF">2026-10-20T11:51:54Z</dcterms:modified>
</cp:coreProperties>
</file>