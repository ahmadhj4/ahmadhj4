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promise: in 96 hours participants learn to use AI tools in practice and leave with finished work. The ring shows the eight production stages they learn to combine.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ideas carry the program: tools used by hand, several tools combined, and a portfolio of finished work as proof. Hours: 26 theory and 70 hands-on.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eight statements are the program's learning outcomes in plain words. Each one is backed by a mini project the participant completes.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left to right: one idea moves through eight stages. Under each stage are the tools participants use for it. Logos appear only for tools with an official published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bar is to scale. Video, motion and audio is the largest track because production work needs the most hands-on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choice is taught as a habit: start from the task and the data, not from the newest tool. Question 4 is where Green Circle's security focus comes in: what is safe to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six parts are the checklist participants use all program long. The before-and-after example shows the difference in one glance.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 works in the terminal, VS Code and the desktop app, and is included with Claude Pro and Max plans. No prior programming is required; participants learn to describe, review and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 locations follow Claude Code's documentation: .claude/skills in the project, ~/.claude/skills for personal skills. Ready-made skills come from plugin marketplaces via the /plugin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tools return sources; participants are taught to open and check them. NotebookLM works only from the sources the participant adds.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tools change fast; the program teaches the prompting and consistency techniques that carry across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Generated shots are only the raw material. Most of the hands-on time goes to planning, editing and finishing, where judgment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ElevenLabs covers text to speech, voice design, sound effects and music. Participants clone or imitate no real person's voice without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n8n's Form Trigger, AI Agent and Google Sheets nodes are standard nodes. Trainers set up the credentials; participants learn what API keys and OAuth are and why they stay private.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module ends with a mini project the participant completes and keeps. Theory is never more than about a third of any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project is the proof point for funders: each team shows one idea turned into a complete, published content package using the tools from every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targets are proposals for agreement with the funder. The skills assessment is the same practical test at the start and end of the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what participants keep: a portfolio, a working toolkit and secure habits.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6.pn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4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3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5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slideLayout" Target="../slideLayouts/slideLayout3.xml"/><Relationship Id="rId1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png"/><Relationship Id="rId15" Type="http://schemas.openxmlformats.org/officeDocument/2006/relationships/image" Target="../media/image-16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502920"/>
            <a:ext cx="3931920" cy="13973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2402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spc="200" kern="0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CONCEPT NOTE · OCTOBER 2026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6060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altLang="en-US" sz="34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AI-Powered Content Creation, Digital Marketing, Automation &amp; Freelancing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0916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6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96-hour hands-on program where participants learn to use AI tools to research, write, design, produce video and audio, build with Claude Code, and automate their work.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253935" y="1691640"/>
            <a:ext cx="3931920" cy="3931920"/>
          </a:xfrm>
          <a:prstGeom prst="ellipse">
            <a:avLst/>
          </a:prstGeom>
          <a:solidFill>
            <a:srgbClr val="000000">
              <a:alpha val="0"/>
            </a:srgbClr>
          </a:solidFill>
          <a:ln w="15875">
            <a:solidFill>
              <a:srgbClr val="2F332E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9064447" y="1536192"/>
            <a:ext cx="310896" cy="310896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8375" y="11247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454591" y="2112008"/>
            <a:ext cx="310896" cy="310896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66071" y="210286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1030407" y="3502152"/>
            <a:ext cx="310896" cy="310896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441887" y="3493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454591" y="4892296"/>
            <a:ext cx="310896" cy="310896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866071" y="48831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064447" y="5468112"/>
            <a:ext cx="310896" cy="310896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88375" y="586130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674304" y="4892296"/>
            <a:ext cx="310896" cy="310896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10680" y="48831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098487" y="3502152"/>
            <a:ext cx="310896" cy="310896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534863" y="3493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674304" y="2112008"/>
            <a:ext cx="310896" cy="310896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10680" y="210286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323783" y="2761488"/>
            <a:ext cx="1792224" cy="1792224"/>
          </a:xfrm>
          <a:prstGeom prst="ellipse">
            <a:avLst/>
          </a:prstGeom>
          <a:solidFill>
            <a:srgbClr val="4DB449"/>
          </a:solidFill>
          <a:ln w="12700">
            <a:solidFill>
              <a:srgbClr val="4DB44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42655" y="31089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5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Idea to complete content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PROGRAM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Practical AI skills, learned by producing real work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25880" y="181051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Tools, not theory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21284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is built around tools participants use with their own hands, from ChatGPT and Claude Code to Google Flow, ElevenLabs and n8n.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246120"/>
            <a:ext cx="566928" cy="56692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25880" y="32278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One idea, many tools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63016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learn to combine several AI tools to turn a single idea into a complete package: text, images, video, audio, a web page and an automation.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4663440"/>
            <a:ext cx="566928" cy="56692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25880" y="46451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Proof of skill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504748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mini projects and a final project give each participant a portfolio of finished work they can show.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720840" y="1783080"/>
            <a:ext cx="4922215" cy="4434840"/>
          </a:xfrm>
          <a:prstGeom prst="roundRect">
            <a:avLst>
              <a:gd name="adj" fmla="val 2887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2011680"/>
            <a:ext cx="20953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4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96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788920"/>
            <a:ext cx="20953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hours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227668" y="2011680"/>
            <a:ext cx="20953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32</a:t>
            </a:r>
            <a:endParaRPr lang="en-US" sz="4400" dirty="0"/>
          </a:p>
        </p:txBody>
      </p:sp>
      <p:sp>
        <p:nvSpPr>
          <p:cNvPr id="20" name="Text 17"/>
          <p:cNvSpPr txBox="1"/>
          <p:nvPr/>
        </p:nvSpPr>
        <p:spPr>
          <a:xfrm>
            <a:off x="9227668" y="2788920"/>
            <a:ext cx="20953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of 3 hours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383280"/>
            <a:ext cx="20953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12</a:t>
            </a:r>
            <a:endParaRPr lang="en-US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60520"/>
            <a:ext cx="20953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227668" y="3383280"/>
            <a:ext cx="20953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4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73%</a:t>
            </a:r>
            <a:endParaRPr lang="en-US" sz="4400" dirty="0"/>
          </a:p>
        </p:txBody>
      </p:sp>
      <p:sp>
        <p:nvSpPr>
          <p:cNvPr id="24" name="Text 21"/>
          <p:cNvSpPr txBox="1"/>
          <p:nvPr/>
        </p:nvSpPr>
        <p:spPr>
          <a:xfrm>
            <a:off x="9227668" y="4160520"/>
            <a:ext cx="20953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practice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4754880"/>
            <a:ext cx="20953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4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10</a:t>
            </a:r>
            <a:endParaRPr lang="en-US" sz="44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5532120"/>
            <a:ext cx="20953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projects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227668" y="4754880"/>
            <a:ext cx="20953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</a:t>
            </a:r>
            <a:endParaRPr lang="en-US" sz="4400" dirty="0"/>
          </a:p>
        </p:txBody>
      </p:sp>
      <p:sp>
        <p:nvSpPr>
          <p:cNvPr id="28" name="Text 25"/>
          <p:cNvSpPr txBox="1"/>
          <p:nvPr/>
        </p:nvSpPr>
        <p:spPr>
          <a:xfrm>
            <a:off x="9227668" y="5532120"/>
            <a:ext cx="20953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team project</a:t>
            </a:r>
            <a:endParaRPr lang="en-US" sz="140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292608" cy="292608"/>
          </a:xfrm>
          <a:prstGeom prst="rect">
            <a:avLst/>
          </a:prstGeom>
        </p:spPr>
      </p:pic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83280"/>
            <a:ext cx="292608" cy="292608"/>
          </a:xfrm>
          <a:prstGeom prst="rect">
            <a:avLst/>
          </a:prstGeom>
        </p:spPr>
      </p:pic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800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WHAT PARTICIPANTS WILL BE ABLE TO DO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After the program, each participant can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602154" cy="1965960"/>
          </a:xfrm>
          <a:prstGeom prst="roundRect">
            <a:avLst>
              <a:gd name="adj" fmla="val 5581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057400"/>
            <a:ext cx="621792" cy="62179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21284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788920"/>
            <a:ext cx="20992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Pick the right AI tool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64408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task, and explain why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79394" y="1783080"/>
            <a:ext cx="2602154" cy="1965960"/>
          </a:xfrm>
          <a:prstGeom prst="roundRect">
            <a:avLst>
              <a:gd name="adj" fmla="val 5581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53714" y="2057400"/>
            <a:ext cx="621792" cy="62179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162" y="221284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53714" y="2788920"/>
            <a:ext cx="20992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Write prompts that work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653714" y="3264408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save them as reusable assistants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10148" y="1783080"/>
            <a:ext cx="2602154" cy="1965960"/>
          </a:xfrm>
          <a:prstGeom prst="roundRect">
            <a:avLst>
              <a:gd name="adj" fmla="val 5581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84468" y="2057400"/>
            <a:ext cx="621792" cy="62179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9916" y="2212848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84468" y="2788920"/>
            <a:ext cx="20992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Research and write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6484468" y="3264408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publish-ready content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40901" y="1783080"/>
            <a:ext cx="2602154" cy="1965960"/>
          </a:xfrm>
          <a:prstGeom prst="roundRect">
            <a:avLst>
              <a:gd name="adj" fmla="val 5581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15221" y="2057400"/>
            <a:ext cx="621792" cy="621792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0669" y="221284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15221" y="2788920"/>
            <a:ext cx="20992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Build with Claude Code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9315221" y="3264408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web page and data reports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3977640"/>
            <a:ext cx="2602154" cy="1965960"/>
          </a:xfrm>
          <a:prstGeom prst="roundRect">
            <a:avLst>
              <a:gd name="adj" fmla="val 5581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822960" y="4251960"/>
            <a:ext cx="621792" cy="62179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8" y="4407408"/>
            <a:ext cx="310896" cy="31089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" y="4983480"/>
            <a:ext cx="20992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Create Claude Code skills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822960" y="5458968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repeat their best work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3379394" y="3977640"/>
            <a:ext cx="2602154" cy="1965960"/>
          </a:xfrm>
          <a:prstGeom prst="roundRect">
            <a:avLst>
              <a:gd name="adj" fmla="val 5581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3653714" y="4251960"/>
            <a:ext cx="621792" cy="62179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162" y="4407408"/>
            <a:ext cx="310896" cy="31089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53714" y="4983480"/>
            <a:ext cx="20992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Design and generate images</a:t>
            </a:r>
            <a:endParaRPr lang="en-US" sz="1600" dirty="0"/>
          </a:p>
        </p:txBody>
      </p:sp>
      <p:sp>
        <p:nvSpPr>
          <p:cNvPr id="36" name="Text 27"/>
          <p:cNvSpPr txBox="1"/>
          <p:nvPr/>
        </p:nvSpPr>
        <p:spPr>
          <a:xfrm>
            <a:off x="3653714" y="5458968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consistent brand look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210148" y="3977640"/>
            <a:ext cx="2602154" cy="1965960"/>
          </a:xfrm>
          <a:prstGeom prst="roundRect">
            <a:avLst>
              <a:gd name="adj" fmla="val 5581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6484468" y="4251960"/>
            <a:ext cx="621792" cy="621792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9916" y="440740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84468" y="4983480"/>
            <a:ext cx="20992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Produce and edit AI video</a:t>
            </a:r>
            <a:endParaRPr lang="en-US" sz="1600" dirty="0"/>
          </a:p>
        </p:txBody>
      </p:sp>
      <p:sp>
        <p:nvSpPr>
          <p:cNvPr id="41" name="Text 31"/>
          <p:cNvSpPr txBox="1"/>
          <p:nvPr/>
        </p:nvSpPr>
        <p:spPr>
          <a:xfrm>
            <a:off x="6484468" y="5458968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motion, voice and sound</a:t>
            </a:r>
            <a:endParaRPr lang="en-US" sz="1300" dirty="0"/>
          </a:p>
        </p:txBody>
      </p:sp>
      <p:sp>
        <p:nvSpPr>
          <p:cNvPr id="42" name="Shape 32"/>
          <p:cNvSpPr/>
          <p:nvPr/>
        </p:nvSpPr>
        <p:spPr>
          <a:xfrm>
            <a:off x="9040901" y="3977640"/>
            <a:ext cx="2602154" cy="1965960"/>
          </a:xfrm>
          <a:prstGeom prst="roundRect">
            <a:avLst>
              <a:gd name="adj" fmla="val 5581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9315221" y="4251960"/>
            <a:ext cx="621792" cy="62179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70669" y="4407408"/>
            <a:ext cx="310896" cy="310896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315221" y="4983480"/>
            <a:ext cx="20992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Automate content work</a:t>
            </a:r>
            <a:endParaRPr lang="en-US" sz="1600" dirty="0"/>
          </a:p>
        </p:txBody>
      </p:sp>
      <p:sp>
        <p:nvSpPr>
          <p:cNvPr id="46" name="Text 35"/>
          <p:cNvSpPr txBox="1"/>
          <p:nvPr/>
        </p:nvSpPr>
        <p:spPr>
          <a:xfrm>
            <a:off x="9315221" y="5458968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n8n workflows that use AI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4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17320" cy="5036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FROM IDEA TO COMPLETE CONTENT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One idea, eight stages, several AI tools working together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1242041" y="2377440"/>
            <a:ext cx="9707613" cy="0"/>
          </a:xfrm>
          <a:prstGeom prst="line">
            <a:avLst/>
          </a:prstGeom>
          <a:noFill/>
          <a:ln w="25400">
            <a:solidFill>
              <a:srgbClr val="3A3D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76281" y="2011680"/>
            <a:ext cx="731520" cy="731520"/>
          </a:xfrm>
          <a:prstGeom prst="ellipse">
            <a:avLst/>
          </a:prstGeom>
          <a:solidFill>
            <a:srgbClr val="4DB449"/>
          </a:solidFill>
          <a:ln w="38100">
            <a:solidFill>
              <a:srgbClr val="00000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61" y="21945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3401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85216" y="3108960"/>
            <a:ext cx="13136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Research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12648" y="3794760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13" name="Image 2" descr="Perplexity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81628"/>
            <a:ext cx="173736" cy="1737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9264" y="3794760"/>
            <a:ext cx="79244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2648" y="4224528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16" name="Image 3" descr="NotebookLM lo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311396"/>
            <a:ext cx="173736" cy="17373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69264" y="4224528"/>
            <a:ext cx="79244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2263083" y="2011680"/>
            <a:ext cx="731520" cy="731520"/>
          </a:xfrm>
          <a:prstGeom prst="ellipse">
            <a:avLst/>
          </a:prstGeom>
          <a:solidFill>
            <a:srgbClr val="A6D04B"/>
          </a:solidFill>
          <a:ln w="38100">
            <a:solidFill>
              <a:srgbClr val="00000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963" y="219456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080203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Text 14"/>
          <p:cNvSpPr txBox="1"/>
          <p:nvPr/>
        </p:nvSpPr>
        <p:spPr>
          <a:xfrm>
            <a:off x="1972018" y="3108960"/>
            <a:ext cx="13136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Write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1999450" y="3794760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2090890" y="3794760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1999450" y="4224528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25" name="Image 5" descr="Claude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7466" y="4311396"/>
            <a:ext cx="173736" cy="17373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2356066" y="4224528"/>
            <a:ext cx="79244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3649885" y="2011680"/>
            <a:ext cx="731520" cy="731520"/>
          </a:xfrm>
          <a:prstGeom prst="ellipse">
            <a:avLst/>
          </a:prstGeom>
          <a:solidFill>
            <a:srgbClr val="4DB449"/>
          </a:solidFill>
          <a:ln w="38100">
            <a:solidFill>
              <a:srgbClr val="000000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32765" y="2194560"/>
            <a:ext cx="365760" cy="3657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3467005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0" name="Text 21"/>
          <p:cNvSpPr txBox="1"/>
          <p:nvPr/>
        </p:nvSpPr>
        <p:spPr>
          <a:xfrm>
            <a:off x="3358820" y="3108960"/>
            <a:ext cx="13136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Design</a:t>
            </a:r>
            <a:endParaRPr lang="en-US" sz="1500" dirty="0"/>
          </a:p>
        </p:txBody>
      </p:sp>
      <p:sp>
        <p:nvSpPr>
          <p:cNvPr id="31" name="Shape 22"/>
          <p:cNvSpPr/>
          <p:nvPr/>
        </p:nvSpPr>
        <p:spPr>
          <a:xfrm>
            <a:off x="3386252" y="3794760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3477692" y="3794760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3386252" y="4224528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3477692" y="4224528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Firefly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5036687" y="2011680"/>
            <a:ext cx="731520" cy="731520"/>
          </a:xfrm>
          <a:prstGeom prst="ellipse">
            <a:avLst/>
          </a:prstGeom>
          <a:solidFill>
            <a:srgbClr val="A6D04B"/>
          </a:solidFill>
          <a:ln w="38100">
            <a:solidFill>
              <a:srgbClr val="000000"/>
            </a:solidFill>
            <a:prstDash val="solid"/>
          </a:ln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9567" y="2194560"/>
            <a:ext cx="365760" cy="3657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4853807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8" name="Text 28"/>
          <p:cNvSpPr txBox="1"/>
          <p:nvPr/>
        </p:nvSpPr>
        <p:spPr>
          <a:xfrm>
            <a:off x="4745622" y="3108960"/>
            <a:ext cx="13136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Images</a:t>
            </a:r>
            <a:endParaRPr lang="en-US" sz="1500" dirty="0"/>
          </a:p>
        </p:txBody>
      </p:sp>
      <p:sp>
        <p:nvSpPr>
          <p:cNvPr id="39" name="Shape 29"/>
          <p:cNvSpPr/>
          <p:nvPr/>
        </p:nvSpPr>
        <p:spPr>
          <a:xfrm>
            <a:off x="4773054" y="3794760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40" name="Image 8" descr="Gemini log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01070" y="3881628"/>
            <a:ext cx="173736" cy="173736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5129670" y="3794760"/>
            <a:ext cx="79244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4773054" y="4224528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4864494" y="4224528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100" dirty="0"/>
          </a:p>
        </p:txBody>
      </p:sp>
      <p:sp>
        <p:nvSpPr>
          <p:cNvPr id="44" name="Shape 33"/>
          <p:cNvSpPr/>
          <p:nvPr/>
        </p:nvSpPr>
        <p:spPr>
          <a:xfrm>
            <a:off x="6423489" y="2011680"/>
            <a:ext cx="731520" cy="731520"/>
          </a:xfrm>
          <a:prstGeom prst="ellipse">
            <a:avLst/>
          </a:prstGeom>
          <a:solidFill>
            <a:srgbClr val="4DB449"/>
          </a:solidFill>
          <a:ln w="38100">
            <a:solidFill>
              <a:srgbClr val="000000"/>
            </a:solidFill>
            <a:prstDash val="solid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6369" y="2194560"/>
            <a:ext cx="365760" cy="365760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6240609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47" name="Text 35"/>
          <p:cNvSpPr txBox="1"/>
          <p:nvPr/>
        </p:nvSpPr>
        <p:spPr>
          <a:xfrm>
            <a:off x="6132424" y="3108960"/>
            <a:ext cx="13136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Video</a:t>
            </a:r>
            <a:endParaRPr lang="en-US" sz="1500" dirty="0"/>
          </a:p>
        </p:txBody>
      </p:sp>
      <p:sp>
        <p:nvSpPr>
          <p:cNvPr id="48" name="Shape 36"/>
          <p:cNvSpPr/>
          <p:nvPr/>
        </p:nvSpPr>
        <p:spPr>
          <a:xfrm>
            <a:off x="6159856" y="3794760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49" name="Text 37"/>
          <p:cNvSpPr txBox="1"/>
          <p:nvPr/>
        </p:nvSpPr>
        <p:spPr>
          <a:xfrm>
            <a:off x="6251296" y="3794760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Flow</a:t>
            </a:r>
            <a:endParaRPr lang="en-US" sz="1100" dirty="0"/>
          </a:p>
        </p:txBody>
      </p:sp>
      <p:sp>
        <p:nvSpPr>
          <p:cNvPr id="50" name="Shape 38"/>
          <p:cNvSpPr/>
          <p:nvPr/>
        </p:nvSpPr>
        <p:spPr>
          <a:xfrm>
            <a:off x="6159856" y="4224528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51" name="Text 39"/>
          <p:cNvSpPr txBox="1"/>
          <p:nvPr/>
        </p:nvSpPr>
        <p:spPr>
          <a:xfrm>
            <a:off x="6251296" y="4224528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</a:t>
            </a:r>
            <a:endParaRPr lang="en-US" sz="1100" dirty="0"/>
          </a:p>
        </p:txBody>
      </p:sp>
      <p:sp>
        <p:nvSpPr>
          <p:cNvPr id="52" name="Shape 40"/>
          <p:cNvSpPr/>
          <p:nvPr/>
        </p:nvSpPr>
        <p:spPr>
          <a:xfrm>
            <a:off x="7810290" y="2011680"/>
            <a:ext cx="731520" cy="731520"/>
          </a:xfrm>
          <a:prstGeom prst="ellipse">
            <a:avLst/>
          </a:prstGeom>
          <a:solidFill>
            <a:srgbClr val="A6D04B"/>
          </a:solidFill>
          <a:ln w="38100">
            <a:solidFill>
              <a:srgbClr val="000000"/>
            </a:solidFill>
            <a:prstDash val="solid"/>
          </a:ln>
        </p:spPr>
      </p:sp>
      <p:pic>
        <p:nvPicPr>
          <p:cNvPr id="5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93170" y="2194560"/>
            <a:ext cx="365760" cy="365760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627410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5" name="Text 42"/>
          <p:cNvSpPr txBox="1"/>
          <p:nvPr/>
        </p:nvSpPr>
        <p:spPr>
          <a:xfrm>
            <a:off x="7519226" y="3108960"/>
            <a:ext cx="13136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Edit &amp; motion</a:t>
            </a:r>
            <a:endParaRPr lang="en-US" sz="1500" dirty="0"/>
          </a:p>
        </p:txBody>
      </p:sp>
      <p:sp>
        <p:nvSpPr>
          <p:cNvPr id="56" name="Shape 43"/>
          <p:cNvSpPr/>
          <p:nvPr/>
        </p:nvSpPr>
        <p:spPr>
          <a:xfrm>
            <a:off x="7546658" y="3794760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7638098" y="3794760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</a:t>
            </a:r>
            <a:endParaRPr lang="en-US" sz="1100" dirty="0"/>
          </a:p>
        </p:txBody>
      </p:sp>
      <p:sp>
        <p:nvSpPr>
          <p:cNvPr id="58" name="Shape 45"/>
          <p:cNvSpPr/>
          <p:nvPr/>
        </p:nvSpPr>
        <p:spPr>
          <a:xfrm>
            <a:off x="7546658" y="4224528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59" name="Text 46"/>
          <p:cNvSpPr txBox="1"/>
          <p:nvPr/>
        </p:nvSpPr>
        <p:spPr>
          <a:xfrm>
            <a:off x="7638098" y="4224528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CapCut</a:t>
            </a:r>
            <a:endParaRPr lang="en-US" sz="1100" dirty="0"/>
          </a:p>
        </p:txBody>
      </p:sp>
      <p:sp>
        <p:nvSpPr>
          <p:cNvPr id="60" name="Shape 47"/>
          <p:cNvSpPr/>
          <p:nvPr/>
        </p:nvSpPr>
        <p:spPr>
          <a:xfrm>
            <a:off x="7546658" y="4654296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61" name="Text 48"/>
          <p:cNvSpPr txBox="1"/>
          <p:nvPr/>
        </p:nvSpPr>
        <p:spPr>
          <a:xfrm>
            <a:off x="7638098" y="4654296"/>
            <a:ext cx="10759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Remotion</a:t>
            </a:r>
            <a:endParaRPr lang="en-US" sz="1100" dirty="0"/>
          </a:p>
        </p:txBody>
      </p:sp>
      <p:sp>
        <p:nvSpPr>
          <p:cNvPr id="62" name="Shape 49"/>
          <p:cNvSpPr/>
          <p:nvPr/>
        </p:nvSpPr>
        <p:spPr>
          <a:xfrm>
            <a:off x="9197092" y="2011680"/>
            <a:ext cx="731520" cy="731520"/>
          </a:xfrm>
          <a:prstGeom prst="ellipse">
            <a:avLst/>
          </a:prstGeom>
          <a:solidFill>
            <a:srgbClr val="4DB449"/>
          </a:solidFill>
          <a:ln w="38100">
            <a:solidFill>
              <a:srgbClr val="000000"/>
            </a:solidFill>
            <a:prstDash val="solid"/>
          </a:ln>
        </p:spPr>
      </p:sp>
      <p:pic>
        <p:nvPicPr>
          <p:cNvPr id="6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79972" y="2194560"/>
            <a:ext cx="365760" cy="365760"/>
          </a:xfrm>
          <a:prstGeom prst="rect">
            <a:avLst/>
          </a:prstGeom>
        </p:spPr>
      </p:pic>
      <p:sp>
        <p:nvSpPr>
          <p:cNvPr id="64" name="Text 50"/>
          <p:cNvSpPr txBox="1"/>
          <p:nvPr/>
        </p:nvSpPr>
        <p:spPr>
          <a:xfrm>
            <a:off x="9014212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5" name="Text 51"/>
          <p:cNvSpPr txBox="1"/>
          <p:nvPr/>
        </p:nvSpPr>
        <p:spPr>
          <a:xfrm>
            <a:off x="8906027" y="3108960"/>
            <a:ext cx="13136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Voice &amp; audio</a:t>
            </a:r>
            <a:endParaRPr lang="en-US" sz="1500" dirty="0"/>
          </a:p>
        </p:txBody>
      </p:sp>
      <p:sp>
        <p:nvSpPr>
          <p:cNvPr id="66" name="Shape 52"/>
          <p:cNvSpPr/>
          <p:nvPr/>
        </p:nvSpPr>
        <p:spPr>
          <a:xfrm>
            <a:off x="8933459" y="3794760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67" name="Image 12" descr="ElevenLabs logo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61475" y="3881628"/>
            <a:ext cx="173736" cy="173736"/>
          </a:xfrm>
          <a:prstGeom prst="rect">
            <a:avLst/>
          </a:prstGeom>
        </p:spPr>
      </p:pic>
      <p:sp>
        <p:nvSpPr>
          <p:cNvPr id="68" name="Text 53"/>
          <p:cNvSpPr txBox="1"/>
          <p:nvPr/>
        </p:nvSpPr>
        <p:spPr>
          <a:xfrm>
            <a:off x="9290075" y="3794760"/>
            <a:ext cx="79244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100" dirty="0"/>
          </a:p>
        </p:txBody>
      </p:sp>
      <p:sp>
        <p:nvSpPr>
          <p:cNvPr id="69" name="Shape 54"/>
          <p:cNvSpPr/>
          <p:nvPr/>
        </p:nvSpPr>
        <p:spPr>
          <a:xfrm>
            <a:off x="10583894" y="2011680"/>
            <a:ext cx="731520" cy="731520"/>
          </a:xfrm>
          <a:prstGeom prst="ellipse">
            <a:avLst/>
          </a:prstGeom>
          <a:solidFill>
            <a:srgbClr val="A6D04B"/>
          </a:solidFill>
          <a:ln w="38100">
            <a:solidFill>
              <a:srgbClr val="000000"/>
            </a:solidFill>
            <a:prstDash val="solid"/>
          </a:ln>
        </p:spPr>
      </p:sp>
      <p:pic>
        <p:nvPicPr>
          <p:cNvPr id="7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66774" y="2194560"/>
            <a:ext cx="365760" cy="365760"/>
          </a:xfrm>
          <a:prstGeom prst="rect">
            <a:avLst/>
          </a:prstGeom>
        </p:spPr>
      </p:pic>
      <p:sp>
        <p:nvSpPr>
          <p:cNvPr id="71" name="Text 55"/>
          <p:cNvSpPr txBox="1"/>
          <p:nvPr/>
        </p:nvSpPr>
        <p:spPr>
          <a:xfrm>
            <a:off x="10401014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72" name="Text 56"/>
          <p:cNvSpPr txBox="1"/>
          <p:nvPr/>
        </p:nvSpPr>
        <p:spPr>
          <a:xfrm>
            <a:off x="10292829" y="3108960"/>
            <a:ext cx="13136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Web &amp; automate</a:t>
            </a:r>
            <a:endParaRPr lang="en-US" sz="1500" dirty="0"/>
          </a:p>
        </p:txBody>
      </p:sp>
      <p:sp>
        <p:nvSpPr>
          <p:cNvPr id="73" name="Shape 57"/>
          <p:cNvSpPr/>
          <p:nvPr/>
        </p:nvSpPr>
        <p:spPr>
          <a:xfrm>
            <a:off x="10320261" y="3794760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74" name="Image 14" descr="Claude Code logo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48277" y="3881628"/>
            <a:ext cx="173736" cy="173736"/>
          </a:xfrm>
          <a:prstGeom prst="rect">
            <a:avLst/>
          </a:prstGeom>
        </p:spPr>
      </p:pic>
      <p:sp>
        <p:nvSpPr>
          <p:cNvPr id="75" name="Text 58"/>
          <p:cNvSpPr txBox="1"/>
          <p:nvPr/>
        </p:nvSpPr>
        <p:spPr>
          <a:xfrm>
            <a:off x="10676877" y="3794760"/>
            <a:ext cx="79244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76" name="Shape 59"/>
          <p:cNvSpPr/>
          <p:nvPr/>
        </p:nvSpPr>
        <p:spPr>
          <a:xfrm>
            <a:off x="10320261" y="4224528"/>
            <a:ext cx="1258786" cy="347472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77" name="Image 15" descr="n8n logo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48277" y="4311396"/>
            <a:ext cx="173736" cy="173736"/>
          </a:xfrm>
          <a:prstGeom prst="rect">
            <a:avLst/>
          </a:prstGeom>
        </p:spPr>
      </p:pic>
      <p:sp>
        <p:nvSpPr>
          <p:cNvPr id="78" name="Text 60"/>
          <p:cNvSpPr txBox="1"/>
          <p:nvPr/>
        </p:nvSpPr>
        <p:spPr>
          <a:xfrm>
            <a:off x="10676877" y="4224528"/>
            <a:ext cx="79244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100" dirty="0"/>
          </a:p>
        </p:txBody>
      </p:sp>
      <p:sp>
        <p:nvSpPr>
          <p:cNvPr id="79" name="Text 6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path participants follow in the final project. Each stage is first taught and practised in its own module.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TRAINING TRACKS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Eleven modules in seven practical tracks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1696926" cy="502920"/>
          </a:xfrm>
          <a:prstGeom prst="rect">
            <a:avLst/>
          </a:prstGeom>
          <a:solidFill>
            <a:srgbClr val="727274"/>
          </a:solidFill>
          <a:ln w="12700">
            <a:solidFill>
              <a:srgbClr val="72727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783080"/>
            <a:ext cx="16969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15h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282142" y="1783080"/>
            <a:ext cx="1003525" cy="502920"/>
          </a:xfrm>
          <a:prstGeom prst="rect">
            <a:avLst/>
          </a:prstGeom>
          <a:solidFill>
            <a:srgbClr val="4DB449"/>
          </a:solidFill>
          <a:ln w="12700">
            <a:solidFill>
              <a:srgbClr val="4DB44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82142" y="1783080"/>
            <a:ext cx="10035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9h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22244" y="1783080"/>
            <a:ext cx="2043627" cy="5029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22244" y="1783080"/>
            <a:ext cx="20436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18h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02447" y="1783080"/>
            <a:ext cx="1003525" cy="502920"/>
          </a:xfrm>
          <a:prstGeom prst="rect">
            <a:avLst/>
          </a:prstGeom>
          <a:solidFill>
            <a:srgbClr val="A6D04B"/>
          </a:solidFill>
          <a:ln w="12700">
            <a:solidFill>
              <a:srgbClr val="A6D04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02447" y="1783080"/>
            <a:ext cx="10035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9h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2548" y="1783080"/>
            <a:ext cx="2737028" cy="502920"/>
          </a:xfrm>
          <a:prstGeom prst="rect">
            <a:avLst/>
          </a:prstGeom>
          <a:solidFill>
            <a:srgbClr val="4DB449"/>
          </a:solidFill>
          <a:ln w="12700">
            <a:solidFill>
              <a:srgbClr val="4DB44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2548" y="1783080"/>
            <a:ext cx="27370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24h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216152" y="1783080"/>
            <a:ext cx="1003525" cy="502920"/>
          </a:xfrm>
          <a:prstGeom prst="rect">
            <a:avLst/>
          </a:prstGeom>
          <a:solidFill>
            <a:srgbClr val="A6D04B"/>
          </a:solidFill>
          <a:ln w="12700">
            <a:solidFill>
              <a:srgbClr val="A6D04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152" y="1783080"/>
            <a:ext cx="10035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9h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0256253" y="1783080"/>
            <a:ext cx="1350226" cy="5029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56253" y="1783080"/>
            <a:ext cx="13502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12h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2560320"/>
            <a:ext cx="2602154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2807208"/>
            <a:ext cx="237744" cy="237744"/>
          </a:xfrm>
          <a:prstGeom prst="ellipse">
            <a:avLst/>
          </a:prstGeom>
          <a:solidFill>
            <a:srgbClr val="727274"/>
          </a:solidFill>
          <a:ln w="6350">
            <a:solidFill>
              <a:srgbClr val="72727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15568" y="2670048"/>
            <a:ext cx="19163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AI foundations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" y="3236976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M1–M2 · 15 hours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" y="3511296"/>
            <a:ext cx="22363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tool and writing effective prompts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379394" y="2560320"/>
            <a:ext cx="2602154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80562" y="2807208"/>
            <a:ext cx="237744" cy="237744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946322" y="2670048"/>
            <a:ext cx="19163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Research &amp; content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3580562" y="3236976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· 9 hours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80562" y="3511296"/>
            <a:ext cx="22363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research, verified sources, articles, posts and calendars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210148" y="2560320"/>
            <a:ext cx="2602154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11316" y="2807208"/>
            <a:ext cx="237744" cy="2377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777076" y="2670048"/>
            <a:ext cx="19163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Build with Claude Code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411316" y="3236976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M4–M5 · 18 hours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411316" y="3511296"/>
            <a:ext cx="22363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pages, data tasks and custom Skills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9040901" y="2560320"/>
            <a:ext cx="2602154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242069" y="2807208"/>
            <a:ext cx="237744" cy="237744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607829" y="2670048"/>
            <a:ext cx="19163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Design &amp; images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9242069" y="3236976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· 9 hours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9242069" y="3511296"/>
            <a:ext cx="22363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generation, consistent characters, Canva and Firefly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48640" y="4453128"/>
            <a:ext cx="2602154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49808" y="4700016"/>
            <a:ext cx="237744" cy="237744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115568" y="4562856"/>
            <a:ext cx="19163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Video, motion &amp; audio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749808" y="5129784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M7–M9 · 24 hours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749808" y="5404104"/>
            <a:ext cx="22363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video, editing, animation, voiceover and sound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3379394" y="4453128"/>
            <a:ext cx="2602154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580562" y="4700016"/>
            <a:ext cx="237744" cy="237744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946322" y="4562856"/>
            <a:ext cx="19163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3580562" y="5129784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 · 9 hours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3580562" y="5404104"/>
            <a:ext cx="22363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workflows with AI steps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6210148" y="4453128"/>
            <a:ext cx="2602154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411316" y="4700016"/>
            <a:ext cx="237744" cy="2377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777076" y="4562856"/>
            <a:ext cx="19163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Final project</a:t>
            </a:r>
            <a:endParaRPr lang="en-US" sz="1500" dirty="0"/>
          </a:p>
        </p:txBody>
      </p:sp>
      <p:sp>
        <p:nvSpPr>
          <p:cNvPr id="54" name="Text 51"/>
          <p:cNvSpPr txBox="1"/>
          <p:nvPr/>
        </p:nvSpPr>
        <p:spPr>
          <a:xfrm>
            <a:off x="6411316" y="5129784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· 12 hours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6411316" y="5404104"/>
            <a:ext cx="223639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to complete content, Demo Day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9040901" y="4453128"/>
            <a:ext cx="2602154" cy="1691640"/>
          </a:xfrm>
          <a:prstGeom prst="roundRect">
            <a:avLst>
              <a:gd name="adj" fmla="val 5405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269501" y="4636008"/>
            <a:ext cx="21449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54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96</a:t>
            </a:r>
            <a:endParaRPr lang="en-US" sz="5400" dirty="0"/>
          </a:p>
        </p:txBody>
      </p:sp>
      <p:sp>
        <p:nvSpPr>
          <p:cNvPr id="58" name="Text 55"/>
          <p:cNvSpPr txBox="1"/>
          <p:nvPr/>
        </p:nvSpPr>
        <p:spPr>
          <a:xfrm>
            <a:off x="9269501" y="555040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hours in total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CHOOSING THE RIGHT AI TOOL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Start with the task, then pick the tool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4572000" cy="4434840"/>
          </a:xfrm>
          <a:prstGeom prst="roundRect">
            <a:avLst>
              <a:gd name="adj" fmla="val 2474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7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Five questions before choosing a tool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2560320"/>
            <a:ext cx="438912" cy="43891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52374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in: text, files, images, audio?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3273552"/>
            <a:ext cx="438912" cy="43891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73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23697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come out, and in what format?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22960" y="3986784"/>
            <a:ext cx="438912" cy="43891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9867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does it need to be?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22960" y="4700016"/>
            <a:ext cx="438912" cy="4389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700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4663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data safe to share with this tool?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22960" y="5413248"/>
            <a:ext cx="438912" cy="438912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413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537667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plan or account allow it?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0" y="1783080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7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Example: matching tasks to tools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0" y="233172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50992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facts with sources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8796528" y="2368296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28" name="Image 1" descr="Perplexit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4" y="2459736"/>
            <a:ext cx="182880" cy="1828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9162288" y="2368296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486400" y="288036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50992" y="28803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a set of documents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8796528" y="2916936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33" name="Image 2" descr="NotebookLM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3008376"/>
            <a:ext cx="182880" cy="18288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9162288" y="2916936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5486400" y="342900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650992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and edit long text</a:t>
            </a:r>
            <a:endParaRPr lang="en-US" sz="1350" dirty="0"/>
          </a:p>
        </p:txBody>
      </p:sp>
      <p:sp>
        <p:nvSpPr>
          <p:cNvPr id="37" name="Shape 32"/>
          <p:cNvSpPr/>
          <p:nvPr/>
        </p:nvSpPr>
        <p:spPr>
          <a:xfrm>
            <a:off x="8796528" y="3465576"/>
            <a:ext cx="1141171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38" name="Image 3" descr="Claude lo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4" y="3557016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162288" y="3465576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200" dirty="0"/>
          </a:p>
        </p:txBody>
      </p:sp>
      <p:sp>
        <p:nvSpPr>
          <p:cNvPr id="40" name="Shape 34"/>
          <p:cNvSpPr/>
          <p:nvPr/>
        </p:nvSpPr>
        <p:spPr>
          <a:xfrm>
            <a:off x="10029139" y="3465576"/>
            <a:ext cx="947318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10120579" y="3465576"/>
            <a:ext cx="764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5486400" y="397764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650992" y="397764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or edit an image</a:t>
            </a:r>
            <a:endParaRPr lang="en-US" sz="1350" dirty="0"/>
          </a:p>
        </p:txBody>
      </p:sp>
      <p:sp>
        <p:nvSpPr>
          <p:cNvPr id="44" name="Shape 38"/>
          <p:cNvSpPr/>
          <p:nvPr/>
        </p:nvSpPr>
        <p:spPr>
          <a:xfrm>
            <a:off x="8796528" y="4014216"/>
            <a:ext cx="1141171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45" name="Image 4" descr="Gemini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4" y="4105656"/>
            <a:ext cx="182880" cy="18288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9162288" y="4014216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10029139" y="4014216"/>
            <a:ext cx="1430122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10120579" y="4014216"/>
            <a:ext cx="12472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Firefly</a:t>
            </a:r>
            <a:endParaRPr lang="en-US" sz="1200" dirty="0"/>
          </a:p>
        </p:txBody>
      </p:sp>
      <p:sp>
        <p:nvSpPr>
          <p:cNvPr id="49" name="Shape 42"/>
          <p:cNvSpPr/>
          <p:nvPr/>
        </p:nvSpPr>
        <p:spPr>
          <a:xfrm>
            <a:off x="5486400" y="452628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5650992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video shot</a:t>
            </a:r>
            <a:endParaRPr lang="en-US" sz="1350" dirty="0"/>
          </a:p>
        </p:txBody>
      </p:sp>
      <p:sp>
        <p:nvSpPr>
          <p:cNvPr id="51" name="Shape 44"/>
          <p:cNvSpPr/>
          <p:nvPr/>
        </p:nvSpPr>
        <p:spPr>
          <a:xfrm>
            <a:off x="8796528" y="4562856"/>
            <a:ext cx="1269187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887968" y="4562856"/>
            <a:ext cx="10863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Flow</a:t>
            </a:r>
            <a:endParaRPr lang="en-US" sz="1200" dirty="0"/>
          </a:p>
        </p:txBody>
      </p:sp>
      <p:sp>
        <p:nvSpPr>
          <p:cNvPr id="53" name="Shape 46"/>
          <p:cNvSpPr/>
          <p:nvPr/>
        </p:nvSpPr>
        <p:spPr>
          <a:xfrm>
            <a:off x="10157155" y="4562856"/>
            <a:ext cx="866851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10248595" y="4562856"/>
            <a:ext cx="683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</a:t>
            </a:r>
            <a:endParaRPr lang="en-US" sz="1200" dirty="0"/>
          </a:p>
        </p:txBody>
      </p:sp>
      <p:sp>
        <p:nvSpPr>
          <p:cNvPr id="55" name="Shape 48"/>
          <p:cNvSpPr/>
          <p:nvPr/>
        </p:nvSpPr>
        <p:spPr>
          <a:xfrm>
            <a:off x="5486400" y="507492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5650992" y="5074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web page</a:t>
            </a:r>
            <a:endParaRPr lang="en-US" sz="1350" dirty="0"/>
          </a:p>
        </p:txBody>
      </p:sp>
      <p:sp>
        <p:nvSpPr>
          <p:cNvPr id="57" name="Shape 50"/>
          <p:cNvSpPr/>
          <p:nvPr/>
        </p:nvSpPr>
        <p:spPr>
          <a:xfrm>
            <a:off x="8796528" y="5111496"/>
            <a:ext cx="1543507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58" name="Image 5" descr="Claude Code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4544" y="5202936"/>
            <a:ext cx="182880" cy="182880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9162288" y="5111496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200" dirty="0"/>
          </a:p>
        </p:txBody>
      </p:sp>
      <p:sp>
        <p:nvSpPr>
          <p:cNvPr id="60" name="Shape 52"/>
          <p:cNvSpPr/>
          <p:nvPr/>
        </p:nvSpPr>
        <p:spPr>
          <a:xfrm>
            <a:off x="5486400" y="5623560"/>
            <a:ext cx="2834640" cy="438912"/>
          </a:xfrm>
          <a:prstGeom prst="roundRect">
            <a:avLst>
              <a:gd name="adj" fmla="val 1666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5650992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task every week</a:t>
            </a:r>
            <a:endParaRPr lang="en-US" sz="1350" dirty="0"/>
          </a:p>
        </p:txBody>
      </p:sp>
      <p:sp>
        <p:nvSpPr>
          <p:cNvPr id="62" name="Shape 54"/>
          <p:cNvSpPr/>
          <p:nvPr/>
        </p:nvSpPr>
        <p:spPr>
          <a:xfrm>
            <a:off x="8796528" y="5660136"/>
            <a:ext cx="899770" cy="36576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63" name="Image 6" descr="n8n log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24544" y="5751576"/>
            <a:ext cx="182880" cy="182880"/>
          </a:xfrm>
          <a:prstGeom prst="rect">
            <a:avLst/>
          </a:prstGeom>
        </p:spPr>
      </p:pic>
      <p:sp>
        <p:nvSpPr>
          <p:cNvPr id="64" name="Text 55"/>
          <p:cNvSpPr txBox="1"/>
          <p:nvPr/>
        </p:nvSpPr>
        <p:spPr>
          <a:xfrm>
            <a:off x="9162288" y="5660136"/>
            <a:ext cx="424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200" dirty="0"/>
          </a:p>
        </p:txBody>
      </p:sp>
      <p:pic>
        <p:nvPicPr>
          <p:cNvPr id="6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2962656"/>
            <a:ext cx="274320" cy="274320"/>
          </a:xfrm>
          <a:prstGeom prst="rect">
            <a:avLst/>
          </a:prstGeom>
        </p:spPr>
      </p:pic>
      <p:pic>
        <p:nvPicPr>
          <p:cNvPr id="6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0" y="2414016"/>
            <a:ext cx="274320" cy="274320"/>
          </a:xfrm>
          <a:prstGeom prst="rect">
            <a:avLst/>
          </a:prstGeom>
        </p:spPr>
      </p:pic>
      <p:pic>
        <p:nvPicPr>
          <p:cNvPr id="6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2480" y="4059936"/>
            <a:ext cx="274320" cy="274320"/>
          </a:xfrm>
          <a:prstGeom prst="rect">
            <a:avLst/>
          </a:prstGeom>
        </p:spPr>
      </p:pic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2480" y="3511296"/>
            <a:ext cx="274320" cy="274320"/>
          </a:xfrm>
          <a:prstGeom prst="rect">
            <a:avLst/>
          </a:prstGeom>
        </p:spPr>
      </p:pic>
      <p:pic>
        <p:nvPicPr>
          <p:cNvPr id="7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2480" y="5705856"/>
            <a:ext cx="274320" cy="274320"/>
          </a:xfrm>
          <a:prstGeom prst="rect">
            <a:avLst/>
          </a:prstGeom>
        </p:spPr>
      </p:pic>
      <p:pic>
        <p:nvPicPr>
          <p:cNvPr id="7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2480" y="4608576"/>
            <a:ext cx="274320" cy="274320"/>
          </a:xfrm>
          <a:prstGeom prst="rect">
            <a:avLst/>
          </a:prstGeom>
        </p:spPr>
      </p:pic>
      <p:pic>
        <p:nvPicPr>
          <p:cNvPr id="72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2480" y="5157216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PROMPTING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Writing instructions AI can follow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1711909" cy="1234440"/>
          </a:xfrm>
          <a:prstGeom prst="roundRect">
            <a:avLst>
              <a:gd name="adj" fmla="val 740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8745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240280"/>
            <a:ext cx="14375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Role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587752"/>
            <a:ext cx="14375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AI should act as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25141" y="1783080"/>
            <a:ext cx="1711909" cy="1234440"/>
          </a:xfrm>
          <a:prstGeom prst="roundRect">
            <a:avLst>
              <a:gd name="adj" fmla="val 7407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89733" y="18745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589733" y="2240280"/>
            <a:ext cx="14375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Task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589733" y="2587752"/>
            <a:ext cx="14375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to produce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01642" y="1783080"/>
            <a:ext cx="1711909" cy="1234440"/>
          </a:xfrm>
          <a:prstGeom prst="roundRect">
            <a:avLst>
              <a:gd name="adj" fmla="val 740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6234" y="18745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466234" y="2240280"/>
            <a:ext cx="14375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Context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466234" y="2587752"/>
            <a:ext cx="14375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Audience, facts, files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78144" y="1783080"/>
            <a:ext cx="1711909" cy="1234440"/>
          </a:xfrm>
          <a:prstGeom prst="roundRect">
            <a:avLst>
              <a:gd name="adj" fmla="val 7407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42736" y="18745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342736" y="2240280"/>
            <a:ext cx="14375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Examples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342736" y="2587752"/>
            <a:ext cx="14375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054645" y="1783080"/>
            <a:ext cx="1711909" cy="1234440"/>
          </a:xfrm>
          <a:prstGeom prst="roundRect">
            <a:avLst>
              <a:gd name="adj" fmla="val 7407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19237" y="18745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19237" y="2240280"/>
            <a:ext cx="14375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Format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19237" y="2587752"/>
            <a:ext cx="14375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Length, structure, tone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931146" y="1783080"/>
            <a:ext cx="1711909" cy="1234440"/>
          </a:xfrm>
          <a:prstGeom prst="roundRect">
            <a:avLst>
              <a:gd name="adj" fmla="val 7407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095738" y="18745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10095738" y="2240280"/>
            <a:ext cx="14375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Constraints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10095738" y="2587752"/>
            <a:ext cx="14375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avoid or include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3246120"/>
            <a:ext cx="3291840" cy="2057400"/>
          </a:xfrm>
          <a:prstGeom prst="roundRect">
            <a:avLst>
              <a:gd name="adj" fmla="val 4444"/>
            </a:avLst>
          </a:prstGeom>
          <a:solidFill>
            <a:srgbClr val="F2F4F1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410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7724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i="1" dirty="0">
                <a:solidFill>
                  <a:srgbClr val="4A4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“Write a post about our café.”</a:t>
            </a:r>
            <a:endParaRPr lang="en-US" sz="16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4046220"/>
            <a:ext cx="457200" cy="457200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4572000" y="3246120"/>
            <a:ext cx="7071055" cy="2057400"/>
          </a:xfrm>
          <a:prstGeom prst="roundRect">
            <a:avLst>
              <a:gd name="adj" fmla="val 4444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846320" y="3410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4846320" y="3749040"/>
            <a:ext cx="6522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the social media writer for a neighbourhood café. Write an Instagram caption announcing our new breakfast menu for students. Keep it under 60 words, friendly, with one emoji and a call to visit before 10 am. Here are two captions we liked: …”</a:t>
            </a:r>
            <a:endParaRPr lang="en-US" sz="145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4864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build a library of 15 tested prompts and a saved brand-voice assistant (ChatGPT Projects, Claude Projects or Gemini Gems).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4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17320" cy="5036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CLAUDE CODE IN PRACTICE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Building real things by describing them</a:t>
            </a:r>
            <a:endParaRPr lang="en-US" sz="2800" dirty="0"/>
          </a:p>
        </p:txBody>
      </p:sp>
      <p:pic>
        <p:nvPicPr>
          <p:cNvPr id="7" name="Image 1" descr="Claud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719072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5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Anthropic's agentic coding tool. It reads a project, plans the work, edits files and runs commands with the user's permission, in the terminal, VS Code or the desktop app.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2697480"/>
            <a:ext cx="2533574" cy="1188720"/>
          </a:xfrm>
          <a:prstGeom prst="roundRect">
            <a:avLst>
              <a:gd name="adj" fmla="val 9231"/>
            </a:avLst>
          </a:prstGeom>
          <a:solidFill>
            <a:srgbClr val="161816"/>
          </a:solidFill>
          <a:ln w="15875">
            <a:solidFill>
              <a:srgbClr val="A6D04B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926080"/>
            <a:ext cx="384048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2852928"/>
            <a:ext cx="1664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Describe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1280160" y="3246120"/>
            <a:ext cx="16648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clear brief and a CLAUDE.md project file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934" y="3154680"/>
            <a:ext cx="237744" cy="237744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402254" y="2697480"/>
            <a:ext cx="2533574" cy="1188720"/>
          </a:xfrm>
          <a:prstGeom prst="roundRect">
            <a:avLst>
              <a:gd name="adj" fmla="val 9231"/>
            </a:avLst>
          </a:prstGeom>
          <a:solidFill>
            <a:srgbClr val="161816"/>
          </a:solidFill>
          <a:ln w="15875">
            <a:solidFill>
              <a:srgbClr val="A6D04B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3422" y="2926080"/>
            <a:ext cx="384048" cy="38404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133774" y="2852928"/>
            <a:ext cx="1664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4133774" y="3246120"/>
            <a:ext cx="16648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proposes the steps</a:t>
            </a:r>
            <a:endParaRPr lang="en-US" sz="13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1548" y="3154680"/>
            <a:ext cx="237744" cy="237744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6255868" y="2697480"/>
            <a:ext cx="2533574" cy="1188720"/>
          </a:xfrm>
          <a:prstGeom prst="roundRect">
            <a:avLst>
              <a:gd name="adj" fmla="val 9231"/>
            </a:avLst>
          </a:prstGeom>
          <a:solidFill>
            <a:srgbClr val="4DB449"/>
          </a:solidFill>
          <a:ln w="15875">
            <a:solidFill>
              <a:srgbClr val="4DB449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7036" y="292608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987388" y="2852928"/>
            <a:ext cx="1664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Review</a:t>
            </a:r>
            <a:endParaRPr lang="en-US" sz="1800" dirty="0"/>
          </a:p>
        </p:txBody>
      </p:sp>
      <p:sp>
        <p:nvSpPr>
          <p:cNvPr id="22" name="Text 13"/>
          <p:cNvSpPr txBox="1"/>
          <p:nvPr/>
        </p:nvSpPr>
        <p:spPr>
          <a:xfrm>
            <a:off x="6987388" y="3246120"/>
            <a:ext cx="16648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approve each change</a:t>
            </a:r>
            <a:endParaRPr lang="en-US" sz="13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5161" y="3154680"/>
            <a:ext cx="237744" cy="237744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9109481" y="2697480"/>
            <a:ext cx="2533574" cy="1188720"/>
          </a:xfrm>
          <a:prstGeom prst="roundRect">
            <a:avLst>
              <a:gd name="adj" fmla="val 9231"/>
            </a:avLst>
          </a:prstGeom>
          <a:solidFill>
            <a:srgbClr val="161816"/>
          </a:solidFill>
          <a:ln w="15875">
            <a:solidFill>
              <a:srgbClr val="A6D04B"/>
            </a:solidFill>
            <a:prstDash val="solid"/>
          </a:ln>
        </p:spPr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10649" y="2926080"/>
            <a:ext cx="384048" cy="384048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9841001" y="2852928"/>
            <a:ext cx="1664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Publish</a:t>
            </a:r>
            <a:endParaRPr lang="en-US" sz="1800" dirty="0"/>
          </a:p>
        </p:txBody>
      </p:sp>
      <p:sp>
        <p:nvSpPr>
          <p:cNvPr id="27" name="Text 16"/>
          <p:cNvSpPr txBox="1"/>
          <p:nvPr/>
        </p:nvSpPr>
        <p:spPr>
          <a:xfrm>
            <a:off x="9841001" y="3246120"/>
            <a:ext cx="16648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with Git, publish to GitHub Pages</a:t>
            </a:r>
            <a:endParaRPr lang="en-US" sz="1300" dirty="0"/>
          </a:p>
        </p:txBody>
      </p:sp>
      <p:sp>
        <p:nvSpPr>
          <p:cNvPr id="28" name="Text 17"/>
          <p:cNvSpPr txBox="1"/>
          <p:nvPr/>
        </p:nvSpPr>
        <p:spPr>
          <a:xfrm>
            <a:off x="54864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What participants build</a:t>
            </a:r>
            <a:endParaRPr lang="en-US" sz="1600" dirty="0"/>
          </a:p>
        </p:txBody>
      </p:sp>
      <p:sp>
        <p:nvSpPr>
          <p:cNvPr id="29" name="Text 18"/>
          <p:cNvSpPr txBox="1"/>
          <p:nvPr/>
        </p:nvSpPr>
        <p:spPr>
          <a:xfrm>
            <a:off x="1005840" y="46634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landing page for a real organisation, published online</a:t>
            </a:r>
            <a:endParaRPr lang="en-US" sz="1400" dirty="0"/>
          </a:p>
        </p:txBody>
      </p:sp>
      <p:sp>
        <p:nvSpPr>
          <p:cNvPr id="30" name="Text 19"/>
          <p:cNvSpPr txBox="1"/>
          <p:nvPr/>
        </p:nvSpPr>
        <p:spPr>
          <a:xfrm>
            <a:off x="6629400" y="46634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report and chart from a messy spreadsheet</a:t>
            </a:r>
            <a:endParaRPr lang="en-US" sz="1400" dirty="0"/>
          </a:p>
        </p:txBody>
      </p:sp>
      <p:sp>
        <p:nvSpPr>
          <p:cNvPr id="31" name="Text 20"/>
          <p:cNvSpPr txBox="1"/>
          <p:nvPr/>
        </p:nvSpPr>
        <p:spPr>
          <a:xfrm>
            <a:off x="1005840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file tasks: renaming, converting, organising</a:t>
            </a:r>
            <a:endParaRPr lang="en-US" sz="1400" dirty="0"/>
          </a:p>
        </p:txBody>
      </p:sp>
      <p:sp>
        <p:nvSpPr>
          <p:cNvPr id="32" name="Text 21"/>
          <p:cNvSpPr txBox="1"/>
          <p:nvPr/>
        </p:nvSpPr>
        <p:spPr>
          <a:xfrm>
            <a:off x="6629400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motion graphics video with Remotion (Module 8)</a:t>
            </a:r>
            <a:endParaRPr lang="en-US" sz="14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2200" y="4700016"/>
            <a:ext cx="310896" cy="310896"/>
          </a:xfrm>
          <a:prstGeom prst="rect">
            <a:avLst/>
          </a:prstGeom>
        </p:spPr>
      </p:pic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00016"/>
            <a:ext cx="310896" cy="310896"/>
          </a:xfrm>
          <a:prstGeom prst="rect">
            <a:avLst/>
          </a:prstGeom>
        </p:spPr>
      </p:pic>
      <p:pic>
        <p:nvPicPr>
          <p:cNvPr id="3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5358384"/>
            <a:ext cx="310896" cy="310896"/>
          </a:xfrm>
          <a:prstGeom prst="rect">
            <a:avLst/>
          </a:prstGeom>
        </p:spPr>
      </p:pic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5358384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SKILLS IN CLAUDE CODE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Teaching Claude Code to repeat your best work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5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 is a folder with a SKILL.md file of instructions, plus optional templates or scripts. Claude loads it when a task needs it, or when it is called by name.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23160"/>
            <a:ext cx="4206240" cy="2926080"/>
          </a:xfrm>
          <a:prstGeom prst="roundRect">
            <a:avLst>
              <a:gd name="adj" fmla="val 3750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.claude/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09981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skills/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502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brand-post/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D0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SKILL.md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9CCC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template.md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4709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examples/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120640" y="2423160"/>
            <a:ext cx="6522415" cy="640080"/>
          </a:xfrm>
          <a:prstGeom prst="roundRect">
            <a:avLst>
              <a:gd name="adj" fmla="val 14286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85232" y="2532888"/>
            <a:ext cx="420624" cy="420624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24231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Install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2423160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ready-made skills from a plugin marketplace with /plugin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120640" y="3172968"/>
            <a:ext cx="6522415" cy="640080"/>
          </a:xfrm>
          <a:prstGeom prst="roundRect">
            <a:avLst>
              <a:gd name="adj" fmla="val 14286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285232" y="3282696"/>
            <a:ext cx="420624" cy="420624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52160" y="31729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Write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3172968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skill: name, description, steps, template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120640" y="3922776"/>
            <a:ext cx="6522415" cy="640080"/>
          </a:xfrm>
          <a:prstGeom prst="roundRect">
            <a:avLst>
              <a:gd name="adj" fmla="val 14286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285232" y="4032504"/>
            <a:ext cx="420624" cy="420624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2160" y="3922776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Use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0" y="3922776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it with /brand-post, or let Claude pick it up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5120640" y="4672584"/>
            <a:ext cx="6522415" cy="640080"/>
          </a:xfrm>
          <a:prstGeom prst="roundRect">
            <a:avLst>
              <a:gd name="adj" fmla="val 14286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285232" y="4782312"/>
            <a:ext cx="420624" cy="420624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852160" y="4672584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Improve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4672584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real briefs and refine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961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participant writes a working skill that turns a short brief into a post, caption and image prompt in the organisation's style.</a:t>
            </a:r>
            <a:endParaRPr lang="en-US" sz="14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3383280"/>
            <a:ext cx="219456" cy="219456"/>
          </a:xfrm>
          <a:prstGeom prst="rect">
            <a:avLst/>
          </a:prstGeom>
        </p:spPr>
      </p:pic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4882896"/>
            <a:ext cx="219456" cy="219456"/>
          </a:xfrm>
          <a:prstGeom prst="rect">
            <a:avLst/>
          </a:prstGeom>
        </p:spPr>
      </p:pic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816" y="4133088"/>
            <a:ext cx="219456" cy="219456"/>
          </a:xfrm>
          <a:prstGeom prst="rect">
            <a:avLst/>
          </a:prstGeom>
        </p:spPr>
      </p:pic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5816" y="2633472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AI FOR RESEARCH AND CONTENT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From verified research to content that is ready to publish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3515258" cy="3611880"/>
          </a:xfrm>
          <a:prstGeom prst="roundRect">
            <a:avLst>
              <a:gd name="adj" fmla="val 3121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212848"/>
            <a:ext cx="329184" cy="329184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186" y="34701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2130552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Research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822960" y="292608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13" name="Image 3" descr="Perplexity lo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3017520"/>
            <a:ext cx="182880" cy="182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292608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22960" y="3383280"/>
            <a:ext cx="226771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16" name="Image 4" descr="Gemini Deep Research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74720"/>
            <a:ext cx="182880" cy="1828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88720" y="338328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Deep Research</a:t>
            </a:r>
            <a:endParaRPr lang="en-US" sz="1200" dirty="0"/>
          </a:p>
        </p:txBody>
      </p:sp>
      <p:sp>
        <p:nvSpPr>
          <p:cNvPr id="18" name="Shape 11"/>
          <p:cNvSpPr/>
          <p:nvPr/>
        </p:nvSpPr>
        <p:spPr>
          <a:xfrm>
            <a:off x="822960" y="384048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19" name="Image 5" descr="NotebookLM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931920"/>
            <a:ext cx="182880" cy="1828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188720" y="384048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200" dirty="0"/>
          </a:p>
        </p:txBody>
      </p:sp>
      <p:sp>
        <p:nvSpPr>
          <p:cNvPr id="21" name="Text 13"/>
          <p:cNvSpPr txBox="1"/>
          <p:nvPr/>
        </p:nvSpPr>
        <p:spPr>
          <a:xfrm>
            <a:off x="822960" y="44348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with sources, deep research reports, source-grounded notebooks with Audio Overviews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4338218" y="1783080"/>
            <a:ext cx="3515258" cy="3611880"/>
          </a:xfrm>
          <a:prstGeom prst="roundRect">
            <a:avLst>
              <a:gd name="adj" fmla="val 3121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4612538" y="2057400"/>
            <a:ext cx="640080" cy="640080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7986" y="2212848"/>
            <a:ext cx="329184" cy="329184"/>
          </a:xfrm>
          <a:prstGeom prst="rect">
            <a:avLst/>
          </a:prstGeom>
        </p:spPr>
      </p:pic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1765" y="3470148"/>
            <a:ext cx="237744" cy="23774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389778" y="2130552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Write</a:t>
            </a:r>
            <a:endParaRPr lang="en-US" sz="2000" dirty="0"/>
          </a:p>
        </p:txBody>
      </p:sp>
      <p:sp>
        <p:nvSpPr>
          <p:cNvPr id="27" name="Shape 17"/>
          <p:cNvSpPr/>
          <p:nvPr/>
        </p:nvSpPr>
        <p:spPr>
          <a:xfrm>
            <a:off x="4612538" y="2926080"/>
            <a:ext cx="947318" cy="365760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4703978" y="2926080"/>
            <a:ext cx="764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200" dirty="0"/>
          </a:p>
        </p:txBody>
      </p:sp>
      <p:sp>
        <p:nvSpPr>
          <p:cNvPr id="29" name="Shape 19"/>
          <p:cNvSpPr/>
          <p:nvPr/>
        </p:nvSpPr>
        <p:spPr>
          <a:xfrm>
            <a:off x="5651297" y="2926080"/>
            <a:ext cx="1141171" cy="365760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30" name="Image 8" descr="Claude log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9313" y="3017520"/>
            <a:ext cx="182880" cy="18288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017057" y="292608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200" dirty="0"/>
          </a:p>
        </p:txBody>
      </p:sp>
      <p:sp>
        <p:nvSpPr>
          <p:cNvPr id="32" name="Shape 21"/>
          <p:cNvSpPr/>
          <p:nvPr/>
        </p:nvSpPr>
        <p:spPr>
          <a:xfrm>
            <a:off x="4612538" y="3383280"/>
            <a:ext cx="1141171" cy="365760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33" name="Image 9" descr="Gemini log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0554" y="3474720"/>
            <a:ext cx="182880" cy="18288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4978298" y="338328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35" name="Text 23"/>
          <p:cNvSpPr txBox="1"/>
          <p:nvPr/>
        </p:nvSpPr>
        <p:spPr>
          <a:xfrm>
            <a:off x="4612538" y="39776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altLang="en-US" sz="14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Articles, posts and newsletters drafted with AI and edited to sound human</a:t>
            </a:r>
            <a:endParaRPr lang="en-US" sz="1400" dirty="0"/>
          </a:p>
        </p:txBody>
      </p:sp>
      <p:sp>
        <p:nvSpPr>
          <p:cNvPr id="36" name="Shape 24"/>
          <p:cNvSpPr/>
          <p:nvPr/>
        </p:nvSpPr>
        <p:spPr>
          <a:xfrm>
            <a:off x="8127797" y="1783080"/>
            <a:ext cx="3515258" cy="3611880"/>
          </a:xfrm>
          <a:prstGeom prst="roundRect">
            <a:avLst>
              <a:gd name="adj" fmla="val 3121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7" name="Shape 25"/>
          <p:cNvSpPr/>
          <p:nvPr/>
        </p:nvSpPr>
        <p:spPr>
          <a:xfrm>
            <a:off x="8402117" y="2057400"/>
            <a:ext cx="640080" cy="640080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57565" y="2212848"/>
            <a:ext cx="329184" cy="329184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9179357" y="2130552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0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Plan</a:t>
            </a:r>
            <a:endParaRPr lang="en-US" sz="2000" dirty="0"/>
          </a:p>
        </p:txBody>
      </p:sp>
      <p:sp>
        <p:nvSpPr>
          <p:cNvPr id="40" name="Shape 27"/>
          <p:cNvSpPr/>
          <p:nvPr/>
        </p:nvSpPr>
        <p:spPr>
          <a:xfrm>
            <a:off x="8402117" y="2926080"/>
            <a:ext cx="170444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41" name="Image 11" descr="Google Sheets logo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30133" y="3017520"/>
            <a:ext cx="182880" cy="18288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8767877" y="2926080"/>
            <a:ext cx="1228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</a:t>
            </a:r>
            <a:endParaRPr lang="en-US" sz="1200" dirty="0"/>
          </a:p>
        </p:txBody>
      </p:sp>
      <p:sp>
        <p:nvSpPr>
          <p:cNvPr id="43" name="Shape 29"/>
          <p:cNvSpPr/>
          <p:nvPr/>
        </p:nvSpPr>
        <p:spPr>
          <a:xfrm>
            <a:off x="10197998" y="2926080"/>
            <a:ext cx="1141171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44" name="Image 12" descr="Claude logo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26014" y="3017520"/>
            <a:ext cx="182880" cy="182880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10563758" y="292608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200" dirty="0"/>
          </a:p>
        </p:txBody>
      </p:sp>
      <p:sp>
        <p:nvSpPr>
          <p:cNvPr id="46" name="Shape 31"/>
          <p:cNvSpPr/>
          <p:nvPr/>
        </p:nvSpPr>
        <p:spPr>
          <a:xfrm>
            <a:off x="8402117" y="3383280"/>
            <a:ext cx="94731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47" name="Text 32"/>
          <p:cNvSpPr txBox="1"/>
          <p:nvPr/>
        </p:nvSpPr>
        <p:spPr>
          <a:xfrm>
            <a:off x="8493557" y="3383280"/>
            <a:ext cx="764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200" dirty="0"/>
          </a:p>
        </p:txBody>
      </p:sp>
      <p:sp>
        <p:nvSpPr>
          <p:cNvPr id="48" name="Text 33"/>
          <p:cNvSpPr txBox="1"/>
          <p:nvPr/>
        </p:nvSpPr>
        <p:spPr>
          <a:xfrm>
            <a:off x="8402117" y="39776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pillars, a four-week calendar and a campaign plan</a:t>
            </a:r>
            <a:endParaRPr lang="en-US" sz="1400" dirty="0"/>
          </a:p>
        </p:txBody>
      </p:sp>
      <p:sp>
        <p:nvSpPr>
          <p:cNvPr id="49" name="Shape 34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822960" y="55961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verified research brief, one article, five social posts and a four-week content calendar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AI FOR DESIGN AND IMAGES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Generating images and turning them into finished designs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567864" cy="3611880"/>
          </a:xfrm>
          <a:prstGeom prst="roundRect">
            <a:avLst>
              <a:gd name="adj" fmla="val 4273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011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6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01</a:t>
            </a:r>
            <a:endParaRPr lang="en-US" sz="26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704" y="205740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5176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9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Generate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1089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from detailed prompts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22960" y="3931920"/>
            <a:ext cx="20192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3931920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" y="4370832"/>
            <a:ext cx="20192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15" name="Image 2" descr="Gemini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462272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4370832"/>
            <a:ext cx="154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22960" y="4809744"/>
            <a:ext cx="20192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14400" y="4809744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Firefly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390824" y="1783080"/>
            <a:ext cx="2567864" cy="3611880"/>
          </a:xfrm>
          <a:prstGeom prst="roundRect">
            <a:avLst>
              <a:gd name="adj" fmla="val 4273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65144" y="2011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6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02</a:t>
            </a:r>
            <a:endParaRPr lang="en-US" sz="26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2888" y="205740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665144" y="265176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9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Keep consistent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3665144" y="31089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character in four scenes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3665144" y="3931920"/>
            <a:ext cx="20192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25" name="Image 4" descr="Gemini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3160" y="40233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0904" y="3931920"/>
            <a:ext cx="154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3665144" y="4370832"/>
            <a:ext cx="20192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756584" y="437083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Firefly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233008" y="1783080"/>
            <a:ext cx="2567864" cy="3611880"/>
          </a:xfrm>
          <a:prstGeom prst="roundRect">
            <a:avLst>
              <a:gd name="adj" fmla="val 4273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507328" y="2011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6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03</a:t>
            </a:r>
            <a:endParaRPr lang="en-US" sz="26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071" y="2057400"/>
            <a:ext cx="384048" cy="38404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507328" y="265176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9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Edit</a:t>
            </a:r>
            <a:endParaRPr lang="en-US" sz="1900" dirty="0"/>
          </a:p>
        </p:txBody>
      </p:sp>
      <p:sp>
        <p:nvSpPr>
          <p:cNvPr id="33" name="Text 25"/>
          <p:cNvSpPr txBox="1"/>
          <p:nvPr/>
        </p:nvSpPr>
        <p:spPr>
          <a:xfrm>
            <a:off x="6507328" y="31089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backgrounds, fill and expand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6507328" y="3931920"/>
            <a:ext cx="20192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98768" y="3931920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</a:t>
            </a:r>
            <a:endParaRPr lang="en-US" sz="1200" dirty="0"/>
          </a:p>
        </p:txBody>
      </p:sp>
      <p:sp>
        <p:nvSpPr>
          <p:cNvPr id="36" name="Shape 28"/>
          <p:cNvSpPr/>
          <p:nvPr/>
        </p:nvSpPr>
        <p:spPr>
          <a:xfrm>
            <a:off x="6507328" y="4370832"/>
            <a:ext cx="20192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6598768" y="437083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Firefly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9075191" y="1783080"/>
            <a:ext cx="2567864" cy="3611880"/>
          </a:xfrm>
          <a:prstGeom prst="roundRect">
            <a:avLst>
              <a:gd name="adj" fmla="val 4273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9349511" y="2011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6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04</a:t>
            </a:r>
            <a:endParaRPr lang="en-US" sz="2600" dirty="0"/>
          </a:p>
        </p:txBody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57255" y="2057400"/>
            <a:ext cx="384048" cy="384048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9349511" y="265176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9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Design</a:t>
            </a:r>
            <a:endParaRPr lang="en-US" sz="1900" dirty="0"/>
          </a:p>
        </p:txBody>
      </p:sp>
      <p:sp>
        <p:nvSpPr>
          <p:cNvPr id="42" name="Text 33"/>
          <p:cNvSpPr txBox="1"/>
          <p:nvPr/>
        </p:nvSpPr>
        <p:spPr>
          <a:xfrm>
            <a:off x="9349511" y="31089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Templates, poster and carousel</a:t>
            </a:r>
            <a:endParaRPr lang="en-US" sz="1400" dirty="0"/>
          </a:p>
        </p:txBody>
      </p:sp>
      <p:sp>
        <p:nvSpPr>
          <p:cNvPr id="43" name="Shape 34"/>
          <p:cNvSpPr/>
          <p:nvPr/>
        </p:nvSpPr>
        <p:spPr>
          <a:xfrm>
            <a:off x="9349511" y="3931920"/>
            <a:ext cx="2019224" cy="365760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9440951" y="3931920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Magic Studio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822960" y="55961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brand visual kit with a character sheet, eight campaign images and social media templates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4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17320" cy="5036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VIDEO, EDITING AND MOTION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Producing a short video from script to final cut</a:t>
            </a:r>
            <a:endParaRPr lang="en-US" sz="2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643" y="2148840"/>
            <a:ext cx="365760" cy="365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200882" y="1874520"/>
            <a:ext cx="914400" cy="914400"/>
          </a:xfrm>
          <a:prstGeom prst="ellipse">
            <a:avLst/>
          </a:prstGeom>
          <a:solidFill>
            <a:srgbClr val="4DB449"/>
          </a:solidFill>
          <a:ln w="12700">
            <a:solidFill>
              <a:srgbClr val="4DB449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482" y="2103120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40080" y="2971800"/>
            <a:ext cx="20360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7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Plan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383280"/>
            <a:ext cx="19994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Script, storyboard and shot list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4251960"/>
            <a:ext cx="2036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· Claude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3526" y="2148840"/>
            <a:ext cx="365760" cy="3657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419765" y="1874520"/>
            <a:ext cx="914400" cy="914400"/>
          </a:xfrm>
          <a:prstGeom prst="ellipse">
            <a:avLst/>
          </a:prstGeom>
          <a:solidFill>
            <a:srgbClr val="A6D04B"/>
          </a:solidFill>
          <a:ln w="12700">
            <a:solidFill>
              <a:srgbClr val="A6D04B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365" y="2103120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858963" y="2971800"/>
            <a:ext cx="20360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7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Generate</a:t>
            </a:r>
            <a:endParaRPr lang="en-US" sz="1700" dirty="0"/>
          </a:p>
        </p:txBody>
      </p:sp>
      <p:sp>
        <p:nvSpPr>
          <p:cNvPr id="17" name="Text 10"/>
          <p:cNvSpPr txBox="1"/>
          <p:nvPr/>
        </p:nvSpPr>
        <p:spPr>
          <a:xfrm>
            <a:off x="2877251" y="3383280"/>
            <a:ext cx="19994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Shots from text, frames and reference images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2858963" y="4251960"/>
            <a:ext cx="2036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Flow · Runway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2409" y="2148840"/>
            <a:ext cx="365760" cy="36576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38648" y="1874520"/>
            <a:ext cx="914400" cy="914400"/>
          </a:xfrm>
          <a:prstGeom prst="ellipse">
            <a:avLst/>
          </a:prstGeom>
          <a:solidFill>
            <a:srgbClr val="4DB449"/>
          </a:solidFill>
          <a:ln w="12700">
            <a:solidFill>
              <a:srgbClr val="4DB449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7248" y="2103120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077846" y="2971800"/>
            <a:ext cx="20360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7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Edit</a:t>
            </a:r>
            <a:endParaRPr lang="en-US" sz="1700" dirty="0"/>
          </a:p>
        </p:txBody>
      </p:sp>
      <p:sp>
        <p:nvSpPr>
          <p:cNvPr id="23" name="Text 14"/>
          <p:cNvSpPr txBox="1"/>
          <p:nvPr/>
        </p:nvSpPr>
        <p:spPr>
          <a:xfrm>
            <a:off x="5096134" y="3383280"/>
            <a:ext cx="19994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Text-based editing, captions, filler removal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5077846" y="4251960"/>
            <a:ext cx="2036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 · CapCut</a:t>
            </a:r>
            <a:endParaRPr lang="en-US" sz="12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1292" y="2148840"/>
            <a:ext cx="365760" cy="365760"/>
          </a:xfrm>
          <a:prstGeom prst="rect">
            <a:avLst/>
          </a:prstGeom>
        </p:spPr>
      </p:pic>
      <p:sp>
        <p:nvSpPr>
          <p:cNvPr id="26" name="Shape 16"/>
          <p:cNvSpPr/>
          <p:nvPr/>
        </p:nvSpPr>
        <p:spPr>
          <a:xfrm>
            <a:off x="7857531" y="1874520"/>
            <a:ext cx="914400" cy="914400"/>
          </a:xfrm>
          <a:prstGeom prst="ellipse">
            <a:avLst/>
          </a:prstGeom>
          <a:solidFill>
            <a:srgbClr val="A6D04B"/>
          </a:solidFill>
          <a:ln w="12700">
            <a:solidFill>
              <a:srgbClr val="A6D04B"/>
            </a:solidFill>
            <a:prstDash val="solid"/>
          </a:ln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86131" y="2103120"/>
            <a:ext cx="457200" cy="4572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296729" y="2971800"/>
            <a:ext cx="20360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7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Animate</a:t>
            </a:r>
            <a:endParaRPr lang="en-US" sz="1700" dirty="0"/>
          </a:p>
        </p:txBody>
      </p:sp>
      <p:sp>
        <p:nvSpPr>
          <p:cNvPr id="29" name="Text 18"/>
          <p:cNvSpPr txBox="1"/>
          <p:nvPr/>
        </p:nvSpPr>
        <p:spPr>
          <a:xfrm>
            <a:off x="7315017" y="3383280"/>
            <a:ext cx="19994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titles and motion posts</a:t>
            </a:r>
            <a:endParaRPr lang="en-US" sz="1300" dirty="0"/>
          </a:p>
        </p:txBody>
      </p:sp>
      <p:sp>
        <p:nvSpPr>
          <p:cNvPr id="30" name="Text 19"/>
          <p:cNvSpPr txBox="1"/>
          <p:nvPr/>
        </p:nvSpPr>
        <p:spPr>
          <a:xfrm>
            <a:off x="7296729" y="4251960"/>
            <a:ext cx="2036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· Runway · CapCut</a:t>
            </a:r>
            <a:endParaRPr lang="en-US" sz="1200" dirty="0"/>
          </a:p>
        </p:txBody>
      </p:sp>
      <p:sp>
        <p:nvSpPr>
          <p:cNvPr id="31" name="Shape 20"/>
          <p:cNvSpPr/>
          <p:nvPr/>
        </p:nvSpPr>
        <p:spPr>
          <a:xfrm>
            <a:off x="10076414" y="1874520"/>
            <a:ext cx="914400" cy="914400"/>
          </a:xfrm>
          <a:prstGeom prst="ellipse">
            <a:avLst/>
          </a:prstGeom>
          <a:solidFill>
            <a:srgbClr val="4DB449"/>
          </a:solidFill>
          <a:ln w="12700">
            <a:solidFill>
              <a:srgbClr val="4DB449"/>
            </a:solidFill>
            <a:prstDash val="solid"/>
          </a:ln>
        </p:spPr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05014" y="2103120"/>
            <a:ext cx="457200" cy="45720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9515612" y="2971800"/>
            <a:ext cx="20360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7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Code motion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9533900" y="3383280"/>
            <a:ext cx="19994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3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graphics rendered from code</a:t>
            </a:r>
            <a:endParaRPr lang="en-US" sz="1300" dirty="0"/>
          </a:p>
        </p:txBody>
      </p:sp>
      <p:sp>
        <p:nvSpPr>
          <p:cNvPr id="35" name="Text 23"/>
          <p:cNvSpPr txBox="1"/>
          <p:nvPr/>
        </p:nvSpPr>
        <p:spPr>
          <a:xfrm>
            <a:off x="9515612" y="4251960"/>
            <a:ext cx="2036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b="1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Remotion</a:t>
            </a:r>
            <a:endParaRPr lang="en-US" sz="1200" dirty="0"/>
          </a:p>
        </p:txBody>
      </p:sp>
      <p:sp>
        <p:nvSpPr>
          <p:cNvPr id="36" name="Shape 24"/>
          <p:cNvSpPr/>
          <p:nvPr/>
        </p:nvSpPr>
        <p:spPr>
          <a:xfrm>
            <a:off x="548640" y="525780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37" name="Text 25"/>
          <p:cNvSpPr txBox="1"/>
          <p:nvPr/>
        </p:nvSpPr>
        <p:spPr>
          <a:xfrm>
            <a:off x="822960" y="5257800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captioned 45–60 second video, an animated title and a rendered motion graphics clip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VOICEOVER AND AUDIO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Giving the video a voice and a soundtrack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41004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075688"/>
            <a:ext cx="658368" cy="658368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240280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201168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9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Narration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2441448"/>
            <a:ext cx="403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text-to-speech in Arabic and English, with pacing set in the script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691640" y="3044952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13" name="Image 2" descr="ElevenLabs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656" y="3127248"/>
            <a:ext cx="164592" cy="1645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039112" y="30449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3246120" y="3044952"/>
            <a:ext cx="866851" cy="329184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3337560" y="3044952"/>
            <a:ext cx="6839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CapCut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233008" y="1783080"/>
            <a:ext cx="5410048" cy="1691640"/>
          </a:xfrm>
          <a:prstGeom prst="roundRect">
            <a:avLst>
              <a:gd name="adj" fmla="val 6486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075688"/>
            <a:ext cx="658368" cy="65836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920" y="2240280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376008" y="201168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9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Voice design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7376008" y="2441448"/>
            <a:ext cx="403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that fits the brand, with clear consent rules for real voices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376008" y="3044952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23" name="Image 4" descr="ElevenLabs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4024" y="3127248"/>
            <a:ext cx="164592" cy="16459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723480" y="30449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3675888"/>
            <a:ext cx="5410048" cy="1691640"/>
          </a:xfrm>
          <a:prstGeom prst="roundRect">
            <a:avLst>
              <a:gd name="adj" fmla="val 6486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822960" y="3968496"/>
            <a:ext cx="658368" cy="65836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4133088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691640" y="3904488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9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Sound effects &amp; music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1691640" y="4334256"/>
            <a:ext cx="403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a text description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1691640" y="49377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pic>
        <p:nvPicPr>
          <p:cNvPr id="31" name="Image 6" descr="ElevenLabs log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19656" y="5020056"/>
            <a:ext cx="164592" cy="16459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2039112" y="493776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150" dirty="0"/>
          </a:p>
        </p:txBody>
      </p:sp>
      <p:sp>
        <p:nvSpPr>
          <p:cNvPr id="33" name="Shape 24"/>
          <p:cNvSpPr/>
          <p:nvPr/>
        </p:nvSpPr>
        <p:spPr>
          <a:xfrm>
            <a:off x="6233008" y="3675888"/>
            <a:ext cx="5410048" cy="1691640"/>
          </a:xfrm>
          <a:prstGeom prst="roundRect">
            <a:avLst>
              <a:gd name="adj" fmla="val 6486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6507328" y="3968496"/>
            <a:ext cx="658368" cy="65836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1920" y="4133088"/>
            <a:ext cx="329184" cy="329184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376008" y="3904488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9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Clean speech</a:t>
            </a:r>
            <a:endParaRPr lang="en-US" sz="1900" dirty="0"/>
          </a:p>
        </p:txBody>
      </p:sp>
      <p:sp>
        <p:nvSpPr>
          <p:cNvPr id="37" name="Text 27"/>
          <p:cNvSpPr txBox="1"/>
          <p:nvPr/>
        </p:nvSpPr>
        <p:spPr>
          <a:xfrm>
            <a:off x="7376008" y="4334256"/>
            <a:ext cx="403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and echo removed from recordings</a:t>
            </a:r>
            <a:endParaRPr lang="en-US" sz="1400" dirty="0"/>
          </a:p>
        </p:txBody>
      </p:sp>
      <p:sp>
        <p:nvSpPr>
          <p:cNvPr id="38" name="Shape 28"/>
          <p:cNvSpPr/>
          <p:nvPr/>
        </p:nvSpPr>
        <p:spPr>
          <a:xfrm>
            <a:off x="7376008" y="4937760"/>
            <a:ext cx="143012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467448" y="4937760"/>
            <a:ext cx="124724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Podcast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8897569" y="4937760"/>
            <a:ext cx="102778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DD8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989009" y="4937760"/>
            <a:ext cx="8449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822960" y="55961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project video with narration, music, effects and a clean audio mix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4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17320" cy="5036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AUTOMATION WITH n8n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Connecting the tools so routine work runs by itself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464994" cy="1051560"/>
          </a:xfrm>
          <a:prstGeom prst="roundRect">
            <a:avLst>
              <a:gd name="adj" fmla="val 10435"/>
            </a:avLst>
          </a:prstGeom>
          <a:solidFill>
            <a:srgbClr val="161816"/>
          </a:solidFill>
          <a:ln w="15875">
            <a:solidFill>
              <a:srgbClr val="A6D04B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756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938528"/>
            <a:ext cx="15505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Trigger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2350008"/>
            <a:ext cx="15505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form, a schedule or a click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498" y="2148840"/>
            <a:ext cx="301752" cy="30175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425114" y="1783080"/>
            <a:ext cx="2464994" cy="1051560"/>
          </a:xfrm>
          <a:prstGeom prst="roundRect">
            <a:avLst>
              <a:gd name="adj" fmla="val 10435"/>
            </a:avLst>
          </a:prstGeom>
          <a:solidFill>
            <a:srgbClr val="161816"/>
          </a:solidFill>
          <a:ln w="15875">
            <a:solidFill>
              <a:srgbClr val="A6D04B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714" y="2075688"/>
            <a:ext cx="457200" cy="457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248074" y="1938528"/>
            <a:ext cx="15505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Process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4248074" y="2350008"/>
            <a:ext cx="15505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mapped and checked</a:t>
            </a:r>
            <a:endParaRPr lang="en-US" sz="12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4972" y="2148840"/>
            <a:ext cx="301752" cy="301752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301588" y="1783080"/>
            <a:ext cx="2464994" cy="1051560"/>
          </a:xfrm>
          <a:prstGeom prst="roundRect">
            <a:avLst>
              <a:gd name="adj" fmla="val 10435"/>
            </a:avLst>
          </a:prstGeom>
          <a:solidFill>
            <a:srgbClr val="4DB449"/>
          </a:solidFill>
          <a:ln w="15875">
            <a:solidFill>
              <a:srgbClr val="4DB449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188" y="2075688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24548" y="1938528"/>
            <a:ext cx="15505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AI</a:t>
            </a:r>
            <a:endParaRPr lang="en-US" sz="1800" dirty="0"/>
          </a:p>
        </p:txBody>
      </p:sp>
      <p:sp>
        <p:nvSpPr>
          <p:cNvPr id="20" name="Text 12"/>
          <p:cNvSpPr txBox="1"/>
          <p:nvPr/>
        </p:nvSpPr>
        <p:spPr>
          <a:xfrm>
            <a:off x="7124548" y="2350008"/>
            <a:ext cx="15505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drafts the content</a:t>
            </a:r>
            <a:endParaRPr lang="en-US" sz="12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1445" y="2148840"/>
            <a:ext cx="301752" cy="301752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9178061" y="1783080"/>
            <a:ext cx="2464994" cy="1051560"/>
          </a:xfrm>
          <a:prstGeom prst="roundRect">
            <a:avLst>
              <a:gd name="adj" fmla="val 10435"/>
            </a:avLst>
          </a:prstGeom>
          <a:solidFill>
            <a:srgbClr val="161816"/>
          </a:solidFill>
          <a:ln w="15875">
            <a:solidFill>
              <a:srgbClr val="A6D04B"/>
            </a:solidFill>
            <a:prstDash val="solid"/>
          </a:ln>
        </p:spPr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6661" y="2075688"/>
            <a:ext cx="457200" cy="45720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001021" y="1938528"/>
            <a:ext cx="15505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Action</a:t>
            </a:r>
            <a:endParaRPr lang="en-US" sz="1800" dirty="0"/>
          </a:p>
        </p:txBody>
      </p:sp>
      <p:sp>
        <p:nvSpPr>
          <p:cNvPr id="25" name="Text 15"/>
          <p:cNvSpPr txBox="1"/>
          <p:nvPr/>
        </p:nvSpPr>
        <p:spPr>
          <a:xfrm>
            <a:off x="10001021" y="2350008"/>
            <a:ext cx="15505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Sheets or sent for review</a:t>
            </a:r>
            <a:endParaRPr lang="en-US" sz="1250" dirty="0"/>
          </a:p>
        </p:txBody>
      </p:sp>
      <p:sp>
        <p:nvSpPr>
          <p:cNvPr id="26" name="Text 16"/>
          <p:cNvSpPr txBox="1"/>
          <p:nvPr/>
        </p:nvSpPr>
        <p:spPr>
          <a:xfrm>
            <a:off x="54864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Participant workflow: Content Idea Generator</a:t>
            </a:r>
            <a:endParaRPr lang="en-US" sz="1500" dirty="0"/>
          </a:p>
        </p:txBody>
      </p:sp>
      <p:sp>
        <p:nvSpPr>
          <p:cNvPr id="27" name="Shape 17"/>
          <p:cNvSpPr/>
          <p:nvPr/>
        </p:nvSpPr>
        <p:spPr>
          <a:xfrm>
            <a:off x="548640" y="3584448"/>
            <a:ext cx="11887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621792" y="3584448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35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03802" y="3831336"/>
            <a:ext cx="237744" cy="237744"/>
          </a:xfrm>
          <a:prstGeom prst="rect">
            <a:avLst/>
          </a:prstGeom>
        </p:spPr>
      </p:pic>
      <p:sp>
        <p:nvSpPr>
          <p:cNvPr id="30" name="Shape 19"/>
          <p:cNvSpPr/>
          <p:nvPr/>
        </p:nvSpPr>
        <p:spPr>
          <a:xfrm>
            <a:off x="1907987" y="3584448"/>
            <a:ext cx="1188720" cy="731520"/>
          </a:xfrm>
          <a:prstGeom prst="roundRect">
            <a:avLst>
              <a:gd name="adj" fmla="val 12500"/>
            </a:avLst>
          </a:prstGeom>
          <a:solidFill>
            <a:srgbClr val="161816"/>
          </a:solidFill>
          <a:ln w="15875">
            <a:solidFill>
              <a:srgbClr val="EA4B71"/>
            </a:solidFill>
            <a:prstDash val="solid"/>
          </a:ln>
        </p:spPr>
      </p:sp>
      <p:pic>
        <p:nvPicPr>
          <p:cNvPr id="31" name="Image 9" descr="n8n log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36003" y="3758184"/>
            <a:ext cx="384048" cy="384048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2474915" y="3584448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350" dirty="0"/>
          </a:p>
        </p:txBody>
      </p:sp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63149" y="3831336"/>
            <a:ext cx="237744" cy="237744"/>
          </a:xfrm>
          <a:prstGeom prst="rect">
            <a:avLst/>
          </a:prstGeom>
        </p:spPr>
      </p:pic>
      <p:sp>
        <p:nvSpPr>
          <p:cNvPr id="34" name="Shape 21"/>
          <p:cNvSpPr/>
          <p:nvPr/>
        </p:nvSpPr>
        <p:spPr>
          <a:xfrm>
            <a:off x="3267334" y="3584448"/>
            <a:ext cx="1417320" cy="731520"/>
          </a:xfrm>
          <a:prstGeom prst="roundRect">
            <a:avLst>
              <a:gd name="adj" fmla="val 12500"/>
            </a:avLst>
          </a:prstGeom>
          <a:solidFill>
            <a:srgbClr val="4DB449"/>
          </a:solidFill>
          <a:ln w="15875">
            <a:solidFill>
              <a:srgbClr val="4DB449"/>
            </a:solidFill>
            <a:prstDash val="solid"/>
          </a:ln>
        </p:spPr>
      </p:sp>
      <p:sp>
        <p:nvSpPr>
          <p:cNvPr id="35" name="Text 22"/>
          <p:cNvSpPr txBox="1"/>
          <p:nvPr/>
        </p:nvSpPr>
        <p:spPr>
          <a:xfrm>
            <a:off x="3340486" y="3584448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50" dirty="0"/>
          </a:p>
        </p:txBody>
      </p:sp>
      <p:pic>
        <p:nvPicPr>
          <p:cNvPr id="3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1096" y="3831336"/>
            <a:ext cx="237744" cy="237744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4855281" y="3584448"/>
            <a:ext cx="30175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" name="Text 24"/>
          <p:cNvSpPr txBox="1"/>
          <p:nvPr/>
        </p:nvSpPr>
        <p:spPr>
          <a:xfrm>
            <a:off x="4928433" y="3584448"/>
            <a:ext cx="2871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· Caption · CTA · Image prompt</a:t>
            </a:r>
            <a:endParaRPr lang="en-US" sz="1350" dirty="0"/>
          </a:p>
        </p:txBody>
      </p:sp>
      <p:pic>
        <p:nvPicPr>
          <p:cNvPr id="3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9243" y="3831336"/>
            <a:ext cx="237744" cy="237744"/>
          </a:xfrm>
          <a:prstGeom prst="rect">
            <a:avLst/>
          </a:prstGeom>
        </p:spPr>
      </p:pic>
      <p:sp>
        <p:nvSpPr>
          <p:cNvPr id="40" name="Shape 25"/>
          <p:cNvSpPr/>
          <p:nvPr/>
        </p:nvSpPr>
        <p:spPr>
          <a:xfrm>
            <a:off x="8043428" y="3584448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41" name="Image 13" descr="Google Sheets logo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71444" y="3758184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8610356" y="358444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</a:t>
            </a:r>
            <a:endParaRPr lang="en-US" sz="1350" dirty="0"/>
          </a:p>
        </p:txBody>
      </p:sp>
      <p:pic>
        <p:nvPicPr>
          <p:cNvPr id="4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38670" y="3831336"/>
            <a:ext cx="237744" cy="237744"/>
          </a:xfrm>
          <a:prstGeom prst="rect">
            <a:avLst/>
          </a:prstGeom>
        </p:spPr>
      </p:pic>
      <p:sp>
        <p:nvSpPr>
          <p:cNvPr id="44" name="Shape 27"/>
          <p:cNvSpPr/>
          <p:nvPr/>
        </p:nvSpPr>
        <p:spPr>
          <a:xfrm>
            <a:off x="10042855" y="3584448"/>
            <a:ext cx="16002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28"/>
          <p:cNvSpPr txBox="1"/>
          <p:nvPr/>
        </p:nvSpPr>
        <p:spPr>
          <a:xfrm>
            <a:off x="10116007" y="3584448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for review</a:t>
            </a:r>
            <a:endParaRPr lang="en-US" sz="1350" dirty="0"/>
          </a:p>
        </p:txBody>
      </p:sp>
      <p:sp>
        <p:nvSpPr>
          <p:cNvPr id="46" name="Shape 29"/>
          <p:cNvSpPr/>
          <p:nvPr/>
        </p:nvSpPr>
        <p:spPr>
          <a:xfrm>
            <a:off x="548640" y="4663440"/>
            <a:ext cx="1801368" cy="384048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47" name="Text 30"/>
          <p:cNvSpPr txBox="1"/>
          <p:nvPr/>
        </p:nvSpPr>
        <p:spPr>
          <a:xfrm>
            <a:off x="658368" y="4663440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&amp; nodes</a:t>
            </a:r>
            <a:endParaRPr lang="en-US" sz="1200" dirty="0"/>
          </a:p>
        </p:txBody>
      </p:sp>
      <p:sp>
        <p:nvSpPr>
          <p:cNvPr id="48" name="Shape 31"/>
          <p:cNvSpPr/>
          <p:nvPr/>
        </p:nvSpPr>
        <p:spPr>
          <a:xfrm>
            <a:off x="2487168" y="466344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49" name="Text 32"/>
          <p:cNvSpPr txBox="1"/>
          <p:nvPr/>
        </p:nvSpPr>
        <p:spPr>
          <a:xfrm>
            <a:off x="2596896" y="466344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mapping &amp; expressions</a:t>
            </a:r>
            <a:endParaRPr lang="en-US" sz="1200" dirty="0"/>
          </a:p>
        </p:txBody>
      </p:sp>
      <p:sp>
        <p:nvSpPr>
          <p:cNvPr id="50" name="Shape 33"/>
          <p:cNvSpPr/>
          <p:nvPr/>
        </p:nvSpPr>
        <p:spPr>
          <a:xfrm>
            <a:off x="5294376" y="466344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51" name="Text 34"/>
          <p:cNvSpPr txBox="1"/>
          <p:nvPr/>
        </p:nvSpPr>
        <p:spPr>
          <a:xfrm>
            <a:off x="5404104" y="4663440"/>
            <a:ext cx="1321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conditions</a:t>
            </a:r>
            <a:endParaRPr lang="en-US" sz="1200" dirty="0"/>
          </a:p>
        </p:txBody>
      </p:sp>
      <p:sp>
        <p:nvSpPr>
          <p:cNvPr id="52" name="Shape 35"/>
          <p:cNvSpPr/>
          <p:nvPr/>
        </p:nvSpPr>
        <p:spPr>
          <a:xfrm>
            <a:off x="6972300" y="466344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53" name="Text 36"/>
          <p:cNvSpPr txBox="1"/>
          <p:nvPr/>
        </p:nvSpPr>
        <p:spPr>
          <a:xfrm>
            <a:off x="7082028" y="4663440"/>
            <a:ext cx="1321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node</a:t>
            </a:r>
            <a:endParaRPr lang="en-US" sz="1200" dirty="0"/>
          </a:p>
        </p:txBody>
      </p:sp>
      <p:sp>
        <p:nvSpPr>
          <p:cNvPr id="54" name="Shape 37"/>
          <p:cNvSpPr/>
          <p:nvPr/>
        </p:nvSpPr>
        <p:spPr>
          <a:xfrm>
            <a:off x="8650224" y="4663440"/>
            <a:ext cx="1193292" cy="384048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55" name="Text 38"/>
          <p:cNvSpPr txBox="1"/>
          <p:nvPr/>
        </p:nvSpPr>
        <p:spPr>
          <a:xfrm>
            <a:off x="8759952" y="4663440"/>
            <a:ext cx="9738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</a:t>
            </a:r>
            <a:endParaRPr lang="en-US" sz="1200" dirty="0"/>
          </a:p>
        </p:txBody>
      </p:sp>
      <p:sp>
        <p:nvSpPr>
          <p:cNvPr id="56" name="Shape 39"/>
          <p:cNvSpPr/>
          <p:nvPr/>
        </p:nvSpPr>
        <p:spPr>
          <a:xfrm>
            <a:off x="548640" y="5166360"/>
            <a:ext cx="2061972" cy="384048"/>
          </a:xfrm>
          <a:prstGeom prst="roundRect">
            <a:avLst>
              <a:gd name="adj" fmla="val 50000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sp>
        <p:nvSpPr>
          <p:cNvPr id="57" name="Text 40"/>
          <p:cNvSpPr txBox="1"/>
          <p:nvPr/>
        </p:nvSpPr>
        <p:spPr>
          <a:xfrm>
            <a:off x="658368" y="51663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security</a:t>
            </a:r>
            <a:endParaRPr lang="en-US" sz="1200" dirty="0"/>
          </a:p>
        </p:txBody>
      </p:sp>
      <p:sp>
        <p:nvSpPr>
          <p:cNvPr id="58" name="Text 4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level: participants build and run their own workflows. No servers or advanced programming are needed.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LEARNING BY DOING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Ten mini projects, one in every module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37744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· Choosing AI Tools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67919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Personal AI toolkit map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804099" y="178308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05267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3005267" y="237744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· Prompting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05267" y="267919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Brand-voice assistant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59558" y="178308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60726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260726" y="237744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· Research &amp; Content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260726" y="267919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Research-to-content pack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017" y="178308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16185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7516185" y="237744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· Claude Code in Practice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516185" y="267919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Published landing page and data report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9570476" y="178308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771644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05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771644" y="237744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· Claude Code Skills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771644" y="267919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Custom content skill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365760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9808" y="3794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06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749808" y="42519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· Design &amp; Images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" y="455371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Brand visual kit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2804099" y="365760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005267" y="3794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07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3005267" y="42519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· AI Video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3005267" y="455371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AI-generated shot sequence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059558" y="365760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260726" y="3794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08</a:t>
            </a:r>
            <a:endParaRPr lang="en-US" sz="2400" dirty="0"/>
          </a:p>
        </p:txBody>
      </p:sp>
      <p:sp>
        <p:nvSpPr>
          <p:cNvPr id="37" name="Text 34"/>
          <p:cNvSpPr txBox="1"/>
          <p:nvPr/>
        </p:nvSpPr>
        <p:spPr>
          <a:xfrm>
            <a:off x="5260726" y="42519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· Editing &amp; Motion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260726" y="455371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Edited video and motion pieces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7315017" y="365760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516185" y="3794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09</a:t>
            </a:r>
            <a:endParaRPr lang="en-US" sz="2400" dirty="0"/>
          </a:p>
        </p:txBody>
      </p:sp>
      <p:sp>
        <p:nvSpPr>
          <p:cNvPr id="41" name="Text 38"/>
          <p:cNvSpPr txBox="1"/>
          <p:nvPr/>
        </p:nvSpPr>
        <p:spPr>
          <a:xfrm>
            <a:off x="7516185" y="42519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 · Voice &amp; Audio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516185" y="455371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Fully voiced and mixed video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9570476" y="3657600"/>
            <a:ext cx="2072579" cy="1691640"/>
          </a:xfrm>
          <a:prstGeom prst="roundRect">
            <a:avLst>
              <a:gd name="adj" fmla="val 540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771644" y="3794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4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10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9771644" y="42519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 · Automation with n8n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9771644" y="4553712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Content automation workflow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705856"/>
            <a:ext cx="347472" cy="347472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1325880" y="5532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7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Final project</a:t>
            </a:r>
            <a:endParaRPr lang="en-US" sz="1700" dirty="0"/>
          </a:p>
        </p:txBody>
      </p:sp>
      <p:sp>
        <p:nvSpPr>
          <p:cNvPr id="50" name="Text 46"/>
          <p:cNvSpPr txBox="1"/>
          <p:nvPr/>
        </p:nvSpPr>
        <p:spPr>
          <a:xfrm>
            <a:off x="3840480" y="5532120"/>
            <a:ext cx="7528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skills combined in one complete content package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FINAL PROJECT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From idea to complete content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3657600" cy="4434840"/>
          </a:xfrm>
          <a:prstGeom prst="roundRect">
            <a:avLst>
              <a:gd name="adj" fmla="val 3000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57400"/>
            <a:ext cx="548640" cy="548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" y="27889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choose a real organisation or cause and use several AI tools together to produce a complete content package.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4617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3–4 participants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5074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sessions · 12 hours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5532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on Demo Day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526280" y="1783080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90872" y="1920240"/>
            <a:ext cx="502920" cy="502920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94960" y="1783080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Research brief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526280" y="2688336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690872" y="2825496"/>
            <a:ext cx="502920" cy="502920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394960" y="2688336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Content pack &amp; calendar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26280" y="3593592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90872" y="3730752"/>
            <a:ext cx="502920" cy="502920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94960" y="3593592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Brand visual kit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526280" y="4498848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690872" y="4636008"/>
            <a:ext cx="502920" cy="502920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94960" y="4498848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Edited, voiced video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4526280" y="5404104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690872" y="5541264"/>
            <a:ext cx="502920" cy="502920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94960" y="5404104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Motion graphics piece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8198968" y="1783080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63560" y="1920240"/>
            <a:ext cx="502920" cy="502920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67648" y="1783080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Landing page built with Claude Code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8198968" y="2688336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363560" y="2825496"/>
            <a:ext cx="502920" cy="502920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067648" y="2688336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Custom Claude Code skill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8198968" y="3593592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363560" y="3730752"/>
            <a:ext cx="502920" cy="502920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067648" y="3593592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n8n content workflow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8198968" y="4498848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363560" y="4636008"/>
            <a:ext cx="502920" cy="502920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067648" y="4498848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Portfolio case study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8198968" y="5404104"/>
            <a:ext cx="3444088" cy="777240"/>
          </a:xfrm>
          <a:prstGeom prst="roundRect">
            <a:avLst>
              <a:gd name="adj" fmla="val 11765"/>
            </a:avLst>
          </a:prstGeom>
          <a:solidFill>
            <a:srgbClr val="F2F4F1"/>
          </a:solidFill>
          <a:ln w="12700">
            <a:solidFill>
              <a:srgbClr val="F2F4F1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8363560" y="5541264"/>
            <a:ext cx="502920" cy="502920"/>
          </a:xfrm>
          <a:prstGeom prst="ellipse">
            <a:avLst/>
          </a:prstGeom>
          <a:solidFill>
            <a:srgbClr val="A6D04B"/>
          </a:solidFill>
          <a:ln w="6350">
            <a:solidFill>
              <a:srgbClr val="A6D04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067648" y="5404104"/>
            <a:ext cx="2438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Demo Day presentation</a:t>
            </a:r>
            <a:endParaRPr lang="en-US" sz="1500" dirty="0"/>
          </a:p>
        </p:txBody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2039112"/>
            <a:ext cx="265176" cy="265176"/>
          </a:xfrm>
          <a:prstGeom prst="rect">
            <a:avLst/>
          </a:prstGeom>
        </p:spPr>
      </p:pic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2944368"/>
            <a:ext cx="265176" cy="265176"/>
          </a:xfrm>
          <a:prstGeom prst="rect">
            <a:avLst/>
          </a:prstGeom>
        </p:spPr>
      </p:pic>
      <p:pic>
        <p:nvPicPr>
          <p:cNvPr id="4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849624"/>
            <a:ext cx="265176" cy="265176"/>
          </a:xfrm>
          <a:prstGeom prst="rect">
            <a:avLst/>
          </a:prstGeom>
        </p:spPr>
      </p:pic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9744" y="5660136"/>
            <a:ext cx="265176" cy="265176"/>
          </a:xfrm>
          <a:prstGeom prst="rect">
            <a:avLst/>
          </a:prstGeom>
        </p:spPr>
      </p:pic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2432" y="2944368"/>
            <a:ext cx="265176" cy="265176"/>
          </a:xfrm>
          <a:prstGeom prst="rect">
            <a:avLst/>
          </a:prstGeom>
        </p:spPr>
      </p:pic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2432" y="3849624"/>
            <a:ext cx="265176" cy="265176"/>
          </a:xfrm>
          <a:prstGeom prst="rect">
            <a:avLst/>
          </a:prstGeom>
        </p:spPr>
      </p:pic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4672584"/>
            <a:ext cx="256032" cy="256032"/>
          </a:xfrm>
          <a:prstGeom prst="rect">
            <a:avLst/>
          </a:prstGeom>
        </p:spPr>
      </p:pic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8680" y="5586984"/>
            <a:ext cx="256032" cy="256032"/>
          </a:xfrm>
          <a:prstGeom prst="rect">
            <a:avLst/>
          </a:prstGeom>
        </p:spPr>
      </p:pic>
      <p:pic>
        <p:nvPicPr>
          <p:cNvPr id="5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680" y="5129784"/>
            <a:ext cx="256032" cy="256032"/>
          </a:xfrm>
          <a:prstGeom prst="rect">
            <a:avLst/>
          </a:prstGeom>
        </p:spPr>
      </p:pic>
      <p:pic>
        <p:nvPicPr>
          <p:cNvPr id="5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09744" y="4754880"/>
            <a:ext cx="265176" cy="265176"/>
          </a:xfrm>
          <a:prstGeom prst="rect">
            <a:avLst/>
          </a:prstGeom>
        </p:spPr>
      </p:pic>
      <p:pic>
        <p:nvPicPr>
          <p:cNvPr id="5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2432" y="5660136"/>
            <a:ext cx="265176" cy="265176"/>
          </a:xfrm>
          <a:prstGeom prst="rect">
            <a:avLst/>
          </a:prstGeom>
        </p:spPr>
      </p:pic>
      <p:pic>
        <p:nvPicPr>
          <p:cNvPr id="5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82432" y="2039112"/>
            <a:ext cx="265176" cy="265176"/>
          </a:xfrm>
          <a:prstGeom prst="rect">
            <a:avLst/>
          </a:prstGeom>
        </p:spPr>
      </p:pic>
      <p:pic>
        <p:nvPicPr>
          <p:cNvPr id="5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2432" y="4754880"/>
            <a:ext cx="265176" cy="2651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6554" y="384048"/>
            <a:ext cx="1286501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100" b="1" spc="200" kern="0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PROGRAM FORMAT AND EXPECTED RESULTS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76656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Twelve weeks of hands-on training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475488" cy="47548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88720" y="17922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0574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12 weeks · 32 sessions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542032"/>
            <a:ext cx="475488" cy="47548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8720" y="2505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7706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 sessions × 3 hours per week (Proposed)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55264"/>
            <a:ext cx="475488" cy="47548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88720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483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20 participants (Proposed)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3968496"/>
            <a:ext cx="475488" cy="47548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88720" y="3931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1970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 person, in a computer lab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4681728"/>
            <a:ext cx="475488" cy="47548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88720" y="46451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9103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Lead trainer and assistant trainer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394960"/>
            <a:ext cx="475488" cy="475488"/>
          </a:xfrm>
          <a:prstGeom prst="ellipse">
            <a:avLst/>
          </a:prstGeom>
          <a:solidFill>
            <a:srgbClr val="4DB449"/>
          </a:solidFill>
          <a:ln w="6350">
            <a:solidFill>
              <a:srgbClr val="4DB44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88720" y="53583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300" b="1" dirty="0">
                <a:solidFill>
                  <a:srgbClr val="72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5623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5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Certificate of completion (Proposed)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035040" y="1783080"/>
            <a:ext cx="5608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600" b="1" dirty="0">
                <a:solidFill>
                  <a:srgbClr val="1A1A1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Expected results (Proposed targets)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035040" y="2286000"/>
            <a:ext cx="2689708" cy="1828800"/>
          </a:xfrm>
          <a:prstGeom prst="roundRect">
            <a:avLst>
              <a:gd name="adj" fmla="val 6000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09360" y="2468880"/>
            <a:ext cx="21410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6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85%</a:t>
            </a:r>
            <a:endParaRPr lang="en-US" sz="4600" dirty="0"/>
          </a:p>
        </p:txBody>
      </p:sp>
      <p:sp>
        <p:nvSpPr>
          <p:cNvPr id="28" name="Text 25"/>
          <p:cNvSpPr txBox="1"/>
          <p:nvPr/>
        </p:nvSpPr>
        <p:spPr>
          <a:xfrm>
            <a:off x="6309360" y="3383280"/>
            <a:ext cx="2141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program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8953348" y="2286000"/>
            <a:ext cx="2689708" cy="1828800"/>
          </a:xfrm>
          <a:prstGeom prst="roundRect">
            <a:avLst>
              <a:gd name="adj" fmla="val 6000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27668" y="2468880"/>
            <a:ext cx="21410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6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90%</a:t>
            </a:r>
            <a:endParaRPr lang="en-US" sz="4600" dirty="0"/>
          </a:p>
        </p:txBody>
      </p:sp>
      <p:sp>
        <p:nvSpPr>
          <p:cNvPr id="31" name="Text 28"/>
          <p:cNvSpPr txBox="1"/>
          <p:nvPr/>
        </p:nvSpPr>
        <p:spPr>
          <a:xfrm>
            <a:off x="9227668" y="3383280"/>
            <a:ext cx="2141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at least 8 of 10 mini projects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035040" y="4343400"/>
            <a:ext cx="2689708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09360" y="4526280"/>
            <a:ext cx="21410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6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100%</a:t>
            </a:r>
            <a:endParaRPr lang="en-US" sz="4600" dirty="0"/>
          </a:p>
        </p:txBody>
      </p:sp>
      <p:sp>
        <p:nvSpPr>
          <p:cNvPr id="34" name="Text 31"/>
          <p:cNvSpPr txBox="1"/>
          <p:nvPr/>
        </p:nvSpPr>
        <p:spPr>
          <a:xfrm>
            <a:off x="6309360" y="5440680"/>
            <a:ext cx="2141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teams present a final project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953348" y="4343400"/>
            <a:ext cx="2689708" cy="1828800"/>
          </a:xfrm>
          <a:prstGeom prst="roundRect">
            <a:avLst>
              <a:gd name="adj" fmla="val 6000"/>
            </a:avLst>
          </a:prstGeom>
          <a:solidFill>
            <a:srgbClr val="EAF5E8"/>
          </a:solidFill>
          <a:ln w="12700">
            <a:solidFill>
              <a:srgbClr val="EAF5E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227668" y="4526280"/>
            <a:ext cx="21410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4600" b="1" dirty="0">
                <a:solidFill>
                  <a:srgbClr val="00000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+25</a:t>
            </a:r>
            <a:endParaRPr lang="en-US" sz="4600" dirty="0"/>
          </a:p>
        </p:txBody>
      </p:sp>
      <p:sp>
        <p:nvSpPr>
          <p:cNvPr id="37" name="Text 34"/>
          <p:cNvSpPr txBox="1"/>
          <p:nvPr/>
        </p:nvSpPr>
        <p:spPr>
          <a:xfrm>
            <a:off x="9227668" y="5440680"/>
            <a:ext cx="2141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1400" dirty="0">
                <a:solidFill>
                  <a:srgbClr val="3C3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average gain in the skills assessment</a:t>
            </a:r>
            <a:endParaRPr lang="en-US" sz="1400" dirty="0"/>
          </a:p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947672"/>
            <a:ext cx="237744" cy="237744"/>
          </a:xfrm>
          <a:prstGeom prst="rect">
            <a:avLst/>
          </a:prstGeom>
        </p:spPr>
      </p:pic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660904"/>
            <a:ext cx="237744" cy="237744"/>
          </a:xfrm>
          <a:prstGeom prst="rect">
            <a:avLst/>
          </a:prstGeom>
        </p:spPr>
      </p:pic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374136"/>
            <a:ext cx="237744" cy="237744"/>
          </a:xfrm>
          <a:prstGeom prst="rect">
            <a:avLst/>
          </a:prstGeom>
        </p:spPr>
      </p:pic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087368"/>
            <a:ext cx="237744" cy="237744"/>
          </a:xfrm>
          <a:prstGeom prst="rect">
            <a:avLst/>
          </a:prstGeom>
        </p:spPr>
      </p:pic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4800600"/>
            <a:ext cx="237744" cy="237744"/>
          </a:xfrm>
          <a:prstGeom prst="rect">
            <a:avLst/>
          </a:prstGeom>
        </p:spPr>
      </p:pic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5513832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Creators Program · Training Concept Note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altLang="en-US" sz="900" dirty="0">
                <a:solidFill>
                  <a:srgbClr val="8A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4" name="Image 0" descr="Green Circl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457200"/>
            <a:ext cx="2743200" cy="9748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1200" b="1" spc="200" kern="0" dirty="0">
                <a:solidFill>
                  <a:srgbClr val="A6D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PARTICIPANTS TAKE WITH THEM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574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Skills they can use the next day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320040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52044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" y="416052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2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 portfolio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5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mini projects and a final project they can show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353458" y="320040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498" y="352044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73498" y="416052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200" b="1" dirty="0">
                <a:solidFill>
                  <a:srgbClr val="4DB449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A working toolkit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4673498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5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AI tool for each task, and the prompts to use it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58277" y="320040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161816"/>
          </a:solidFill>
          <a:ln w="9525">
            <a:solidFill>
              <a:srgbClr val="3A3D39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317" y="352044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78317" y="416052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altLang="en-US" sz="2200" b="1" dirty="0">
                <a:solidFill>
                  <a:srgbClr val="A6D0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Secure habits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478317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5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account security and honest labelling of AI content, practised in every module: be aware..be secure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een Circle Training">
  <a:themeElements>
    <a:clrScheme name="Green Circle Training">
      <a:dk1>
        <a:srgbClr val="000000"/>
      </a:dk1>
      <a:lt1>
        <a:srgbClr val="FFFFFF"/>
      </a:lt1>
      <a:dk2>
        <a:srgbClr val="727274"/>
      </a:dk2>
      <a:lt2>
        <a:srgbClr val="EAF5E8"/>
      </a:lt2>
      <a:accent1>
        <a:srgbClr val="4DB449"/>
      </a:accent1>
      <a:accent2>
        <a:srgbClr val="A6D04B"/>
      </a:accent2>
      <a:accent3>
        <a:srgbClr val="727274"/>
      </a:accent3>
      <a:accent4>
        <a:srgbClr val="1A1A1A"/>
      </a:accent4>
      <a:accent5>
        <a:srgbClr val="4DB449"/>
      </a:accent5>
      <a:accent6>
        <a:srgbClr val="A6D04B"/>
      </a:accent6>
      <a:hlink>
        <a:srgbClr val="4DB449"/>
      </a:hlink>
      <a:folHlink>
        <a:srgbClr val="727274"/>
      </a:folHlink>
    </a:clrScheme>
    <a:fontScheme name="Green Circle Training">
      <a:majorFont>
        <a:latin typeface="Cair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Green Circle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Content Creation, Digital Marketing, Automation &amp; Freelancing</dc:title>
  <dc:subject>PptxGenJS Presentation</dc:subject>
  <dc:creator>Green Circle</dc:creator>
  <cp:lastModifiedBy>Green Circle</cp:lastModifiedBy>
  <cp:revision>1</cp:revision>
  <dcterms:created xsi:type="dcterms:W3CDTF">2026-10-20T12:27:16Z</dcterms:created>
  <dcterms:modified xsi:type="dcterms:W3CDTF">2026-10-20T12:27:16Z</dcterms:modified>
</cp:coreProperties>
</file>